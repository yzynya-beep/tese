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Default Extension="jpg" ContentType="image/jpeg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</p:sldIdLst>
  <p:sldSz cx="18288000" cy="10287000"/>
  <p:notesSz cx="6858000" cy="9144000"/>
  <p:embeddedFontLst>
    <p:embeddedFont>
      <p:font typeface="BM Hanna" charset="1" panose="02000503000000020003"/>
      <p:regular r:id="rId17"/>
    </p:embeddedFont>
    <p:embeddedFont>
      <p:font typeface="Canva Sans Bold" charset="1" panose="020B0803030501040103"/>
      <p:regular r:id="rId18"/>
    </p:embeddedFont>
    <p:embeddedFont>
      <p:font typeface="Canva Sans" charset="1" panose="020B0503030501040103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  <Relationship Id="rId20" Type="http://schemas.openxmlformats.org/officeDocument/2006/relationships/slide" Target="slides/slide12.xml"/>
  <Relationship Id="rId21" Type="http://schemas.openxmlformats.org/officeDocument/2006/relationships/slide" Target="slides/slide13.xml"/>
  <Relationship Id="rId22" Type="http://schemas.openxmlformats.org/officeDocument/2006/relationships/slide" Target="slides/slide14.xml"/>
  <Relationship Id="rId23" Type="http://schemas.openxmlformats.org/officeDocument/2006/relationships/slide" Target="slides/slide15.xml"/>
  <Relationship Id="rId24" Type="http://schemas.openxmlformats.org/officeDocument/2006/relationships/slide" Target="slides/slide16.xml"/>
  <Relationship Id="rId25" Type="http://schemas.openxmlformats.org/officeDocument/2006/relationships/slide" Target="slides/slide17.xml"/>
  <Relationship Id="rId26" Type="http://schemas.openxmlformats.org/officeDocument/2006/relationships/slide" Target="slides/slide18.xml"/>
  <Relationship Id="rId27" Type="http://schemas.openxmlformats.org/officeDocument/2006/relationships/slide" Target="slides/slide19.xml"/>
  <Relationship Id="rId28" Type="http://schemas.openxmlformats.org/officeDocument/2006/relationships/slide" Target="slides/slide20.xml"/>
  <Relationship Id="rId29" Type="http://schemas.openxmlformats.org/officeDocument/2006/relationships/slide" Target="slides/slide21.xml"/>
  <Relationship Id="rId30" Type="http://schemas.openxmlformats.org/officeDocument/2006/relationships/slide" Target="slides/slide22.xml"/>
  <Relationship Id="rId31" Type="http://schemas.openxmlformats.org/officeDocument/2006/relationships/slide" Target="slides/slide23.xml"/>
  <Relationship Id="rId32" Type="http://schemas.openxmlformats.org/officeDocument/2006/relationships/slide" Target="slides/slide24.xml"/>
  <Relationship Id="rId33" Type="http://schemas.openxmlformats.org/officeDocument/2006/relationships/slide" Target="slides/slide25.xml"/>
  <Relationship Id="rId34" Type="http://schemas.openxmlformats.org/officeDocument/2006/relationships/slide" Target="slides/slide26.xml"/>
  <Relationship Id="rId35" Type="http://schemas.openxmlformats.org/officeDocument/2006/relationships/slide" Target="slides/slide27.xml"/>
  <Relationship Id="rId36" Type="http://schemas.openxmlformats.org/officeDocument/2006/relationships/slide" Target="slides/slide28.xml"/>
  <Relationship Id="rId37" Type="http://schemas.openxmlformats.org/officeDocument/2006/relationships/slide" Target="slides/slide29.xml"/>
  <Relationship Id="rId38" Type="http://schemas.openxmlformats.org/officeDocument/2006/relationships/slide" Target="slides/slide30.xml"/>
  <Relationship Id="rId39" Type="http://schemas.openxmlformats.org/officeDocument/2006/relationships/slide" Target="slides/slide31.xml"/>
  <Relationship Id="rId40" Type="http://schemas.openxmlformats.org/officeDocument/2006/relationships/slide" Target="slides/slide32.xml"/>
  <Relationship Id="rId41" Type="http://schemas.openxmlformats.org/officeDocument/2006/relationships/slide" Target="slides/slide33.xml"/>
  <Relationship Id="rId42" Type="http://schemas.openxmlformats.org/officeDocument/2006/relationships/slide" Target="slides/slide34.xml"/>
  <Relationship Id="rId43" Type="http://schemas.openxmlformats.org/officeDocument/2006/relationships/slide" Target="slides/slide35.xml"/>
  <Relationship Id="rId44" Type="http://schemas.openxmlformats.org/officeDocument/2006/relationships/slide" Target="slides/slide36.xml"/>
  <Relationship Id="rId45" Type="http://schemas.openxmlformats.org/officeDocument/2006/relationships/slide" Target="slides/slide37.xml"/>
  <Relationship Id="rId46" Type="http://schemas.openxmlformats.org/officeDocument/2006/relationships/slide" Target="slides/slide38.xml"/>
  <Relationship Id="rId47" Type="http://schemas.openxmlformats.org/officeDocument/2006/relationships/slide" Target="slides/slide39.xml"/>
  <Relationship Id="rId48" Type="http://schemas.openxmlformats.org/officeDocument/2006/relationships/slide" Target="slides/slide40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2_fachada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1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1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svg" Type="http://schemas.openxmlformats.org/officeDocument/2006/relationships/image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1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1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44.png" Type="http://schemas.openxmlformats.org/officeDocument/2006/relationships/image"/><Relationship Id="rId6" Target="../media/image45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1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2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mapa_politicas.pn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3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3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01_mapa_municip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15_vista_aerea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Relationship Id="rId14" Type="http://schemas.openxmlformats.org/officeDocument/2006/relationships/image" Target="../media/pesq_fig25_laboratorio.jpg"/><Relationship Id="rId15" Type="http://schemas.openxmlformats.org/officeDocument/2006/relationships/image" Target="../media/pesq_fig37_alfabeto.jpg"/></Relationships>
</file>

<file path=ppt/slides/_rels/slide3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3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svg" Type="http://schemas.openxmlformats.org/officeDocument/2006/relationships/image"/><Relationship Id="rId11" Target="../media/image58.png" Type="http://schemas.openxmlformats.org/officeDocument/2006/relationships/image"/><Relationship Id="rId12" Target="../media/image59.svg" Type="http://schemas.openxmlformats.org/officeDocument/2006/relationships/image"/><Relationship Id="rId13" Target="../media/image52.png" Type="http://schemas.openxmlformats.org/officeDocument/2006/relationships/image"/><Relationship Id="rId14" Target="../media/image53.svg" Type="http://schemas.openxmlformats.org/officeDocument/2006/relationships/image"/><Relationship Id="rId2" Target="../media/image1.png" Type="http://schemas.openxmlformats.org/officeDocument/2006/relationships/image"/><Relationship Id="rId3" Target="../media/image54.png" Type="http://schemas.openxmlformats.org/officeDocument/2006/relationships/image"/><Relationship Id="rId4" Target="../media/image55.svg" Type="http://schemas.openxmlformats.org/officeDocument/2006/relationships/image"/><Relationship Id="rId5" Target="../media/image56.png" Type="http://schemas.openxmlformats.org/officeDocument/2006/relationships/image"/><Relationship Id="rId6" Target="../media/image5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.png" Type="http://schemas.openxmlformats.org/officeDocument/2006/relationships/image"/></Relationships>
</file>

<file path=ppt/slides/_rels/slide3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6.png" Type="http://schemas.openxmlformats.org/officeDocument/2006/relationships/image"/><Relationship Id="rId14" Target="../media/image7.svg" Type="http://schemas.openxmlformats.org/officeDocument/2006/relationships/image"/><Relationship Id="rId15" Target="../media/image8.png" Type="http://schemas.openxmlformats.org/officeDocument/2006/relationships/image"/><Relationship Id="rId16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60.png" Type="http://schemas.openxmlformats.org/officeDocument/2006/relationships/image"/><Relationship Id="rId4" Target="../media/image61.svg" Type="http://schemas.openxmlformats.org/officeDocument/2006/relationships/image"/><Relationship Id="rId5" Target="../media/image58.png" Type="http://schemas.openxmlformats.org/officeDocument/2006/relationships/image"/><Relationship Id="rId6" Target="../media/image59.svg" Type="http://schemas.openxmlformats.org/officeDocument/2006/relationships/image"/><Relationship Id="rId7" Target="../media/image62.png" Type="http://schemas.openxmlformats.org/officeDocument/2006/relationships/image"/><Relationship Id="rId8" Target="../media/image63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3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4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814669" y="2449308"/>
            <a:ext cx="7065092" cy="8144199"/>
          </a:xfrm>
          <a:custGeom>
            <a:avLst/>
            <a:gdLst/>
            <a:ahLst/>
            <a:cxnLst/>
            <a:rect r="r" b="b" t="t" l="l"/>
            <a:pathLst>
              <a:path h="8144199" w="7065092">
                <a:moveTo>
                  <a:pt x="0" y="0"/>
                </a:moveTo>
                <a:lnTo>
                  <a:pt x="7065093" y="0"/>
                </a:lnTo>
                <a:lnTo>
                  <a:pt x="7065093" y="8144199"/>
                </a:lnTo>
                <a:lnTo>
                  <a:pt x="0" y="81441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833448" y="-1279629"/>
            <a:ext cx="5817841" cy="4114800"/>
          </a:xfrm>
          <a:custGeom>
            <a:avLst/>
            <a:gdLst/>
            <a:ahLst/>
            <a:cxnLst/>
            <a:rect r="r" b="b" t="t" l="l"/>
            <a:pathLst>
              <a:path h="4114800" w="5817841">
                <a:moveTo>
                  <a:pt x="0" y="0"/>
                </a:moveTo>
                <a:lnTo>
                  <a:pt x="5817841" y="0"/>
                </a:lnTo>
                <a:lnTo>
                  <a:pt x="58178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798693" y="-662043"/>
            <a:ext cx="5155216" cy="4114800"/>
          </a:xfrm>
          <a:custGeom>
            <a:avLst/>
            <a:gdLst/>
            <a:ahLst/>
            <a:cxnLst/>
            <a:rect r="r" b="b" t="t" l="l"/>
            <a:pathLst>
              <a:path h="4114800" w="5155216">
                <a:moveTo>
                  <a:pt x="0" y="0"/>
                </a:moveTo>
                <a:lnTo>
                  <a:pt x="5155216" y="0"/>
                </a:lnTo>
                <a:lnTo>
                  <a:pt x="51552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752000" y="504000"/>
            <a:ext cx="8064000" cy="28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ENCENAÇÃO DA PNED EM TIBAU DO SUL/RN</a:t>
            </a:r>
            <a:endParaRPr lang="pt-BR" sz="4600" dirty="0"/>
          </a:p>
        </p:txBody>
      </p:sp>
      <p:sp>
        <p:nvSpPr>
          <p:cNvPr id="202" name="Cartão 202"/>
          <p:cNvSpPr/>
          <p:nvPr/>
        </p:nvSpPr>
        <p:spPr>
          <a:xfrm>
            <a:off x="4320000" y="3456000"/>
            <a:ext cx="8640000" cy="1440000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 Secretaria Municipal de Educação à escola de Pipa, entre culturas profissionais, território e resistências</a:t>
            </a:r>
            <a:endParaRPr lang="pt-BR" sz="2465" dirty="0"/>
          </a:p>
        </p:txBody>
      </p:sp>
      <p:pic>
        <p:nvPicPr>
          <p:cNvPr id="203" name="Foto 203" descr="Fachada da Escola Municipal Domitila Castelo da Silva"/>
          <p:cNvPicPr>
            <a:picLocks noChangeAspect="1"/>
          </p:cNvPicPr>
          <p:nvPr/>
        </p:nvPicPr>
        <p:blipFill>
          <a:blip r:embed="rId11"/>
          <a:srcRect l="202" t="0" r="202" b="0"/>
          <a:stretch>
            <a:fillRect/>
          </a:stretch>
        </p:blipFill>
        <p:spPr>
          <a:xfrm rot="-120000">
            <a:off x="720000" y="5364000"/>
            <a:ext cx="6120000" cy="345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20000" y="4824000"/>
            <a:ext cx="720000" cy="1152000"/>
          </a:xfrm>
          <a:prstGeom prst="rect">
            <a:avLst/>
          </a:prstGeom>
        </p:spPr>
      </p:pic>
      <p:sp>
        <p:nvSpPr>
          <p:cNvPr id="205" name="Texto 205"/>
          <p:cNvSpPr txBox="1"/>
          <p:nvPr/>
        </p:nvSpPr>
        <p:spPr>
          <a:xfrm>
            <a:off x="2520000" y="8964000"/>
            <a:ext cx="4464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Pipa (RN)</a:t>
            </a:r>
            <a:endParaRPr lang="pt-BR" sz="1500" dirty="0"/>
          </a:p>
        </p:txBody>
      </p:sp>
      <p:sp>
        <p:nvSpPr>
          <p:cNvPr name="Freeform 10" id="10"/>
          <p:cNvSpPr/>
          <p:nvPr/>
        </p:nvSpPr>
        <p:spPr>
          <a:xfrm flipH="false" flipV="false" rot="-526312">
            <a:off x="-648000" y="7884000"/>
            <a:ext cx="3096000" cy="2808000"/>
          </a:xfrm>
          <a:custGeom>
            <a:avLst/>
            <a:gdLst/>
            <a:ahLst/>
            <a:cxnLst/>
            <a:rect r="r" b="b" t="t" l="l"/>
            <a:pathLst>
              <a:path h="6908710" w="7584413">
                <a:moveTo>
                  <a:pt x="0" y="0"/>
                </a:moveTo>
                <a:lnTo>
                  <a:pt x="7584413" y="0"/>
                </a:lnTo>
                <a:lnTo>
                  <a:pt x="7584413" y="6908710"/>
                </a:lnTo>
                <a:lnTo>
                  <a:pt x="0" y="690871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6" name="Texto 206"/>
          <p:cNvSpPr txBox="1"/>
          <p:nvPr/>
        </p:nvSpPr>
        <p:spPr>
          <a:xfrm>
            <a:off x="7056000" y="5184000"/>
            <a:ext cx="5832000" cy="432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Exame de qualificação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Doutorado em Educação · PPGEd/UFRN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75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Yzynya Silva Rezende Machado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88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Orientadora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Profa. Dra. Maria Cristina Leandro de Paiva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Natal, 2026</a:t>
            </a:r>
            <a:endParaRPr lang="pt-BR" sz="2175" dirty="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864000"/>
            <a:ext cx="9360000" cy="216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ROTEIRO</a:t>
            </a:r>
            <a:endParaRPr lang="pt-BR" sz="80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Objeto, questão e objetivos</a:t>
            </a:r>
            <a:endParaRPr lang="pt-BR" sz="2465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Revisão sistemática</a:t>
            </a:r>
            <a:endParaRPr lang="pt-BR" sz="2465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Fundamentos teóricos</a:t>
            </a:r>
            <a:endParaRPr lang="pt-BR" sz="2465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Metodologia</a:t>
            </a:r>
            <a:endParaRPr lang="pt-BR" sz="2465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 global e PNED</a:t>
            </a:r>
            <a:endParaRPr lang="pt-BR" sz="2465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município à escola e tese</a:t>
            </a:r>
            <a:endParaRPr lang="pt-BR" sz="2465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8748" y="-626708"/>
            <a:ext cx="4681103" cy="3310817"/>
          </a:xfrm>
          <a:custGeom>
            <a:avLst/>
            <a:gdLst/>
            <a:ahLst/>
            <a:cxnLst/>
            <a:rect r="r" b="b" t="t" l="l"/>
            <a:pathLst>
              <a:path h="3310817" w="4681103">
                <a:moveTo>
                  <a:pt x="0" y="0"/>
                </a:moveTo>
                <a:lnTo>
                  <a:pt x="4681104" y="0"/>
                </a:lnTo>
                <a:lnTo>
                  <a:pt x="4681104" y="3310816"/>
                </a:lnTo>
                <a:lnTo>
                  <a:pt x="0" y="33108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1286914" y="2018689"/>
            <a:ext cx="7978637" cy="9386632"/>
          </a:xfrm>
          <a:custGeom>
            <a:avLst/>
            <a:gdLst/>
            <a:ahLst/>
            <a:cxnLst/>
            <a:rect r="r" b="b" t="t" l="l"/>
            <a:pathLst>
              <a:path h="9386632" w="7978637">
                <a:moveTo>
                  <a:pt x="7978637" y="0"/>
                </a:moveTo>
                <a:lnTo>
                  <a:pt x="0" y="0"/>
                </a:lnTo>
                <a:lnTo>
                  <a:pt x="0" y="9386632"/>
                </a:lnTo>
                <a:lnTo>
                  <a:pt x="7978637" y="9386632"/>
                </a:lnTo>
                <a:lnTo>
                  <a:pt x="7978637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3069909"/>
            <a:ext cx="9393142" cy="7653268"/>
            <a:chOff x="0" y="0"/>
            <a:chExt cx="2473914" cy="20156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73914" cy="2015676"/>
            </a:xfrm>
            <a:custGeom>
              <a:avLst/>
              <a:gdLst/>
              <a:ahLst/>
              <a:cxnLst/>
              <a:rect r="r" b="b" t="t" l="l"/>
              <a:pathLst>
                <a:path h="2015676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1981059"/>
                  </a:lnTo>
                  <a:cubicBezTo>
                    <a:pt x="2473914" y="2000177"/>
                    <a:pt x="2458415" y="2015676"/>
                    <a:pt x="2439297" y="2015676"/>
                  </a:cubicBezTo>
                  <a:lnTo>
                    <a:pt x="34617" y="2015676"/>
                  </a:lnTo>
                  <a:cubicBezTo>
                    <a:pt x="15498" y="2015676"/>
                    <a:pt x="0" y="2000177"/>
                    <a:pt x="0" y="1981059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473914" cy="2072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-1286629" y="-431434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5603193" y="0"/>
                </a:moveTo>
                <a:lnTo>
                  <a:pt x="0" y="0"/>
                </a:lnTo>
                <a:lnTo>
                  <a:pt x="0" y="4900247"/>
                </a:lnTo>
                <a:lnTo>
                  <a:pt x="5603193" y="4900247"/>
                </a:lnTo>
                <a:lnTo>
                  <a:pt x="5603193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800000" y="4320000"/>
            <a:ext cx="7776000" cy="10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OBJETO</a:t>
            </a:r>
            <a:endParaRPr lang="pt-BR" sz="6000" dirty="0"/>
          </a:p>
        </p:txBody>
      </p:sp>
      <p:sp>
        <p:nvSpPr>
          <p:cNvPr id="202" name="Texto 202"/>
          <p:cNvSpPr txBox="1"/>
          <p:nvPr/>
        </p:nvSpPr>
        <p:spPr>
          <a:xfrm>
            <a:off x="1800000" y="5472000"/>
            <a:ext cx="7776000" cy="475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Política Nacional de Educação Digital (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14.533/2023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), no eixo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 Escolar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acompanhada em funil: da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Secretaria Municipal de Educação de Tibau do Sul/RN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que a traduz para uma rede de localidades muito diferentes, até 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Municipal Domitila Castelo da Silva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em Pipa.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Na escola, os profissionais da educação dos anos iniciais (1º ao 5º ano) a interpretam, traduzem e recontextualizam: professoras e professores, coordenação, direção e apoio pedagógico.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 “coletivas, criativas e limitadas” (BALL; MAGUIRE; BRAUN, 2016, p. 103).</a:t>
            </a:r>
            <a:endParaRPr lang="pt-BR" sz="2102" dirty="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899330" y="1028700"/>
            <a:ext cx="10534934" cy="8229600"/>
            <a:chOff x="0" y="0"/>
            <a:chExt cx="2774633" cy="216746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74633" cy="2167467"/>
            </a:xfrm>
            <a:custGeom>
              <a:avLst/>
              <a:gdLst/>
              <a:ahLst/>
              <a:cxnLst/>
              <a:rect r="r" b="b" t="t" l="l"/>
              <a:pathLst>
                <a:path h="2167467" w="2774633">
                  <a:moveTo>
                    <a:pt x="30865" y="0"/>
                  </a:moveTo>
                  <a:lnTo>
                    <a:pt x="2743768" y="0"/>
                  </a:lnTo>
                  <a:cubicBezTo>
                    <a:pt x="2751954" y="0"/>
                    <a:pt x="2759804" y="3252"/>
                    <a:pt x="2765593" y="9040"/>
                  </a:cubicBezTo>
                  <a:cubicBezTo>
                    <a:pt x="2771381" y="14828"/>
                    <a:pt x="2774633" y="22679"/>
                    <a:pt x="2774633" y="30865"/>
                  </a:cubicBezTo>
                  <a:lnTo>
                    <a:pt x="2774633" y="2136602"/>
                  </a:lnTo>
                  <a:cubicBezTo>
                    <a:pt x="2774633" y="2144788"/>
                    <a:pt x="2771381" y="2152638"/>
                    <a:pt x="2765593" y="2158427"/>
                  </a:cubicBezTo>
                  <a:cubicBezTo>
                    <a:pt x="2759804" y="2164215"/>
                    <a:pt x="2751954" y="2167467"/>
                    <a:pt x="2743768" y="2167467"/>
                  </a:cubicBezTo>
                  <a:lnTo>
                    <a:pt x="30865" y="2167467"/>
                  </a:lnTo>
                  <a:cubicBezTo>
                    <a:pt x="22679" y="2167467"/>
                    <a:pt x="14828" y="2164215"/>
                    <a:pt x="9040" y="2158427"/>
                  </a:cubicBezTo>
                  <a:cubicBezTo>
                    <a:pt x="3252" y="2152638"/>
                    <a:pt x="0" y="2144788"/>
                    <a:pt x="0" y="2136602"/>
                  </a:cubicBezTo>
                  <a:lnTo>
                    <a:pt x="0" y="30865"/>
                  </a:lnTo>
                  <a:cubicBezTo>
                    <a:pt x="0" y="22679"/>
                    <a:pt x="3252" y="14828"/>
                    <a:pt x="9040" y="9040"/>
                  </a:cubicBezTo>
                  <a:cubicBezTo>
                    <a:pt x="14828" y="3252"/>
                    <a:pt x="22679" y="0"/>
                    <a:pt x="30865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774633" cy="2224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3732593" y="-476467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0" y="3196942"/>
            <a:ext cx="8002332" cy="8046221"/>
          </a:xfrm>
          <a:custGeom>
            <a:avLst/>
            <a:gdLst/>
            <a:ahLst/>
            <a:cxnLst/>
            <a:rect r="r" b="b" t="t" l="l"/>
            <a:pathLst>
              <a:path h="8046221" w="8002332">
                <a:moveTo>
                  <a:pt x="0" y="0"/>
                </a:moveTo>
                <a:lnTo>
                  <a:pt x="8002332" y="0"/>
                </a:lnTo>
                <a:lnTo>
                  <a:pt x="8002332" y="8046221"/>
                </a:lnTo>
                <a:lnTo>
                  <a:pt x="0" y="804622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4698286" y="-10287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1070688" y="308980"/>
            <a:ext cx="4198776" cy="4114800"/>
          </a:xfrm>
          <a:custGeom>
            <a:avLst/>
            <a:gdLst/>
            <a:ahLst/>
            <a:cxnLst/>
            <a:rect r="r" b="b" t="t" l="l"/>
            <a:pathLst>
              <a:path h="4114800" w="4198776">
                <a:moveTo>
                  <a:pt x="0" y="0"/>
                </a:moveTo>
                <a:lnTo>
                  <a:pt x="4198776" y="0"/>
                </a:lnTo>
                <a:lnTo>
                  <a:pt x="41987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648000" y="1656000"/>
            <a:ext cx="4896000" cy="187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QUESTÃO DE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9648000" y="3168000"/>
            <a:ext cx="7776000" cy="583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Como a Política Nacional de Educação Digital é recontextualizada pela Secretaria Municipal de Educação de Tibau do Sul (RN), num território municipal que reúne áreas urbanas e rurais, povoados com realidades distintas e uma comunidade quilombola, e como essa recontextualização chega à Escola Municipal Domitila Castelo da Silva, em Pipa, onde os profissionais da educação a encenam, atravessados pelas culturas profissionais, pelas condições materiais e institucionais da escola e pelas especificidades do lugar, produzindo diferentes formas de atuação, entre as quais podem emergir acomodações, negociações, ressignificações e resistências?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580"/>
              </a:spcBef>
              <a:spcAft>
                <a:spcPts val="869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resistência é uma possibilidade a examinar nos dados, sem ser pressuposta.</a:t>
            </a:r>
            <a:endParaRPr lang="pt-BR" sz="1958" dirty="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384000" y="252000"/>
            <a:ext cx="1094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 GERAL</a:t>
            </a:r>
            <a:endParaRPr lang="pt-BR" sz="29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Política Nacional de Educação Digital da Secretaria Municipal de Educação de Tibau do Sul até o contexto da prática da Escola Municipal Domitila Castelo da Silva, em Pipa, considerando a diversidade socioespacial do território municipal, as culturas profissionais e as condições materiais e institucionais da rede e da escola.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2844000"/>
            <a:ext cx="7848000" cy="345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98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REDE MUNICIPAL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PNED pela Secretaria Municipal de Educação em planos, currículos, formações e orientações para a rede, considerando as especificidades das localidades do município, entre elas as áreas rurais e a comunidade quilombola de Sibaúma;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2268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2844000"/>
            <a:ext cx="7848000" cy="345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26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INTERPRETAÇÃO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Compreender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interpretação da PNED e das orientações municipais pelos profissionais da escola, à luz de suas experiências, crenças, valores e formas de organização do trabalho;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2268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6624000"/>
            <a:ext cx="7848000" cy="345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98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CONDIÇÕES E TERRITÓRIO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Examinar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relação entre as condições materiais e institucionais da escola, articuladas às especificidades de Pipa no território municipal, e a tradução da política em ações, escolhas e práticas cotidianas;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6048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6624000"/>
            <a:ext cx="7848000" cy="345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026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FORMAS DE ATUAÇÃO E CRIANÇAS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Identificar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as formas de atuação produzidas diante da política e das orientações municipais, da adesão à resistência, e suas implicações para a provisão, a proteção e a participação das crianças no ambiente digital.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6048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866158" y="1028700"/>
            <a:ext cx="9393142" cy="9865952"/>
            <a:chOff x="0" y="0"/>
            <a:chExt cx="2473914" cy="25984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73914" cy="2598440"/>
            </a:xfrm>
            <a:custGeom>
              <a:avLst/>
              <a:gdLst/>
              <a:ahLst/>
              <a:cxnLst/>
              <a:rect r="r" b="b" t="t" l="l"/>
              <a:pathLst>
                <a:path h="2598440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2563823"/>
                  </a:lnTo>
                  <a:cubicBezTo>
                    <a:pt x="2473914" y="2582942"/>
                    <a:pt x="2458415" y="2598440"/>
                    <a:pt x="2439297" y="2598440"/>
                  </a:cubicBezTo>
                  <a:lnTo>
                    <a:pt x="34617" y="2598440"/>
                  </a:lnTo>
                  <a:cubicBezTo>
                    <a:pt x="15498" y="2598440"/>
                    <a:pt x="0" y="2582942"/>
                    <a:pt x="0" y="2563823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473914" cy="26555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-514876" y="-476841"/>
            <a:ext cx="5252464" cy="5620341"/>
          </a:xfrm>
          <a:custGeom>
            <a:avLst/>
            <a:gdLst/>
            <a:ahLst/>
            <a:cxnLst/>
            <a:rect r="r" b="b" t="t" l="l"/>
            <a:pathLst>
              <a:path h="5620341" w="5252464">
                <a:moveTo>
                  <a:pt x="5252465" y="0"/>
                </a:moveTo>
                <a:lnTo>
                  <a:pt x="0" y="0"/>
                </a:lnTo>
                <a:lnTo>
                  <a:pt x="0" y="5620341"/>
                </a:lnTo>
                <a:lnTo>
                  <a:pt x="5252465" y="5620341"/>
                </a:lnTo>
                <a:lnTo>
                  <a:pt x="525246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905129" y="9040148"/>
            <a:ext cx="7315200" cy="1981754"/>
          </a:xfrm>
          <a:custGeom>
            <a:avLst/>
            <a:gdLst/>
            <a:ahLst/>
            <a:cxnLst/>
            <a:rect r="r" b="b" t="t" l="l"/>
            <a:pathLst>
              <a:path h="1981754" w="7315200">
                <a:moveTo>
                  <a:pt x="0" y="0"/>
                </a:moveTo>
                <a:lnTo>
                  <a:pt x="7315200" y="0"/>
                </a:lnTo>
                <a:lnTo>
                  <a:pt x="7315200" y="1981754"/>
                </a:lnTo>
                <a:lnTo>
                  <a:pt x="0" y="198175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130811" y="-476841"/>
            <a:ext cx="4826211" cy="4220741"/>
          </a:xfrm>
          <a:custGeom>
            <a:avLst/>
            <a:gdLst/>
            <a:ahLst/>
            <a:cxnLst/>
            <a:rect r="r" b="b" t="t" l="l"/>
            <a:pathLst>
              <a:path h="4220741" w="4826211">
                <a:moveTo>
                  <a:pt x="0" y="0"/>
                </a:moveTo>
                <a:lnTo>
                  <a:pt x="4826211" y="0"/>
                </a:lnTo>
                <a:lnTo>
                  <a:pt x="4826211" y="4220741"/>
                </a:lnTo>
                <a:lnTo>
                  <a:pt x="0" y="422074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false" rot="0">
            <a:off x="1028700" y="3233716"/>
            <a:ext cx="7417778" cy="8276460"/>
          </a:xfrm>
          <a:custGeom>
            <a:avLst/>
            <a:gdLst/>
            <a:ahLst/>
            <a:cxnLst/>
            <a:rect r="r" b="b" t="t" l="l"/>
            <a:pathLst>
              <a:path h="8276460" w="7417778">
                <a:moveTo>
                  <a:pt x="7417778" y="0"/>
                </a:moveTo>
                <a:lnTo>
                  <a:pt x="0" y="0"/>
                </a:lnTo>
                <a:lnTo>
                  <a:pt x="0" y="8276460"/>
                </a:lnTo>
                <a:lnTo>
                  <a:pt x="7417778" y="8276460"/>
                </a:lnTo>
                <a:lnTo>
                  <a:pt x="7417778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5809230" y="3430608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9" y="0"/>
                </a:moveTo>
                <a:lnTo>
                  <a:pt x="0" y="0"/>
                </a:lnTo>
                <a:lnTo>
                  <a:pt x="0" y="1940507"/>
                </a:lnTo>
                <a:lnTo>
                  <a:pt x="2431159" y="1940507"/>
                </a:lnTo>
                <a:lnTo>
                  <a:pt x="2431159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1656000"/>
            <a:ext cx="5976000" cy="19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RELEVÂNCIAS DA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8496000" y="3384000"/>
            <a:ext cx="7992000" cy="55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as crianças: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 eixo promete participação consciente e democrática e proteção dos dados (art. 3º, III e IV); nos anos iniciais, a escola pode ser o primeiro espaço público em que o digital é discutido com alguém responsável pelo ensino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os profissionais: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olhar a política a partir de quem a faz acontecer, sem cobrar de cada um o que só o desenho da política poderia garantir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 território: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Tibau do Sul reúne localidades muito distintas numa mesma rede; em Pipa, uso econômico intenso das tecnologias convive com salas de aula sem telas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ciência: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PNED lida pelo contexto da prática, com contribuições às políticas educacionais, à educação digital e aos direitos das crianças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rede: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mostra se e como a tradução municipal da PNED considera as diferenças entre as localidades, com devolutiva à escola e à Secretaria Municipal de Educação</a:t>
            </a:r>
            <a:endParaRPr lang="pt-BR" sz="2030" dirty="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600000" y="504000"/>
            <a:ext cx="108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INEDITISMO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três planos que se apoiam</a:t>
            </a:r>
            <a:endParaRPr lang="pt-BR" sz="24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Empírico-temporal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Acompanha a chegada da PNED da Secretaria à escola. Nenhum dos nove estudos da RSL examina essa política nem uma rede municipal de pequeno porte.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Analítico-espacial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território municipal, de Tibau do Sul a Pipa, entra como parte do contexto, lido com Santos (território usado) e Massey (encontro de trajetórias).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Teórico-conceitual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Atuação, culturas profissionais, materialidade e território articulados, de onde nasce a formulação “habitar o digital”.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REVISÃO SISTEMÁTICA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2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a literatura mostra</a:t>
            </a:r>
            <a:endParaRPr lang="pt-BR" sz="3000" dirty="0"/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 E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respostas da revisão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Questão: o que a produção científica evidencia sobre a implementação de políticas públicas de educação digital nos anos iniciais?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PRISMA 2020, estrutura PICo e síntese temática (THOMAS; HARDEN, 2008)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bases · 176 registros · 35 textos avaliados · 9 estudos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publicados entre 2021 e 2024</a:t>
            </a:r>
            <a:endParaRPr lang="pt-BR" sz="2175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Respostas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(a) Condicionantes: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equipamentos e conectividade pesam ao lado de formação continuada, estabilidade das equipes, tempo de trabalho e marco regulatório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(b) Profissionais: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resposta mais convergente; a política é feita de interpretação e de decisões situadas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(c) Cultura digital e formação cidadã: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apoio frágil</a:t>
            </a:r>
            <a:endParaRPr lang="pt-BR" sz="2175" dirty="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360000"/>
            <a:ext cx="10512000" cy="252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REVISÃO DECIDIU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contribuições da RSL para as escolhas da tese</a:t>
            </a:r>
            <a:endParaRPr lang="pt-BR" sz="2600" dirty="0"/>
          </a:p>
        </p:txBody>
      </p:sp>
      <p:sp>
        <p:nvSpPr>
          <p:cNvPr id="202" name="Texto 202"/>
          <p:cNvSpPr txBox="1"/>
          <p:nvPr/>
        </p:nvSpPr>
        <p:spPr>
          <a:xfrm>
            <a:off x="4176000" y="3312000"/>
            <a:ext cx="4536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REVISÃO MOSTROU</a:t>
            </a:r>
            <a:endParaRPr lang="pt-BR" sz="2000" dirty="0"/>
          </a:p>
        </p:txBody>
      </p:sp>
      <p:sp>
        <p:nvSpPr>
          <p:cNvPr id="203" name="Texto 203"/>
          <p:cNvSpPr txBox="1"/>
          <p:nvPr/>
        </p:nvSpPr>
        <p:spPr>
          <a:xfrm>
            <a:off x="11376000" y="3312000"/>
            <a:ext cx="4824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 TESE…</a:t>
            </a:r>
            <a:endParaRPr lang="pt-BR" sz="2000" dirty="0"/>
          </a:p>
        </p:txBody>
      </p:sp>
      <p:sp>
        <p:nvSpPr>
          <p:cNvPr id="204" name="Cartão 204"/>
          <p:cNvSpPr/>
          <p:nvPr/>
        </p:nvSpPr>
        <p:spPr>
          <a:xfrm>
            <a:off x="2160000" y="396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Anos iniciais tratados em bloco; ciclo de alfabetização quase ausente</a:t>
            </a:r>
            <a:endParaRPr lang="pt-BR" sz="1885" dirty="0"/>
          </a:p>
        </p:txBody>
      </p:sp>
      <p:sp>
        <p:nvSpPr>
          <p:cNvPr id="205" name="Texto 205"/>
          <p:cNvSpPr txBox="1"/>
          <p:nvPr/>
        </p:nvSpPr>
        <p:spPr>
          <a:xfrm>
            <a:off x="9216000" y="396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6" name="Cartão 206"/>
          <p:cNvSpPr/>
          <p:nvPr/>
        </p:nvSpPr>
        <p:spPr>
          <a:xfrm>
            <a:off x="10080000" y="396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delimita o 1º ao 5º ano, com o ciclo de alfabetização</a:t>
            </a:r>
            <a:endParaRPr lang="pt-BR" sz="1885" dirty="0"/>
          </a:p>
        </p:txBody>
      </p:sp>
      <p:sp>
        <p:nvSpPr>
          <p:cNvPr id="207" name="Cartão 207"/>
          <p:cNvSpPr/>
          <p:nvPr/>
        </p:nvSpPr>
        <p:spPr>
          <a:xfrm>
            <a:off x="2160000" y="4986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PNED sem exame empírico; nenhuma rede municipal de pequeno porte</a:t>
            </a:r>
            <a:endParaRPr lang="pt-BR" sz="1885" dirty="0"/>
          </a:p>
        </p:txBody>
      </p:sp>
      <p:sp>
        <p:nvSpPr>
          <p:cNvPr id="208" name="Texto 208"/>
          <p:cNvSpPr txBox="1"/>
          <p:nvPr/>
        </p:nvSpPr>
        <p:spPr>
          <a:xfrm>
            <a:off x="9216000" y="4986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9" name="Cartão 209"/>
          <p:cNvSpPr/>
          <p:nvPr/>
        </p:nvSpPr>
        <p:spPr>
          <a:xfrm>
            <a:off x="10080000" y="4986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toma o eixo Educação Digital Escolar como objeto, da Secretaria de Tibau do Sul à escola</a:t>
            </a:r>
            <a:endParaRPr lang="pt-BR" sz="1885" dirty="0"/>
          </a:p>
        </p:txBody>
      </p:sp>
      <p:sp>
        <p:nvSpPr>
          <p:cNvPr id="210" name="Cartão 210"/>
          <p:cNvSpPr/>
          <p:nvPr/>
        </p:nvSpPr>
        <p:spPr>
          <a:xfrm>
            <a:off x="2160000" y="6012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Predomínio de respostas emergenciais à pandemia</a:t>
            </a:r>
            <a:endParaRPr lang="pt-BR" sz="1885" dirty="0"/>
          </a:p>
        </p:txBody>
      </p:sp>
      <p:sp>
        <p:nvSpPr>
          <p:cNvPr id="211" name="Texto 211"/>
          <p:cNvSpPr txBox="1"/>
          <p:nvPr/>
        </p:nvSpPr>
        <p:spPr>
          <a:xfrm>
            <a:off x="9216000" y="6012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2" name="Cartão 212"/>
          <p:cNvSpPr/>
          <p:nvPr/>
        </p:nvSpPr>
        <p:spPr>
          <a:xfrm>
            <a:off x="10080000" y="6012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estuda a política no funcionamento ordinário da escola</a:t>
            </a:r>
            <a:endParaRPr lang="pt-BR" sz="1885" dirty="0"/>
          </a:p>
        </p:txBody>
      </p:sp>
      <p:sp>
        <p:nvSpPr>
          <p:cNvPr id="213" name="Cartão 213"/>
          <p:cNvSpPr/>
          <p:nvPr/>
        </p:nvSpPr>
        <p:spPr>
          <a:xfrm>
            <a:off x="2160000" y="7038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Condições vão além do equipamento, e os profissionais interpretam a política</a:t>
            </a:r>
            <a:endParaRPr lang="pt-BR" sz="1885" dirty="0"/>
          </a:p>
        </p:txBody>
      </p:sp>
      <p:sp>
        <p:nvSpPr>
          <p:cNvPr id="214" name="Texto 214"/>
          <p:cNvSpPr txBox="1"/>
          <p:nvPr/>
        </p:nvSpPr>
        <p:spPr>
          <a:xfrm>
            <a:off x="9216000" y="7038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5" name="Cartão 215"/>
          <p:cNvSpPr/>
          <p:nvPr/>
        </p:nvSpPr>
        <p:spPr>
          <a:xfrm>
            <a:off x="10080000" y="7038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pergunta o que os profissionais fazem quando a condição anunciada não chega</a:t>
            </a:r>
            <a:endParaRPr lang="pt-BR" sz="1885" dirty="0"/>
          </a:p>
        </p:txBody>
      </p:sp>
      <p:sp>
        <p:nvSpPr>
          <p:cNvPr id="216" name="Cartão 216"/>
          <p:cNvSpPr/>
          <p:nvPr/>
        </p:nvSpPr>
        <p:spPr>
          <a:xfrm>
            <a:off x="2160000" y="8064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 e formação cidadã com apoio frágil; crianças ausentes como sujeitos</a:t>
            </a:r>
            <a:endParaRPr lang="pt-BR" sz="1885" dirty="0"/>
          </a:p>
        </p:txBody>
      </p:sp>
      <p:sp>
        <p:nvSpPr>
          <p:cNvPr id="217" name="Texto 217"/>
          <p:cNvSpPr txBox="1"/>
          <p:nvPr/>
        </p:nvSpPr>
        <p:spPr>
          <a:xfrm>
            <a:off x="9216000" y="8064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8" name="Cartão 218"/>
          <p:cNvSpPr/>
          <p:nvPr/>
        </p:nvSpPr>
        <p:spPr>
          <a:xfrm>
            <a:off x="10080000" y="8064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trata esse tema de modo exploratório e ouve os profissionais, sem avaliar efeitos nas crianças</a:t>
            </a:r>
            <a:endParaRPr lang="pt-BR" sz="1885" dirty="0"/>
          </a:p>
        </p:txBody>
      </p:sp>
      <p:sp>
        <p:nvSpPr>
          <p:cNvPr id="219" name="Cartão 219"/>
          <p:cNvSpPr/>
          <p:nvPr/>
        </p:nvSpPr>
        <p:spPr>
          <a:xfrm>
            <a:off x="2160000" y="909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eixos: condições, profissionais e sentidos formativos</a:t>
            </a:r>
            <a:endParaRPr lang="pt-BR" sz="1885" dirty="0"/>
          </a:p>
        </p:txBody>
      </p:sp>
      <p:sp>
        <p:nvSpPr>
          <p:cNvPr id="220" name="Texto 220"/>
          <p:cNvSpPr txBox="1"/>
          <p:nvPr/>
        </p:nvSpPr>
        <p:spPr>
          <a:xfrm>
            <a:off x="9216000" y="909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21" name="Cartão 221"/>
          <p:cNvSpPr/>
          <p:nvPr/>
        </p:nvSpPr>
        <p:spPr>
          <a:xfrm>
            <a:off x="10080000" y="909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usa os eixos como referência para questionário e entrevistas, sem categorias fechadas</a:t>
            </a:r>
            <a:endParaRPr lang="pt-BR" sz="1885" dirty="0"/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 TEÓRICOS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3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texto da política ao ato</a:t>
            </a:r>
            <a:endParaRPr lang="pt-BR" sz="3000" dirty="0"/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368000"/>
            <a:ext cx="9000000" cy="324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TEXTO AO ATO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onde a política é produzida e onde é posta em ato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72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de influência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Agendas e discursos que disputam as finalidades da educação digital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648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produção do texto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Resolução CNE/CEB nº 2/2025: o que a lei pede e com que meios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12240000" y="5256000"/>
            <a:ext cx="5400000" cy="3528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prática: na Secretaria e na escola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SME traduz a política para a rede; na escola, as dimensões situada, das culturas profissionais, material e externa (BALL; MAGUIRE; BRAUN, 2016, p. 38)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Capítulos 6 e 7</a:t>
            </a:r>
            <a:endParaRPr lang="pt-BR" sz="2030" dirty="0"/>
          </a:p>
        </p:txBody>
      </p:sp>
      <p:sp>
        <p:nvSpPr>
          <p:cNvPr id="205" name="Texto 205"/>
          <p:cNvSpPr txBox="1"/>
          <p:nvPr/>
        </p:nvSpPr>
        <p:spPr>
          <a:xfrm>
            <a:off x="558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6" name="Texto 206"/>
          <p:cNvSpPr txBox="1"/>
          <p:nvPr/>
        </p:nvSpPr>
        <p:spPr>
          <a:xfrm>
            <a:off x="1134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7" name="Texto 207"/>
          <p:cNvSpPr txBox="1"/>
          <p:nvPr/>
        </p:nvSpPr>
        <p:spPr>
          <a:xfrm>
            <a:off x="720000" y="8892000"/>
            <a:ext cx="16920000" cy="12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 como processo contínuo (BOWE; BALL; GOLD, 1992; MAINARDES, 2006). Os profissionais “não se deparam com os textos das políticas como leitores ingênuos” (BOWE; BALL; GOLD, 1992, p. 22, tradução nossa).</a:t>
            </a:r>
            <a:endParaRPr lang="pt-BR" sz="2175" dirty="0"/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384000" y="324000"/>
            <a:ext cx="1130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CONTEXTO DA PRÁTICA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que filtra, pressiona e tensiona a atuação</a:t>
            </a:r>
            <a:endParaRPr lang="pt-BR" sz="26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 filtram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Crenças, valores, hábitos e formas de fazer das comunidades de professores; individualismo, colaboração, colegialidade artificial, balcanização (HARGREAVES, 2005, p. 189-191)</a:t>
            </a:r>
            <a:endParaRPr lang="pt-BR" sz="1958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Performatividade pressiona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Prestação de contas por julgamentos, comparações e exposições (BALL, 2008, p. 49); fabricação: a escola produzida para ser vista (BALL, 2002)</a:t>
            </a:r>
            <a:endParaRPr lang="pt-BR" sz="1958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Relações de poder tensionam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Poder “não unívoco”, com “focos de instabilidade” (FOUCAULT, 1999, p. 29); da adesão à resistência, sem culpar nem heroicizar os sujeitos (BALL, 2011; FREIRE, 2019)</a:t>
            </a:r>
            <a:endParaRPr lang="pt-BR" sz="1958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53787" y="4364386"/>
            <a:ext cx="7465126" cy="4893914"/>
            <a:chOff x="0" y="0"/>
            <a:chExt cx="1966124" cy="12889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469087" y="4364386"/>
            <a:ext cx="7465126" cy="4893914"/>
            <a:chOff x="0" y="0"/>
            <a:chExt cx="1966124" cy="12889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864000"/>
            <a:ext cx="10512000" cy="316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ONDE A POLÍTICA É POSTA EM ATO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território, lugar e habitar o digital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lugar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categoria de análise é o território usado (SANTOS, 1999)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Rugosidades: o que fica do passado como forma e paisagem (SANTOS, 2006, p. 92)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lugar como “um encontro de trajetórias” (MASSEY, 2008, p. 204)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0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Maneiras pelas quais as tecnologias digitais atravessam os espaços, as relações e as práticas cotidianas de um território, produzindo possibilidades desiguais de acesso, participação e apropriação.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Schlemmer, Backes e Palagi (2021) e Di Felice (2009); plataformas e dados como contexto (ZUBOFF, 2021; SILVEIRA, 2017; MOROZOV, 2018; PRETTO; CORDEIRO; OLIVEIRA, 2013).</a:t>
            </a:r>
            <a:endParaRPr lang="pt-BR" sz="1885" dirty="0"/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METODOLOGIA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4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Estudo de caso qualitativo</a:t>
            </a:r>
            <a:endParaRPr lang="pt-BR" sz="3000" dirty="0"/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participantes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Qualitativa e interpretativa (MINAYO, 2009)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Caso único com unidades incorporadas: a SME e a escola (YIN, 2001)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Funil: da rede e do território municipal à escola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 observação de aula, como em Ball, Maguire e Braun (2016, p. 49)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Análise temática reflexiva (BRAUN; CLARKE, 2006, 2019)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Participantes: 24 + 1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24 profissionais da escola: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diretor, vice-diretora, coordenadora pedagógica, 4 do apoio pedagógico, 15 regentes e 2 no apoio à recomposição de aula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técnico da SME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primeira entrevista do campo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351 crianças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em 15 turmas, que não participam da produção dos dados (TIBAU DO SUL, 2026)</a:t>
            </a:r>
            <a:endParaRPr lang="pt-BR" sz="2030" dirty="0"/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576000"/>
            <a:ext cx="9360000" cy="26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CONSTRUÇÃO DOS DADOS</a:t>
            </a:r>
            <a:endParaRPr lang="pt-BR" sz="4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cinco movimentos e o campo</a:t>
            </a:r>
            <a:endParaRPr lang="pt-BR" sz="32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· Documentos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Da rede à escola: plano da rede, currículo, formações, PPP e planos, já solicitados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· Território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 e Censo Escolar por localidade; 38 imagens de Pipa e da escola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· Questionário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Perfil e primeiras percepções, aplicado presencialmente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· Entrevistas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Primeiro o técnico da SME, depois os profissionais da escola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· Análise e devolutiva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Triangulação das fontes e devolutiva à escola e à SME</a:t>
            </a:r>
            <a:endParaRPr lang="pt-BR" sz="1812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Ética e campo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coparticipante, a submeter; TCLE; dez semanas</a:t>
            </a:r>
            <a:endParaRPr lang="pt-BR" sz="1812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AGENDA GLOBAL E PNED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5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produção do texto da política</a:t>
            </a:r>
            <a:endParaRPr lang="pt-BR" sz="3000" dirty="0"/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504000" y="288000"/>
            <a:ext cx="936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OUTROS TERRITÓRIOS NOS ENSINAM</a:t>
            </a:r>
            <a:endParaRPr lang="pt-BR" sz="3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políticas de educação digital e seu foco</a:t>
            </a:r>
            <a:endParaRPr lang="pt-BR" sz="2200" dirty="0"/>
          </a:p>
        </p:txBody>
      </p:sp>
      <p:pic>
        <p:nvPicPr>
          <p:cNvPr id="202" name="Mapa 202" descr="Mapa das Américas e da Europa com as políticas de educação digital numeradas e coloridas pela categoria principal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4000" y="1944000"/>
            <a:ext cx="8856000" cy="5202000"/>
          </a:xfrm>
          <a:prstGeom prst="rect">
            <a:avLst/>
          </a:prstGeom>
          <a:ln w="508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572000" y="1440000"/>
            <a:ext cx="720000" cy="1152000"/>
          </a:xfrm>
          <a:prstGeom prst="rect">
            <a:avLst/>
          </a:prstGeom>
        </p:spPr>
      </p:pic>
      <p:sp>
        <p:nvSpPr>
          <p:cNvPr id="204" name="Forma 204"/>
          <p:cNvSpPr/>
          <p:nvPr/>
        </p:nvSpPr>
        <p:spPr>
          <a:xfrm>
            <a:off x="576000" y="7452000"/>
            <a:ext cx="252000" cy="252000"/>
          </a:xfrm>
          <a:prstGeom prst="ellipse">
            <a:avLst/>
          </a:prstGeom>
          <a:solidFill>
            <a:srgbClr val="2A6B67"/>
          </a:solidFill>
          <a:ln w="19050">
            <a:solidFill>
              <a:srgbClr val="FFFFFF"/>
            </a:solidFill>
          </a:ln>
        </p:spPr>
      </p:sp>
      <p:sp>
        <p:nvSpPr>
          <p:cNvPr id="205" name="Texto 205"/>
          <p:cNvSpPr txBox="1"/>
          <p:nvPr/>
        </p:nvSpPr>
        <p:spPr>
          <a:xfrm>
            <a:off x="918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Governança</a:t>
            </a:r>
            <a:endParaRPr lang="pt-BR" sz="1600" dirty="0"/>
          </a:p>
        </p:txBody>
      </p:sp>
      <p:sp>
        <p:nvSpPr>
          <p:cNvPr id="206" name="Forma 206"/>
          <p:cNvSpPr/>
          <p:nvPr/>
        </p:nvSpPr>
        <p:spPr>
          <a:xfrm>
            <a:off x="3600000" y="7452000"/>
            <a:ext cx="252000" cy="252000"/>
          </a:xfrm>
          <a:prstGeom prst="ellipse">
            <a:avLst/>
          </a:prstGeom>
          <a:solidFill>
            <a:srgbClr val="C9892B"/>
          </a:solidFill>
          <a:ln w="19050">
            <a:solidFill>
              <a:srgbClr val="FFFFFF"/>
            </a:solidFill>
          </a:ln>
        </p:spPr>
      </p:sp>
      <p:sp>
        <p:nvSpPr>
          <p:cNvPr id="207" name="Texto 207"/>
          <p:cNvSpPr txBox="1"/>
          <p:nvPr/>
        </p:nvSpPr>
        <p:spPr>
          <a:xfrm>
            <a:off x="3942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Formação</a:t>
            </a:r>
            <a:endParaRPr lang="pt-BR" sz="1600" dirty="0"/>
          </a:p>
        </p:txBody>
      </p:sp>
      <p:sp>
        <p:nvSpPr>
          <p:cNvPr id="208" name="Forma 208"/>
          <p:cNvSpPr/>
          <p:nvPr/>
        </p:nvSpPr>
        <p:spPr>
          <a:xfrm>
            <a:off x="6624000" y="7452000"/>
            <a:ext cx="252000" cy="252000"/>
          </a:xfrm>
          <a:prstGeom prst="ellipse">
            <a:avLst/>
          </a:prstGeom>
          <a:solidFill>
            <a:srgbClr val="4F7CAC"/>
          </a:solidFill>
          <a:ln w="19050">
            <a:solidFill>
              <a:srgbClr val="FFFFFF"/>
            </a:solidFill>
          </a:ln>
        </p:spPr>
      </p:sp>
      <p:sp>
        <p:nvSpPr>
          <p:cNvPr id="209" name="Texto 209"/>
          <p:cNvSpPr txBox="1"/>
          <p:nvPr/>
        </p:nvSpPr>
        <p:spPr>
          <a:xfrm>
            <a:off x="6966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Infraestrutura</a:t>
            </a:r>
            <a:endParaRPr lang="pt-BR" sz="1600" dirty="0"/>
          </a:p>
        </p:txBody>
      </p:sp>
      <p:sp>
        <p:nvSpPr>
          <p:cNvPr id="210" name="Forma 210"/>
          <p:cNvSpPr/>
          <p:nvPr/>
        </p:nvSpPr>
        <p:spPr>
          <a:xfrm>
            <a:off x="576000" y="7902000"/>
            <a:ext cx="252000" cy="252000"/>
          </a:xfrm>
          <a:prstGeom prst="ellipse">
            <a:avLst/>
          </a:prstGeom>
          <a:solidFill>
            <a:srgbClr val="8A5A9E"/>
          </a:solidFill>
          <a:ln w="19050">
            <a:solidFill>
              <a:srgbClr val="FFFFFF"/>
            </a:solidFill>
          </a:ln>
        </p:spPr>
      </p:sp>
      <p:sp>
        <p:nvSpPr>
          <p:cNvPr id="211" name="Texto 211"/>
          <p:cNvSpPr txBox="1"/>
          <p:nvPr/>
        </p:nvSpPr>
        <p:spPr>
          <a:xfrm>
            <a:off x="91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Continuidade institucional</a:t>
            </a:r>
            <a:endParaRPr lang="pt-BR" sz="1600" dirty="0"/>
          </a:p>
        </p:txBody>
      </p:sp>
      <p:sp>
        <p:nvSpPr>
          <p:cNvPr id="212" name="Forma 212"/>
          <p:cNvSpPr/>
          <p:nvPr/>
        </p:nvSpPr>
        <p:spPr>
          <a:xfrm>
            <a:off x="4536000" y="7902000"/>
            <a:ext cx="252000" cy="252000"/>
          </a:xfrm>
          <a:prstGeom prst="ellipse">
            <a:avLst/>
          </a:prstGeom>
          <a:solidFill>
            <a:srgbClr val="D9652E"/>
          </a:solidFill>
          <a:ln w="19050">
            <a:solidFill>
              <a:srgbClr val="FFFFFF"/>
            </a:solidFill>
          </a:ln>
        </p:spPr>
      </p:sp>
      <p:sp>
        <p:nvSpPr>
          <p:cNvPr id="213" name="Texto 213"/>
          <p:cNvSpPr txBox="1"/>
          <p:nvPr/>
        </p:nvSpPr>
        <p:spPr>
          <a:xfrm>
            <a:off x="487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</a:t>
            </a:r>
            <a:endParaRPr lang="pt-BR" sz="1600" dirty="0"/>
          </a:p>
        </p:txBody>
      </p:sp>
      <p:sp>
        <p:nvSpPr>
          <p:cNvPr id="214" name="Texto 214"/>
          <p:cNvSpPr txBox="1"/>
          <p:nvPr/>
        </p:nvSpPr>
        <p:spPr>
          <a:xfrm>
            <a:off x="504000" y="8352000"/>
            <a:ext cx="8856000" cy="165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cor indica a categoria principal que cada experiência informa, segundo a leitura do Capítulo 5.</a:t>
            </a:r>
            <a:endParaRPr lang="pt-BR" sz="130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Fonte: elaborado a partir dos Quadros 10 e 11 do Capítulo 5; base cartográfica Natural Earth.</a:t>
            </a:r>
            <a:endParaRPr lang="pt-BR" sz="1200" dirty="0"/>
          </a:p>
        </p:txBody>
      </p:sp>
      <p:sp>
        <p:nvSpPr>
          <p:cNvPr id="215" name="Cartão 215"/>
          <p:cNvSpPr/>
          <p:nvPr/>
        </p:nvSpPr>
        <p:spPr>
          <a:xfrm>
            <a:off x="9648000" y="360000"/>
            <a:ext cx="8352000" cy="9576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AMÉRICAS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EUA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National Ed. Technology Plan (2024)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fossos de acesso, desenho e uso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Canadá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Literacy Framework (BC)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literacia além dos equipamentos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México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@prende 2.0 (2016)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programas reiniciados a cada gestão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Costa Rica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PRONIE MEP-FOD (1988)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35 anos de continuidade, ruptura em 2023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Colômbia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Computadores para Educar (2000)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foco territorial e rural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 Peru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Una Laptop por Niño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sem ganhos equivalentes de aprendizagem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Chile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Red Enlaces (1992)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estabilidade institucional e avaliação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8 Argentina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Conectar Igualdad (2010)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reversões normativas em quinze anos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9 Uruguai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Plan Ceibal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universal e continuidade entre governos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★ Brasil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PNED (Lei nº 14.533/2023)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articulação nacional da educação digital</a:t>
            </a:r>
            <a:endParaRPr lang="pt-BR" sz="1700" dirty="0"/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EUROPA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10 União Europeia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DigComp, DigCompEdu e BIK+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referenciais comuns e proteção infantil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11 Portugal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PTE e INCoDe.2030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infraestrutura sem sustentação pedagógica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12 Espanha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Competência Digital Docente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ligada à carreira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13 Irlanda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Strategy for Schools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apoio continuado à escola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14 Reino Unido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DfE (2019)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política e mercado de EdTech entrelaçados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15 França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Stratégie du numérique 2023-2027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cidadania e soberania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16 Países Baixos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digitalização (OCDE, 2025)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alto, uso heterogêneo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17 Alemanha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DigitalPakt Schule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recursos sem coordenação entre escalas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18 Itália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PNSD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igual, usos desiguais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19 Finlândia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Currículo Nacional (2014)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decisão delegada ao município</a:t>
            </a:r>
            <a:endParaRPr lang="pt-BR" sz="1700" dirty="0"/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440000" y="288000"/>
            <a:ext cx="1540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COMPARAÇÃO TRAZ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para a tese: cinco categorias sensibilizadoras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576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Coordenar escalas faz parte da política (Alemanha, Finlândia, UE).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chega da União e do estado à rede, e o que a Secretaria repassa à escola?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576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2A6B67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Governança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4032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mediação dos profissionais é condição do uso; tempo e apoio contam.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formação chegou à escola, e quando?</a:t>
            </a:r>
            <a:endParaRPr lang="pt-BR" sz="2030" dirty="0"/>
          </a:p>
        </p:txBody>
      </p:sp>
      <p:sp>
        <p:nvSpPr>
          <p:cNvPr id="205" name="Cartão 205"/>
          <p:cNvSpPr/>
          <p:nvPr/>
        </p:nvSpPr>
        <p:spPr>
          <a:xfrm>
            <a:off x="4032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C9892B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Formação</a:t>
            </a:r>
            <a:endParaRPr lang="pt-BR" sz="2030" dirty="0"/>
          </a:p>
        </p:txBody>
      </p:sp>
      <p:sp>
        <p:nvSpPr>
          <p:cNvPr id="206" name="Cartão 206"/>
          <p:cNvSpPr/>
          <p:nvPr/>
        </p:nvSpPr>
        <p:spPr>
          <a:xfrm>
            <a:off x="7488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Condição relevante e insuficiente: equalizar o acesso não equalizou o uso (Itália, Peru).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que equipamentos se trabalha?</a:t>
            </a:r>
            <a:endParaRPr lang="pt-BR" sz="2030" dirty="0"/>
          </a:p>
        </p:txBody>
      </p:sp>
      <p:sp>
        <p:nvSpPr>
          <p:cNvPr id="207" name="Cartão 207"/>
          <p:cNvSpPr/>
          <p:nvPr/>
        </p:nvSpPr>
        <p:spPr>
          <a:xfrm>
            <a:off x="7488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4F7CAC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Infraestrutura</a:t>
            </a:r>
            <a:endParaRPr lang="pt-BR" sz="2030" dirty="0"/>
          </a:p>
        </p:txBody>
      </p:sp>
      <p:sp>
        <p:nvSpPr>
          <p:cNvPr id="208" name="Cartão 208"/>
          <p:cNvSpPr/>
          <p:nvPr/>
        </p:nvSpPr>
        <p:spPr>
          <a:xfrm>
            <a:off x="10944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Ceibal atravessou governos; a Argentina teve três reversões em quinze anos.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continuidade a rede municipal teve?</a:t>
            </a:r>
            <a:endParaRPr lang="pt-BR" sz="2030" dirty="0"/>
          </a:p>
        </p:txBody>
      </p:sp>
      <p:sp>
        <p:nvSpPr>
          <p:cNvPr id="209" name="Cartão 209"/>
          <p:cNvSpPr/>
          <p:nvPr/>
        </p:nvSpPr>
        <p:spPr>
          <a:xfrm>
            <a:off x="10944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8A5A9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Continuidade institucional</a:t>
            </a:r>
            <a:endParaRPr lang="pt-BR" sz="2030" dirty="0"/>
          </a:p>
        </p:txBody>
      </p:sp>
      <p:sp>
        <p:nvSpPr>
          <p:cNvPr id="210" name="Cartão 210"/>
          <p:cNvSpPr/>
          <p:nvPr/>
        </p:nvSpPr>
        <p:spPr>
          <a:xfrm>
            <a:off x="14400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Educação digital ligada à cidadania e à proteção das crianças (França, BIK+).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se faz com crianças de seis a dez anos?</a:t>
            </a:r>
            <a:endParaRPr lang="pt-BR" sz="2030" dirty="0"/>
          </a:p>
        </p:txBody>
      </p:sp>
      <p:sp>
        <p:nvSpPr>
          <p:cNvPr id="211" name="Cartão 211"/>
          <p:cNvSpPr/>
          <p:nvPr/>
        </p:nvSpPr>
        <p:spPr>
          <a:xfrm>
            <a:off x="14400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D9652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 digital</a:t>
            </a:r>
            <a:endParaRPr lang="pt-BR" sz="2030" dirty="0"/>
          </a:p>
        </p:txBody>
      </p:sp>
      <p:sp>
        <p:nvSpPr>
          <p:cNvPr id="212" name="Texto 212"/>
          <p:cNvSpPr txBox="1"/>
          <p:nvPr/>
        </p:nvSpPr>
        <p:spPr>
          <a:xfrm>
            <a:off x="720000" y="8640000"/>
            <a:ext cx="16920000" cy="154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2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Nenhuma experiência descreve Pipa. Fica a pergunta que nenhum caso responde: o que acontece quando a PNED chega a uma escola onde parte das condições que esses países apontam como necessárias não está garantida?</a:t>
            </a:r>
            <a:endParaRPr lang="pt-BR" sz="2102" dirty="0"/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 E 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vazio material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lei exige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Componente curricular obrigatório no ensino fundamental, após a derrubada do veto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Implementação curricular a partir de 2026 (Res. CNE/CEB nº 2/2025, art. 36)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tratada como ação de promoção</a:t>
            </a:r>
            <a:endParaRPr lang="pt-BR" sz="2102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 que meios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Inclusão digital “dentro dos limites orçamentários” de cada ente (art. 2º)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Art. 11: nenhum fundo próprio nem transferência obrigatória aos municípios</a:t>
            </a:r>
            <a:endParaRPr lang="pt-BR" sz="210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material: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proposição a verificar no campo</a:t>
            </a:r>
            <a:endParaRPr lang="pt-BR" sz="2102" dirty="0"/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MUNICÍPIO À ESCOLA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6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 Tibau do Sul a Pipa</a:t>
            </a:r>
            <a:endParaRPr lang="pt-BR" sz="3000" dirty="0"/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pic>
        <p:nvPicPr>
          <p:cNvPr id="201" name="Foto 201" descr="Mapa de localização do município de Tibau do Sul (RN)"/>
          <p:cNvPicPr>
            <a:picLocks noChangeAspect="1"/>
          </p:cNvPicPr>
          <p:nvPr/>
        </p:nvPicPr>
        <p:blipFill>
          <a:blip r:embed="rId11"/>
          <a:srcRect l="0" t="8" r="0" b="8"/>
          <a:stretch>
            <a:fillRect/>
          </a:stretch>
        </p:blipFill>
        <p:spPr>
          <a:xfrm>
            <a:off x="864000" y="576000"/>
            <a:ext cx="6984000" cy="777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2" name="Tacha 202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996000" y="36000"/>
            <a:ext cx="720000" cy="115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864000" y="8460000"/>
            <a:ext cx="6984000" cy="5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Tibau do Sul no Rio Grande do Norte. Base cartográfica IBGE; elaboração adaptada (2026).</a:t>
            </a:r>
            <a:endParaRPr lang="pt-BR" sz="1200" dirty="0"/>
          </a:p>
        </p:txBody>
      </p:sp>
      <p:sp>
        <p:nvSpPr>
          <p:cNvPr id="204" name="Título 204"/>
          <p:cNvSpPr txBox="1"/>
          <p:nvPr/>
        </p:nvSpPr>
        <p:spPr>
          <a:xfrm>
            <a:off x="8496000" y="432000"/>
            <a:ext cx="9216000" cy="21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TIBAU DO SUL</a:t>
            </a:r>
            <a:endParaRPr lang="pt-BR" sz="5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um município, muitas localidades</a:t>
            </a:r>
            <a:endParaRPr lang="pt-BR" sz="2800" dirty="0"/>
          </a:p>
        </p:txBody>
      </p:sp>
      <p:sp>
        <p:nvSpPr>
          <p:cNvPr id="205" name="Cartão 205"/>
          <p:cNvSpPr/>
          <p:nvPr/>
        </p:nvSpPr>
        <p:spPr>
          <a:xfrm>
            <a:off x="8496000" y="2664000"/>
            <a:ext cx="9288000" cy="7272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município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102,68 km² e 16.929 habitantes (IBGE, 2023; 2025); cerca de 40% rurais em 2010, a conferir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Só o distrito sede no IBGE; localidades com feições próprias: sede, Pipa, Sibaúma, Piau e povoados rurais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Sibaúma, comunidade quilombola certificada em 2005 (FUNDAÇÃO CULTURAL PALMARES, 2005)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rede e a Secretaria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Escolas na sede, em Pipa, em Sibaúma, em Piau e nos povoados (levantamento preliminar)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 Sibaúma, dois computadores (2007-2009) estragaram sem manutenção e a internet foi desativada (SILVA, 2011, p. 101-102)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Segundo o técnico da SME, há um plano elaborado para a rede como um todo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pergunta:</a:t>
            </a:r>
            <a:r>
              <a:rPr lang="pt-BR" sz="239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tradução municipal da PNED considera essas diferenças?</a:t>
            </a:r>
            <a:endParaRPr lang="pt-BR" sz="2392" dirty="0"/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360000"/>
            <a:ext cx="10512000" cy="252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PIPA E A ESCOLA</a:t>
            </a:r>
            <a:endParaRPr lang="pt-BR" sz="5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polo turístico lá fora, salas sem telas lá dentro</a:t>
            </a:r>
            <a:endParaRPr lang="pt-BR" sz="2800" dirty="0"/>
          </a:p>
        </p:txBody>
      </p:sp>
      <p:sp>
        <p:nvSpPr>
          <p:cNvPr id="202" name="Texto 202"/>
          <p:cNvSpPr txBox="1"/>
          <p:nvPr/>
        </p:nvSpPr>
        <p:spPr>
          <a:xfrm>
            <a:off x="3744000" y="2808000"/>
            <a:ext cx="10800000" cy="144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Vila de pescadores; surfistas desde os anos 1970; turismo internacional a partir dos anos 1990 (AIRES, 2012; ALVES, 2018). Hoje, pousadas, restaurantes e passeios vendidos pela internet.</a:t>
            </a:r>
            <a:endParaRPr lang="pt-BR" sz="2175" dirty="0"/>
          </a:p>
        </p:txBody>
      </p:sp>
      <p:pic>
        <p:nvPicPr>
          <p:cNvPr id="203" name="Foto 203" descr="Vista aérea contemporânea de Pipa e sua orla turística"/>
          <p:cNvPicPr>
            <a:picLocks noChangeAspect="1"/>
          </p:cNvPicPr>
          <p:nvPr/>
        </p:nvPicPr>
        <p:blipFill>
          <a:blip r:embed="rId11"/>
          <a:srcRect l="0" t="10063" r="0" b="10063"/>
          <a:stretch>
            <a:fillRect/>
          </a:stretch>
        </p:blipFill>
        <p:spPr>
          <a:xfrm rot="-72000">
            <a:off x="936000" y="4680000"/>
            <a:ext cx="5256000" cy="309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204000" y="4140000"/>
            <a:ext cx="720000" cy="1152000"/>
          </a:xfrm>
          <a:prstGeom prst="rect">
            <a:avLst/>
          </a:prstGeom>
        </p:spPr>
      </p:pic>
      <p:pic>
        <p:nvPicPr>
          <p:cNvPr id="205" name="Foto 205" descr="Laboratório de informática com equipamentos desligados"/>
          <p:cNvPicPr>
            <a:picLocks noChangeAspect="1"/>
          </p:cNvPicPr>
          <p:nvPr/>
        </p:nvPicPr>
        <p:blipFill>
          <a:blip r:embed="rId14"/>
          <a:srcRect l="2259" t="0" r="2259" b="0"/>
          <a:stretch>
            <a:fillRect/>
          </a:stretch>
        </p:blipFill>
        <p:spPr>
          <a:xfrm rot="60000">
            <a:off x="6516000" y="4680000"/>
            <a:ext cx="5256000" cy="309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6" name="Tacha 206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784000" y="4140000"/>
            <a:ext cx="720000" cy="1152000"/>
          </a:xfrm>
          <a:prstGeom prst="rect">
            <a:avLst/>
          </a:prstGeom>
        </p:spPr>
      </p:pic>
      <p:pic>
        <p:nvPicPr>
          <p:cNvPr id="207" name="Foto 207" descr="Alfabeto móvel confeccionado artesanalmente"/>
          <p:cNvPicPr>
            <a:picLocks noChangeAspect="1"/>
          </p:cNvPicPr>
          <p:nvPr/>
        </p:nvPicPr>
        <p:blipFill>
          <a:blip r:embed="rId15"/>
          <a:srcRect l="2259" t="0" r="2259" b="0"/>
          <a:stretch>
            <a:fillRect/>
          </a:stretch>
        </p:blipFill>
        <p:spPr>
          <a:xfrm rot="-60000">
            <a:off x="12096000" y="4680000"/>
            <a:ext cx="5256000" cy="309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8" name="Tacha 208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364000" y="4140000"/>
            <a:ext cx="720000" cy="115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936000" y="7884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Pipa hoje (Museu Digital de Pipa)</a:t>
            </a:r>
            <a:endParaRPr lang="pt-BR" sz="1500" dirty="0"/>
          </a:p>
        </p:txBody>
      </p:sp>
      <p:sp>
        <p:nvSpPr>
          <p:cNvPr id="210" name="Texto 210"/>
          <p:cNvSpPr txBox="1"/>
          <p:nvPr/>
        </p:nvSpPr>
        <p:spPr>
          <a:xfrm>
            <a:off x="6516000" y="7884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</a:t>
            </a:r>
            <a:endParaRPr lang="pt-BR" sz="1500" dirty="0"/>
          </a:p>
        </p:txBody>
      </p:sp>
      <p:sp>
        <p:nvSpPr>
          <p:cNvPr id="211" name="Texto 211"/>
          <p:cNvSpPr txBox="1"/>
          <p:nvPr/>
        </p:nvSpPr>
        <p:spPr>
          <a:xfrm>
            <a:off x="12096000" y="7884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Alfabeto móvel feito à mão</a:t>
            </a:r>
            <a:endParaRPr lang="pt-BR" sz="1500" dirty="0"/>
          </a:p>
        </p:txBody>
      </p:sp>
      <p:sp>
        <p:nvSpPr>
          <p:cNvPr id="212" name="Texto 212"/>
          <p:cNvSpPr txBox="1"/>
          <p:nvPr/>
        </p:nvSpPr>
        <p:spPr>
          <a:xfrm>
            <a:off x="936000" y="8424000"/>
            <a:ext cx="16416000" cy="172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Computadores adquiridos pela Prefeitura em 2022, segundo informação preliminar. </a:t>
            </a: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tecnológica:</a:t>
            </a: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forma “permanece aguardando o próximo movimento dinâmico da sociedade” (SANTOS, 2012, p. 74-75). Fotografias da escola: Acervo da pesquisa (2026).</a:t>
            </a:r>
            <a:endParaRPr lang="pt-BR" sz="2030" dirty="0"/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240000" y="216000"/>
            <a:ext cx="10584000" cy="23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TESE DE PARTIDA</a:t>
            </a:r>
            <a:endParaRPr lang="pt-BR" sz="30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forma assumida pela PNED no cotidiano escolar resulta da relação entre o que ela prescreve, o que a rede municipal traduz e as condições sob as quais os profissionais precisam atuar.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Daí podem surgir da adesão à resistência, que permanece hipótese a examinar nos dados.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880000"/>
            <a:ext cx="6912000" cy="331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Quem consegue habitar o digital, em que condições e com quais possibilidades de participação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304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880000"/>
            <a:ext cx="6912000" cy="3312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Equipamentos de 2022, anteriores à lei, chamados a cumprir nova função (com SANTOS, 2012)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304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552000"/>
            <a:ext cx="6912000" cy="331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346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Exigência curricular com data marcada e meios sem mecanismo federativo obrigatório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976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63870" y="389732"/>
            <a:ext cx="7320803" cy="9507536"/>
          </a:xfrm>
          <a:custGeom>
            <a:avLst/>
            <a:gdLst/>
            <a:ahLst/>
            <a:cxnLst/>
            <a:rect r="r" b="b" t="t" l="l"/>
            <a:pathLst>
              <a:path h="9507536" w="7320803">
                <a:moveTo>
                  <a:pt x="0" y="0"/>
                </a:moveTo>
                <a:lnTo>
                  <a:pt x="7320803" y="0"/>
                </a:lnTo>
                <a:lnTo>
                  <a:pt x="7320803" y="9507536"/>
                </a:lnTo>
                <a:lnTo>
                  <a:pt x="0" y="95075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755837">
            <a:off x="6716389" y="624673"/>
            <a:ext cx="2536569" cy="3461819"/>
          </a:xfrm>
          <a:custGeom>
            <a:avLst/>
            <a:gdLst/>
            <a:ahLst/>
            <a:cxnLst/>
            <a:rect r="r" b="b" t="t" l="l"/>
            <a:pathLst>
              <a:path h="3461819" w="2536569">
                <a:moveTo>
                  <a:pt x="0" y="0"/>
                </a:moveTo>
                <a:lnTo>
                  <a:pt x="2536569" y="0"/>
                </a:lnTo>
                <a:lnTo>
                  <a:pt x="2536569" y="3461819"/>
                </a:lnTo>
                <a:lnTo>
                  <a:pt x="0" y="34618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271139">
            <a:off x="1028984" y="792541"/>
            <a:ext cx="1715649" cy="2341456"/>
          </a:xfrm>
          <a:custGeom>
            <a:avLst/>
            <a:gdLst/>
            <a:ahLst/>
            <a:cxnLst/>
            <a:rect r="r" b="b" t="t" l="l"/>
            <a:pathLst>
              <a:path h="2341456" w="1715649">
                <a:moveTo>
                  <a:pt x="0" y="0"/>
                </a:moveTo>
                <a:lnTo>
                  <a:pt x="1715649" y="0"/>
                </a:lnTo>
                <a:lnTo>
                  <a:pt x="1715649" y="2341456"/>
                </a:lnTo>
                <a:lnTo>
                  <a:pt x="0" y="23414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4216803" y="-508556"/>
            <a:ext cx="5298582" cy="4633851"/>
          </a:xfrm>
          <a:custGeom>
            <a:avLst/>
            <a:gdLst/>
            <a:ahLst/>
            <a:cxnLst/>
            <a:rect r="r" b="b" t="t" l="l"/>
            <a:pathLst>
              <a:path h="4633851" w="5298582">
                <a:moveTo>
                  <a:pt x="0" y="0"/>
                </a:moveTo>
                <a:lnTo>
                  <a:pt x="5298583" y="0"/>
                </a:lnTo>
                <a:lnTo>
                  <a:pt x="5298583" y="4633851"/>
                </a:lnTo>
                <a:lnTo>
                  <a:pt x="0" y="46338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10754" y="389732"/>
            <a:ext cx="3595229" cy="2542807"/>
          </a:xfrm>
          <a:custGeom>
            <a:avLst/>
            <a:gdLst/>
            <a:ahLst/>
            <a:cxnLst/>
            <a:rect r="r" b="b" t="t" l="l"/>
            <a:pathLst>
              <a:path h="2542807" w="3595229">
                <a:moveTo>
                  <a:pt x="0" y="0"/>
                </a:moveTo>
                <a:lnTo>
                  <a:pt x="3595229" y="0"/>
                </a:lnTo>
                <a:lnTo>
                  <a:pt x="3595229" y="2542807"/>
                </a:lnTo>
                <a:lnTo>
                  <a:pt x="0" y="254280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419711">
            <a:off x="-669291" y="7248429"/>
            <a:ext cx="3275863" cy="3654614"/>
          </a:xfrm>
          <a:custGeom>
            <a:avLst/>
            <a:gdLst/>
            <a:ahLst/>
            <a:cxnLst/>
            <a:rect r="r" b="b" t="t" l="l"/>
            <a:pathLst>
              <a:path h="3654614" w="3275863">
                <a:moveTo>
                  <a:pt x="0" y="0"/>
                </a:moveTo>
                <a:lnTo>
                  <a:pt x="3275863" y="0"/>
                </a:lnTo>
                <a:lnTo>
                  <a:pt x="3275863" y="3654614"/>
                </a:lnTo>
                <a:lnTo>
                  <a:pt x="0" y="365461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5446635" y="61722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3024000"/>
            <a:ext cx="9000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QUESTÃO ABERTA</a:t>
            </a:r>
            <a:endParaRPr lang="pt-BR" sz="4400" dirty="0"/>
          </a:p>
        </p:txBody>
      </p:sp>
      <p:sp>
        <p:nvSpPr>
          <p:cNvPr id="202" name="Texto 202"/>
          <p:cNvSpPr txBox="1"/>
          <p:nvPr/>
        </p:nvSpPr>
        <p:spPr>
          <a:xfrm>
            <a:off x="8568000" y="4176000"/>
            <a:ext cx="9216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política fez da educação digital um direito e deixou os meios na dependência de cada ente federado. A pergunta de fundo, que só as narrativas podem responder: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8568000" y="5292000"/>
            <a:ext cx="9216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Quando a política não faz chegar o equipamento nem a formação, quem paga, no cotidiano escolar, por esse vazio material e formativo?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 o que isso significa para os direitos que a lei prometeu às crianças?</a:t>
            </a:r>
            <a:endParaRPr lang="pt-BR" sz="2248" dirty="0"/>
          </a:p>
        </p:txBody>
      </p:sp>
      <p:sp>
        <p:nvSpPr>
          <p:cNvPr id="204" name="Cartão 204"/>
          <p:cNvSpPr/>
          <p:nvPr/>
        </p:nvSpPr>
        <p:spPr>
          <a:xfrm>
            <a:off x="8568000" y="7884000"/>
            <a:ext cx="9216000" cy="2160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Próximos passos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 · campo em dez semanas após a aprovação · análise documental: os documentos da escola já foram solicitados à direção, e os municipais, ao técnico da Secretaria de Educação · capítulo 7, com as narrativas dos profissionais · contribuições da banca</a:t>
            </a:r>
            <a:endParaRPr lang="pt-BR" sz="1885" dirty="0"/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498597" y="-108828"/>
            <a:ext cx="6582509" cy="10746953"/>
          </a:xfrm>
          <a:custGeom>
            <a:avLst/>
            <a:gdLst/>
            <a:ahLst/>
            <a:cxnLst/>
            <a:rect r="r" b="b" t="t" l="l"/>
            <a:pathLst>
              <a:path h="10746953" w="6582509">
                <a:moveTo>
                  <a:pt x="0" y="0"/>
                </a:moveTo>
                <a:lnTo>
                  <a:pt x="6582509" y="0"/>
                </a:lnTo>
                <a:lnTo>
                  <a:pt x="6582509" y="10746953"/>
                </a:lnTo>
                <a:lnTo>
                  <a:pt x="0" y="107469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797725">
            <a:off x="13679956" y="-1054879"/>
            <a:ext cx="4476702" cy="4994292"/>
          </a:xfrm>
          <a:custGeom>
            <a:avLst/>
            <a:gdLst/>
            <a:ahLst/>
            <a:cxnLst/>
            <a:rect r="r" b="b" t="t" l="l"/>
            <a:pathLst>
              <a:path h="4994292" w="4476702">
                <a:moveTo>
                  <a:pt x="0" y="0"/>
                </a:moveTo>
                <a:lnTo>
                  <a:pt x="4476701" y="0"/>
                </a:lnTo>
                <a:lnTo>
                  <a:pt x="4476701" y="4994292"/>
                </a:lnTo>
                <a:lnTo>
                  <a:pt x="0" y="49942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944550" y="2366363"/>
            <a:ext cx="5751911" cy="14071953"/>
          </a:xfrm>
          <a:custGeom>
            <a:avLst/>
            <a:gdLst/>
            <a:ahLst/>
            <a:cxnLst/>
            <a:rect r="r" b="b" t="t" l="l"/>
            <a:pathLst>
              <a:path h="14071953" w="5751911">
                <a:moveTo>
                  <a:pt x="0" y="0"/>
                </a:moveTo>
                <a:lnTo>
                  <a:pt x="5751911" y="0"/>
                </a:lnTo>
                <a:lnTo>
                  <a:pt x="5751911" y="14071954"/>
                </a:lnTo>
                <a:lnTo>
                  <a:pt x="0" y="1407195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0">
            <a:off x="792658" y="5143500"/>
            <a:ext cx="4946577" cy="5519194"/>
          </a:xfrm>
          <a:custGeom>
            <a:avLst/>
            <a:gdLst/>
            <a:ahLst/>
            <a:cxnLst/>
            <a:rect r="r" b="b" t="t" l="l"/>
            <a:pathLst>
              <a:path h="5519194" w="4946577">
                <a:moveTo>
                  <a:pt x="4946577" y="0"/>
                </a:moveTo>
                <a:lnTo>
                  <a:pt x="0" y="0"/>
                </a:lnTo>
                <a:lnTo>
                  <a:pt x="0" y="5519194"/>
                </a:lnTo>
                <a:lnTo>
                  <a:pt x="4946577" y="5519194"/>
                </a:lnTo>
                <a:lnTo>
                  <a:pt x="4946577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0">
            <a:off x="11066058" y="4957733"/>
            <a:ext cx="6322410" cy="7438130"/>
          </a:xfrm>
          <a:custGeom>
            <a:avLst/>
            <a:gdLst/>
            <a:ahLst/>
            <a:cxnLst/>
            <a:rect r="r" b="b" t="t" l="l"/>
            <a:pathLst>
              <a:path h="7438130" w="6322410">
                <a:moveTo>
                  <a:pt x="6322410" y="0"/>
                </a:moveTo>
                <a:lnTo>
                  <a:pt x="0" y="0"/>
                </a:lnTo>
                <a:lnTo>
                  <a:pt x="0" y="7438130"/>
                </a:lnTo>
                <a:lnTo>
                  <a:pt x="6322410" y="7438130"/>
                </a:lnTo>
                <a:lnTo>
                  <a:pt x="632241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976517" y="-809891"/>
            <a:ext cx="4294014" cy="3427404"/>
          </a:xfrm>
          <a:custGeom>
            <a:avLst/>
            <a:gdLst/>
            <a:ahLst/>
            <a:cxnLst/>
            <a:rect r="r" b="b" t="t" l="l"/>
            <a:pathLst>
              <a:path h="3427404" w="4294014">
                <a:moveTo>
                  <a:pt x="0" y="0"/>
                </a:moveTo>
                <a:lnTo>
                  <a:pt x="4294014" y="0"/>
                </a:lnTo>
                <a:lnTo>
                  <a:pt x="4294014" y="3427404"/>
                </a:lnTo>
                <a:lnTo>
                  <a:pt x="0" y="342740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526312">
            <a:off x="6081818" y="6805324"/>
            <a:ext cx="5385775" cy="4905951"/>
          </a:xfrm>
          <a:custGeom>
            <a:avLst/>
            <a:gdLst/>
            <a:ahLst/>
            <a:cxnLst/>
            <a:rect r="r" b="b" t="t" l="l"/>
            <a:pathLst>
              <a:path h="4905951" w="5385775">
                <a:moveTo>
                  <a:pt x="0" y="0"/>
                </a:moveTo>
                <a:lnTo>
                  <a:pt x="5385774" y="0"/>
                </a:lnTo>
                <a:lnTo>
                  <a:pt x="5385774" y="4905952"/>
                </a:lnTo>
                <a:lnTo>
                  <a:pt x="0" y="490595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960000" y="2232000"/>
            <a:ext cx="1036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AGRADEÇO</a:t>
            </a:r>
            <a:endParaRPr lang="pt-BR" sz="11000" dirty="0"/>
          </a:p>
        </p:txBody>
      </p:sp>
      <p:sp>
        <p:nvSpPr>
          <p:cNvPr id="202" name="Texto 202"/>
          <p:cNvSpPr txBox="1"/>
          <p:nvPr/>
        </p:nvSpPr>
        <p:spPr>
          <a:xfrm>
            <a:off x="3960000" y="4428000"/>
            <a:ext cx="10368000" cy="64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pela atenção e pelas contribuições</a:t>
            </a:r>
            <a:endParaRPr lang="pt-BR" sz="2900" dirty="0"/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(1/2)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AIRES, Jussara Danielle Martins.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Histórias e relatos sobre Pipa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praia internacional do Rio Grande do Norte. 2012. 114 f. Dissertação (Mestrado em Ciências Sociais) – Programa de Pós-Graduação em Ciências Sociais, Universidade Federal do Rio Grande do Norte, Natal,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ALVES, Josemery Araújo.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Turismo, recursos de uso comum e conflitos socioambientais em Pipa-Tibau do Sul/RN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perspectiva à luz dos princípios de Ostrom. 2018. Tese (Doutorado em Recursos Naturais) – Universidade Federal de Campina Grande, Campina Grande, 2018.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Reformar escolas/reformar professores e os terrores da performatividade.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Revista Portuguesa de Educação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Braga, v. 15, n. 2, p. 3-23, 2002.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education debate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Bristol: The Policy Press,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Sociologia das políticas educacionais e pesquisa crítico-social: uma revisão pessoal das políticas educacionais e da pesquisa em política educacional. In: BALL, Stephen J.; MAINARDES, Jefferson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Políticas educacionais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questões e dilemas. São Paulo: Cortez, 2011. p. 21-53.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J.; MAGUIRE, Meg; BRAUN, Annette.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as escolas fazem as políticas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atuação em escolas secundárias. Tradução de Janete Bridon. Ponta Grossa: Editora UEPG, 2016.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BANCO MUNDIAL.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Reimagining Human Connections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Technology and Innovation in Education at the World Bank. Washington, DC: World Bank, 2020.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Richard; BALL, Stephen J.; GOLD, Anne.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Reforming education and changing schools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case studies in policy sociology. London: Routledge, 1992.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466, de 12 de dezembro de 2012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Aprova diretrizes e normas regulamentadoras de pesquisas envolvendo seres humanos. Brasília, DF: CNS,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510, de 7 de abril de 2016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Dispõe sobre as normas aplicáveis a pesquisas em Ciências Humanas e Sociais. Brasília, DF: CNS, 2016.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14.533, de 11 de janeiro de 2023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 Política Nacional de Educação Digital. Brasília, DF: Presidência da República, 2023.</a:t>
            </a:r>
            <a:endParaRPr lang="pt-BR" sz="15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Educação. Câmara de Educação Básica.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CNE/CEB nº 2, de 21 de março de 2025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as Diretrizes Operacionais Nacionais sobre o uso de dispositivos digitais em espaços escolares e integração curricular de educação digital e midiática. Brasília, DF: CNE, 2025.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Using thematic analysis in psychology.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Psychology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3, n. 2, p. 77-101,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Reflecting on reflexive thematic analysis.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Sport, Exercise and Health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11, n. 4, p. 589-597, 2019.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DI FELICE, Massimo.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Paisagens pós-urbanas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o fim da experiência urbana e as formas comunicativas do habitar. São Paulo: Annablume, 2009.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FOUCAULT, Michel.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Vigiar e punir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nascimento da prisão. Tradução de Raquel Ramalhete. 20. ed. Petrópolis: Vozes, 1999.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FREIRE, Paulo.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Pedagogia da autonomia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saberes necessários à prática educativa. 60. ed. Rio de Janeiro: Paz e Terra, 2019.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FUNDAÇÃO CULTURAL PALMARES. Portaria nº 26, de 6 de junho de 2005.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Diário Oficial da União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seção 1, Brasília, DF, 8 jun. 2005.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HARGREAVES, Andy.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Profesorado, cultura y postmodernidad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cambian los tiempos, cambia el profesorado. 5. ed. Madrid: Morata, 2005.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Censo Demográfico 2022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população e domicílios: primeiros resultados. Rio de Janeiro: IBGE, 2023.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Cidades@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Tibau do Sul. Rio de Janeiro: IBGE, 2025. Disponível em: https://cidades.ibge.gov.br/brasil/rn/tibau-do-sul.</a:t>
            </a:r>
            <a:endParaRPr lang="pt-BR" sz="1550" dirty="0"/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(2/2)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LOCKWOOD, Craig et al. Qualitative research synthesis: methodological guidance for systematic reviewers utilizing meta-aggregation.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International Journal of Evidence-Based Healthcare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13, n. 3, p. 179-187, 2015.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MAINARDES, Jefferson. Abordagem do ciclo de políticas: uma contribuição para a análise de políticas educacionais.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27, n. 94, p. 47-69, jan./abr.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MASSEY, Doreen.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Pelo espaço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nova política da espacialidade. Tradução de Hilda Pareto Maciel e Rogério Haesbaert. Rio de Janeiro: Bertrand Brasil,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MINAYO, Maria Cecília de Souza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Pesquisa social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teoria, método e criatividade. 28. ed. Petrópolis: Vozes, 2009.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MOROZOV, Evgeny.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Big Tech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ascensão dos dados e a morte da política. Tradução de Claudio Marcondes. São Paulo: Ubu Editora, 2018.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OCDE.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Students, computers and learning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making the connection. Paris: OECD Publishing, 2015.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ONU. Comitê dos Direitos da Criança.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Comentário Geral nº 25 (2021) sobre os direitos das crianças em relação ao ambiente digital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Genebra: Organização das Nações Unidas, 2021.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PAGE, Matthew J. et al. A declaração PRISMA 2020: diretriz atualizada para relatar revisões sistemáticas.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Epidemiologia e Serviços de Saúde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Brasília, v. 31, n. 2, e2022107, 2022.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PRETTO, Nelson De Luca; CORDEIRO, Salete Noro; OLIVEIRA, Washington dos Santos. Produção cultural e compartilhamento de saberes em rede: entraves e possibilidades para a cultura e a educação.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em Revista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Belo Horizonte, v. 29, n. 3, p. 17-40, set. 2013.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O território e o saber local: algumas categorias de análise.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Cadernos IPPUR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Rio de Janeiro, ano 13, n. 2, p. 15-26, 1999.</a:t>
            </a:r>
            <a:endParaRPr lang="pt-BR" sz="15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natureza do espaço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técnica e tempo, razão e emoção. 4. ed. 2. reimpr. São Paulo: Editora da Universidade de São Paulo,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Espaço e método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5. ed., 1. reimpr. São Paulo: Editora da Universidade de São Paulo,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SCHLEMMER, Eliane; BACKES, Luciana; PALAGI, Ana Maria Marques. O habitar do ensinar e do aprender OnLIFE: vivências na educação contemporânea. In: SCHLEMMER, Eliane et al.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habitar do ensinar e do aprender OnLIFE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vivências na educação contemporânea. São Leopoldo: Casa Leiria, 2021. p. 15-34.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SILVA, Terezinha Martins da.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educação escolar na comunidade negra de Sibaúma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trajetória educacional da Escola Municipal Armando de Paiva. 2011. 139 f. Dissertação (Mestrado em Educação) – Universidade Federal do Rio Grande do Norte, Natal, 2011.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SILVEIRA, Sergio Amadeu da.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Tudo sobre tod@s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redes digitais, privacidade e venda de dados pessoais. São Paulo: Edições Sesc São Paulo, 2017. E-book.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THOMAS, James; HARDEN, Angela. Methods for the thematic synthesis of qualitative research in systematic reviews.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BMC Medical Research Methodology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8, art. 45,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TIBAU DO SUL. Secretaria de Educação.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sintético de turmas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EM Domitila Castelo da Silva, Ensino Fundamental – anos iniciais, ano 2026. Tibau do Sul: Portal SIGEduc, 2026.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UNESCO.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de monitoramento global da educação 2023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tecnologia na educação: uma ferramenta nos termos de quem? Paris: UNESCO, 2023.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YIN, Robert K.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planejamento e métodos. 2. ed. Porto Alegre: Bookman, 2001.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ZUBOFF, Shoshana.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era do capitalismo de vigilância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luta por um futuro humano na nova fronteira do poder. Tradução de George Schlesinger. Rio de Janeiro: Intrínseca, 2021. E-book.</a:t>
            </a:r>
            <a:endParaRPr lang="pt-BR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DAHW_3ivhS8</dc:identifier>
  <dcterms:modified xsi:type="dcterms:W3CDTF">2011-08-01T06:04:30Z</dcterms:modified>
  <cp:revision>1</cp:revision>
</cp:coreProperties>
</file>