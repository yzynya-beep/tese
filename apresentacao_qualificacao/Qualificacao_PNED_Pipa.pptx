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  <Default Extension="jpg" ContentType="image/jpeg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  <p:sldId id="297" r:id="rId50"/>
    <p:sldId id="298" r:id="rId51"/>
    <p:sldId id="299" r:id="rId52"/>
    <p:sldId id="300" r:id="rId53"/>
    <p:sldId id="301" r:id="rId54"/>
  </p:sldIdLst>
  <p:sldSz cx="18288000" cy="10287000"/>
  <p:notesSz cx="6858000" cy="9144000"/>
  <p:embeddedFontLst>
    <p:embeddedFont>
      <p:font typeface="BM Hanna" charset="1" panose="02000503000000020003"/>
      <p:regular r:id="rId17"/>
    </p:embeddedFont>
    <p:embeddedFont>
      <p:font typeface="Canva Sans Bold" charset="1" panose="020B0803030501040103"/>
      <p:regular r:id="rId18"/>
    </p:embeddedFont>
    <p:embeddedFont>
      <p:font typeface="Canva Sans" charset="1" panose="020B0503030501040103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arget="slideMasters/slideMaster1.xml" Type="http://schemas.openxmlformats.org/officeDocument/2006/relationships/slideMaster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  <Relationship Id="rId20" Type="http://schemas.openxmlformats.org/officeDocument/2006/relationships/slide" Target="slides/slide12.xml"/>
  <Relationship Id="rId21" Type="http://schemas.openxmlformats.org/officeDocument/2006/relationships/slide" Target="slides/slide13.xml"/>
  <Relationship Id="rId22" Type="http://schemas.openxmlformats.org/officeDocument/2006/relationships/slide" Target="slides/slide14.xml"/>
  <Relationship Id="rId23" Type="http://schemas.openxmlformats.org/officeDocument/2006/relationships/slide" Target="slides/slide15.xml"/>
  <Relationship Id="rId24" Type="http://schemas.openxmlformats.org/officeDocument/2006/relationships/slide" Target="slides/slide16.xml"/>
  <Relationship Id="rId25" Type="http://schemas.openxmlformats.org/officeDocument/2006/relationships/slide" Target="slides/slide17.xml"/>
  <Relationship Id="rId26" Type="http://schemas.openxmlformats.org/officeDocument/2006/relationships/slide" Target="slides/slide18.xml"/>
  <Relationship Id="rId27" Type="http://schemas.openxmlformats.org/officeDocument/2006/relationships/slide" Target="slides/slide19.xml"/>
  <Relationship Id="rId28" Type="http://schemas.openxmlformats.org/officeDocument/2006/relationships/slide" Target="slides/slide20.xml"/>
  <Relationship Id="rId29" Type="http://schemas.openxmlformats.org/officeDocument/2006/relationships/slide" Target="slides/slide21.xml"/>
  <Relationship Id="rId30" Type="http://schemas.openxmlformats.org/officeDocument/2006/relationships/slide" Target="slides/slide22.xml"/>
  <Relationship Id="rId31" Type="http://schemas.openxmlformats.org/officeDocument/2006/relationships/slide" Target="slides/slide23.xml"/>
  <Relationship Id="rId32" Type="http://schemas.openxmlformats.org/officeDocument/2006/relationships/slide" Target="slides/slide24.xml"/>
  <Relationship Id="rId33" Type="http://schemas.openxmlformats.org/officeDocument/2006/relationships/slide" Target="slides/slide25.xml"/>
  <Relationship Id="rId34" Type="http://schemas.openxmlformats.org/officeDocument/2006/relationships/slide" Target="slides/slide26.xml"/>
  <Relationship Id="rId35" Type="http://schemas.openxmlformats.org/officeDocument/2006/relationships/slide" Target="slides/slide27.xml"/>
  <Relationship Id="rId36" Type="http://schemas.openxmlformats.org/officeDocument/2006/relationships/slide" Target="slides/slide28.xml"/>
  <Relationship Id="rId37" Type="http://schemas.openxmlformats.org/officeDocument/2006/relationships/slide" Target="slides/slide29.xml"/>
  <Relationship Id="rId38" Type="http://schemas.openxmlformats.org/officeDocument/2006/relationships/slide" Target="slides/slide30.xml"/>
  <Relationship Id="rId39" Type="http://schemas.openxmlformats.org/officeDocument/2006/relationships/slide" Target="slides/slide31.xml"/>
  <Relationship Id="rId40" Type="http://schemas.openxmlformats.org/officeDocument/2006/relationships/slide" Target="slides/slide32.xml"/>
  <Relationship Id="rId41" Type="http://schemas.openxmlformats.org/officeDocument/2006/relationships/slide" Target="slides/slide33.xml"/>
  <Relationship Id="rId42" Type="http://schemas.openxmlformats.org/officeDocument/2006/relationships/slide" Target="slides/slide34.xml"/>
  <Relationship Id="rId43" Type="http://schemas.openxmlformats.org/officeDocument/2006/relationships/slide" Target="slides/slide35.xml"/>
  <Relationship Id="rId44" Type="http://schemas.openxmlformats.org/officeDocument/2006/relationships/slide" Target="slides/slide36.xml"/>
  <Relationship Id="rId45" Type="http://schemas.openxmlformats.org/officeDocument/2006/relationships/slide" Target="slides/slide37.xml"/>
  <Relationship Id="rId46" Type="http://schemas.openxmlformats.org/officeDocument/2006/relationships/slide" Target="slides/slide38.xml"/>
  <Relationship Id="rId47" Type="http://schemas.openxmlformats.org/officeDocument/2006/relationships/slide" Target="slides/slide39.xml"/>
  <Relationship Id="rId48" Type="http://schemas.openxmlformats.org/officeDocument/2006/relationships/slide" Target="slides/slide40.xml"/>
  <Relationship Id="rId49" Type="http://schemas.openxmlformats.org/officeDocument/2006/relationships/slide" Target="slides/slide41.xml"/>
  <Relationship Id="rId50" Type="http://schemas.openxmlformats.org/officeDocument/2006/relationships/slide" Target="slides/slide42.xml"/>
  <Relationship Id="rId51" Type="http://schemas.openxmlformats.org/officeDocument/2006/relationships/slide" Target="slides/slide43.xml"/>
  <Relationship Id="rId52" Type="http://schemas.openxmlformats.org/officeDocument/2006/relationships/slide" Target="slides/slide44.xml"/>
  <Relationship Id="rId53" Type="http://schemas.openxmlformats.org/officeDocument/2006/relationships/slide" Target="slides/slide45.xml"/>
  <Relationship Id="rId54" Type="http://schemas.openxmlformats.org/officeDocument/2006/relationships/slide" Target="slides/slide46.xml"/>
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1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1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1.svg" Type="http://schemas.openxmlformats.org/officeDocument/2006/relationships/image"/><Relationship Id="rId2" Target="../media/image1.pn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16.png" Type="http://schemas.openxmlformats.org/officeDocument/2006/relationships/image"/><Relationship Id="rId6" Target="../media/image1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20.png" Type="http://schemas.openxmlformats.org/officeDocument/2006/relationships/image"/></Relationships>
</file>

<file path=ppt/slides/_rels/slide1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7.svg" Type="http://schemas.openxmlformats.org/officeDocument/2006/relationships/image"/><Relationship Id="rId2" Target="../media/image1.png" Type="http://schemas.openxmlformats.org/officeDocument/2006/relationships/image"/><Relationship Id="rId3" Target="../media/image18.png" Type="http://schemas.openxmlformats.org/officeDocument/2006/relationships/image"/><Relationship Id="rId4" Target="../media/image19.svg" Type="http://schemas.openxmlformats.org/officeDocument/2006/relationships/image"/><Relationship Id="rId5" Target="../media/image22.png" Type="http://schemas.openxmlformats.org/officeDocument/2006/relationships/image"/><Relationship Id="rId6" Target="../media/image23.svg" Type="http://schemas.openxmlformats.org/officeDocument/2006/relationships/image"/><Relationship Id="rId7" Target="../media/image24.png" Type="http://schemas.openxmlformats.org/officeDocument/2006/relationships/image"/><Relationship Id="rId8" Target="../media/image25.svg" Type="http://schemas.openxmlformats.org/officeDocument/2006/relationships/image"/><Relationship Id="rId9" Target="../media/image26.png" Type="http://schemas.openxmlformats.org/officeDocument/2006/relationships/image"/></Relationships>
</file>

<file path=ppt/slides/_rels/slide1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1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1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1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7.svg" Type="http://schemas.openxmlformats.org/officeDocument/2006/relationships/image"/><Relationship Id="rId2" Target="../media/image1.png" Type="http://schemas.openxmlformats.org/officeDocument/2006/relationships/image"/><Relationship Id="rId3" Target="../media/image18.png" Type="http://schemas.openxmlformats.org/officeDocument/2006/relationships/image"/><Relationship Id="rId4" Target="../media/image19.svg" Type="http://schemas.openxmlformats.org/officeDocument/2006/relationships/image"/><Relationship Id="rId5" Target="../media/image22.png" Type="http://schemas.openxmlformats.org/officeDocument/2006/relationships/image"/><Relationship Id="rId6" Target="../media/image23.svg" Type="http://schemas.openxmlformats.org/officeDocument/2006/relationships/image"/><Relationship Id="rId7" Target="../media/image24.png" Type="http://schemas.openxmlformats.org/officeDocument/2006/relationships/image"/><Relationship Id="rId8" Target="../media/image25.svg" Type="http://schemas.openxmlformats.org/officeDocument/2006/relationships/image"/><Relationship Id="rId9" Target="../media/image26.png" Type="http://schemas.openxmlformats.org/officeDocument/2006/relationships/image"/></Relationships>
</file>

<file path=ppt/slides/_rels/slide2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svg" Type="http://schemas.openxmlformats.org/officeDocument/2006/relationships/image"/><Relationship Id="rId11" Target="../media/image6.png" Type="http://schemas.openxmlformats.org/officeDocument/2006/relationships/image"/><Relationship Id="rId12" Target="../media/image7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44.png" Type="http://schemas.openxmlformats.org/officeDocument/2006/relationships/image"/><Relationship Id="rId6" Target="../media/image45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46.png" Type="http://schemas.openxmlformats.org/officeDocument/2006/relationships/image"/></Relationships>
</file>

<file path=ppt/slides/_rels/slide2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1.svg" Type="http://schemas.openxmlformats.org/officeDocument/2006/relationships/image"/><Relationship Id="rId2" Target="../media/image1.pn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16.png" Type="http://schemas.openxmlformats.org/officeDocument/2006/relationships/image"/><Relationship Id="rId6" Target="../media/image1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20.png" Type="http://schemas.openxmlformats.org/officeDocument/2006/relationships/image"/></Relationships>
</file>

<file path=ppt/slides/_rels/slide2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2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3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3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7.svg" Type="http://schemas.openxmlformats.org/officeDocument/2006/relationships/image"/><Relationship Id="rId2" Target="../media/image1.png" Type="http://schemas.openxmlformats.org/officeDocument/2006/relationships/image"/><Relationship Id="rId3" Target="../media/image18.png" Type="http://schemas.openxmlformats.org/officeDocument/2006/relationships/image"/><Relationship Id="rId4" Target="../media/image19.svg" Type="http://schemas.openxmlformats.org/officeDocument/2006/relationships/image"/><Relationship Id="rId5" Target="../media/image22.png" Type="http://schemas.openxmlformats.org/officeDocument/2006/relationships/image"/><Relationship Id="rId6" Target="../media/image23.svg" Type="http://schemas.openxmlformats.org/officeDocument/2006/relationships/image"/><Relationship Id="rId7" Target="../media/image24.png" Type="http://schemas.openxmlformats.org/officeDocument/2006/relationships/image"/><Relationship Id="rId8" Target="../media/image25.svg" Type="http://schemas.openxmlformats.org/officeDocument/2006/relationships/image"/><Relationship Id="rId9" Target="../media/image26.png" Type="http://schemas.openxmlformats.org/officeDocument/2006/relationships/image"/></Relationships>
</file>

<file path=ppt/slides/_rels/slide3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3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3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3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3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svg" Type="http://schemas.openxmlformats.org/officeDocument/2006/relationships/image"/><Relationship Id="rId11" Target="../media/image6.png" Type="http://schemas.openxmlformats.org/officeDocument/2006/relationships/image"/><Relationship Id="rId12" Target="../media/image7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44.png" Type="http://schemas.openxmlformats.org/officeDocument/2006/relationships/image"/><Relationship Id="rId6" Target="../media/image45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46.png" Type="http://schemas.openxmlformats.org/officeDocument/2006/relationships/image"/></Relationships>
</file>

<file path=ppt/slides/_rels/slide3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3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3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03_barco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Relationship Id="rId14" Type="http://schemas.openxmlformats.org/officeDocument/2006/relationships/image" Target="../media/pesq_fig12_surfistas_1991.jpg"/></Relationships>
</file>

<file path=ppt/slides/_rels/slide4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Relationship Id="rId13" Type="http://schemas.openxmlformats.org/officeDocument/2006/relationships/image" Target="../media/pesq_fig15_vista_aerea.jpg"/><Relationship Id="rId14" Type="http://schemas.openxmlformats.org/officeDocument/2006/relationships/image" Target="../media/image14.png"/><Relationship Id="rId15" Type="http://schemas.openxmlformats.org/officeDocument/2006/relationships/image" Target="../media/image15.svg"/></Relationships>
</file>

<file path=ppt/slides/_rels/slide4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.svg" Type="http://schemas.openxmlformats.org/officeDocument/2006/relationships/image"/><Relationship Id="rId11" Target="../media/image58.png" Type="http://schemas.openxmlformats.org/officeDocument/2006/relationships/image"/><Relationship Id="rId12" Target="../media/image59.svg" Type="http://schemas.openxmlformats.org/officeDocument/2006/relationships/image"/><Relationship Id="rId13" Target="../media/image52.png" Type="http://schemas.openxmlformats.org/officeDocument/2006/relationships/image"/><Relationship Id="rId14" Target="../media/image53.svg" Type="http://schemas.openxmlformats.org/officeDocument/2006/relationships/image"/><Relationship Id="rId2" Target="../media/image1.png" Type="http://schemas.openxmlformats.org/officeDocument/2006/relationships/image"/><Relationship Id="rId3" Target="../media/image54.png" Type="http://schemas.openxmlformats.org/officeDocument/2006/relationships/image"/><Relationship Id="rId4" Target="../media/image55.svg" Type="http://schemas.openxmlformats.org/officeDocument/2006/relationships/image"/><Relationship Id="rId5" Target="../media/image56.png" Type="http://schemas.openxmlformats.org/officeDocument/2006/relationships/image"/><Relationship Id="rId6" Target="../media/image5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4.png" Type="http://schemas.openxmlformats.org/officeDocument/2006/relationships/image"/><Relationship Id="rId15" Type="http://schemas.openxmlformats.org/officeDocument/2006/relationships/image" Target="../media/pesq_fig22_fachada.jpg"/><Relationship Id="rId16" Type="http://schemas.openxmlformats.org/officeDocument/2006/relationships/image" Target="../media/image14.png"/><Relationship Id="rId17" Type="http://schemas.openxmlformats.org/officeDocument/2006/relationships/image" Target="../media/image15.svg"/><Relationship Id="rId18" Type="http://schemas.openxmlformats.org/officeDocument/2006/relationships/image" Target="../media/pesq_fig25_laboratorio.jpg"/></Relationships>
</file>

<file path=ppt/slides/_rels/slide4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7.svg" Type="http://schemas.openxmlformats.org/officeDocument/2006/relationships/image"/><Relationship Id="rId2" Target="../media/image1.png" Type="http://schemas.openxmlformats.org/officeDocument/2006/relationships/image"/><Relationship Id="rId3" Target="../media/image18.png" Type="http://schemas.openxmlformats.org/officeDocument/2006/relationships/image"/><Relationship Id="rId4" Target="../media/image19.svg" Type="http://schemas.openxmlformats.org/officeDocument/2006/relationships/image"/><Relationship Id="rId5" Target="../media/image22.png" Type="http://schemas.openxmlformats.org/officeDocument/2006/relationships/image"/><Relationship Id="rId6" Target="../media/image23.svg" Type="http://schemas.openxmlformats.org/officeDocument/2006/relationships/image"/><Relationship Id="rId7" Target="../media/image24.png" Type="http://schemas.openxmlformats.org/officeDocument/2006/relationships/image"/><Relationship Id="rId8" Target="../media/image25.svg" Type="http://schemas.openxmlformats.org/officeDocument/2006/relationships/image"/><Relationship Id="rId9" Target="../media/image26.png" Type="http://schemas.openxmlformats.org/officeDocument/2006/relationships/image"/><Relationship Id="rId11" Type="http://schemas.openxmlformats.org/officeDocument/2006/relationships/image" Target="../media/pesq_fig32_sala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Relationship Id="rId14" Type="http://schemas.openxmlformats.org/officeDocument/2006/relationships/image" Target="../media/pesq_fig37_alfabeto.jpg"/></Relationships>
</file>

<file path=ppt/slides/_rels/slide4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svg" Type="http://schemas.openxmlformats.org/officeDocument/2006/relationships/image"/><Relationship Id="rId11" Target="../media/image6.png" Type="http://schemas.openxmlformats.org/officeDocument/2006/relationships/image"/><Relationship Id="rId12" Target="../media/image7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44.png" Type="http://schemas.openxmlformats.org/officeDocument/2006/relationships/image"/><Relationship Id="rId6" Target="../media/image45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46.png" Type="http://schemas.openxmlformats.org/officeDocument/2006/relationships/image"/></Relationships>
</file>

<file path=ppt/slides/_rels/slide4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4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.svg" Type="http://schemas.openxmlformats.org/officeDocument/2006/relationships/image"/><Relationship Id="rId11" Target="../media/image58.png" Type="http://schemas.openxmlformats.org/officeDocument/2006/relationships/image"/><Relationship Id="rId12" Target="../media/image59.svg" Type="http://schemas.openxmlformats.org/officeDocument/2006/relationships/image"/><Relationship Id="rId13" Target="../media/image52.png" Type="http://schemas.openxmlformats.org/officeDocument/2006/relationships/image"/><Relationship Id="rId14" Target="../media/image53.svg" Type="http://schemas.openxmlformats.org/officeDocument/2006/relationships/image"/><Relationship Id="rId2" Target="../media/image1.png" Type="http://schemas.openxmlformats.org/officeDocument/2006/relationships/image"/><Relationship Id="rId3" Target="../media/image54.png" Type="http://schemas.openxmlformats.org/officeDocument/2006/relationships/image"/><Relationship Id="rId4" Target="../media/image55.svg" Type="http://schemas.openxmlformats.org/officeDocument/2006/relationships/image"/><Relationship Id="rId5" Target="../media/image56.png" Type="http://schemas.openxmlformats.org/officeDocument/2006/relationships/image"/><Relationship Id="rId6" Target="../media/image5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4.png" Type="http://schemas.openxmlformats.org/officeDocument/2006/relationships/image"/></Relationships>
</file>

<file path=ppt/slides/_rels/slide4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svg" Type="http://schemas.openxmlformats.org/officeDocument/2006/relationships/image"/><Relationship Id="rId11" Target="../media/image16.png" Type="http://schemas.openxmlformats.org/officeDocument/2006/relationships/image"/><Relationship Id="rId12" Target="../media/image17.svg" Type="http://schemas.openxmlformats.org/officeDocument/2006/relationships/image"/><Relationship Id="rId13" Target="../media/image6.png" Type="http://schemas.openxmlformats.org/officeDocument/2006/relationships/image"/><Relationship Id="rId14" Target="../media/image7.svg" Type="http://schemas.openxmlformats.org/officeDocument/2006/relationships/image"/><Relationship Id="rId15" Target="../media/image8.png" Type="http://schemas.openxmlformats.org/officeDocument/2006/relationships/image"/><Relationship Id="rId16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60.png" Type="http://schemas.openxmlformats.org/officeDocument/2006/relationships/image"/><Relationship Id="rId4" Target="../media/image61.svg" Type="http://schemas.openxmlformats.org/officeDocument/2006/relationships/image"/><Relationship Id="rId5" Target="../media/image58.png" Type="http://schemas.openxmlformats.org/officeDocument/2006/relationships/image"/><Relationship Id="rId6" Target="../media/image59.svg" Type="http://schemas.openxmlformats.org/officeDocument/2006/relationships/image"/><Relationship Id="rId7" Target="../media/image62.png" Type="http://schemas.openxmlformats.org/officeDocument/2006/relationships/image"/><Relationship Id="rId8" Target="../media/image63.svg" Type="http://schemas.openxmlformats.org/officeDocument/2006/relationships/image"/><Relationship Id="rId9" Target="../media/image46.png" Type="http://schemas.openxmlformats.org/officeDocument/2006/relationships/image"/></Relationships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814669" y="2449308"/>
            <a:ext cx="7065092" cy="8144199"/>
          </a:xfrm>
          <a:custGeom>
            <a:avLst/>
            <a:gdLst/>
            <a:ahLst/>
            <a:cxnLst/>
            <a:rect r="r" b="b" t="t" l="l"/>
            <a:pathLst>
              <a:path h="8144199" w="7065092">
                <a:moveTo>
                  <a:pt x="0" y="0"/>
                </a:moveTo>
                <a:lnTo>
                  <a:pt x="7065093" y="0"/>
                </a:lnTo>
                <a:lnTo>
                  <a:pt x="7065093" y="8144199"/>
                </a:lnTo>
                <a:lnTo>
                  <a:pt x="0" y="814419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3833448" y="-1279629"/>
            <a:ext cx="5817841" cy="4114800"/>
          </a:xfrm>
          <a:custGeom>
            <a:avLst/>
            <a:gdLst/>
            <a:ahLst/>
            <a:cxnLst/>
            <a:rect r="r" b="b" t="t" l="l"/>
            <a:pathLst>
              <a:path h="4114800" w="5817841">
                <a:moveTo>
                  <a:pt x="0" y="0"/>
                </a:moveTo>
                <a:lnTo>
                  <a:pt x="5817841" y="0"/>
                </a:lnTo>
                <a:lnTo>
                  <a:pt x="581784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-798693" y="-662043"/>
            <a:ext cx="5155216" cy="4114800"/>
          </a:xfrm>
          <a:custGeom>
            <a:avLst/>
            <a:gdLst/>
            <a:ahLst/>
            <a:cxnLst/>
            <a:rect r="r" b="b" t="t" l="l"/>
            <a:pathLst>
              <a:path h="4114800" w="5155216">
                <a:moveTo>
                  <a:pt x="0" y="0"/>
                </a:moveTo>
                <a:lnTo>
                  <a:pt x="5155216" y="0"/>
                </a:lnTo>
                <a:lnTo>
                  <a:pt x="51552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-526312">
            <a:off x="-796615" y="5045557"/>
            <a:ext cx="7584413" cy="6908710"/>
          </a:xfrm>
          <a:custGeom>
            <a:avLst/>
            <a:gdLst/>
            <a:ahLst/>
            <a:cxnLst/>
            <a:rect r="r" b="b" t="t" l="l"/>
            <a:pathLst>
              <a:path h="6908710" w="7584413">
                <a:moveTo>
                  <a:pt x="0" y="0"/>
                </a:moveTo>
                <a:lnTo>
                  <a:pt x="7584413" y="0"/>
                </a:lnTo>
                <a:lnTo>
                  <a:pt x="7584413" y="6908710"/>
                </a:lnTo>
                <a:lnTo>
                  <a:pt x="0" y="690871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752000" y="504000"/>
            <a:ext cx="8064000" cy="28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ENCENAÇÃO DA PNED EM PIPA/RN</a:t>
            </a:r>
            <a:endParaRPr lang="pt-BR" sz="5200" dirty="0"/>
          </a:p>
        </p:txBody>
      </p:sp>
      <p:sp>
        <p:nvSpPr>
          <p:cNvPr id="202" name="Cartão 202"/>
          <p:cNvSpPr/>
          <p:nvPr/>
        </p:nvSpPr>
        <p:spPr>
          <a:xfrm>
            <a:off x="4320000" y="3456000"/>
            <a:ext cx="8640000" cy="1440000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ctr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Culturas profissionais, território e resistências no contexto da prática</a:t>
            </a:r>
            <a:endParaRPr lang="pt-BR" sz="2900" dirty="0"/>
          </a:p>
        </p:txBody>
      </p:sp>
      <p:sp>
        <p:nvSpPr>
          <p:cNvPr id="203" name="Texto 203"/>
          <p:cNvSpPr txBox="1"/>
          <p:nvPr/>
        </p:nvSpPr>
        <p:spPr>
          <a:xfrm>
            <a:off x="6912000" y="5184000"/>
            <a:ext cx="5976000" cy="432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Exame de qualificação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Doutorado em Educação · PPGEd/UFRN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755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Yzynya Silva Rezende Machado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88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Orientadora</a:t>
            </a:r>
            <a:endParaRPr lang="pt-BR" sz="188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Profa. Dra. Maria Cristina Leandro de Paiva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Natal, 2026</a:t>
            </a:r>
            <a:endParaRPr lang="pt-BR" sz="2175" dirty="0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71592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0" y="0"/>
                </a:moveTo>
                <a:lnTo>
                  <a:pt x="4910562" y="0"/>
                </a:lnTo>
                <a:lnTo>
                  <a:pt x="4910562" y="4437363"/>
                </a:lnTo>
                <a:lnTo>
                  <a:pt x="0" y="44373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49030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4910562" y="0"/>
                </a:moveTo>
                <a:lnTo>
                  <a:pt x="0" y="0"/>
                </a:lnTo>
                <a:lnTo>
                  <a:pt x="0" y="4437363"/>
                </a:lnTo>
                <a:lnTo>
                  <a:pt x="4910562" y="4437363"/>
                </a:lnTo>
                <a:lnTo>
                  <a:pt x="491056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464000" y="864000"/>
            <a:ext cx="9360000" cy="216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ROTEIRO</a:t>
            </a:r>
            <a:endParaRPr lang="pt-BR" sz="80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4176000"/>
            <a:ext cx="4860000" cy="237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7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Objeto, questão e objetivos</a:t>
            </a:r>
            <a:endParaRPr lang="pt-BR" sz="2465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3600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4176000"/>
            <a:ext cx="4860000" cy="237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71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Revisão sistemática</a:t>
            </a:r>
            <a:endParaRPr lang="pt-BR" sz="2465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3600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4176000"/>
            <a:ext cx="4860000" cy="237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25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Fundamentos teóricos</a:t>
            </a:r>
            <a:endParaRPr lang="pt-BR" sz="2465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3600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7488000"/>
            <a:ext cx="4860000" cy="237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7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Metodologia</a:t>
            </a:r>
            <a:endParaRPr lang="pt-BR" sz="2465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6912000"/>
            <a:ext cx="828000" cy="1332000"/>
          </a:xfrm>
          <a:prstGeom prst="rect">
            <a:avLst/>
          </a:prstGeom>
        </p:spPr>
      </p:pic>
      <p:pic>
        <p:nvPicPr>
          <p:cNvPr id="214" name="Moldura 214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7488000"/>
            <a:ext cx="4860000" cy="2376000"/>
          </a:xfrm>
          <a:prstGeom prst="rect">
            <a:avLst/>
          </a:prstGeom>
        </p:spPr>
      </p:pic>
      <p:sp>
        <p:nvSpPr>
          <p:cNvPr id="215" name="Texto 215"/>
          <p:cNvSpPr txBox="1"/>
          <p:nvPr/>
        </p:nvSpPr>
        <p:spPr>
          <a:xfrm>
            <a:off x="71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Agenda global e PNED</a:t>
            </a:r>
            <a:endParaRPr lang="pt-BR" sz="2465" dirty="0"/>
          </a:p>
        </p:txBody>
      </p:sp>
      <p:pic>
        <p:nvPicPr>
          <p:cNvPr id="216" name="Tacha 216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6912000"/>
            <a:ext cx="828000" cy="1332000"/>
          </a:xfrm>
          <a:prstGeom prst="rect">
            <a:avLst/>
          </a:prstGeom>
        </p:spPr>
      </p:pic>
      <p:pic>
        <p:nvPicPr>
          <p:cNvPr id="217" name="Moldura 217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7488000"/>
            <a:ext cx="4860000" cy="2376000"/>
          </a:xfrm>
          <a:prstGeom prst="rect">
            <a:avLst/>
          </a:prstGeom>
        </p:spPr>
      </p:pic>
      <p:sp>
        <p:nvSpPr>
          <p:cNvPr id="218" name="Texto 218"/>
          <p:cNvSpPr txBox="1"/>
          <p:nvPr/>
        </p:nvSpPr>
        <p:spPr>
          <a:xfrm>
            <a:off x="125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6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Território, escola e tese</a:t>
            </a:r>
            <a:endParaRPr lang="pt-BR" sz="2465" dirty="0"/>
          </a:p>
        </p:txBody>
      </p:sp>
      <p:pic>
        <p:nvPicPr>
          <p:cNvPr id="219" name="Tacha 219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6912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18748" y="-626708"/>
            <a:ext cx="4681103" cy="3310817"/>
          </a:xfrm>
          <a:custGeom>
            <a:avLst/>
            <a:gdLst/>
            <a:ahLst/>
            <a:cxnLst/>
            <a:rect r="r" b="b" t="t" l="l"/>
            <a:pathLst>
              <a:path h="3310817" w="4681103">
                <a:moveTo>
                  <a:pt x="0" y="0"/>
                </a:moveTo>
                <a:lnTo>
                  <a:pt x="4681104" y="0"/>
                </a:lnTo>
                <a:lnTo>
                  <a:pt x="4681104" y="3310816"/>
                </a:lnTo>
                <a:lnTo>
                  <a:pt x="0" y="33108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1286914" y="2018689"/>
            <a:ext cx="7978637" cy="9386632"/>
          </a:xfrm>
          <a:custGeom>
            <a:avLst/>
            <a:gdLst/>
            <a:ahLst/>
            <a:cxnLst/>
            <a:rect r="r" b="b" t="t" l="l"/>
            <a:pathLst>
              <a:path h="9386632" w="7978637">
                <a:moveTo>
                  <a:pt x="7978637" y="0"/>
                </a:moveTo>
                <a:lnTo>
                  <a:pt x="0" y="0"/>
                </a:lnTo>
                <a:lnTo>
                  <a:pt x="0" y="9386632"/>
                </a:lnTo>
                <a:lnTo>
                  <a:pt x="7978637" y="9386632"/>
                </a:lnTo>
                <a:lnTo>
                  <a:pt x="7978637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700" y="3069909"/>
            <a:ext cx="9393142" cy="7653268"/>
            <a:chOff x="0" y="0"/>
            <a:chExt cx="2473914" cy="20156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473914" cy="2015676"/>
            </a:xfrm>
            <a:custGeom>
              <a:avLst/>
              <a:gdLst/>
              <a:ahLst/>
              <a:cxnLst/>
              <a:rect r="r" b="b" t="t" l="l"/>
              <a:pathLst>
                <a:path h="2015676" w="2473914">
                  <a:moveTo>
                    <a:pt x="34617" y="0"/>
                  </a:moveTo>
                  <a:lnTo>
                    <a:pt x="2439297" y="0"/>
                  </a:lnTo>
                  <a:cubicBezTo>
                    <a:pt x="2458415" y="0"/>
                    <a:pt x="2473914" y="15498"/>
                    <a:pt x="2473914" y="34617"/>
                  </a:cubicBezTo>
                  <a:lnTo>
                    <a:pt x="2473914" y="1981059"/>
                  </a:lnTo>
                  <a:cubicBezTo>
                    <a:pt x="2473914" y="2000177"/>
                    <a:pt x="2458415" y="2015676"/>
                    <a:pt x="2439297" y="2015676"/>
                  </a:cubicBezTo>
                  <a:lnTo>
                    <a:pt x="34617" y="2015676"/>
                  </a:lnTo>
                  <a:cubicBezTo>
                    <a:pt x="15498" y="2015676"/>
                    <a:pt x="0" y="2000177"/>
                    <a:pt x="0" y="1981059"/>
                  </a:cubicBezTo>
                  <a:lnTo>
                    <a:pt x="0" y="34617"/>
                  </a:lnTo>
                  <a:cubicBezTo>
                    <a:pt x="0" y="15498"/>
                    <a:pt x="15498" y="0"/>
                    <a:pt x="3461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2473914" cy="20728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true" flipV="false" rot="0">
            <a:off x="-1286629" y="-431434"/>
            <a:ext cx="5603193" cy="4900247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5603193" y="0"/>
                </a:moveTo>
                <a:lnTo>
                  <a:pt x="0" y="0"/>
                </a:lnTo>
                <a:lnTo>
                  <a:pt x="0" y="4900247"/>
                </a:lnTo>
                <a:lnTo>
                  <a:pt x="5603193" y="4900247"/>
                </a:lnTo>
                <a:lnTo>
                  <a:pt x="5603193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800000" y="4320000"/>
            <a:ext cx="7776000" cy="10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OBJETO</a:t>
            </a:r>
            <a:endParaRPr lang="pt-BR" sz="6000" dirty="0"/>
          </a:p>
        </p:txBody>
      </p:sp>
      <p:sp>
        <p:nvSpPr>
          <p:cNvPr id="202" name="Texto 202"/>
          <p:cNvSpPr txBox="1"/>
          <p:nvPr/>
        </p:nvSpPr>
        <p:spPr>
          <a:xfrm>
            <a:off x="1800000" y="5472000"/>
            <a:ext cx="7776000" cy="475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Política Nacional de Educação Digital (</a:t>
            </a: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14.533/2023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), no eixo </a:t>
            </a: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Digital Escolar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tal como os profissionais da educação a interpretam, traduzem e recontextualizam nos anos iniciais (1º ao 5º ano) da </a:t>
            </a: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Escola Municipal Domitila Castelo da Silva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em Pipa, distrito de Tibau do Sul/RN.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Profissionais da educação: professoras e professores, coordenação pedagógica, direção e demais profissionais ligados aos processos pedagógicos ou à educação digital.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75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As atuações são “coletivas, criativas e limitadas” (BALL; MAGUIRE; BRAUN, 2016, p. 103).</a:t>
            </a:r>
            <a:endParaRPr lang="pt-BR" sz="2175" dirty="0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899330" y="1028700"/>
            <a:ext cx="10534934" cy="8229600"/>
            <a:chOff x="0" y="0"/>
            <a:chExt cx="2774633" cy="2167467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774633" cy="2167467"/>
            </a:xfrm>
            <a:custGeom>
              <a:avLst/>
              <a:gdLst/>
              <a:ahLst/>
              <a:cxnLst/>
              <a:rect r="r" b="b" t="t" l="l"/>
              <a:pathLst>
                <a:path h="2167467" w="2774633">
                  <a:moveTo>
                    <a:pt x="30865" y="0"/>
                  </a:moveTo>
                  <a:lnTo>
                    <a:pt x="2743768" y="0"/>
                  </a:lnTo>
                  <a:cubicBezTo>
                    <a:pt x="2751954" y="0"/>
                    <a:pt x="2759804" y="3252"/>
                    <a:pt x="2765593" y="9040"/>
                  </a:cubicBezTo>
                  <a:cubicBezTo>
                    <a:pt x="2771381" y="14828"/>
                    <a:pt x="2774633" y="22679"/>
                    <a:pt x="2774633" y="30865"/>
                  </a:cubicBezTo>
                  <a:lnTo>
                    <a:pt x="2774633" y="2136602"/>
                  </a:lnTo>
                  <a:cubicBezTo>
                    <a:pt x="2774633" y="2144788"/>
                    <a:pt x="2771381" y="2152638"/>
                    <a:pt x="2765593" y="2158427"/>
                  </a:cubicBezTo>
                  <a:cubicBezTo>
                    <a:pt x="2759804" y="2164215"/>
                    <a:pt x="2751954" y="2167467"/>
                    <a:pt x="2743768" y="2167467"/>
                  </a:cubicBezTo>
                  <a:lnTo>
                    <a:pt x="30865" y="2167467"/>
                  </a:lnTo>
                  <a:cubicBezTo>
                    <a:pt x="22679" y="2167467"/>
                    <a:pt x="14828" y="2164215"/>
                    <a:pt x="9040" y="2158427"/>
                  </a:cubicBezTo>
                  <a:cubicBezTo>
                    <a:pt x="3252" y="2152638"/>
                    <a:pt x="0" y="2144788"/>
                    <a:pt x="0" y="2136602"/>
                  </a:cubicBezTo>
                  <a:lnTo>
                    <a:pt x="0" y="30865"/>
                  </a:lnTo>
                  <a:cubicBezTo>
                    <a:pt x="0" y="22679"/>
                    <a:pt x="3252" y="14828"/>
                    <a:pt x="9040" y="9040"/>
                  </a:cubicBezTo>
                  <a:cubicBezTo>
                    <a:pt x="14828" y="3252"/>
                    <a:pt x="22679" y="0"/>
                    <a:pt x="30865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2774633" cy="22246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3732593" y="-476467"/>
            <a:ext cx="5603193" cy="4900247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0" y="0"/>
                </a:moveTo>
                <a:lnTo>
                  <a:pt x="5603193" y="0"/>
                </a:lnTo>
                <a:lnTo>
                  <a:pt x="5603193" y="4900247"/>
                </a:lnTo>
                <a:lnTo>
                  <a:pt x="0" y="490024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0" y="3196942"/>
            <a:ext cx="8002332" cy="8046221"/>
          </a:xfrm>
          <a:custGeom>
            <a:avLst/>
            <a:gdLst/>
            <a:ahLst/>
            <a:cxnLst/>
            <a:rect r="r" b="b" t="t" l="l"/>
            <a:pathLst>
              <a:path h="8046221" w="8002332">
                <a:moveTo>
                  <a:pt x="0" y="0"/>
                </a:moveTo>
                <a:lnTo>
                  <a:pt x="8002332" y="0"/>
                </a:lnTo>
                <a:lnTo>
                  <a:pt x="8002332" y="8046221"/>
                </a:lnTo>
                <a:lnTo>
                  <a:pt x="0" y="804622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4698286" y="-1028700"/>
            <a:ext cx="3897838" cy="4114800"/>
          </a:xfrm>
          <a:custGeom>
            <a:avLst/>
            <a:gdLst/>
            <a:ahLst/>
            <a:cxnLst/>
            <a:rect r="r" b="b" t="t" l="l"/>
            <a:pathLst>
              <a:path h="4114800" w="3897838">
                <a:moveTo>
                  <a:pt x="0" y="0"/>
                </a:moveTo>
                <a:lnTo>
                  <a:pt x="3897838" y="0"/>
                </a:lnTo>
                <a:lnTo>
                  <a:pt x="3897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-1070688" y="308980"/>
            <a:ext cx="4198776" cy="4114800"/>
          </a:xfrm>
          <a:custGeom>
            <a:avLst/>
            <a:gdLst/>
            <a:ahLst/>
            <a:cxnLst/>
            <a:rect r="r" b="b" t="t" l="l"/>
            <a:pathLst>
              <a:path h="4114800" w="4198776">
                <a:moveTo>
                  <a:pt x="0" y="0"/>
                </a:moveTo>
                <a:lnTo>
                  <a:pt x="4198776" y="0"/>
                </a:lnTo>
                <a:lnTo>
                  <a:pt x="419877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648000" y="1656000"/>
            <a:ext cx="4896000" cy="187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QUESTÃO DE PESQUISA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9648000" y="3168000"/>
            <a:ext cx="7776000" cy="583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Como os profissionais da educação encenam e recontextualizam a Política Nacional de Educação Digital no contexto da prática da Escola Municipal Domitila Castelo da Silva, em Pipa (RN), e como as culturas profissionais, as condições materiais e institucionais da escola e as especificidades socioespaciais do território atravessam esse processo, produzindo diferentes formas de atuação, entre as quais podem emergir acomodações, negociações, ressignificações e resistências?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580"/>
              </a:spcBef>
              <a:spcAft>
                <a:spcPts val="869"/>
              </a:spcAft>
              <a:buNone/>
            </a:pPr>
            <a:r>
              <a:rPr lang="pt-BR" sz="224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resistência é uma possibilidade a examinar nos dados, sem ser pressuposta.</a:t>
            </a:r>
            <a:endParaRPr lang="pt-BR" sz="2248" dirty="0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exto 201"/>
          <p:cNvSpPr txBox="1"/>
          <p:nvPr/>
        </p:nvSpPr>
        <p:spPr>
          <a:xfrm>
            <a:off x="3528000" y="324000"/>
            <a:ext cx="10656000" cy="208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319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OBJETIVO GERAL</a:t>
            </a:r>
            <a:endParaRPr lang="pt-BR" sz="319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Analisar como os profissionais da educação encenam e recontextualizam a PNED no contexto da prática da escola, considerando as relações entre a política, as culturas profissionais, as condições materiais e institucionais e as especificidades socioespaciais do território.</a:t>
            </a:r>
            <a:endParaRPr lang="pt-BR" sz="2175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3024000"/>
            <a:ext cx="6912000" cy="3312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818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a) Interpretação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Como os profissionais leem a PNED a partir de experiências, crenças, valores e formas de trabalho</a:t>
            </a:r>
            <a:endParaRPr lang="pt-BR" sz="2102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448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3024000"/>
            <a:ext cx="6912000" cy="3312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818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b) Condições e território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Como escola e território atravessam a tradução da política em ações, escolhas e práticas</a:t>
            </a:r>
            <a:endParaRPr lang="pt-BR" sz="2102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448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6804000"/>
            <a:ext cx="6912000" cy="3312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2530080" y="7598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c) Formas de atuação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Adesão, acomodação, adaptação, omissão seletiva, negociação, ressignificação ou resistência</a:t>
            </a:r>
            <a:endParaRPr lang="pt-BR" sz="2102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6228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6804000"/>
            <a:ext cx="6912000" cy="3312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0090080" y="7598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d) Crianças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Implicações para a provisão, a proteção e a participação no ambiente digital (ONU, 2021)</a:t>
            </a:r>
            <a:endParaRPr lang="pt-BR" sz="2102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6228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5265132" y="6106493"/>
            <a:ext cx="3897838" cy="4114800"/>
          </a:xfrm>
          <a:custGeom>
            <a:avLst/>
            <a:gdLst/>
            <a:ahLst/>
            <a:cxnLst/>
            <a:rect r="r" b="b" t="t" l="l"/>
            <a:pathLst>
              <a:path h="4114800" w="3897838">
                <a:moveTo>
                  <a:pt x="0" y="0"/>
                </a:moveTo>
                <a:lnTo>
                  <a:pt x="3897837" y="0"/>
                </a:lnTo>
                <a:lnTo>
                  <a:pt x="389783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-1229923" y="7020982"/>
            <a:ext cx="4517246" cy="4114800"/>
          </a:xfrm>
          <a:custGeom>
            <a:avLst/>
            <a:gdLst/>
            <a:ahLst/>
            <a:cxnLst/>
            <a:rect r="r" b="b" t="t" l="l"/>
            <a:pathLst>
              <a:path h="4114800" w="4517246">
                <a:moveTo>
                  <a:pt x="0" y="0"/>
                </a:moveTo>
                <a:lnTo>
                  <a:pt x="4517246" y="0"/>
                </a:lnTo>
                <a:lnTo>
                  <a:pt x="451724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576000"/>
            <a:ext cx="10512000" cy="12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8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QUE AGORA?</a:t>
            </a:r>
            <a:endParaRPr lang="pt-BR" sz="5800" dirty="0"/>
          </a:p>
        </p:txBody>
      </p:sp>
      <p:sp>
        <p:nvSpPr>
          <p:cNvPr id="202" name="Cartão 202"/>
          <p:cNvSpPr/>
          <p:nvPr/>
        </p:nvSpPr>
        <p:spPr>
          <a:xfrm>
            <a:off x="3960000" y="2088000"/>
            <a:ext cx="3330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jan. 2023</a:t>
            </a:r>
            <a:endParaRPr lang="pt-BR" sz="29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Lei nº 14.533 institui a PNED</a:t>
            </a:r>
            <a:endParaRPr lang="pt-BR" sz="1958" dirty="0"/>
          </a:p>
        </p:txBody>
      </p:sp>
      <p:sp>
        <p:nvSpPr>
          <p:cNvPr id="203" name="Cartão 203"/>
          <p:cNvSpPr/>
          <p:nvPr/>
        </p:nvSpPr>
        <p:spPr>
          <a:xfrm>
            <a:off x="7506000" y="2088000"/>
            <a:ext cx="3330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dez. 2023</a:t>
            </a:r>
            <a:endParaRPr lang="pt-BR" sz="29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Veto derrubado: educação digital como componente curricular do ensino fundamental</a:t>
            </a:r>
            <a:endParaRPr lang="pt-BR" sz="1958" dirty="0"/>
          </a:p>
        </p:txBody>
      </p:sp>
      <p:sp>
        <p:nvSpPr>
          <p:cNvPr id="204" name="Cartão 204"/>
          <p:cNvSpPr/>
          <p:nvPr/>
        </p:nvSpPr>
        <p:spPr>
          <a:xfrm>
            <a:off x="11052000" y="2088000"/>
            <a:ext cx="3330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mar. 2025</a:t>
            </a:r>
            <a:endParaRPr lang="pt-BR" sz="29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Resolução CNE/CEB nº 2: implementação curricular a partir de 2026</a:t>
            </a:r>
            <a:endParaRPr lang="pt-BR" sz="1958" dirty="0"/>
          </a:p>
        </p:txBody>
      </p:sp>
      <p:sp>
        <p:nvSpPr>
          <p:cNvPr id="205" name="Cartão 205"/>
          <p:cNvSpPr/>
          <p:nvPr/>
        </p:nvSpPr>
        <p:spPr>
          <a:xfrm>
            <a:off x="3960000" y="4608000"/>
            <a:ext cx="3330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mar. 2026</a:t>
            </a:r>
            <a:endParaRPr lang="pt-BR" sz="29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Entra em vigor o Estatuto Digital da Criança e do Adolescente</a:t>
            </a:r>
            <a:endParaRPr lang="pt-BR" sz="1958" dirty="0"/>
          </a:p>
        </p:txBody>
      </p:sp>
      <p:sp>
        <p:nvSpPr>
          <p:cNvPr id="206" name="Cartão 206"/>
          <p:cNvSpPr/>
          <p:nvPr/>
        </p:nvSpPr>
        <p:spPr>
          <a:xfrm>
            <a:off x="7506000" y="4608000"/>
            <a:ext cx="3330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abr. 2026</a:t>
            </a:r>
            <a:endParaRPr lang="pt-BR" sz="29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Novo Plano Nacional de Educação (Lei nº 15.388/2026)</a:t>
            </a:r>
            <a:endParaRPr lang="pt-BR" sz="1958" dirty="0"/>
          </a:p>
        </p:txBody>
      </p:sp>
      <p:sp>
        <p:nvSpPr>
          <p:cNvPr id="207" name="Cartão 207"/>
          <p:cNvSpPr/>
          <p:nvPr/>
        </p:nvSpPr>
        <p:spPr>
          <a:xfrm>
            <a:off x="11052000" y="4608000"/>
            <a:ext cx="3330000" cy="2376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80000" tIns="180000" rIns="180000" bIns="180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2026</a:t>
            </a:r>
            <a:endParaRPr lang="pt-BR" sz="29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Esta pesquisa: a PNED no contexto da prática</a:t>
            </a:r>
            <a:endParaRPr lang="pt-BR" sz="1958" dirty="0"/>
          </a:p>
        </p:txBody>
      </p:sp>
      <p:sp>
        <p:nvSpPr>
          <p:cNvPr id="208" name="Texto 208"/>
          <p:cNvSpPr txBox="1"/>
          <p:nvPr/>
        </p:nvSpPr>
        <p:spPr>
          <a:xfrm>
            <a:off x="3960000" y="7200000"/>
            <a:ext cx="10656000" cy="237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32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No contexto da prática, “a política não é simplesmente recebida e implementada nesta arena, ao contrário, ela está sujeita à interpretação e então é ‘recriada’” (BOWE; BALL; GOLD, 1992, p. 22, tradução nossa).</a:t>
            </a:r>
            <a:endParaRPr lang="pt-BR" sz="2320" dirty="0"/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600000" y="504000"/>
            <a:ext cx="10800000" cy="158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INEDITISMO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três planos que se apoiam</a:t>
            </a:r>
            <a:endParaRPr lang="pt-BR" sz="24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628000"/>
            <a:ext cx="6912000" cy="3384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Empírico-temporal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Acompanha a chegada da PNED à escola. Nenhum dos nove estudos da RSL examina essa política nem uma rede municipal de pequeno porte.</a:t>
            </a:r>
            <a:endParaRPr lang="pt-BR" sz="2030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052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628000"/>
            <a:ext cx="6912000" cy="3384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Analítico-espacial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Pipa entra como parte do contexto da prática, lida com Santos (território usado) e Massey (encontro de trajetórias).</a:t>
            </a:r>
            <a:endParaRPr lang="pt-BR" sz="2030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052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336000"/>
            <a:ext cx="6912000" cy="3384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148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Teórico-conceitual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Atuação, culturas profissionais, materialidade e território articulados, de onde nasce a formulação “habitar o digital”.</a:t>
            </a:r>
            <a:endParaRPr lang="pt-BR" sz="2030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760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REVISÃO SISTEMÁTICA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2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a literatura mostra</a:t>
            </a:r>
            <a:endParaRPr lang="pt-BR" sz="3000" dirty="0"/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PERCURSO E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respostas da revisão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Percurso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Questão: o que a produção científica evidencia sobre a implementação de políticas públicas de educação digital nos anos iniciais?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32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PRISMA 2020, estrutura PICo e síntese temática (THOMAS; HARDEN, 2008)</a:t>
            </a:r>
            <a:endParaRPr lang="pt-BR" sz="232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32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7 bases · 176 registros · 35 textos avaliados · 9 estudos</a:t>
            </a:r>
            <a:r>
              <a:rPr lang="pt-BR" sz="232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publicados entre 2021 e 2024</a:t>
            </a:r>
            <a:endParaRPr lang="pt-BR" sz="2320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Respostas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(a) Condicionantes: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equipamentos e conectividade pesam ao lado de formação continuada, estabilidade das equipes, tempo de trabalho e marco regulatório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32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(b) Profissionais:</a:t>
            </a:r>
            <a:r>
              <a:rPr lang="pt-BR" sz="232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resposta mais convergente; a política é feita de interpretação e de decisões situadas</a:t>
            </a:r>
            <a:endParaRPr lang="pt-BR" sz="232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32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(c) Cultura digital e formação cidadã:</a:t>
            </a:r>
            <a:r>
              <a:rPr lang="pt-BR" sz="232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apoio frágil</a:t>
            </a:r>
            <a:endParaRPr lang="pt-BR" sz="2320" dirty="0"/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353787" y="4364386"/>
            <a:ext cx="7465126" cy="4893914"/>
            <a:chOff x="0" y="0"/>
            <a:chExt cx="1966124" cy="128893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469087" y="4364386"/>
            <a:ext cx="7465126" cy="4893914"/>
            <a:chOff x="0" y="0"/>
            <a:chExt cx="1966124" cy="128893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936000"/>
            <a:ext cx="10512000" cy="30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LACUNAS</a:t>
            </a:r>
            <a:endParaRPr lang="pt-BR" sz="6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 o lugar desta tese</a:t>
            </a:r>
            <a:endParaRPr lang="pt-BR" sz="3600" dirty="0"/>
          </a:p>
        </p:txBody>
      </p:sp>
      <p:sp>
        <p:nvSpPr>
          <p:cNvPr id="202" name="Texto 202"/>
          <p:cNvSpPr txBox="1"/>
          <p:nvPr/>
        </p:nvSpPr>
        <p:spPr>
          <a:xfrm>
            <a:off x="19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falta na literatura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PNED sem exame empírico nos anos iniciais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Anos iniciais tratados em bloco; alfabetização quase ausente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Predomínio do contexto emergencial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Nenhuma rede municipal de pequeno porte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Crianças ausentes como sujeitos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Plataformas e dados escolares sem problematização</a:t>
            </a:r>
            <a:endParaRPr lang="pt-BR" sz="2102" dirty="0"/>
          </a:p>
        </p:txBody>
      </p:sp>
      <p:sp>
        <p:nvSpPr>
          <p:cNvPr id="203" name="Texto 203"/>
          <p:cNvSpPr txBox="1"/>
          <p:nvPr/>
        </p:nvSpPr>
        <p:spPr>
          <a:xfrm>
            <a:off x="100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tese faz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Toma o eixo Educação Digital Escolar como objeto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Delimita o 1º ao 5º ano, com o ciclo de alfabetização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Estuda o regime ordinário da escola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Investiga a rede de Tibau do Sul (RN)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Ouve profissionais, sem avaliar efeitos sobre as crianças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Trata plataformas e dados como contexto teórico (cap. 3)</a:t>
            </a:r>
            <a:endParaRPr lang="pt-BR" sz="2102" dirty="0"/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 TEÓRICOS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3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Conceitos que viram lentes</a:t>
            </a:r>
            <a:endParaRPr lang="pt-BR" sz="3000" dirty="0"/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899330" y="1028700"/>
            <a:ext cx="10534934" cy="8229600"/>
            <a:chOff x="0" y="0"/>
            <a:chExt cx="2774633" cy="2167467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774633" cy="2167467"/>
            </a:xfrm>
            <a:custGeom>
              <a:avLst/>
              <a:gdLst/>
              <a:ahLst/>
              <a:cxnLst/>
              <a:rect r="r" b="b" t="t" l="l"/>
              <a:pathLst>
                <a:path h="2167467" w="2774633">
                  <a:moveTo>
                    <a:pt x="30865" y="0"/>
                  </a:moveTo>
                  <a:lnTo>
                    <a:pt x="2743768" y="0"/>
                  </a:lnTo>
                  <a:cubicBezTo>
                    <a:pt x="2751954" y="0"/>
                    <a:pt x="2759804" y="3252"/>
                    <a:pt x="2765593" y="9040"/>
                  </a:cubicBezTo>
                  <a:cubicBezTo>
                    <a:pt x="2771381" y="14828"/>
                    <a:pt x="2774633" y="22679"/>
                    <a:pt x="2774633" y="30865"/>
                  </a:cubicBezTo>
                  <a:lnTo>
                    <a:pt x="2774633" y="2136602"/>
                  </a:lnTo>
                  <a:cubicBezTo>
                    <a:pt x="2774633" y="2144788"/>
                    <a:pt x="2771381" y="2152638"/>
                    <a:pt x="2765593" y="2158427"/>
                  </a:cubicBezTo>
                  <a:cubicBezTo>
                    <a:pt x="2759804" y="2164215"/>
                    <a:pt x="2751954" y="2167467"/>
                    <a:pt x="2743768" y="2167467"/>
                  </a:cubicBezTo>
                  <a:lnTo>
                    <a:pt x="30865" y="2167467"/>
                  </a:lnTo>
                  <a:cubicBezTo>
                    <a:pt x="22679" y="2167467"/>
                    <a:pt x="14828" y="2164215"/>
                    <a:pt x="9040" y="2158427"/>
                  </a:cubicBezTo>
                  <a:cubicBezTo>
                    <a:pt x="3252" y="2152638"/>
                    <a:pt x="0" y="2144788"/>
                    <a:pt x="0" y="2136602"/>
                  </a:cubicBezTo>
                  <a:lnTo>
                    <a:pt x="0" y="30865"/>
                  </a:lnTo>
                  <a:cubicBezTo>
                    <a:pt x="0" y="22679"/>
                    <a:pt x="3252" y="14828"/>
                    <a:pt x="9040" y="9040"/>
                  </a:cubicBezTo>
                  <a:cubicBezTo>
                    <a:pt x="14828" y="3252"/>
                    <a:pt x="22679" y="0"/>
                    <a:pt x="30865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2774633" cy="22246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3732593" y="-476467"/>
            <a:ext cx="5603193" cy="4900247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0" y="0"/>
                </a:moveTo>
                <a:lnTo>
                  <a:pt x="5603193" y="0"/>
                </a:lnTo>
                <a:lnTo>
                  <a:pt x="5603193" y="4900247"/>
                </a:lnTo>
                <a:lnTo>
                  <a:pt x="0" y="490024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0" y="3196942"/>
            <a:ext cx="8002332" cy="8046221"/>
          </a:xfrm>
          <a:custGeom>
            <a:avLst/>
            <a:gdLst/>
            <a:ahLst/>
            <a:cxnLst/>
            <a:rect r="r" b="b" t="t" l="l"/>
            <a:pathLst>
              <a:path h="8046221" w="8002332">
                <a:moveTo>
                  <a:pt x="0" y="0"/>
                </a:moveTo>
                <a:lnTo>
                  <a:pt x="8002332" y="0"/>
                </a:lnTo>
                <a:lnTo>
                  <a:pt x="8002332" y="8046221"/>
                </a:lnTo>
                <a:lnTo>
                  <a:pt x="0" y="804622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4698286" y="-1028700"/>
            <a:ext cx="3897838" cy="4114800"/>
          </a:xfrm>
          <a:custGeom>
            <a:avLst/>
            <a:gdLst/>
            <a:ahLst/>
            <a:cxnLst/>
            <a:rect r="r" b="b" t="t" l="l"/>
            <a:pathLst>
              <a:path h="4114800" w="3897838">
                <a:moveTo>
                  <a:pt x="0" y="0"/>
                </a:moveTo>
                <a:lnTo>
                  <a:pt x="3897838" y="0"/>
                </a:lnTo>
                <a:lnTo>
                  <a:pt x="3897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-1070688" y="308980"/>
            <a:ext cx="4198776" cy="4114800"/>
          </a:xfrm>
          <a:custGeom>
            <a:avLst/>
            <a:gdLst/>
            <a:ahLst/>
            <a:cxnLst/>
            <a:rect r="r" b="b" t="t" l="l"/>
            <a:pathLst>
              <a:path h="4114800" w="4198776">
                <a:moveTo>
                  <a:pt x="0" y="0"/>
                </a:moveTo>
                <a:lnTo>
                  <a:pt x="4198776" y="0"/>
                </a:lnTo>
                <a:lnTo>
                  <a:pt x="419877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648000" y="1656000"/>
            <a:ext cx="4896000" cy="187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CICLO DE POLÍTICAS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9648000" y="3096000"/>
            <a:ext cx="7776000" cy="597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política como processo contínuo, em que formulação e prática se influenciam (BOWE; BALL; GOLD, 1992; MAINARDES, 2006).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de influência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→ cap. 5, agendas internacionais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da produção do texto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→ cap. 5, a Lei nº 14.533/2023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da prática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→ caps. 6 e 7, a escola e seus profissionais</a:t>
            </a:r>
            <a:endParaRPr lang="pt-BR" sz="2102" dirty="0"/>
          </a:p>
          <a:p>
            <a:pPr algn="l">
              <a:lnSpc>
                <a:spcPct val="100000"/>
              </a:lnSpc>
              <a:spcBef>
                <a:spcPts val="580"/>
              </a:spcBef>
              <a:spcAft>
                <a:spcPts val="869"/>
              </a:spcAft>
              <a:buNone/>
            </a:pPr>
            <a:r>
              <a:rPr lang="pt-BR" sz="2102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Os profissionais “não se deparam com os textos das políticas como leitores ingênuos” (BOWE; BALL; GOLD, 1992, p. 22, tradução nossa).</a:t>
            </a:r>
            <a:endParaRPr lang="pt-BR" sz="2102" dirty="0"/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866158" y="1028700"/>
            <a:ext cx="9393142" cy="9865952"/>
            <a:chOff x="0" y="0"/>
            <a:chExt cx="2473914" cy="25984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73914" cy="2598440"/>
            </a:xfrm>
            <a:custGeom>
              <a:avLst/>
              <a:gdLst/>
              <a:ahLst/>
              <a:cxnLst/>
              <a:rect r="r" b="b" t="t" l="l"/>
              <a:pathLst>
                <a:path h="2598440" w="2473914">
                  <a:moveTo>
                    <a:pt x="34617" y="0"/>
                  </a:moveTo>
                  <a:lnTo>
                    <a:pt x="2439297" y="0"/>
                  </a:lnTo>
                  <a:cubicBezTo>
                    <a:pt x="2458415" y="0"/>
                    <a:pt x="2473914" y="15498"/>
                    <a:pt x="2473914" y="34617"/>
                  </a:cubicBezTo>
                  <a:lnTo>
                    <a:pt x="2473914" y="2563823"/>
                  </a:lnTo>
                  <a:cubicBezTo>
                    <a:pt x="2473914" y="2582942"/>
                    <a:pt x="2458415" y="2598440"/>
                    <a:pt x="2439297" y="2598440"/>
                  </a:cubicBezTo>
                  <a:lnTo>
                    <a:pt x="34617" y="2598440"/>
                  </a:lnTo>
                  <a:cubicBezTo>
                    <a:pt x="15498" y="2598440"/>
                    <a:pt x="0" y="2582942"/>
                    <a:pt x="0" y="2563823"/>
                  </a:cubicBezTo>
                  <a:lnTo>
                    <a:pt x="0" y="34617"/>
                  </a:lnTo>
                  <a:cubicBezTo>
                    <a:pt x="0" y="15498"/>
                    <a:pt x="15498" y="0"/>
                    <a:pt x="3461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2473914" cy="26555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true" flipV="false" rot="0">
            <a:off x="-514876" y="-476841"/>
            <a:ext cx="5252464" cy="5620341"/>
          </a:xfrm>
          <a:custGeom>
            <a:avLst/>
            <a:gdLst/>
            <a:ahLst/>
            <a:cxnLst/>
            <a:rect r="r" b="b" t="t" l="l"/>
            <a:pathLst>
              <a:path h="5620341" w="5252464">
                <a:moveTo>
                  <a:pt x="5252465" y="0"/>
                </a:moveTo>
                <a:lnTo>
                  <a:pt x="0" y="0"/>
                </a:lnTo>
                <a:lnTo>
                  <a:pt x="0" y="5620341"/>
                </a:lnTo>
                <a:lnTo>
                  <a:pt x="5252465" y="5620341"/>
                </a:lnTo>
                <a:lnTo>
                  <a:pt x="525246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8905129" y="9040148"/>
            <a:ext cx="7315200" cy="1981754"/>
          </a:xfrm>
          <a:custGeom>
            <a:avLst/>
            <a:gdLst/>
            <a:ahLst/>
            <a:cxnLst/>
            <a:rect r="r" b="b" t="t" l="l"/>
            <a:pathLst>
              <a:path h="1981754" w="7315200">
                <a:moveTo>
                  <a:pt x="0" y="0"/>
                </a:moveTo>
                <a:lnTo>
                  <a:pt x="7315200" y="0"/>
                </a:lnTo>
                <a:lnTo>
                  <a:pt x="7315200" y="1981754"/>
                </a:lnTo>
                <a:lnTo>
                  <a:pt x="0" y="198175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5130811" y="-476841"/>
            <a:ext cx="4826211" cy="4220741"/>
          </a:xfrm>
          <a:custGeom>
            <a:avLst/>
            <a:gdLst/>
            <a:ahLst/>
            <a:cxnLst/>
            <a:rect r="r" b="b" t="t" l="l"/>
            <a:pathLst>
              <a:path h="4220741" w="4826211">
                <a:moveTo>
                  <a:pt x="0" y="0"/>
                </a:moveTo>
                <a:lnTo>
                  <a:pt x="4826211" y="0"/>
                </a:lnTo>
                <a:lnTo>
                  <a:pt x="4826211" y="4220741"/>
                </a:lnTo>
                <a:lnTo>
                  <a:pt x="0" y="422074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false" rot="0">
            <a:off x="1028700" y="3233716"/>
            <a:ext cx="7417778" cy="8276460"/>
          </a:xfrm>
          <a:custGeom>
            <a:avLst/>
            <a:gdLst/>
            <a:ahLst/>
            <a:cxnLst/>
            <a:rect r="r" b="b" t="t" l="l"/>
            <a:pathLst>
              <a:path h="8276460" w="7417778">
                <a:moveTo>
                  <a:pt x="7417778" y="0"/>
                </a:moveTo>
                <a:lnTo>
                  <a:pt x="0" y="0"/>
                </a:lnTo>
                <a:lnTo>
                  <a:pt x="0" y="8276460"/>
                </a:lnTo>
                <a:lnTo>
                  <a:pt x="7417778" y="8276460"/>
                </a:lnTo>
                <a:lnTo>
                  <a:pt x="7417778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5809230" y="3430608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9" y="0"/>
                </a:moveTo>
                <a:lnTo>
                  <a:pt x="0" y="0"/>
                </a:lnTo>
                <a:lnTo>
                  <a:pt x="0" y="1940507"/>
                </a:lnTo>
                <a:lnTo>
                  <a:pt x="2431159" y="1940507"/>
                </a:lnTo>
                <a:lnTo>
                  <a:pt x="2431159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8496000" y="1656000"/>
            <a:ext cx="5976000" cy="19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TEORIA DA ATUAÇÃO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8496000" y="3384000"/>
            <a:ext cx="7992000" cy="55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75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“A política é complexamente codificada em textos e artefatos e é decodificada (e recodificada) de forma igualmente complexa” (BALL; MAGUIRE; BRAUN, 2016, p. 14).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290"/>
              </a:spcBef>
              <a:spcAft>
                <a:spcPts val="869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Quatro dimensões do contexto (p. 38):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Situada: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história, localização e público; aqui entra Pipa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Culturas profissionais: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valores, compromissos, relações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Materiais: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prédio, equipamentos, conectividade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Externas: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orientações da rede e outras instâncias; aqui entra o técnico da SME</a:t>
            </a:r>
            <a:endParaRPr lang="pt-BR" sz="2175" dirty="0"/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CULTURAS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profissionais e performatividade</a:t>
            </a:r>
            <a:endParaRPr lang="pt-BR" sz="36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Hargreaves (2005)</a:t>
            </a:r>
            <a:endParaRPr lang="pt-BR" sz="275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As culturas do ensino “compreendem crenças, valores, hábitos e formas de fazer as coisas assumidas pelas comunidades de professores” (p. 189, tradução nossa).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Conteúdo e forma: individualismo, colaboração, colegialidade artificial, balcanização (p. 189-191).</a:t>
            </a:r>
            <a:endParaRPr lang="pt-BR" sz="2175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Ball (2002; 2008)</a:t>
            </a:r>
            <a:endParaRPr lang="pt-BR" sz="275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performatividade “é um regime de prestação de contas que emprega julgamentos, comparações e exposições como meios de controle, desgaste e mudança” (BALL, 2008, p. 49, tradução nossa).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Fabricação: versões da escola produzidas para serem vistas e avaliadas.</a:t>
            </a:r>
            <a:endParaRPr lang="pt-BR" sz="2175" dirty="0"/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18748" y="-626708"/>
            <a:ext cx="4681103" cy="3310817"/>
          </a:xfrm>
          <a:custGeom>
            <a:avLst/>
            <a:gdLst/>
            <a:ahLst/>
            <a:cxnLst/>
            <a:rect r="r" b="b" t="t" l="l"/>
            <a:pathLst>
              <a:path h="3310817" w="4681103">
                <a:moveTo>
                  <a:pt x="0" y="0"/>
                </a:moveTo>
                <a:lnTo>
                  <a:pt x="4681104" y="0"/>
                </a:lnTo>
                <a:lnTo>
                  <a:pt x="4681104" y="3310816"/>
                </a:lnTo>
                <a:lnTo>
                  <a:pt x="0" y="33108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1286914" y="2018689"/>
            <a:ext cx="7978637" cy="9386632"/>
          </a:xfrm>
          <a:custGeom>
            <a:avLst/>
            <a:gdLst/>
            <a:ahLst/>
            <a:cxnLst/>
            <a:rect r="r" b="b" t="t" l="l"/>
            <a:pathLst>
              <a:path h="9386632" w="7978637">
                <a:moveTo>
                  <a:pt x="7978637" y="0"/>
                </a:moveTo>
                <a:lnTo>
                  <a:pt x="0" y="0"/>
                </a:lnTo>
                <a:lnTo>
                  <a:pt x="0" y="9386632"/>
                </a:lnTo>
                <a:lnTo>
                  <a:pt x="7978637" y="9386632"/>
                </a:lnTo>
                <a:lnTo>
                  <a:pt x="7978637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700" y="3069909"/>
            <a:ext cx="9393142" cy="7653268"/>
            <a:chOff x="0" y="0"/>
            <a:chExt cx="2473914" cy="20156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473914" cy="2015676"/>
            </a:xfrm>
            <a:custGeom>
              <a:avLst/>
              <a:gdLst/>
              <a:ahLst/>
              <a:cxnLst/>
              <a:rect r="r" b="b" t="t" l="l"/>
              <a:pathLst>
                <a:path h="2015676" w="2473914">
                  <a:moveTo>
                    <a:pt x="34617" y="0"/>
                  </a:moveTo>
                  <a:lnTo>
                    <a:pt x="2439297" y="0"/>
                  </a:lnTo>
                  <a:cubicBezTo>
                    <a:pt x="2458415" y="0"/>
                    <a:pt x="2473914" y="15498"/>
                    <a:pt x="2473914" y="34617"/>
                  </a:cubicBezTo>
                  <a:lnTo>
                    <a:pt x="2473914" y="1981059"/>
                  </a:lnTo>
                  <a:cubicBezTo>
                    <a:pt x="2473914" y="2000177"/>
                    <a:pt x="2458415" y="2015676"/>
                    <a:pt x="2439297" y="2015676"/>
                  </a:cubicBezTo>
                  <a:lnTo>
                    <a:pt x="34617" y="2015676"/>
                  </a:lnTo>
                  <a:cubicBezTo>
                    <a:pt x="15498" y="2015676"/>
                    <a:pt x="0" y="2000177"/>
                    <a:pt x="0" y="1981059"/>
                  </a:cubicBezTo>
                  <a:lnTo>
                    <a:pt x="0" y="34617"/>
                  </a:lnTo>
                  <a:cubicBezTo>
                    <a:pt x="0" y="15498"/>
                    <a:pt x="15498" y="0"/>
                    <a:pt x="3461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2473914" cy="20728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true" flipV="false" rot="0">
            <a:off x="-1286629" y="-431434"/>
            <a:ext cx="5603193" cy="4900247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5603193" y="0"/>
                </a:moveTo>
                <a:lnTo>
                  <a:pt x="0" y="0"/>
                </a:lnTo>
                <a:lnTo>
                  <a:pt x="0" y="4900247"/>
                </a:lnTo>
                <a:lnTo>
                  <a:pt x="5603193" y="4900247"/>
                </a:lnTo>
                <a:lnTo>
                  <a:pt x="5603193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800000" y="4644000"/>
            <a:ext cx="7776000" cy="10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PODER E RESISTÊNCIA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1800000" y="5616000"/>
            <a:ext cx="7776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As relações de poder “não são unívocas; definem inúmeros pontos de luta, focos de instabilidade” (FOUCAULT, 1999, p. 29).</a:t>
            </a:r>
            <a:endParaRPr lang="pt-BR" sz="210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Formas de atuação possíveis: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adesão · acomodação · adaptação · omissão seletiva · negociação · ressignificação · resistência</a:t>
            </a:r>
            <a:endParaRPr lang="pt-BR" sz="210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 (2011, p. 36, 46) adverte contra culpar a escola e o professor e contra os “heróis althusserianos”.</a:t>
            </a:r>
            <a:endParaRPr lang="pt-BR" sz="210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Freire (2019, p. 64-65): sem condições favoráveis, o professor “se move menos eficazmente no espaço pedagógico”.</a:t>
            </a:r>
            <a:endParaRPr lang="pt-BR" sz="2102" dirty="0"/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353787" y="4364386"/>
            <a:ext cx="7465126" cy="4893914"/>
            <a:chOff x="0" y="0"/>
            <a:chExt cx="1966124" cy="128893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469087" y="4364386"/>
            <a:ext cx="7465126" cy="4893914"/>
            <a:chOff x="0" y="0"/>
            <a:chExt cx="1966124" cy="128893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936000"/>
            <a:ext cx="10512000" cy="30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</a:t>
            </a:r>
            <a:endParaRPr lang="pt-BR" sz="64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 digital</a:t>
            </a:r>
            <a:endParaRPr lang="pt-BR" sz="4400" dirty="0"/>
          </a:p>
        </p:txBody>
      </p:sp>
      <p:sp>
        <p:nvSpPr>
          <p:cNvPr id="202" name="Texto 202"/>
          <p:cNvSpPr txBox="1"/>
          <p:nvPr/>
        </p:nvSpPr>
        <p:spPr>
          <a:xfrm>
            <a:off x="19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 onde vem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Habitar “tem o significado de estar presente” e tem “natureza relacional” (SCHLEMMER; BACKES; PALAGI, 2021, p. 15)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escrita artificial “inaugurará um novo modo de habitar” (DI FELICE, 2009, p. 102)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 (2006) e Massey (2008): técnica, território e lugar</a:t>
            </a:r>
            <a:endParaRPr lang="pt-BR" sz="2102" dirty="0"/>
          </a:p>
        </p:txBody>
      </p:sp>
      <p:sp>
        <p:nvSpPr>
          <p:cNvPr id="203" name="Texto 203"/>
          <p:cNvSpPr txBox="1"/>
          <p:nvPr/>
        </p:nvSpPr>
        <p:spPr>
          <a:xfrm>
            <a:off x="100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Formulação da tese</a:t>
            </a:r>
            <a:endParaRPr lang="pt-BR" sz="275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Maneiras pelas quais as tecnologias digitais atravessam os espaços, as relações e as práticas cotidianas de um território, produzindo possibilidades desiguais de acesso, participação e apropriação.</a:t>
            </a:r>
            <a:endParaRPr lang="pt-BR" sz="210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Em Pipa: densidade tecnológica nos circuitos turísticos e pouca tecnologia nos espaços pedagógicos.</a:t>
            </a:r>
            <a:endParaRPr lang="pt-BR" sz="2102" dirty="0"/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384000" y="324000"/>
            <a:ext cx="11304000" cy="2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8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PLATAFORMAS, DADOS E SOLUCIONISMO</a:t>
            </a:r>
            <a:endParaRPr lang="pt-BR" sz="38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contexto teórico que entra no campo pelo Eixo 6 da entrevista</a:t>
            </a:r>
            <a:endParaRPr lang="pt-BR" sz="24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628000"/>
            <a:ext cx="6912000" cy="3384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Zuboff (2021)</a:t>
            </a:r>
            <a:endParaRPr lang="pt-BR" sz="246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Capitalismo de vigilância: a experiência humana como “matéria-prima gratuita” para extração, previsão e vendas (n. p.)</a:t>
            </a:r>
            <a:endParaRPr lang="pt-BR" sz="1958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052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628000"/>
            <a:ext cx="6912000" cy="3384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Silveira (2017) · Morozov (2018)</a:t>
            </a:r>
            <a:endParaRPr lang="pt-BR" sz="246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Para o mercado de dados crescer, é preciso derrotar a ideia de privacidade (p. 34); o solucionismo resolve problemas sociais por aplicativos (p. 88)</a:t>
            </a:r>
            <a:endParaRPr lang="pt-BR" sz="1958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052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336000"/>
            <a:ext cx="6912000" cy="3384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148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Pretto, Cordeiro e Oliveira (2013)</a:t>
            </a:r>
            <a:endParaRPr lang="pt-BR" sz="246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Na cultura digital, os sujeitos podem ser “produtores ativos de cultura” (p. 35)</a:t>
            </a:r>
            <a:endParaRPr lang="pt-BR" sz="1958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760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71592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0" y="0"/>
                </a:moveTo>
                <a:lnTo>
                  <a:pt x="4910562" y="0"/>
                </a:lnTo>
                <a:lnTo>
                  <a:pt x="4910562" y="4437363"/>
                </a:lnTo>
                <a:lnTo>
                  <a:pt x="0" y="44373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49030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4910562" y="0"/>
                </a:moveTo>
                <a:lnTo>
                  <a:pt x="0" y="0"/>
                </a:lnTo>
                <a:lnTo>
                  <a:pt x="0" y="4437363"/>
                </a:lnTo>
                <a:lnTo>
                  <a:pt x="4910562" y="4437363"/>
                </a:lnTo>
                <a:lnTo>
                  <a:pt x="491056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464000" y="576000"/>
            <a:ext cx="9360000" cy="26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DOS CONCEITOS</a:t>
            </a:r>
            <a:endParaRPr lang="pt-BR" sz="5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às lentes de análise</a:t>
            </a:r>
            <a:endParaRPr lang="pt-BR" sz="34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4176000"/>
            <a:ext cx="4860000" cy="237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7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ACP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Como a PNED foi lida e recriada?</a:t>
            </a:r>
            <a:endParaRPr lang="pt-BR" sz="1812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22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obj. a e c · documentos · Eixo 2</a:t>
            </a:r>
            <a:endParaRPr lang="pt-BR" sz="1522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3600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4176000"/>
            <a:ext cx="4860000" cy="237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71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Atuação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 condições pesam nas escolhas?</a:t>
            </a:r>
            <a:endParaRPr lang="pt-BR" sz="1812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22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obj. b · imagens · Blocos 3-4 · Eixo 3</a:t>
            </a:r>
            <a:endParaRPr lang="pt-BR" sz="1522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3600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4176000"/>
            <a:ext cx="4860000" cy="237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25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Culturas profissionais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a equipe valoriza, acolhe ou deixa de lado?</a:t>
            </a:r>
            <a:endParaRPr lang="pt-BR" sz="1812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22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obj. a · Blocos 1-2 · Eixo 1</a:t>
            </a:r>
            <a:endParaRPr lang="pt-BR" sz="1522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3600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7488000"/>
            <a:ext cx="4860000" cy="237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7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Performatividade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 registros acompanham a educação digital?</a:t>
            </a:r>
            <a:endParaRPr lang="pt-BR" sz="1812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22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obj. c · Bloco 4 · Eixo 4</a:t>
            </a:r>
            <a:endParaRPr lang="pt-BR" sz="1522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6912000"/>
            <a:ext cx="828000" cy="1332000"/>
          </a:xfrm>
          <a:prstGeom prst="rect">
            <a:avLst/>
          </a:prstGeom>
        </p:spPr>
      </p:pic>
      <p:pic>
        <p:nvPicPr>
          <p:cNvPr id="214" name="Moldura 214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7488000"/>
            <a:ext cx="4860000" cy="2376000"/>
          </a:xfrm>
          <a:prstGeom prst="rect">
            <a:avLst/>
          </a:prstGeom>
        </p:spPr>
      </p:pic>
      <p:sp>
        <p:nvSpPr>
          <p:cNvPr id="215" name="Texto 215"/>
          <p:cNvSpPr txBox="1"/>
          <p:nvPr/>
        </p:nvSpPr>
        <p:spPr>
          <a:xfrm>
            <a:off x="71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Poder e resistência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Onde uma orientação é recusada ou ressignificada?</a:t>
            </a:r>
            <a:endParaRPr lang="pt-BR" sz="1812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22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obj. c · Eixo 5</a:t>
            </a:r>
            <a:endParaRPr lang="pt-BR" sz="1522" dirty="0"/>
          </a:p>
        </p:txBody>
      </p:sp>
      <p:pic>
        <p:nvPicPr>
          <p:cNvPr id="216" name="Tacha 216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6912000"/>
            <a:ext cx="828000" cy="1332000"/>
          </a:xfrm>
          <a:prstGeom prst="rect">
            <a:avLst/>
          </a:prstGeom>
        </p:spPr>
      </p:pic>
      <p:pic>
        <p:nvPicPr>
          <p:cNvPr id="217" name="Moldura 217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7488000"/>
            <a:ext cx="4860000" cy="2376000"/>
          </a:xfrm>
          <a:prstGeom prst="rect">
            <a:avLst/>
          </a:prstGeom>
        </p:spPr>
      </p:pic>
      <p:sp>
        <p:nvSpPr>
          <p:cNvPr id="218" name="Texto 218"/>
          <p:cNvSpPr txBox="1"/>
          <p:nvPr/>
        </p:nvSpPr>
        <p:spPr>
          <a:xfrm>
            <a:off x="125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o digital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 acesso, uso e participação são possíveis?</a:t>
            </a:r>
            <a:endParaRPr lang="pt-BR" sz="1812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22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obj. b e d · Bloco 5 · Eixo 6</a:t>
            </a:r>
            <a:endParaRPr lang="pt-BR" sz="1522" dirty="0"/>
          </a:p>
        </p:txBody>
      </p:sp>
      <p:pic>
        <p:nvPicPr>
          <p:cNvPr id="219" name="Tacha 219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6912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METODOLOGIA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4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Estudo de caso qualitativo</a:t>
            </a:r>
            <a:endParaRPr lang="pt-BR" sz="3000" dirty="0"/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899330" y="1028700"/>
            <a:ext cx="10534934" cy="8229600"/>
            <a:chOff x="0" y="0"/>
            <a:chExt cx="2774633" cy="2167467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774633" cy="2167467"/>
            </a:xfrm>
            <a:custGeom>
              <a:avLst/>
              <a:gdLst/>
              <a:ahLst/>
              <a:cxnLst/>
              <a:rect r="r" b="b" t="t" l="l"/>
              <a:pathLst>
                <a:path h="2167467" w="2774633">
                  <a:moveTo>
                    <a:pt x="30865" y="0"/>
                  </a:moveTo>
                  <a:lnTo>
                    <a:pt x="2743768" y="0"/>
                  </a:lnTo>
                  <a:cubicBezTo>
                    <a:pt x="2751954" y="0"/>
                    <a:pt x="2759804" y="3252"/>
                    <a:pt x="2765593" y="9040"/>
                  </a:cubicBezTo>
                  <a:cubicBezTo>
                    <a:pt x="2771381" y="14828"/>
                    <a:pt x="2774633" y="22679"/>
                    <a:pt x="2774633" y="30865"/>
                  </a:cubicBezTo>
                  <a:lnTo>
                    <a:pt x="2774633" y="2136602"/>
                  </a:lnTo>
                  <a:cubicBezTo>
                    <a:pt x="2774633" y="2144788"/>
                    <a:pt x="2771381" y="2152638"/>
                    <a:pt x="2765593" y="2158427"/>
                  </a:cubicBezTo>
                  <a:cubicBezTo>
                    <a:pt x="2759804" y="2164215"/>
                    <a:pt x="2751954" y="2167467"/>
                    <a:pt x="2743768" y="2167467"/>
                  </a:cubicBezTo>
                  <a:lnTo>
                    <a:pt x="30865" y="2167467"/>
                  </a:lnTo>
                  <a:cubicBezTo>
                    <a:pt x="22679" y="2167467"/>
                    <a:pt x="14828" y="2164215"/>
                    <a:pt x="9040" y="2158427"/>
                  </a:cubicBezTo>
                  <a:cubicBezTo>
                    <a:pt x="3252" y="2152638"/>
                    <a:pt x="0" y="2144788"/>
                    <a:pt x="0" y="2136602"/>
                  </a:cubicBezTo>
                  <a:lnTo>
                    <a:pt x="0" y="30865"/>
                  </a:lnTo>
                  <a:cubicBezTo>
                    <a:pt x="0" y="22679"/>
                    <a:pt x="3252" y="14828"/>
                    <a:pt x="9040" y="9040"/>
                  </a:cubicBezTo>
                  <a:cubicBezTo>
                    <a:pt x="14828" y="3252"/>
                    <a:pt x="22679" y="0"/>
                    <a:pt x="30865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2774633" cy="22246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3732593" y="-476467"/>
            <a:ext cx="5603193" cy="4900247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0" y="0"/>
                </a:moveTo>
                <a:lnTo>
                  <a:pt x="5603193" y="0"/>
                </a:lnTo>
                <a:lnTo>
                  <a:pt x="5603193" y="4900247"/>
                </a:lnTo>
                <a:lnTo>
                  <a:pt x="0" y="490024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0" y="3196942"/>
            <a:ext cx="8002332" cy="8046221"/>
          </a:xfrm>
          <a:custGeom>
            <a:avLst/>
            <a:gdLst/>
            <a:ahLst/>
            <a:cxnLst/>
            <a:rect r="r" b="b" t="t" l="l"/>
            <a:pathLst>
              <a:path h="8046221" w="8002332">
                <a:moveTo>
                  <a:pt x="0" y="0"/>
                </a:moveTo>
                <a:lnTo>
                  <a:pt x="8002332" y="0"/>
                </a:lnTo>
                <a:lnTo>
                  <a:pt x="8002332" y="8046221"/>
                </a:lnTo>
                <a:lnTo>
                  <a:pt x="0" y="804622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4698286" y="-1028700"/>
            <a:ext cx="3897838" cy="4114800"/>
          </a:xfrm>
          <a:custGeom>
            <a:avLst/>
            <a:gdLst/>
            <a:ahLst/>
            <a:cxnLst/>
            <a:rect r="r" b="b" t="t" l="l"/>
            <a:pathLst>
              <a:path h="4114800" w="3897838">
                <a:moveTo>
                  <a:pt x="0" y="0"/>
                </a:moveTo>
                <a:lnTo>
                  <a:pt x="3897838" y="0"/>
                </a:lnTo>
                <a:lnTo>
                  <a:pt x="3897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-1070688" y="308980"/>
            <a:ext cx="4198776" cy="4114800"/>
          </a:xfrm>
          <a:custGeom>
            <a:avLst/>
            <a:gdLst/>
            <a:ahLst/>
            <a:cxnLst/>
            <a:rect r="r" b="b" t="t" l="l"/>
            <a:pathLst>
              <a:path h="4114800" w="4198776">
                <a:moveTo>
                  <a:pt x="0" y="0"/>
                </a:moveTo>
                <a:lnTo>
                  <a:pt x="4198776" y="0"/>
                </a:lnTo>
                <a:lnTo>
                  <a:pt x="419877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648000" y="1656000"/>
            <a:ext cx="4896000" cy="187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DESENHO DA PESQUISA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9648000" y="3096000"/>
            <a:ext cx="7776000" cy="597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Abordagem qualitativa e interpretativa (MINAYO, 2009)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Estudo de caso (YIN, 2001); a SME entra como dimensão complementar do contexto externo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Sem observação de sala de aula: “nós temos de confiar nos relatos dos professores nessas questões” (BALL; MAGUIRE; BRAUN, 2016, p. 49)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Proximidade da pesquisadora com a rede: confronto de fontes, devolutiva individual e diário de campo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Análise temática reflexiva (BRAUN; CLARKE, 2006, 2019)</a:t>
            </a:r>
            <a:endParaRPr lang="pt-BR" sz="2030" dirty="0"/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PARTICIPANTES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8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quem a pesquisa ouve</a:t>
            </a:r>
            <a:endParaRPr lang="pt-BR" sz="38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472000"/>
            <a:ext cx="5760000" cy="46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49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24 + 1</a:t>
            </a:r>
            <a:endParaRPr lang="pt-BR" sz="49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24 profissionais da escola: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diretor, vice-diretora, coordenadora pedagógica, 4 do apoio pedagógico, 15 regentes e 2 no apoio à recomposição de aula</a:t>
            </a:r>
            <a:endParaRPr lang="pt-BR" sz="210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técnico da SME: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coordenador de políticas públicas e programas educacionais</a:t>
            </a:r>
            <a:endParaRPr lang="pt-BR" sz="2102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472000"/>
            <a:ext cx="5760000" cy="46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49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351 crianças</a:t>
            </a:r>
            <a:endParaRPr lang="pt-BR" sz="49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15 turmas, três por ano (7 de manhã, 8 à tarde)</a:t>
            </a:r>
            <a:endParaRPr lang="pt-BR" sz="210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1º ano 62 · 2º 66 · 3º 68 · 4º 81 · 5º 74 (TIBAU DO SUL, 2026)</a:t>
            </a:r>
            <a:endParaRPr lang="pt-BR" sz="210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As crianças não participam da produção dos dados.</a:t>
            </a:r>
            <a:endParaRPr lang="pt-BR" sz="2102" dirty="0"/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71592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0" y="0"/>
                </a:moveTo>
                <a:lnTo>
                  <a:pt x="4910562" y="0"/>
                </a:lnTo>
                <a:lnTo>
                  <a:pt x="4910562" y="4437363"/>
                </a:lnTo>
                <a:lnTo>
                  <a:pt x="0" y="44373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49030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4910562" y="0"/>
                </a:moveTo>
                <a:lnTo>
                  <a:pt x="0" y="0"/>
                </a:lnTo>
                <a:lnTo>
                  <a:pt x="0" y="4437363"/>
                </a:lnTo>
                <a:lnTo>
                  <a:pt x="4910562" y="4437363"/>
                </a:lnTo>
                <a:lnTo>
                  <a:pt x="491056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464000" y="576000"/>
            <a:ext cx="9360000" cy="26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CINCO MOVIMENTOS</a:t>
            </a:r>
            <a:endParaRPr lang="pt-BR" sz="5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na construção dos dados</a:t>
            </a:r>
            <a:endParaRPr lang="pt-BR" sz="34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4176000"/>
            <a:ext cx="4860000" cy="237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7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· Documentos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Lei, Res. CNE/CEB nº 2/2025, PPP, planos, atas e registros da SME</a:t>
            </a:r>
            <a:endParaRPr lang="pt-BR" sz="1885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3600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4176000"/>
            <a:ext cx="4860000" cy="237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71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 · Imagens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38 imagens da escola e do Museu Digital de Pipa</a:t>
            </a:r>
            <a:endParaRPr lang="pt-BR" sz="1885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3600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4176000"/>
            <a:ext cx="4860000" cy="237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25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 · Questionário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Perfil e primeiras percepções, aplicado presencialmente</a:t>
            </a:r>
            <a:endParaRPr lang="pt-BR" sz="1885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3600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16000" y="7488000"/>
            <a:ext cx="4860000" cy="237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4253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 · Entrevistas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Semiestruturadas, individuais, de 60 a 90 minutos</a:t>
            </a:r>
            <a:endParaRPr lang="pt-BR" sz="1885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832000" y="6912000"/>
            <a:ext cx="828000" cy="1332000"/>
          </a:xfrm>
          <a:prstGeom prst="rect">
            <a:avLst/>
          </a:prstGeom>
        </p:spPr>
      </p:pic>
      <p:pic>
        <p:nvPicPr>
          <p:cNvPr id="214" name="Moldura 214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12000" y="7488000"/>
            <a:ext cx="4860000" cy="2376000"/>
          </a:xfrm>
          <a:prstGeom prst="rect">
            <a:avLst/>
          </a:prstGeom>
        </p:spPr>
      </p:pic>
      <p:sp>
        <p:nvSpPr>
          <p:cNvPr id="215" name="Texto 215"/>
          <p:cNvSpPr txBox="1"/>
          <p:nvPr/>
        </p:nvSpPr>
        <p:spPr>
          <a:xfrm>
            <a:off x="1004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 · Análise e devolutiva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Triangulação das fontes e devolutiva à escola e à SME</a:t>
            </a:r>
            <a:endParaRPr lang="pt-BR" sz="1885" dirty="0"/>
          </a:p>
        </p:txBody>
      </p:sp>
      <p:pic>
        <p:nvPicPr>
          <p:cNvPr id="216" name="Tacha 216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628000" y="6912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353787" y="4364386"/>
            <a:ext cx="7465126" cy="4893914"/>
            <a:chOff x="0" y="0"/>
            <a:chExt cx="1966124" cy="128893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469087" y="4364386"/>
            <a:ext cx="7465126" cy="4893914"/>
            <a:chOff x="0" y="0"/>
            <a:chExt cx="1966124" cy="128893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936000"/>
            <a:ext cx="10512000" cy="30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ÉTICA E CAMPO</a:t>
            </a:r>
            <a:endParaRPr lang="pt-BR" sz="56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dez semanas depois da emenda</a:t>
            </a:r>
            <a:endParaRPr lang="pt-BR" sz="3200" dirty="0"/>
          </a:p>
        </p:txBody>
      </p:sp>
      <p:sp>
        <p:nvSpPr>
          <p:cNvPr id="202" name="Texto 202"/>
          <p:cNvSpPr txBox="1"/>
          <p:nvPr/>
        </p:nvSpPr>
        <p:spPr>
          <a:xfrm>
            <a:off x="19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Cuidados éticos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Emenda ao protocolo já aprovado no CEP; campo só depois da aprovação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TCLE e pseudônimos escolhidos pelos participantes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Resoluções CNS nº 466/2012 e nº 510/2016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Rostos identificáveis de crianças não são expostos</a:t>
            </a:r>
            <a:endParaRPr lang="pt-BR" sz="2102" dirty="0"/>
          </a:p>
        </p:txBody>
      </p:sp>
      <p:sp>
        <p:nvSpPr>
          <p:cNvPr id="203" name="Texto 203"/>
          <p:cNvSpPr txBox="1"/>
          <p:nvPr/>
        </p:nvSpPr>
        <p:spPr>
          <a:xfrm>
            <a:off x="100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Etapas do campo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Semanas 1-2: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entrada formal e TCLE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Semanas 3-4: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questionários e análise preliminar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Semanas 5-8: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entrevistas e documentos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Semanas 9-10: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devolutivas parciais</a:t>
            </a:r>
            <a:endParaRPr lang="pt-BR" sz="2102" dirty="0"/>
          </a:p>
          <a:p>
            <a:pPr algn="l">
              <a:lnSpc>
                <a:spcPct val="100000"/>
              </a:lnSpc>
              <a:spcBef>
                <a:spcPts val="434"/>
              </a:spcBef>
              <a:spcAft>
                <a:spcPts val="869"/>
              </a:spcAft>
              <a:buNone/>
            </a:pPr>
            <a:r>
              <a:rPr lang="pt-BR" sz="1812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Já feitos: registro iconográfico e consulta ao acervo do Museu Digital de Pipa.</a:t>
            </a:r>
            <a:endParaRPr lang="pt-BR" sz="1812" dirty="0"/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AGENDA GLOBAL E PNED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5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produção do texto da política</a:t>
            </a:r>
            <a:endParaRPr lang="pt-BR" sz="3000" dirty="0"/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866158" y="1028700"/>
            <a:ext cx="9393142" cy="9865952"/>
            <a:chOff x="0" y="0"/>
            <a:chExt cx="2473914" cy="25984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73914" cy="2598440"/>
            </a:xfrm>
            <a:custGeom>
              <a:avLst/>
              <a:gdLst/>
              <a:ahLst/>
              <a:cxnLst/>
              <a:rect r="r" b="b" t="t" l="l"/>
              <a:pathLst>
                <a:path h="2598440" w="2473914">
                  <a:moveTo>
                    <a:pt x="34617" y="0"/>
                  </a:moveTo>
                  <a:lnTo>
                    <a:pt x="2439297" y="0"/>
                  </a:lnTo>
                  <a:cubicBezTo>
                    <a:pt x="2458415" y="0"/>
                    <a:pt x="2473914" y="15498"/>
                    <a:pt x="2473914" y="34617"/>
                  </a:cubicBezTo>
                  <a:lnTo>
                    <a:pt x="2473914" y="2563823"/>
                  </a:lnTo>
                  <a:cubicBezTo>
                    <a:pt x="2473914" y="2582942"/>
                    <a:pt x="2458415" y="2598440"/>
                    <a:pt x="2439297" y="2598440"/>
                  </a:cubicBezTo>
                  <a:lnTo>
                    <a:pt x="34617" y="2598440"/>
                  </a:lnTo>
                  <a:cubicBezTo>
                    <a:pt x="15498" y="2598440"/>
                    <a:pt x="0" y="2582942"/>
                    <a:pt x="0" y="2563823"/>
                  </a:cubicBezTo>
                  <a:lnTo>
                    <a:pt x="0" y="34617"/>
                  </a:lnTo>
                  <a:cubicBezTo>
                    <a:pt x="0" y="15498"/>
                    <a:pt x="15498" y="0"/>
                    <a:pt x="3461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2473914" cy="26555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true" flipV="false" rot="0">
            <a:off x="-514876" y="-476841"/>
            <a:ext cx="5252464" cy="5620341"/>
          </a:xfrm>
          <a:custGeom>
            <a:avLst/>
            <a:gdLst/>
            <a:ahLst/>
            <a:cxnLst/>
            <a:rect r="r" b="b" t="t" l="l"/>
            <a:pathLst>
              <a:path h="5620341" w="5252464">
                <a:moveTo>
                  <a:pt x="5252465" y="0"/>
                </a:moveTo>
                <a:lnTo>
                  <a:pt x="0" y="0"/>
                </a:lnTo>
                <a:lnTo>
                  <a:pt x="0" y="5620341"/>
                </a:lnTo>
                <a:lnTo>
                  <a:pt x="5252465" y="5620341"/>
                </a:lnTo>
                <a:lnTo>
                  <a:pt x="525246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8905129" y="9040148"/>
            <a:ext cx="7315200" cy="1981754"/>
          </a:xfrm>
          <a:custGeom>
            <a:avLst/>
            <a:gdLst/>
            <a:ahLst/>
            <a:cxnLst/>
            <a:rect r="r" b="b" t="t" l="l"/>
            <a:pathLst>
              <a:path h="1981754" w="7315200">
                <a:moveTo>
                  <a:pt x="0" y="0"/>
                </a:moveTo>
                <a:lnTo>
                  <a:pt x="7315200" y="0"/>
                </a:lnTo>
                <a:lnTo>
                  <a:pt x="7315200" y="1981754"/>
                </a:lnTo>
                <a:lnTo>
                  <a:pt x="0" y="198175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5130811" y="-476841"/>
            <a:ext cx="4826211" cy="4220741"/>
          </a:xfrm>
          <a:custGeom>
            <a:avLst/>
            <a:gdLst/>
            <a:ahLst/>
            <a:cxnLst/>
            <a:rect r="r" b="b" t="t" l="l"/>
            <a:pathLst>
              <a:path h="4220741" w="4826211">
                <a:moveTo>
                  <a:pt x="0" y="0"/>
                </a:moveTo>
                <a:lnTo>
                  <a:pt x="4826211" y="0"/>
                </a:lnTo>
                <a:lnTo>
                  <a:pt x="4826211" y="4220741"/>
                </a:lnTo>
                <a:lnTo>
                  <a:pt x="0" y="422074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false" rot="0">
            <a:off x="1028700" y="3233716"/>
            <a:ext cx="7417778" cy="8276460"/>
          </a:xfrm>
          <a:custGeom>
            <a:avLst/>
            <a:gdLst/>
            <a:ahLst/>
            <a:cxnLst/>
            <a:rect r="r" b="b" t="t" l="l"/>
            <a:pathLst>
              <a:path h="8276460" w="7417778">
                <a:moveTo>
                  <a:pt x="7417778" y="0"/>
                </a:moveTo>
                <a:lnTo>
                  <a:pt x="0" y="0"/>
                </a:lnTo>
                <a:lnTo>
                  <a:pt x="0" y="8276460"/>
                </a:lnTo>
                <a:lnTo>
                  <a:pt x="7417778" y="8276460"/>
                </a:lnTo>
                <a:lnTo>
                  <a:pt x="7417778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5809230" y="3430608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9" y="0"/>
                </a:moveTo>
                <a:lnTo>
                  <a:pt x="0" y="0"/>
                </a:lnTo>
                <a:lnTo>
                  <a:pt x="0" y="1940507"/>
                </a:lnTo>
                <a:lnTo>
                  <a:pt x="2431159" y="1940507"/>
                </a:lnTo>
                <a:lnTo>
                  <a:pt x="2431159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8496000" y="1656000"/>
            <a:ext cx="5976000" cy="19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8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AGENDAS INTERNACIONAIS</a:t>
            </a:r>
            <a:endParaRPr lang="pt-BR" sz="3800" dirty="0"/>
          </a:p>
        </p:txBody>
      </p:sp>
      <p:sp>
        <p:nvSpPr>
          <p:cNvPr id="202" name="Texto 202"/>
          <p:cNvSpPr txBox="1"/>
          <p:nvPr/>
        </p:nvSpPr>
        <p:spPr>
          <a:xfrm>
            <a:off x="8496000" y="3384000"/>
            <a:ext cx="7992000" cy="55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UNESCO (2023):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condições de incorporação das tecnologias e interação com os professores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OCDE (2015):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dúvida sobre a tradução direta do investimento em tecnologia em aprendizagem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Banco Mundial (2020):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começa pela finalidade educacional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434"/>
              </a:spcBef>
              <a:spcAft>
                <a:spcPts val="869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Os três deslocam o foco da presença dos recursos para as condições, os usos e as finalidades.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Da comparação entre Europa e Américas saem cinco categorias sensibilizadoras: governança, formação, infraestrutura, continuidade institucional e cultura digital.</a:t>
            </a:r>
            <a:endParaRPr lang="pt-BR" sz="2175" dirty="0"/>
          </a:p>
        </p:txBody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PNED E 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vazio material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lei exige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Componente curricular obrigatório no ensino fundamental, após a derrubada do veto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Implementação curricular a partir de 2026 (Res. CNE/CEB nº 2/2025, art. 36)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Formação tratada como ação de promoção</a:t>
            </a:r>
            <a:endParaRPr lang="pt-BR" sz="2102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 que meios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Inclusão digital “dentro dos limites orçamentários” de cada ente (art. 2º)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Art. 11: nenhum fundo próprio nem transferência obrigatória aos municípios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Vazio material: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proposição a verificar no campo</a:t>
            </a:r>
            <a:endParaRPr lang="pt-BR" sz="2102" dirty="0"/>
          </a:p>
        </p:txBody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E ESCOLA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6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Pipa como contexto da prática</a:t>
            </a:r>
            <a:endParaRPr lang="pt-BR" sz="3000" dirty="0"/>
          </a:p>
        </p:txBody>
      </p: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5265132" y="6106493"/>
            <a:ext cx="3897838" cy="4114800"/>
          </a:xfrm>
          <a:custGeom>
            <a:avLst/>
            <a:gdLst/>
            <a:ahLst/>
            <a:cxnLst/>
            <a:rect r="r" b="b" t="t" l="l"/>
            <a:pathLst>
              <a:path h="4114800" w="3897838">
                <a:moveTo>
                  <a:pt x="0" y="0"/>
                </a:moveTo>
                <a:lnTo>
                  <a:pt x="3897837" y="0"/>
                </a:lnTo>
                <a:lnTo>
                  <a:pt x="389783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-1229923" y="7020982"/>
            <a:ext cx="4517246" cy="4114800"/>
          </a:xfrm>
          <a:custGeom>
            <a:avLst/>
            <a:gdLst/>
            <a:ahLst/>
            <a:cxnLst/>
            <a:rect r="r" b="b" t="t" l="l"/>
            <a:pathLst>
              <a:path h="4114800" w="4517246">
                <a:moveTo>
                  <a:pt x="0" y="0"/>
                </a:moveTo>
                <a:lnTo>
                  <a:pt x="4517246" y="0"/>
                </a:lnTo>
                <a:lnTo>
                  <a:pt x="451724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432000"/>
            <a:ext cx="10512000" cy="216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 ALDEIA DE PESCADORES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 polo turístico</a:t>
            </a:r>
            <a:endParaRPr lang="pt-BR" sz="3000" dirty="0"/>
          </a:p>
        </p:txBody>
      </p:sp>
      <p:pic>
        <p:nvPicPr>
          <p:cNvPr id="202" name="Foto 202" descr="Construção artesanal de embarcação na antiga Pipa"/>
          <p:cNvPicPr>
            <a:picLocks noChangeAspect="1"/>
          </p:cNvPicPr>
          <p:nvPr/>
        </p:nvPicPr>
        <p:blipFill>
          <a:blip r:embed="rId11"/>
          <a:srcRect l="0" t="161" r="0" b="161"/>
          <a:stretch>
            <a:fillRect/>
          </a:stretch>
        </p:blipFill>
        <p:spPr>
          <a:xfrm rot="-90000">
            <a:off x="4104000" y="3096000"/>
            <a:ext cx="4824000" cy="349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3" name="Tacha 203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156000" y="2556000"/>
            <a:ext cx="720000" cy="1152000"/>
          </a:xfrm>
          <a:prstGeom prst="rect">
            <a:avLst/>
          </a:prstGeom>
        </p:spPr>
      </p:pic>
      <p:pic>
        <p:nvPicPr>
          <p:cNvPr id="204" name="Foto 204" descr="Grupo de surfistas com pranchas, abril de 1991"/>
          <p:cNvPicPr>
            <a:picLocks noChangeAspect="1"/>
          </p:cNvPicPr>
          <p:nvPr/>
        </p:nvPicPr>
        <p:blipFill>
          <a:blip r:embed="rId14"/>
          <a:srcRect l="0" t="131" r="0" b="131"/>
          <a:stretch>
            <a:fillRect/>
          </a:stretch>
        </p:blipFill>
        <p:spPr>
          <a:xfrm rot="90000">
            <a:off x="9576000" y="3096000"/>
            <a:ext cx="4464000" cy="352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5" name="Tacha 205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448000" y="2556000"/>
            <a:ext cx="720000" cy="1152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3960000" y="6732000"/>
            <a:ext cx="5112000" cy="43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Construção artesanal de embarcação</a:t>
            </a:r>
            <a:endParaRPr lang="pt-BR" sz="1900" dirty="0"/>
          </a:p>
        </p:txBody>
      </p:sp>
      <p:sp>
        <p:nvSpPr>
          <p:cNvPr id="207" name="Texto 207"/>
          <p:cNvSpPr txBox="1"/>
          <p:nvPr/>
        </p:nvSpPr>
        <p:spPr>
          <a:xfrm>
            <a:off x="9432000" y="6732000"/>
            <a:ext cx="4752000" cy="43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Surfistas, abril de 1991</a:t>
            </a:r>
            <a:endParaRPr lang="pt-BR" sz="1900" dirty="0"/>
          </a:p>
        </p:txBody>
      </p:sp>
      <p:sp>
        <p:nvSpPr>
          <p:cNvPr id="208" name="Texto 208"/>
          <p:cNvSpPr txBox="1"/>
          <p:nvPr/>
        </p:nvSpPr>
        <p:spPr>
          <a:xfrm>
            <a:off x="3960000" y="7776000"/>
            <a:ext cx="10728000" cy="208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Comunidade agrícola e pesqueira nos anos 1970, sem energia elétrica nem água encanada; surfistas a partir de meados da década; divulgação intensa nos anos 1990 (AIRES, 2012, p. 80-82).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Fotografias: Museu Digital de Pipa / Acervo da pesquisa (2026).</a:t>
            </a:r>
            <a:endParaRPr lang="pt-BR" sz="1500" dirty="0"/>
          </a:p>
        </p:txBody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DISTRITO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 a escola</a:t>
            </a:r>
            <a:endParaRPr lang="pt-BR" sz="4000" dirty="0"/>
          </a:p>
        </p:txBody>
      </p:sp>
      <p:pic>
        <p:nvPicPr>
          <p:cNvPr id="202" name="Foto 202" descr="Vista aérea contemporânea de Pipa e sua orla turística"/>
          <p:cNvPicPr>
            <a:picLocks noChangeAspect="1"/>
          </p:cNvPicPr>
          <p:nvPr/>
        </p:nvPicPr>
        <p:blipFill>
          <a:blip r:embed="rId13"/>
          <a:srcRect l="0" t="147" r="0" b="147"/>
          <a:stretch>
            <a:fillRect/>
          </a:stretch>
        </p:blipFill>
        <p:spPr>
          <a:xfrm rot="-72000">
            <a:off x="1656000" y="4896000"/>
            <a:ext cx="6120000" cy="4500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3" name="Tacha 203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356000" y="4356000"/>
            <a:ext cx="720000" cy="1152000"/>
          </a:xfrm>
          <a:prstGeom prst="rect">
            <a:avLst/>
          </a:prstGeom>
        </p:spPr>
      </p:pic>
      <p:sp>
        <p:nvSpPr>
          <p:cNvPr id="204" name="Texto 204"/>
          <p:cNvSpPr txBox="1"/>
          <p:nvPr/>
        </p:nvSpPr>
        <p:spPr>
          <a:xfrm>
            <a:off x="1008000" y="9684000"/>
            <a:ext cx="7560000" cy="57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Vista aérea de Pipa. Fonte: Museu Digital de Pipa / Acervo da pesquisa (2026).</a:t>
            </a:r>
            <a:endParaRPr lang="pt-BR" sz="1600" dirty="0"/>
          </a:p>
        </p:txBody>
      </p:sp>
      <p:sp>
        <p:nvSpPr>
          <p:cNvPr id="205" name="Cartão 205"/>
          <p:cNvSpPr/>
          <p:nvPr/>
        </p:nvSpPr>
        <p:spPr>
          <a:xfrm>
            <a:off x="8568000" y="5112000"/>
            <a:ext cx="7416000" cy="489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288000" tIns="288000" rIns="288000" bIns="288000" anchor="ctr" rtlCol="0">
            <a:noAutofit/>
          </a:bodyPr>
          <a:lstStyle/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Pousadas, restaurantes e passeios vendidos pela internet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Na escola, salas sem telas e laboratório desligado no momento do registro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580"/>
              </a:spcBef>
              <a:spcAft>
                <a:spcPts val="869"/>
              </a:spcAft>
              <a:buNone/>
            </a:pPr>
            <a:r>
              <a:rPr lang="pt-BR" sz="2248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“zonas servidas pelos meios de conhecimento e áreas desprovidas dessa vantagem” (SANTOS, 2006, p. 163)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Escola e polo turístico são contemporâneos, sem “lugar na fila da história” (MASSEY, 2008, p. 24).</a:t>
            </a:r>
            <a:endParaRPr lang="pt-BR" sz="2248" dirty="0"/>
          </a:p>
        </p:txBody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63870" y="389732"/>
            <a:ext cx="7320803" cy="9507536"/>
          </a:xfrm>
          <a:custGeom>
            <a:avLst/>
            <a:gdLst/>
            <a:ahLst/>
            <a:cxnLst/>
            <a:rect r="r" b="b" t="t" l="l"/>
            <a:pathLst>
              <a:path h="9507536" w="7320803">
                <a:moveTo>
                  <a:pt x="0" y="0"/>
                </a:moveTo>
                <a:lnTo>
                  <a:pt x="7320803" y="0"/>
                </a:lnTo>
                <a:lnTo>
                  <a:pt x="7320803" y="9507536"/>
                </a:lnTo>
                <a:lnTo>
                  <a:pt x="0" y="95075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755837">
            <a:off x="6716389" y="624673"/>
            <a:ext cx="2536569" cy="3461819"/>
          </a:xfrm>
          <a:custGeom>
            <a:avLst/>
            <a:gdLst/>
            <a:ahLst/>
            <a:cxnLst/>
            <a:rect r="r" b="b" t="t" l="l"/>
            <a:pathLst>
              <a:path h="3461819" w="2536569">
                <a:moveTo>
                  <a:pt x="0" y="0"/>
                </a:moveTo>
                <a:lnTo>
                  <a:pt x="2536569" y="0"/>
                </a:lnTo>
                <a:lnTo>
                  <a:pt x="2536569" y="3461819"/>
                </a:lnTo>
                <a:lnTo>
                  <a:pt x="0" y="346181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271139">
            <a:off x="1028984" y="792541"/>
            <a:ext cx="1715649" cy="2341456"/>
          </a:xfrm>
          <a:custGeom>
            <a:avLst/>
            <a:gdLst/>
            <a:ahLst/>
            <a:cxnLst/>
            <a:rect r="r" b="b" t="t" l="l"/>
            <a:pathLst>
              <a:path h="2341456" w="1715649">
                <a:moveTo>
                  <a:pt x="0" y="0"/>
                </a:moveTo>
                <a:lnTo>
                  <a:pt x="1715649" y="0"/>
                </a:lnTo>
                <a:lnTo>
                  <a:pt x="1715649" y="2341456"/>
                </a:lnTo>
                <a:lnTo>
                  <a:pt x="0" y="234145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4216803" y="-508556"/>
            <a:ext cx="5298582" cy="4633851"/>
          </a:xfrm>
          <a:custGeom>
            <a:avLst/>
            <a:gdLst/>
            <a:ahLst/>
            <a:cxnLst/>
            <a:rect r="r" b="b" t="t" l="l"/>
            <a:pathLst>
              <a:path h="4633851" w="5298582">
                <a:moveTo>
                  <a:pt x="0" y="0"/>
                </a:moveTo>
                <a:lnTo>
                  <a:pt x="5298583" y="0"/>
                </a:lnTo>
                <a:lnTo>
                  <a:pt x="5298583" y="4633851"/>
                </a:lnTo>
                <a:lnTo>
                  <a:pt x="0" y="463385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110754" y="389732"/>
            <a:ext cx="3595229" cy="2542807"/>
          </a:xfrm>
          <a:custGeom>
            <a:avLst/>
            <a:gdLst/>
            <a:ahLst/>
            <a:cxnLst/>
            <a:rect r="r" b="b" t="t" l="l"/>
            <a:pathLst>
              <a:path h="2542807" w="3595229">
                <a:moveTo>
                  <a:pt x="0" y="0"/>
                </a:moveTo>
                <a:lnTo>
                  <a:pt x="3595229" y="0"/>
                </a:lnTo>
                <a:lnTo>
                  <a:pt x="3595229" y="2542807"/>
                </a:lnTo>
                <a:lnTo>
                  <a:pt x="0" y="254280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1419711">
            <a:off x="-669291" y="7248429"/>
            <a:ext cx="3275863" cy="3654614"/>
          </a:xfrm>
          <a:custGeom>
            <a:avLst/>
            <a:gdLst/>
            <a:ahLst/>
            <a:cxnLst/>
            <a:rect r="r" b="b" t="t" l="l"/>
            <a:pathLst>
              <a:path h="3654614" w="3275863">
                <a:moveTo>
                  <a:pt x="0" y="0"/>
                </a:moveTo>
                <a:lnTo>
                  <a:pt x="3275863" y="0"/>
                </a:lnTo>
                <a:lnTo>
                  <a:pt x="3275863" y="3654614"/>
                </a:lnTo>
                <a:lnTo>
                  <a:pt x="0" y="365461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5446635" y="6172200"/>
            <a:ext cx="3897838" cy="4114800"/>
          </a:xfrm>
          <a:custGeom>
            <a:avLst/>
            <a:gdLst/>
            <a:ahLst/>
            <a:cxnLst/>
            <a:rect r="r" b="b" t="t" l="l"/>
            <a:pathLst>
              <a:path h="4114800" w="3897838">
                <a:moveTo>
                  <a:pt x="0" y="0"/>
                </a:moveTo>
                <a:lnTo>
                  <a:pt x="3897838" y="0"/>
                </a:lnTo>
                <a:lnTo>
                  <a:pt x="3897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8856000" y="3240000"/>
            <a:ext cx="8640000" cy="115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ESCOLA E O LABORATÓRIO</a:t>
            </a:r>
            <a:endParaRPr lang="pt-BR" sz="3400" dirty="0"/>
          </a:p>
        </p:txBody>
      </p:sp>
      <p:pic>
        <p:nvPicPr>
          <p:cNvPr id="202" name="Foto 202" descr="Fachada da Escola Municipal Domitila Castelo da Silva"/>
          <p:cNvPicPr>
            <a:picLocks noChangeAspect="1"/>
          </p:cNvPicPr>
          <p:nvPr/>
        </p:nvPicPr>
        <p:blipFill>
          <a:blip r:embed="rId15"/>
          <a:srcRect l="100" t="0" r="100" b="0"/>
          <a:stretch>
            <a:fillRect/>
          </a:stretch>
        </p:blipFill>
        <p:spPr>
          <a:xfrm rot="-72000">
            <a:off x="9000000" y="4824000"/>
            <a:ext cx="4248000" cy="2394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3" name="Tacha 203" descr="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0764000" y="4284000"/>
            <a:ext cx="720000" cy="1152000"/>
          </a:xfrm>
          <a:prstGeom prst="rect">
            <a:avLst/>
          </a:prstGeom>
        </p:spPr>
      </p:pic>
      <p:pic>
        <p:nvPicPr>
          <p:cNvPr id="204" name="Foto 204" descr="Laboratório de informática com equipamentos desligados"/>
          <p:cNvPicPr>
            <a:picLocks noChangeAspect="1"/>
          </p:cNvPicPr>
          <p:nvPr/>
        </p:nvPicPr>
        <p:blipFill>
          <a:blip r:embed="rId18"/>
          <a:srcRect l="100" t="0" r="100" b="0"/>
          <a:stretch>
            <a:fillRect/>
          </a:stretch>
        </p:blipFill>
        <p:spPr>
          <a:xfrm rot="72000">
            <a:off x="13680000" y="4824000"/>
            <a:ext cx="4248000" cy="2394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5" name="Tacha 205" descr="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5444000" y="4284000"/>
            <a:ext cx="720000" cy="1152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8856000" y="7308000"/>
            <a:ext cx="4536000" cy="43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Fachada da escola</a:t>
            </a:r>
            <a:endParaRPr lang="pt-BR" sz="1800" dirty="0"/>
          </a:p>
        </p:txBody>
      </p:sp>
      <p:sp>
        <p:nvSpPr>
          <p:cNvPr id="207" name="Texto 207"/>
          <p:cNvSpPr txBox="1"/>
          <p:nvPr/>
        </p:nvSpPr>
        <p:spPr>
          <a:xfrm>
            <a:off x="13536000" y="7308000"/>
            <a:ext cx="4536000" cy="43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Laboratório de informática</a:t>
            </a:r>
            <a:endParaRPr lang="pt-BR" sz="1800" dirty="0"/>
          </a:p>
        </p:txBody>
      </p:sp>
      <p:sp>
        <p:nvSpPr>
          <p:cNvPr id="208" name="Texto 208"/>
          <p:cNvSpPr txBox="1"/>
          <p:nvPr/>
        </p:nvSpPr>
        <p:spPr>
          <a:xfrm>
            <a:off x="9000000" y="7992000"/>
            <a:ext cx="8856000" cy="21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02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Computadores adquiridos pela Prefeitura em 2022, segundo informação preliminar a confirmar. </a:t>
            </a:r>
            <a:r>
              <a:rPr lang="pt-BR" sz="2102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Rugosidade tecnológica:</a:t>
            </a:r>
            <a:r>
              <a:rPr lang="pt-BR" sz="2102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a forma “permanece aguardando o próximo movimento dinâmico da sociedade” (SANTOS, 2012, p. 74-75).</a:t>
            </a:r>
            <a:endParaRPr lang="pt-BR" sz="210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Fotografias: Acervo da pesquisa (2026).</a:t>
            </a:r>
            <a:endParaRPr lang="pt-BR" sz="1400" dirty="0"/>
          </a:p>
        </p:txBody>
      </p:sp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899330" y="1028700"/>
            <a:ext cx="10534934" cy="8229600"/>
            <a:chOff x="0" y="0"/>
            <a:chExt cx="2774633" cy="2167467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774633" cy="2167467"/>
            </a:xfrm>
            <a:custGeom>
              <a:avLst/>
              <a:gdLst/>
              <a:ahLst/>
              <a:cxnLst/>
              <a:rect r="r" b="b" t="t" l="l"/>
              <a:pathLst>
                <a:path h="2167467" w="2774633">
                  <a:moveTo>
                    <a:pt x="30865" y="0"/>
                  </a:moveTo>
                  <a:lnTo>
                    <a:pt x="2743768" y="0"/>
                  </a:lnTo>
                  <a:cubicBezTo>
                    <a:pt x="2751954" y="0"/>
                    <a:pt x="2759804" y="3252"/>
                    <a:pt x="2765593" y="9040"/>
                  </a:cubicBezTo>
                  <a:cubicBezTo>
                    <a:pt x="2771381" y="14828"/>
                    <a:pt x="2774633" y="22679"/>
                    <a:pt x="2774633" y="30865"/>
                  </a:cubicBezTo>
                  <a:lnTo>
                    <a:pt x="2774633" y="2136602"/>
                  </a:lnTo>
                  <a:cubicBezTo>
                    <a:pt x="2774633" y="2144788"/>
                    <a:pt x="2771381" y="2152638"/>
                    <a:pt x="2765593" y="2158427"/>
                  </a:cubicBezTo>
                  <a:cubicBezTo>
                    <a:pt x="2759804" y="2164215"/>
                    <a:pt x="2751954" y="2167467"/>
                    <a:pt x="2743768" y="2167467"/>
                  </a:cubicBezTo>
                  <a:lnTo>
                    <a:pt x="30865" y="2167467"/>
                  </a:lnTo>
                  <a:cubicBezTo>
                    <a:pt x="22679" y="2167467"/>
                    <a:pt x="14828" y="2164215"/>
                    <a:pt x="9040" y="2158427"/>
                  </a:cubicBezTo>
                  <a:cubicBezTo>
                    <a:pt x="3252" y="2152638"/>
                    <a:pt x="0" y="2144788"/>
                    <a:pt x="0" y="2136602"/>
                  </a:cubicBezTo>
                  <a:lnTo>
                    <a:pt x="0" y="30865"/>
                  </a:lnTo>
                  <a:cubicBezTo>
                    <a:pt x="0" y="22679"/>
                    <a:pt x="3252" y="14828"/>
                    <a:pt x="9040" y="9040"/>
                  </a:cubicBezTo>
                  <a:cubicBezTo>
                    <a:pt x="14828" y="3252"/>
                    <a:pt x="22679" y="0"/>
                    <a:pt x="30865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2774633" cy="22246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3732593" y="-476467"/>
            <a:ext cx="5603193" cy="4900247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0" y="0"/>
                </a:moveTo>
                <a:lnTo>
                  <a:pt x="5603193" y="0"/>
                </a:lnTo>
                <a:lnTo>
                  <a:pt x="5603193" y="4900247"/>
                </a:lnTo>
                <a:lnTo>
                  <a:pt x="0" y="490024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0" y="3196942"/>
            <a:ext cx="8002332" cy="8046221"/>
          </a:xfrm>
          <a:custGeom>
            <a:avLst/>
            <a:gdLst/>
            <a:ahLst/>
            <a:cxnLst/>
            <a:rect r="r" b="b" t="t" l="l"/>
            <a:pathLst>
              <a:path h="8046221" w="8002332">
                <a:moveTo>
                  <a:pt x="0" y="0"/>
                </a:moveTo>
                <a:lnTo>
                  <a:pt x="8002332" y="0"/>
                </a:lnTo>
                <a:lnTo>
                  <a:pt x="8002332" y="8046221"/>
                </a:lnTo>
                <a:lnTo>
                  <a:pt x="0" y="804622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4698286" y="-1028700"/>
            <a:ext cx="3897838" cy="4114800"/>
          </a:xfrm>
          <a:custGeom>
            <a:avLst/>
            <a:gdLst/>
            <a:ahLst/>
            <a:cxnLst/>
            <a:rect r="r" b="b" t="t" l="l"/>
            <a:pathLst>
              <a:path h="4114800" w="3897838">
                <a:moveTo>
                  <a:pt x="0" y="0"/>
                </a:moveTo>
                <a:lnTo>
                  <a:pt x="3897838" y="0"/>
                </a:lnTo>
                <a:lnTo>
                  <a:pt x="3897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-1070688" y="308980"/>
            <a:ext cx="4198776" cy="4114800"/>
          </a:xfrm>
          <a:custGeom>
            <a:avLst/>
            <a:gdLst/>
            <a:ahLst/>
            <a:cxnLst/>
            <a:rect r="r" b="b" t="t" l="l"/>
            <a:pathLst>
              <a:path h="4114800" w="4198776">
                <a:moveTo>
                  <a:pt x="0" y="0"/>
                </a:moveTo>
                <a:lnTo>
                  <a:pt x="4198776" y="0"/>
                </a:lnTo>
                <a:lnTo>
                  <a:pt x="419877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648000" y="1656000"/>
            <a:ext cx="4896000" cy="187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AS SALAS DE AULA</a:t>
            </a:r>
            <a:endParaRPr lang="pt-BR" sz="4000" dirty="0"/>
          </a:p>
        </p:txBody>
      </p:sp>
      <p:pic>
        <p:nvPicPr>
          <p:cNvPr id="202" name="Foto 202" descr="Sala de aula dos primeiros anos"/>
          <p:cNvPicPr>
            <a:picLocks noChangeAspect="1"/>
          </p:cNvPicPr>
          <p:nvPr/>
        </p:nvPicPr>
        <p:blipFill>
          <a:blip r:embed="rId11"/>
          <a:srcRect l="115" t="0" r="115" b="0"/>
          <a:stretch>
            <a:fillRect/>
          </a:stretch>
        </p:blipFill>
        <p:spPr>
          <a:xfrm rot="-72000">
            <a:off x="9684000" y="3888000"/>
            <a:ext cx="3672000" cy="2070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3" name="Tacha 203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160000" y="3348000"/>
            <a:ext cx="720000" cy="1152000"/>
          </a:xfrm>
          <a:prstGeom prst="rect">
            <a:avLst/>
          </a:prstGeom>
        </p:spPr>
      </p:pic>
      <p:pic>
        <p:nvPicPr>
          <p:cNvPr id="204" name="Foto 204" descr="Alfabeto móvel confeccionado artesanalmente"/>
          <p:cNvPicPr>
            <a:picLocks noChangeAspect="1"/>
          </p:cNvPicPr>
          <p:nvPr/>
        </p:nvPicPr>
        <p:blipFill>
          <a:blip r:embed="rId14"/>
          <a:srcRect l="115" t="0" r="115" b="0"/>
          <a:stretch>
            <a:fillRect/>
          </a:stretch>
        </p:blipFill>
        <p:spPr>
          <a:xfrm rot="72000">
            <a:off x="13752000" y="3888000"/>
            <a:ext cx="3672000" cy="2070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5" name="Tacha 205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5228000" y="3348000"/>
            <a:ext cx="720000" cy="1152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9648000" y="6156000"/>
            <a:ext cx="7776000" cy="64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Sala dos primeiros anos e alfabeto móvel feito à mão. Fonte: Acervo da pesquisa (2026).</a:t>
            </a:r>
            <a:endParaRPr lang="pt-BR" sz="1600" dirty="0"/>
          </a:p>
        </p:txBody>
      </p:sp>
      <p:sp>
        <p:nvSpPr>
          <p:cNvPr id="207" name="Texto 207"/>
          <p:cNvSpPr txBox="1"/>
          <p:nvPr/>
        </p:nvSpPr>
        <p:spPr>
          <a:xfrm>
            <a:off x="9648000" y="6948000"/>
            <a:ext cx="7776000" cy="223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Nas salas fotografadas não havia nenhum dispositivo, enquanto o laboratório, no mesmo prédio, guardava computadores desligados.</a:t>
            </a:r>
            <a:endParaRPr lang="pt-BR" sz="210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1885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Cada imagem registra a configuração material visível, sem valor de prova sobre as práticas.</a:t>
            </a:r>
            <a:endParaRPr lang="pt-BR" sz="1885" dirty="0"/>
          </a:p>
        </p:txBody>
      </p:sp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866158" y="1028700"/>
            <a:ext cx="9393142" cy="9865952"/>
            <a:chOff x="0" y="0"/>
            <a:chExt cx="2473914" cy="25984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73914" cy="2598440"/>
            </a:xfrm>
            <a:custGeom>
              <a:avLst/>
              <a:gdLst/>
              <a:ahLst/>
              <a:cxnLst/>
              <a:rect r="r" b="b" t="t" l="l"/>
              <a:pathLst>
                <a:path h="2598440" w="2473914">
                  <a:moveTo>
                    <a:pt x="34617" y="0"/>
                  </a:moveTo>
                  <a:lnTo>
                    <a:pt x="2439297" y="0"/>
                  </a:lnTo>
                  <a:cubicBezTo>
                    <a:pt x="2458415" y="0"/>
                    <a:pt x="2473914" y="15498"/>
                    <a:pt x="2473914" y="34617"/>
                  </a:cubicBezTo>
                  <a:lnTo>
                    <a:pt x="2473914" y="2563823"/>
                  </a:lnTo>
                  <a:cubicBezTo>
                    <a:pt x="2473914" y="2582942"/>
                    <a:pt x="2458415" y="2598440"/>
                    <a:pt x="2439297" y="2598440"/>
                  </a:cubicBezTo>
                  <a:lnTo>
                    <a:pt x="34617" y="2598440"/>
                  </a:lnTo>
                  <a:cubicBezTo>
                    <a:pt x="15498" y="2598440"/>
                    <a:pt x="0" y="2582942"/>
                    <a:pt x="0" y="2563823"/>
                  </a:cubicBezTo>
                  <a:lnTo>
                    <a:pt x="0" y="34617"/>
                  </a:lnTo>
                  <a:cubicBezTo>
                    <a:pt x="0" y="15498"/>
                    <a:pt x="15498" y="0"/>
                    <a:pt x="3461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2473914" cy="26555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true" flipV="false" rot="0">
            <a:off x="-514876" y="-476841"/>
            <a:ext cx="5252464" cy="5620341"/>
          </a:xfrm>
          <a:custGeom>
            <a:avLst/>
            <a:gdLst/>
            <a:ahLst/>
            <a:cxnLst/>
            <a:rect r="r" b="b" t="t" l="l"/>
            <a:pathLst>
              <a:path h="5620341" w="5252464">
                <a:moveTo>
                  <a:pt x="5252465" y="0"/>
                </a:moveTo>
                <a:lnTo>
                  <a:pt x="0" y="0"/>
                </a:lnTo>
                <a:lnTo>
                  <a:pt x="0" y="5620341"/>
                </a:lnTo>
                <a:lnTo>
                  <a:pt x="5252465" y="5620341"/>
                </a:lnTo>
                <a:lnTo>
                  <a:pt x="525246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8905129" y="9040148"/>
            <a:ext cx="7315200" cy="1981754"/>
          </a:xfrm>
          <a:custGeom>
            <a:avLst/>
            <a:gdLst/>
            <a:ahLst/>
            <a:cxnLst/>
            <a:rect r="r" b="b" t="t" l="l"/>
            <a:pathLst>
              <a:path h="1981754" w="7315200">
                <a:moveTo>
                  <a:pt x="0" y="0"/>
                </a:moveTo>
                <a:lnTo>
                  <a:pt x="7315200" y="0"/>
                </a:lnTo>
                <a:lnTo>
                  <a:pt x="7315200" y="1981754"/>
                </a:lnTo>
                <a:lnTo>
                  <a:pt x="0" y="198175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5130811" y="-476841"/>
            <a:ext cx="4826211" cy="4220741"/>
          </a:xfrm>
          <a:custGeom>
            <a:avLst/>
            <a:gdLst/>
            <a:ahLst/>
            <a:cxnLst/>
            <a:rect r="r" b="b" t="t" l="l"/>
            <a:pathLst>
              <a:path h="4220741" w="4826211">
                <a:moveTo>
                  <a:pt x="0" y="0"/>
                </a:moveTo>
                <a:lnTo>
                  <a:pt x="4826211" y="0"/>
                </a:lnTo>
                <a:lnTo>
                  <a:pt x="4826211" y="4220741"/>
                </a:lnTo>
                <a:lnTo>
                  <a:pt x="0" y="422074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false" rot="0">
            <a:off x="1028700" y="3233716"/>
            <a:ext cx="7417778" cy="8276460"/>
          </a:xfrm>
          <a:custGeom>
            <a:avLst/>
            <a:gdLst/>
            <a:ahLst/>
            <a:cxnLst/>
            <a:rect r="r" b="b" t="t" l="l"/>
            <a:pathLst>
              <a:path h="8276460" w="7417778">
                <a:moveTo>
                  <a:pt x="7417778" y="0"/>
                </a:moveTo>
                <a:lnTo>
                  <a:pt x="0" y="0"/>
                </a:lnTo>
                <a:lnTo>
                  <a:pt x="0" y="8276460"/>
                </a:lnTo>
                <a:lnTo>
                  <a:pt x="7417778" y="8276460"/>
                </a:lnTo>
                <a:lnTo>
                  <a:pt x="7417778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5809230" y="3430608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9" y="0"/>
                </a:moveTo>
                <a:lnTo>
                  <a:pt x="0" y="0"/>
                </a:lnTo>
                <a:lnTo>
                  <a:pt x="0" y="1940507"/>
                </a:lnTo>
                <a:lnTo>
                  <a:pt x="2431159" y="1940507"/>
                </a:lnTo>
                <a:lnTo>
                  <a:pt x="2431159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8496000" y="1656000"/>
            <a:ext cx="5976000" cy="19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TESE DE PARTIDA</a:t>
            </a:r>
            <a:endParaRPr lang="pt-BR" sz="4400" dirty="0"/>
          </a:p>
        </p:txBody>
      </p:sp>
      <p:sp>
        <p:nvSpPr>
          <p:cNvPr id="202" name="Texto 202"/>
          <p:cNvSpPr txBox="1"/>
          <p:nvPr/>
        </p:nvSpPr>
        <p:spPr>
          <a:xfrm>
            <a:off x="8496000" y="3384000"/>
            <a:ext cx="7992000" cy="55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24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forma assumida pela PNED no cotidiano escolar resulta da relação entre o que ela prescreve e as condições sob as quais os profissionais precisam atuar.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Dessa relação podem surgir adesão, acomodação, adaptação, omissão seletiva, negociação, ressignificação e resistência; a resistência permanece hipótese a examinar nos dados.</a:t>
            </a:r>
            <a:endParaRPr lang="pt-BR" sz="210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As políticas “são intervenções textuais, mas carregam também restrições e possibilidades materiais” (BOWE; BALL; GOLD, 1992, p. 21, tradução nossa).</a:t>
            </a:r>
            <a:endParaRPr lang="pt-BR" sz="2102" dirty="0"/>
          </a:p>
        </p:txBody>
      </p:sp>
    </p:spTree>
  </p:cSld>
  <p:clrMapOvr>
    <a:masterClrMapping/>
  </p:clrMapOvr>
</p:sld>
</file>

<file path=ppt/slides/slide4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600000" y="504000"/>
            <a:ext cx="10800000" cy="158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TRÊS FORMULAÇÕES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para confrontar com os dados</a:t>
            </a:r>
            <a:endParaRPr lang="pt-BR" sz="24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628000"/>
            <a:ext cx="6912000" cy="3384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o digital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Contribuição conceitual própria: quem consegue habitar o digital, em que condições e com quais possibilidades de participação</a:t>
            </a:r>
            <a:endParaRPr lang="pt-BR" sz="2030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052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628000"/>
            <a:ext cx="6912000" cy="3384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Rugosidade tecnológica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Equipamentos de 2022, anteriores à lei, chamados a cumprir nova função (com SANTOS, 2012)</a:t>
            </a:r>
            <a:endParaRPr lang="pt-BR" sz="2030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052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336000"/>
            <a:ext cx="6912000" cy="3384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148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Vazio material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Exigência curricular com data marcada e meios sem mecanismo federativo obrigatório</a:t>
            </a:r>
            <a:endParaRPr lang="pt-BR" sz="2030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760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63870" y="389732"/>
            <a:ext cx="7320803" cy="9507536"/>
          </a:xfrm>
          <a:custGeom>
            <a:avLst/>
            <a:gdLst/>
            <a:ahLst/>
            <a:cxnLst/>
            <a:rect r="r" b="b" t="t" l="l"/>
            <a:pathLst>
              <a:path h="9507536" w="7320803">
                <a:moveTo>
                  <a:pt x="0" y="0"/>
                </a:moveTo>
                <a:lnTo>
                  <a:pt x="7320803" y="0"/>
                </a:lnTo>
                <a:lnTo>
                  <a:pt x="7320803" y="9507536"/>
                </a:lnTo>
                <a:lnTo>
                  <a:pt x="0" y="95075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755837">
            <a:off x="6716389" y="624673"/>
            <a:ext cx="2536569" cy="3461819"/>
          </a:xfrm>
          <a:custGeom>
            <a:avLst/>
            <a:gdLst/>
            <a:ahLst/>
            <a:cxnLst/>
            <a:rect r="r" b="b" t="t" l="l"/>
            <a:pathLst>
              <a:path h="3461819" w="2536569">
                <a:moveTo>
                  <a:pt x="0" y="0"/>
                </a:moveTo>
                <a:lnTo>
                  <a:pt x="2536569" y="0"/>
                </a:lnTo>
                <a:lnTo>
                  <a:pt x="2536569" y="3461819"/>
                </a:lnTo>
                <a:lnTo>
                  <a:pt x="0" y="346181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271139">
            <a:off x="1028984" y="792541"/>
            <a:ext cx="1715649" cy="2341456"/>
          </a:xfrm>
          <a:custGeom>
            <a:avLst/>
            <a:gdLst/>
            <a:ahLst/>
            <a:cxnLst/>
            <a:rect r="r" b="b" t="t" l="l"/>
            <a:pathLst>
              <a:path h="2341456" w="1715649">
                <a:moveTo>
                  <a:pt x="0" y="0"/>
                </a:moveTo>
                <a:lnTo>
                  <a:pt x="1715649" y="0"/>
                </a:lnTo>
                <a:lnTo>
                  <a:pt x="1715649" y="2341456"/>
                </a:lnTo>
                <a:lnTo>
                  <a:pt x="0" y="234145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8640331" y="5257409"/>
            <a:ext cx="8618969" cy="4000891"/>
            <a:chOff x="0" y="0"/>
            <a:chExt cx="2270016" cy="105373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270016" cy="1053733"/>
            </a:xfrm>
            <a:custGeom>
              <a:avLst/>
              <a:gdLst/>
              <a:ahLst/>
              <a:cxnLst/>
              <a:rect r="r" b="b" t="t" l="l"/>
              <a:pathLst>
                <a:path h="1053733" w="2270016">
                  <a:moveTo>
                    <a:pt x="37726" y="0"/>
                  </a:moveTo>
                  <a:lnTo>
                    <a:pt x="2232290" y="0"/>
                  </a:lnTo>
                  <a:cubicBezTo>
                    <a:pt x="2242296" y="0"/>
                    <a:pt x="2251892" y="3975"/>
                    <a:pt x="2258967" y="11050"/>
                  </a:cubicBezTo>
                  <a:cubicBezTo>
                    <a:pt x="2266042" y="18125"/>
                    <a:pt x="2270016" y="27721"/>
                    <a:pt x="2270016" y="37726"/>
                  </a:cubicBezTo>
                  <a:lnTo>
                    <a:pt x="2270016" y="1016006"/>
                  </a:lnTo>
                  <a:cubicBezTo>
                    <a:pt x="2270016" y="1026012"/>
                    <a:pt x="2266042" y="1035608"/>
                    <a:pt x="2258967" y="1042683"/>
                  </a:cubicBezTo>
                  <a:cubicBezTo>
                    <a:pt x="2251892" y="1049758"/>
                    <a:pt x="2242296" y="1053733"/>
                    <a:pt x="2232290" y="1053733"/>
                  </a:cubicBezTo>
                  <a:lnTo>
                    <a:pt x="37726" y="1053733"/>
                  </a:lnTo>
                  <a:cubicBezTo>
                    <a:pt x="27721" y="1053733"/>
                    <a:pt x="18125" y="1049758"/>
                    <a:pt x="11050" y="1042683"/>
                  </a:cubicBezTo>
                  <a:cubicBezTo>
                    <a:pt x="3975" y="1035608"/>
                    <a:pt x="0" y="1026012"/>
                    <a:pt x="0" y="1016006"/>
                  </a:cubicBezTo>
                  <a:lnTo>
                    <a:pt x="0" y="37726"/>
                  </a:lnTo>
                  <a:cubicBezTo>
                    <a:pt x="0" y="27721"/>
                    <a:pt x="3975" y="18125"/>
                    <a:pt x="11050" y="11050"/>
                  </a:cubicBezTo>
                  <a:cubicBezTo>
                    <a:pt x="18125" y="3975"/>
                    <a:pt x="27721" y="0"/>
                    <a:pt x="37726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2270016" cy="11108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14216803" y="-508556"/>
            <a:ext cx="5298582" cy="4633851"/>
          </a:xfrm>
          <a:custGeom>
            <a:avLst/>
            <a:gdLst/>
            <a:ahLst/>
            <a:cxnLst/>
            <a:rect r="r" b="b" t="t" l="l"/>
            <a:pathLst>
              <a:path h="4633851" w="5298582">
                <a:moveTo>
                  <a:pt x="0" y="0"/>
                </a:moveTo>
                <a:lnTo>
                  <a:pt x="5298583" y="0"/>
                </a:lnTo>
                <a:lnTo>
                  <a:pt x="5298583" y="4633851"/>
                </a:lnTo>
                <a:lnTo>
                  <a:pt x="0" y="463385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110754" y="389732"/>
            <a:ext cx="3595229" cy="2542807"/>
          </a:xfrm>
          <a:custGeom>
            <a:avLst/>
            <a:gdLst/>
            <a:ahLst/>
            <a:cxnLst/>
            <a:rect r="r" b="b" t="t" l="l"/>
            <a:pathLst>
              <a:path h="2542807" w="3595229">
                <a:moveTo>
                  <a:pt x="0" y="0"/>
                </a:moveTo>
                <a:lnTo>
                  <a:pt x="3595229" y="0"/>
                </a:lnTo>
                <a:lnTo>
                  <a:pt x="3595229" y="2542807"/>
                </a:lnTo>
                <a:lnTo>
                  <a:pt x="0" y="254280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1419711">
            <a:off x="-669291" y="7248429"/>
            <a:ext cx="3275863" cy="3654614"/>
          </a:xfrm>
          <a:custGeom>
            <a:avLst/>
            <a:gdLst/>
            <a:ahLst/>
            <a:cxnLst/>
            <a:rect r="r" b="b" t="t" l="l"/>
            <a:pathLst>
              <a:path h="3654614" w="3275863">
                <a:moveTo>
                  <a:pt x="0" y="0"/>
                </a:moveTo>
                <a:lnTo>
                  <a:pt x="3275863" y="0"/>
                </a:lnTo>
                <a:lnTo>
                  <a:pt x="3275863" y="3654614"/>
                </a:lnTo>
                <a:lnTo>
                  <a:pt x="0" y="365461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5446635" y="6172200"/>
            <a:ext cx="3897838" cy="4114800"/>
          </a:xfrm>
          <a:custGeom>
            <a:avLst/>
            <a:gdLst/>
            <a:ahLst/>
            <a:cxnLst/>
            <a:rect r="r" b="b" t="t" l="l"/>
            <a:pathLst>
              <a:path h="4114800" w="3897838">
                <a:moveTo>
                  <a:pt x="0" y="0"/>
                </a:moveTo>
                <a:lnTo>
                  <a:pt x="3897838" y="0"/>
                </a:lnTo>
                <a:lnTo>
                  <a:pt x="3897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8280000" y="3240000"/>
            <a:ext cx="9216000" cy="12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PRÓXIMOS PASSOS</a:t>
            </a:r>
            <a:endParaRPr lang="pt-BR" sz="4400" dirty="0"/>
          </a:p>
        </p:txBody>
      </p:sp>
      <p:sp>
        <p:nvSpPr>
          <p:cNvPr id="202" name="Texto 202"/>
          <p:cNvSpPr txBox="1"/>
          <p:nvPr/>
        </p:nvSpPr>
        <p:spPr>
          <a:xfrm>
            <a:off x="9288000" y="5472000"/>
            <a:ext cx="7416000" cy="360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32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Submeter a emenda ao Comitê de Ética em Pesquisa</a:t>
            </a:r>
            <a:endParaRPr lang="pt-BR" sz="232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32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Realizar o campo em dez semanas, após a aprovação</a:t>
            </a:r>
            <a:endParaRPr lang="pt-BR" sz="232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32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Completar a análise documental: cadernos do laboratório, aquisição de 2022 e dados fiscais do município</a:t>
            </a:r>
            <a:endParaRPr lang="pt-BR" sz="232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32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Escrever o capítulo 7, com as narrativas dos profissionais</a:t>
            </a:r>
            <a:endParaRPr lang="pt-BR" sz="232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32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Incorporar as contribuições da banca</a:t>
            </a:r>
            <a:endParaRPr lang="pt-BR" sz="2320" dirty="0"/>
          </a:p>
        </p:txBody>
      </p:sp>
    </p:spTree>
  </p:cSld>
  <p:clrMapOvr>
    <a:masterClrMapping/>
  </p:clrMapOvr>
</p:sld>
</file>

<file path=ppt/slides/slide4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498597" y="-108828"/>
            <a:ext cx="6582509" cy="10746953"/>
          </a:xfrm>
          <a:custGeom>
            <a:avLst/>
            <a:gdLst/>
            <a:ahLst/>
            <a:cxnLst/>
            <a:rect r="r" b="b" t="t" l="l"/>
            <a:pathLst>
              <a:path h="10746953" w="6582509">
                <a:moveTo>
                  <a:pt x="0" y="0"/>
                </a:moveTo>
                <a:lnTo>
                  <a:pt x="6582509" y="0"/>
                </a:lnTo>
                <a:lnTo>
                  <a:pt x="6582509" y="10746953"/>
                </a:lnTo>
                <a:lnTo>
                  <a:pt x="0" y="107469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797725">
            <a:off x="13679956" y="-1054879"/>
            <a:ext cx="4476702" cy="4994292"/>
          </a:xfrm>
          <a:custGeom>
            <a:avLst/>
            <a:gdLst/>
            <a:ahLst/>
            <a:cxnLst/>
            <a:rect r="r" b="b" t="t" l="l"/>
            <a:pathLst>
              <a:path h="4994292" w="4476702">
                <a:moveTo>
                  <a:pt x="0" y="0"/>
                </a:moveTo>
                <a:lnTo>
                  <a:pt x="4476701" y="0"/>
                </a:lnTo>
                <a:lnTo>
                  <a:pt x="4476701" y="4994292"/>
                </a:lnTo>
                <a:lnTo>
                  <a:pt x="0" y="499429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944550" y="2366363"/>
            <a:ext cx="5751911" cy="14071953"/>
          </a:xfrm>
          <a:custGeom>
            <a:avLst/>
            <a:gdLst/>
            <a:ahLst/>
            <a:cxnLst/>
            <a:rect r="r" b="b" t="t" l="l"/>
            <a:pathLst>
              <a:path h="14071953" w="5751911">
                <a:moveTo>
                  <a:pt x="0" y="0"/>
                </a:moveTo>
                <a:lnTo>
                  <a:pt x="5751911" y="0"/>
                </a:lnTo>
                <a:lnTo>
                  <a:pt x="5751911" y="14071954"/>
                </a:lnTo>
                <a:lnTo>
                  <a:pt x="0" y="1407195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false" rot="0">
            <a:off x="792658" y="5143500"/>
            <a:ext cx="4946577" cy="5519194"/>
          </a:xfrm>
          <a:custGeom>
            <a:avLst/>
            <a:gdLst/>
            <a:ahLst/>
            <a:cxnLst/>
            <a:rect r="r" b="b" t="t" l="l"/>
            <a:pathLst>
              <a:path h="5519194" w="4946577">
                <a:moveTo>
                  <a:pt x="4946577" y="0"/>
                </a:moveTo>
                <a:lnTo>
                  <a:pt x="0" y="0"/>
                </a:lnTo>
                <a:lnTo>
                  <a:pt x="0" y="5519194"/>
                </a:lnTo>
                <a:lnTo>
                  <a:pt x="4946577" y="5519194"/>
                </a:lnTo>
                <a:lnTo>
                  <a:pt x="4946577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false" rot="0">
            <a:off x="11066058" y="4957733"/>
            <a:ext cx="6322410" cy="7438130"/>
          </a:xfrm>
          <a:custGeom>
            <a:avLst/>
            <a:gdLst/>
            <a:ahLst/>
            <a:cxnLst/>
            <a:rect r="r" b="b" t="t" l="l"/>
            <a:pathLst>
              <a:path h="7438130" w="6322410">
                <a:moveTo>
                  <a:pt x="6322410" y="0"/>
                </a:moveTo>
                <a:lnTo>
                  <a:pt x="0" y="0"/>
                </a:lnTo>
                <a:lnTo>
                  <a:pt x="0" y="7438130"/>
                </a:lnTo>
                <a:lnTo>
                  <a:pt x="6322410" y="7438130"/>
                </a:lnTo>
                <a:lnTo>
                  <a:pt x="632241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5976517" y="-809891"/>
            <a:ext cx="4294014" cy="3427404"/>
          </a:xfrm>
          <a:custGeom>
            <a:avLst/>
            <a:gdLst/>
            <a:ahLst/>
            <a:cxnLst/>
            <a:rect r="r" b="b" t="t" l="l"/>
            <a:pathLst>
              <a:path h="3427404" w="4294014">
                <a:moveTo>
                  <a:pt x="0" y="0"/>
                </a:moveTo>
                <a:lnTo>
                  <a:pt x="4294014" y="0"/>
                </a:lnTo>
                <a:lnTo>
                  <a:pt x="4294014" y="3427404"/>
                </a:lnTo>
                <a:lnTo>
                  <a:pt x="0" y="3427404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-526312">
            <a:off x="6081818" y="6805324"/>
            <a:ext cx="5385775" cy="4905951"/>
          </a:xfrm>
          <a:custGeom>
            <a:avLst/>
            <a:gdLst/>
            <a:ahLst/>
            <a:cxnLst/>
            <a:rect r="r" b="b" t="t" l="l"/>
            <a:pathLst>
              <a:path h="4905951" w="5385775">
                <a:moveTo>
                  <a:pt x="0" y="0"/>
                </a:moveTo>
                <a:lnTo>
                  <a:pt x="5385774" y="0"/>
                </a:lnTo>
                <a:lnTo>
                  <a:pt x="5385774" y="4905952"/>
                </a:lnTo>
                <a:lnTo>
                  <a:pt x="0" y="4905952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960000" y="2232000"/>
            <a:ext cx="10368000" cy="23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AGRADEÇO</a:t>
            </a:r>
            <a:endParaRPr lang="pt-BR" sz="11000" dirty="0"/>
          </a:p>
        </p:txBody>
      </p:sp>
      <p:sp>
        <p:nvSpPr>
          <p:cNvPr id="202" name="Texto 202"/>
          <p:cNvSpPr txBox="1"/>
          <p:nvPr/>
        </p:nvSpPr>
        <p:spPr>
          <a:xfrm>
            <a:off x="3960000" y="4428000"/>
            <a:ext cx="10368000" cy="64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9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pela atenção e pelas contribuições</a:t>
            </a:r>
            <a:endParaRPr lang="pt-BR" sz="2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DAHW_3ivhS8</dc:identifier>
  <dcterms:modified xsi:type="dcterms:W3CDTF">2011-08-01T06:04:30Z</dcterms:modified>
  <cp:revision>1</cp:revision>
</cp:coreProperties>
</file>