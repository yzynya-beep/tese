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Default Extension="jpg" ContentType="image/jpe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18288000" cy="10287000"/>
  <p:notesSz cx="6858000" cy="9144000"/>
  <p:embeddedFontLst>
    <p:embeddedFont>
      <p:font typeface="BM Hanna" charset="1" panose="02000503000000020003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  <Relationship Id="rId27" Type="http://schemas.openxmlformats.org/officeDocument/2006/relationships/slide" Target="slides/slide19.xml"/>
  <Relationship Id="rId28" Type="http://schemas.openxmlformats.org/officeDocument/2006/relationships/slide" Target="slides/slide20.xml"/>
  <Relationship Id="rId29" Type="http://schemas.openxmlformats.org/officeDocument/2006/relationships/slide" Target="slides/slide21.xml"/>
  <Relationship Id="rId30" Type="http://schemas.openxmlformats.org/officeDocument/2006/relationships/slide" Target="slides/slide22.xml"/>
  <Relationship Id="rId31" Type="http://schemas.openxmlformats.org/officeDocument/2006/relationships/slide" Target="slides/slide23.xml"/>
  <Relationship Id="rId32" Type="http://schemas.openxmlformats.org/officeDocument/2006/relationships/slide" Target="slides/slide24.xml"/>
  <Relationship Id="rId33" Type="http://schemas.openxmlformats.org/officeDocument/2006/relationships/slide" Target="slides/slide25.xml"/>
  <Relationship Id="rId34" Type="http://schemas.openxmlformats.org/officeDocument/2006/relationships/slide" Target="slides/slide26.xml"/>
  <Relationship Id="rId35" Type="http://schemas.openxmlformats.org/officeDocument/2006/relationships/slide" Target="slides/slide27.xml"/>
  <Relationship Id="rId36" Type="http://schemas.openxmlformats.org/officeDocument/2006/relationships/slide" Target="slides/slide28.xml"/>
  <Relationship Id="rId37" Type="http://schemas.openxmlformats.org/officeDocument/2006/relationships/slide" Target="slides/slide29.xml"/>
  <Relationship Id="rId38" Type="http://schemas.openxmlformats.org/officeDocument/2006/relationships/slide" Target="slides/slide30.xml"/>
  <Relationship Id="rId39" Type="http://schemas.openxmlformats.org/officeDocument/2006/relationships/slide" Target="slides/slide31.xml"/>
  <Relationship Id="rId40" Type="http://schemas.openxmlformats.org/officeDocument/2006/relationships/slide" Target="slides/slide32.xml"/>
  <Relationship Id="rId41" Type="http://schemas.openxmlformats.org/officeDocument/2006/relationships/slide" Target="slides/slide33.xml"/>
  <Relationship Id="rId42" Type="http://schemas.openxmlformats.org/officeDocument/2006/relationships/slide" Target="slides/slide34.xml"/>
  <Relationship Id="rId43" Type="http://schemas.openxmlformats.org/officeDocument/2006/relationships/slide" Target="slides/slide35.xml"/>
  <Relationship Id="rId44" Type="http://schemas.openxmlformats.org/officeDocument/2006/relationships/slide" Target="slides/slide36.xml"/>
  <Relationship Id="rId45" Type="http://schemas.openxmlformats.org/officeDocument/2006/relationships/slide" Target="slides/slide37.xml"/>
  <Relationship Id="rId46" Type="http://schemas.openxmlformats.org/officeDocument/2006/relationships/slide" Target="slides/slide38.xml"/>
  <Relationship Id="rId47" Type="http://schemas.openxmlformats.org/officeDocument/2006/relationships/slide" Target="slides/slide39.xml"/>
  <Relationship Id="rId48" Type="http://schemas.openxmlformats.org/officeDocument/2006/relationships/slide" Target="slides/slide40.xml"/>
  <Relationship Id="rId49" Type="http://schemas.openxmlformats.org/officeDocument/2006/relationships/slide" Target="slides/slide41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Relationship Id="rId11" Type="http://schemas.openxmlformats.org/officeDocument/2006/relationships/image" Target="../media/pesq_fig22_fachada.jpg"/><Relationship Id="rId12" Type="http://schemas.openxmlformats.org/officeDocument/2006/relationships/image" Target="../media/image14.png"/><Relationship Id="rId13" Type="http://schemas.openxmlformats.org/officeDocument/2006/relationships/image" Target="../media/image15.svg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2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2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2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3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3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Relationship Id="rId11" Type="http://schemas.openxmlformats.org/officeDocument/2006/relationships/image" Target="../media/pesq_mapa_politicas.png"/><Relationship Id="rId12" Type="http://schemas.openxmlformats.org/officeDocument/2006/relationships/image" Target="../media/image14.png"/><Relationship Id="rId13" Type="http://schemas.openxmlformats.org/officeDocument/2006/relationships/image" Target="../media/image15.svg"/></Relationships>
</file>

<file path=ppt/slides/_rels/slide3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3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3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4.png" Type="http://schemas.openxmlformats.org/officeDocument/2006/relationships/image"/><Relationship Id="rId13" Type="http://schemas.openxmlformats.org/officeDocument/2006/relationships/image" Target="../media/pesq_fig03_barco.jpg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image" Target="../media/pesq_fig12_surfistas_1991.jpg"/><Relationship Id="rId17" Type="http://schemas.openxmlformats.org/officeDocument/2006/relationships/image" Target="../media/pesq_fig15_vista_aerea.jpg"/></Relationships>
</file>

<file path=ppt/slides/_rels/slide3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Relationship Id="rId11" Type="http://schemas.openxmlformats.org/officeDocument/2006/relationships/image" Target="../media/pesq_fig25_laboratorio.jpg"/><Relationship Id="rId12" Type="http://schemas.openxmlformats.org/officeDocument/2006/relationships/image" Target="../media/image14.png"/><Relationship Id="rId13" Type="http://schemas.openxmlformats.org/officeDocument/2006/relationships/image" Target="../media/image15.svg"/><Relationship Id="rId14" Type="http://schemas.openxmlformats.org/officeDocument/2006/relationships/image" Target="../media/pesq_fig32_sala.jpg"/><Relationship Id="rId15" Type="http://schemas.openxmlformats.org/officeDocument/2006/relationships/image" Target="../media/pesq_fig37_alfabeto.jpg"/></Relationships>
</file>

<file path=ppt/slides/_rels/slide3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2" Target="../media/image1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4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.png" Type="http://schemas.openxmlformats.org/officeDocument/2006/relationships/image"/></Relationships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14669" y="2449308"/>
            <a:ext cx="7065092" cy="8144199"/>
          </a:xfrm>
          <a:custGeom>
            <a:avLst/>
            <a:gdLst/>
            <a:ahLst/>
            <a:cxnLst/>
            <a:rect r="r" b="b" t="t" l="l"/>
            <a:pathLst>
              <a:path h="8144199" w="7065092">
                <a:moveTo>
                  <a:pt x="0" y="0"/>
                </a:moveTo>
                <a:lnTo>
                  <a:pt x="7065093" y="0"/>
                </a:lnTo>
                <a:lnTo>
                  <a:pt x="7065093" y="8144199"/>
                </a:lnTo>
                <a:lnTo>
                  <a:pt x="0" y="814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3448" y="-1279629"/>
            <a:ext cx="5817841" cy="4114800"/>
          </a:xfrm>
          <a:custGeom>
            <a:avLst/>
            <a:gdLst/>
            <a:ahLst/>
            <a:cxnLst/>
            <a:rect r="r" b="b" t="t" l="l"/>
            <a:pathLst>
              <a:path h="4114800" w="5817841">
                <a:moveTo>
                  <a:pt x="0" y="0"/>
                </a:moveTo>
                <a:lnTo>
                  <a:pt x="5817841" y="0"/>
                </a:lnTo>
                <a:lnTo>
                  <a:pt x="5817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98693" y="-662043"/>
            <a:ext cx="5155216" cy="4114800"/>
          </a:xfrm>
          <a:custGeom>
            <a:avLst/>
            <a:gdLst/>
            <a:ahLst/>
            <a:cxnLst/>
            <a:rect r="r" b="b" t="t" l="l"/>
            <a:pathLst>
              <a:path h="4114800" w="5155216">
                <a:moveTo>
                  <a:pt x="0" y="0"/>
                </a:moveTo>
                <a:lnTo>
                  <a:pt x="5155216" y="0"/>
                </a:lnTo>
                <a:lnTo>
                  <a:pt x="51552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4752000" y="504000"/>
            <a:ext cx="8064000" cy="28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ENCENAÇÃO DA PNED EM PIPA/RN</a:t>
            </a:r>
            <a:endParaRPr lang="pt-BR" sz="5200" dirty="0"/>
          </a:p>
        </p:txBody>
      </p:sp>
      <p:sp>
        <p:nvSpPr>
          <p:cNvPr id="202" name="Cartão 202"/>
          <p:cNvSpPr/>
          <p:nvPr/>
        </p:nvSpPr>
        <p:spPr>
          <a:xfrm>
            <a:off x="4320000" y="3456000"/>
            <a:ext cx="8640000" cy="144000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</p:spPr>
        <p:txBody>
          <a:bodyPr wrap="square" lIns="180000" tIns="180000" rIns="180000" bIns="180000" anchor="ctr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Culturas profissionais, território e resistências no contexto da prática</a:t>
            </a:r>
            <a:endParaRPr lang="pt-BR" sz="2900" dirty="0"/>
          </a:p>
        </p:txBody>
      </p:sp>
      <p:pic>
        <p:nvPicPr>
          <p:cNvPr id="203" name="Foto 203" descr="Fachada da Escola Municipal Domitila Castelo da Silva"/>
          <p:cNvPicPr>
            <a:picLocks noChangeAspect="1"/>
          </p:cNvPicPr>
          <p:nvPr/>
        </p:nvPicPr>
        <p:blipFill>
          <a:blip r:embed="rId11"/>
          <a:srcRect l="202" t="0" r="202" b="0"/>
          <a:stretch>
            <a:fillRect/>
          </a:stretch>
        </p:blipFill>
        <p:spPr>
          <a:xfrm rot="-120000">
            <a:off x="720000" y="5364000"/>
            <a:ext cx="6120000" cy="3456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4" name="Tacha 204" descr="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20000" y="4824000"/>
            <a:ext cx="720000" cy="1152000"/>
          </a:xfrm>
          <a:prstGeom prst="rect">
            <a:avLst/>
          </a:prstGeom>
        </p:spPr>
      </p:pic>
      <p:sp>
        <p:nvSpPr>
          <p:cNvPr id="205" name="Texto 205"/>
          <p:cNvSpPr txBox="1"/>
          <p:nvPr/>
        </p:nvSpPr>
        <p:spPr>
          <a:xfrm>
            <a:off x="2520000" y="8964000"/>
            <a:ext cx="4464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 Domitila Castelo da Silva, Pipa (RN)</a:t>
            </a:r>
            <a:endParaRPr lang="pt-BR" sz="1500" dirty="0"/>
          </a:p>
        </p:txBody>
      </p:sp>
      <p:sp>
        <p:nvSpPr>
          <p:cNvPr name="Freeform 10" id="10"/>
          <p:cNvSpPr/>
          <p:nvPr/>
        </p:nvSpPr>
        <p:spPr>
          <a:xfrm flipH="false" flipV="false" rot="-526312">
            <a:off x="-648000" y="7884000"/>
            <a:ext cx="3096000" cy="2808000"/>
          </a:xfrm>
          <a:custGeom>
            <a:avLst/>
            <a:gdLst/>
            <a:ahLst/>
            <a:cxnLst/>
            <a:rect r="r" b="b" t="t" l="l"/>
            <a:pathLst>
              <a:path h="6908710" w="7584413">
                <a:moveTo>
                  <a:pt x="0" y="0"/>
                </a:moveTo>
                <a:lnTo>
                  <a:pt x="7584413" y="0"/>
                </a:lnTo>
                <a:lnTo>
                  <a:pt x="7584413" y="6908710"/>
                </a:lnTo>
                <a:lnTo>
                  <a:pt x="0" y="6908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6" name="Texto 206"/>
          <p:cNvSpPr txBox="1"/>
          <p:nvPr/>
        </p:nvSpPr>
        <p:spPr>
          <a:xfrm>
            <a:off x="7056000" y="5184000"/>
            <a:ext cx="5832000" cy="432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45"/>
              </a:spcAft>
              <a:buNone/>
            </a:pPr>
            <a:r>
              <a:rPr lang="pt-BR" sz="217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Exame de qualificação</a:t>
            </a:r>
            <a:endParaRPr lang="pt-BR" sz="217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450"/>
              </a:spcAft>
              <a:buNone/>
            </a:pPr>
            <a:r>
              <a:rPr lang="pt-BR" sz="217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Doutorado em Educação · PPGEd/UFRN</a:t>
            </a:r>
            <a:endParaRPr lang="pt-BR" sz="217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</a:pPr>
            <a:r>
              <a:rPr lang="pt-BR" sz="2755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Yzynya Silva Rezende Machado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45"/>
              </a:spcAft>
              <a:buNone/>
            </a:pPr>
            <a:r>
              <a:rPr lang="pt-BR" sz="188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Orientadora</a:t>
            </a:r>
            <a:endParaRPr lang="pt-BR" sz="188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450"/>
              </a:spcAft>
              <a:buNone/>
            </a:pPr>
            <a:r>
              <a:rPr lang="pt-BR" sz="217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Profa. Dra. Maria Cristina Leandro de Paiva</a:t>
            </a:r>
            <a:endParaRPr lang="pt-BR" sz="217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7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Natal, 2026</a:t>
            </a:r>
            <a:endParaRPr lang="pt-BR" sz="2175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1592" y="-85725"/>
            <a:ext cx="4910563" cy="4437363"/>
          </a:xfrm>
          <a:custGeom>
            <a:avLst/>
            <a:gdLst/>
            <a:ahLst/>
            <a:cxnLst/>
            <a:rect r="r" b="b" t="t" l="l"/>
            <a:pathLst>
              <a:path h="4437363" w="4910563">
                <a:moveTo>
                  <a:pt x="0" y="0"/>
                </a:moveTo>
                <a:lnTo>
                  <a:pt x="4910562" y="0"/>
                </a:lnTo>
                <a:lnTo>
                  <a:pt x="4910562" y="4437363"/>
                </a:lnTo>
                <a:lnTo>
                  <a:pt x="0" y="4437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949030" y="-85725"/>
            <a:ext cx="4910563" cy="4437363"/>
          </a:xfrm>
          <a:custGeom>
            <a:avLst/>
            <a:gdLst/>
            <a:ahLst/>
            <a:cxnLst/>
            <a:rect r="r" b="b" t="t" l="l"/>
            <a:pathLst>
              <a:path h="4437363" w="4910563">
                <a:moveTo>
                  <a:pt x="4910562" y="0"/>
                </a:moveTo>
                <a:lnTo>
                  <a:pt x="0" y="0"/>
                </a:lnTo>
                <a:lnTo>
                  <a:pt x="0" y="4437363"/>
                </a:lnTo>
                <a:lnTo>
                  <a:pt x="4910562" y="4437363"/>
                </a:lnTo>
                <a:lnTo>
                  <a:pt x="49105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4464000" y="864000"/>
            <a:ext cx="9360000" cy="2160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ROTEIRO</a:t>
            </a:r>
            <a:endParaRPr lang="pt-BR" sz="8000" dirty="0"/>
          </a:p>
        </p:txBody>
      </p:sp>
      <p:pic>
        <p:nvPicPr>
          <p:cNvPr id="202" name="Moldura 202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2000" y="4176000"/>
            <a:ext cx="4860000" cy="2376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1769400" y="4746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  <a:endParaRPr lang="pt-BR" sz="319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Objeto, questão e objetivos</a:t>
            </a:r>
            <a:endParaRPr lang="pt-BR" sz="2465" dirty="0"/>
          </a:p>
        </p:txBody>
      </p:sp>
      <p:pic>
        <p:nvPicPr>
          <p:cNvPr id="204" name="Tacha 204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000" y="3600000"/>
            <a:ext cx="828000" cy="1332000"/>
          </a:xfrm>
          <a:prstGeom prst="rect">
            <a:avLst/>
          </a:prstGeom>
        </p:spPr>
      </p:pic>
      <p:pic>
        <p:nvPicPr>
          <p:cNvPr id="205" name="Moldura 205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000" y="4176000"/>
            <a:ext cx="4860000" cy="2376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7169400" y="4746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  <a:endParaRPr lang="pt-BR" sz="319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Revisão sistemática</a:t>
            </a:r>
            <a:endParaRPr lang="pt-BR" sz="2465" dirty="0"/>
          </a:p>
        </p:txBody>
      </p:sp>
      <p:pic>
        <p:nvPicPr>
          <p:cNvPr id="207" name="Tacha 207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8000" y="3600000"/>
            <a:ext cx="828000" cy="1332000"/>
          </a:xfrm>
          <a:prstGeom prst="rect">
            <a:avLst/>
          </a:prstGeom>
        </p:spPr>
      </p:pic>
      <p:pic>
        <p:nvPicPr>
          <p:cNvPr id="208" name="Moldura 208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2000" y="4176000"/>
            <a:ext cx="4860000" cy="2376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12569400" y="4746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endParaRPr lang="pt-BR" sz="319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Fundamentos teóricos</a:t>
            </a:r>
            <a:endParaRPr lang="pt-BR" sz="2465" dirty="0"/>
          </a:p>
        </p:txBody>
      </p:sp>
      <p:pic>
        <p:nvPicPr>
          <p:cNvPr id="210" name="Tacha 210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48000" y="3600000"/>
            <a:ext cx="828000" cy="1332000"/>
          </a:xfrm>
          <a:prstGeom prst="rect">
            <a:avLst/>
          </a:prstGeom>
        </p:spPr>
      </p:pic>
      <p:pic>
        <p:nvPicPr>
          <p:cNvPr id="211" name="Moldura 211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2000" y="7488000"/>
            <a:ext cx="4860000" cy="2376000"/>
          </a:xfrm>
          <a:prstGeom prst="rect">
            <a:avLst/>
          </a:prstGeom>
        </p:spPr>
      </p:pic>
      <p:sp>
        <p:nvSpPr>
          <p:cNvPr id="212" name="Texto 212"/>
          <p:cNvSpPr txBox="1"/>
          <p:nvPr/>
        </p:nvSpPr>
        <p:spPr>
          <a:xfrm>
            <a:off x="1769400" y="8058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  <a:endParaRPr lang="pt-BR" sz="319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Metodologia</a:t>
            </a:r>
            <a:endParaRPr lang="pt-BR" sz="2465" dirty="0"/>
          </a:p>
        </p:txBody>
      </p:sp>
      <p:pic>
        <p:nvPicPr>
          <p:cNvPr id="213" name="Tacha 213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000" y="6912000"/>
            <a:ext cx="828000" cy="1332000"/>
          </a:xfrm>
          <a:prstGeom prst="rect">
            <a:avLst/>
          </a:prstGeom>
        </p:spPr>
      </p:pic>
      <p:pic>
        <p:nvPicPr>
          <p:cNvPr id="214" name="Moldura 214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000" y="7488000"/>
            <a:ext cx="4860000" cy="2376000"/>
          </a:xfrm>
          <a:prstGeom prst="rect">
            <a:avLst/>
          </a:prstGeom>
        </p:spPr>
      </p:pic>
      <p:sp>
        <p:nvSpPr>
          <p:cNvPr id="215" name="Texto 215"/>
          <p:cNvSpPr txBox="1"/>
          <p:nvPr/>
        </p:nvSpPr>
        <p:spPr>
          <a:xfrm>
            <a:off x="7169400" y="8058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  <a:endParaRPr lang="pt-BR" sz="319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Agenda global e PNED</a:t>
            </a:r>
            <a:endParaRPr lang="pt-BR" sz="2465" dirty="0"/>
          </a:p>
        </p:txBody>
      </p:sp>
      <p:pic>
        <p:nvPicPr>
          <p:cNvPr id="216" name="Tacha 216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8000" y="6912000"/>
            <a:ext cx="828000" cy="1332000"/>
          </a:xfrm>
          <a:prstGeom prst="rect">
            <a:avLst/>
          </a:prstGeom>
        </p:spPr>
      </p:pic>
      <p:pic>
        <p:nvPicPr>
          <p:cNvPr id="217" name="Moldura 217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2000" y="7488000"/>
            <a:ext cx="4860000" cy="2376000"/>
          </a:xfrm>
          <a:prstGeom prst="rect">
            <a:avLst/>
          </a:prstGeom>
        </p:spPr>
      </p:pic>
      <p:sp>
        <p:nvSpPr>
          <p:cNvPr id="218" name="Texto 218"/>
          <p:cNvSpPr txBox="1"/>
          <p:nvPr/>
        </p:nvSpPr>
        <p:spPr>
          <a:xfrm>
            <a:off x="12569400" y="8058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  <a:endParaRPr lang="pt-BR" sz="319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Território, escola e tese</a:t>
            </a:r>
            <a:endParaRPr lang="pt-BR" sz="2465" dirty="0"/>
          </a:p>
        </p:txBody>
      </p:sp>
      <p:pic>
        <p:nvPicPr>
          <p:cNvPr id="219" name="Tacha 219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48000" y="6912000"/>
            <a:ext cx="828000" cy="133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8748" y="-626708"/>
            <a:ext cx="4681103" cy="3310817"/>
          </a:xfrm>
          <a:custGeom>
            <a:avLst/>
            <a:gdLst/>
            <a:ahLst/>
            <a:cxnLst/>
            <a:rect r="r" b="b" t="t" l="l"/>
            <a:pathLst>
              <a:path h="3310817" w="4681103">
                <a:moveTo>
                  <a:pt x="0" y="0"/>
                </a:moveTo>
                <a:lnTo>
                  <a:pt x="4681104" y="0"/>
                </a:lnTo>
                <a:lnTo>
                  <a:pt x="4681104" y="3310816"/>
                </a:lnTo>
                <a:lnTo>
                  <a:pt x="0" y="3310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286914" y="2018689"/>
            <a:ext cx="7978637" cy="9386632"/>
          </a:xfrm>
          <a:custGeom>
            <a:avLst/>
            <a:gdLst/>
            <a:ahLst/>
            <a:cxnLst/>
            <a:rect r="r" b="b" t="t" l="l"/>
            <a:pathLst>
              <a:path h="9386632" w="7978637">
                <a:moveTo>
                  <a:pt x="7978637" y="0"/>
                </a:moveTo>
                <a:lnTo>
                  <a:pt x="0" y="0"/>
                </a:lnTo>
                <a:lnTo>
                  <a:pt x="0" y="9386632"/>
                </a:lnTo>
                <a:lnTo>
                  <a:pt x="7978637" y="9386632"/>
                </a:lnTo>
                <a:lnTo>
                  <a:pt x="797863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069909"/>
            <a:ext cx="9393142" cy="7653268"/>
            <a:chOff x="0" y="0"/>
            <a:chExt cx="2473914" cy="20156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3914" cy="2015676"/>
            </a:xfrm>
            <a:custGeom>
              <a:avLst/>
              <a:gdLst/>
              <a:ahLst/>
              <a:cxnLst/>
              <a:rect r="r" b="b" t="t" l="l"/>
              <a:pathLst>
                <a:path h="2015676" w="2473914">
                  <a:moveTo>
                    <a:pt x="34617" y="0"/>
                  </a:moveTo>
                  <a:lnTo>
                    <a:pt x="2439297" y="0"/>
                  </a:lnTo>
                  <a:cubicBezTo>
                    <a:pt x="2458415" y="0"/>
                    <a:pt x="2473914" y="15498"/>
                    <a:pt x="2473914" y="34617"/>
                  </a:cubicBezTo>
                  <a:lnTo>
                    <a:pt x="2473914" y="1981059"/>
                  </a:lnTo>
                  <a:cubicBezTo>
                    <a:pt x="2473914" y="2000177"/>
                    <a:pt x="2458415" y="2015676"/>
                    <a:pt x="2439297" y="2015676"/>
                  </a:cubicBezTo>
                  <a:lnTo>
                    <a:pt x="34617" y="2015676"/>
                  </a:lnTo>
                  <a:cubicBezTo>
                    <a:pt x="15498" y="2015676"/>
                    <a:pt x="0" y="2000177"/>
                    <a:pt x="0" y="1981059"/>
                  </a:cubicBezTo>
                  <a:lnTo>
                    <a:pt x="0" y="34617"/>
                  </a:lnTo>
                  <a:cubicBezTo>
                    <a:pt x="0" y="15498"/>
                    <a:pt x="15498" y="0"/>
                    <a:pt x="34617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473914" cy="2072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-1286629" y="-431434"/>
            <a:ext cx="5603193" cy="4900247"/>
          </a:xfrm>
          <a:custGeom>
            <a:avLst/>
            <a:gdLst/>
            <a:ahLst/>
            <a:cxnLst/>
            <a:rect r="r" b="b" t="t" l="l"/>
            <a:pathLst>
              <a:path h="4900247" w="5603193">
                <a:moveTo>
                  <a:pt x="5603193" y="0"/>
                </a:moveTo>
                <a:lnTo>
                  <a:pt x="0" y="0"/>
                </a:lnTo>
                <a:lnTo>
                  <a:pt x="0" y="4900247"/>
                </a:lnTo>
                <a:lnTo>
                  <a:pt x="5603193" y="4900247"/>
                </a:lnTo>
                <a:lnTo>
                  <a:pt x="56031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800000" y="4320000"/>
            <a:ext cx="7776000" cy="10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OBJETO</a:t>
            </a:r>
            <a:endParaRPr lang="pt-BR" sz="6000" dirty="0"/>
          </a:p>
        </p:txBody>
      </p:sp>
      <p:sp>
        <p:nvSpPr>
          <p:cNvPr id="202" name="Texto 202"/>
          <p:cNvSpPr txBox="1"/>
          <p:nvPr/>
        </p:nvSpPr>
        <p:spPr>
          <a:xfrm>
            <a:off x="1800000" y="5472000"/>
            <a:ext cx="7776000" cy="475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 Política Nacional de Educação Digital (</a:t>
            </a: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14.533/2023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), no eixo </a:t>
            </a: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Digital Escolar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tal como os profissionais da educação a interpretam, traduzem e recontextualizam nos anos iniciais (1º ao 5º ano) da </a:t>
            </a: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Escola Municipal Domitila Castelo da Silva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em Pipa, distrito de Tibau do Sul/RN.</a:t>
            </a:r>
            <a:endParaRPr lang="pt-BR" sz="217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Profissionais da educação: professoras e professores, coordenação pedagógica, direção e demais profissionais ligados aos processos pedagógicos ou à educação digital.</a:t>
            </a:r>
            <a:endParaRPr lang="pt-BR" sz="217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175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As atuações são “coletivas, criativas e limitadas” (BALL; MAGUIRE; BRAUN, 2016, p. 103).</a:t>
            </a:r>
            <a:endParaRPr lang="pt-BR" sz="2175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99330" y="1028700"/>
            <a:ext cx="10534934" cy="8229600"/>
            <a:chOff x="0" y="0"/>
            <a:chExt cx="2774633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4633" cy="2167467"/>
            </a:xfrm>
            <a:custGeom>
              <a:avLst/>
              <a:gdLst/>
              <a:ahLst/>
              <a:cxnLst/>
              <a:rect r="r" b="b" t="t" l="l"/>
              <a:pathLst>
                <a:path h="2167467" w="2774633">
                  <a:moveTo>
                    <a:pt x="30865" y="0"/>
                  </a:moveTo>
                  <a:lnTo>
                    <a:pt x="2743768" y="0"/>
                  </a:lnTo>
                  <a:cubicBezTo>
                    <a:pt x="2751954" y="0"/>
                    <a:pt x="2759804" y="3252"/>
                    <a:pt x="2765593" y="9040"/>
                  </a:cubicBezTo>
                  <a:cubicBezTo>
                    <a:pt x="2771381" y="14828"/>
                    <a:pt x="2774633" y="22679"/>
                    <a:pt x="2774633" y="30865"/>
                  </a:cubicBezTo>
                  <a:lnTo>
                    <a:pt x="2774633" y="2136602"/>
                  </a:lnTo>
                  <a:cubicBezTo>
                    <a:pt x="2774633" y="2144788"/>
                    <a:pt x="2771381" y="2152638"/>
                    <a:pt x="2765593" y="2158427"/>
                  </a:cubicBezTo>
                  <a:cubicBezTo>
                    <a:pt x="2759804" y="2164215"/>
                    <a:pt x="2751954" y="2167467"/>
                    <a:pt x="2743768" y="2167467"/>
                  </a:cubicBezTo>
                  <a:lnTo>
                    <a:pt x="30865" y="2167467"/>
                  </a:lnTo>
                  <a:cubicBezTo>
                    <a:pt x="22679" y="2167467"/>
                    <a:pt x="14828" y="2164215"/>
                    <a:pt x="9040" y="2158427"/>
                  </a:cubicBezTo>
                  <a:cubicBezTo>
                    <a:pt x="3252" y="2152638"/>
                    <a:pt x="0" y="2144788"/>
                    <a:pt x="0" y="2136602"/>
                  </a:cubicBezTo>
                  <a:lnTo>
                    <a:pt x="0" y="30865"/>
                  </a:lnTo>
                  <a:cubicBezTo>
                    <a:pt x="0" y="22679"/>
                    <a:pt x="3252" y="14828"/>
                    <a:pt x="9040" y="9040"/>
                  </a:cubicBezTo>
                  <a:cubicBezTo>
                    <a:pt x="14828" y="3252"/>
                    <a:pt x="22679" y="0"/>
                    <a:pt x="30865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774633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32593" y="-476467"/>
            <a:ext cx="5603193" cy="4900247"/>
          </a:xfrm>
          <a:custGeom>
            <a:avLst/>
            <a:gdLst/>
            <a:ahLst/>
            <a:cxnLst/>
            <a:rect r="r" b="b" t="t" l="l"/>
            <a:pathLst>
              <a:path h="4900247" w="5603193">
                <a:moveTo>
                  <a:pt x="0" y="0"/>
                </a:moveTo>
                <a:lnTo>
                  <a:pt x="5603193" y="0"/>
                </a:lnTo>
                <a:lnTo>
                  <a:pt x="5603193" y="4900247"/>
                </a:lnTo>
                <a:lnTo>
                  <a:pt x="0" y="4900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3196942"/>
            <a:ext cx="8002332" cy="8046221"/>
          </a:xfrm>
          <a:custGeom>
            <a:avLst/>
            <a:gdLst/>
            <a:ahLst/>
            <a:cxnLst/>
            <a:rect r="r" b="b" t="t" l="l"/>
            <a:pathLst>
              <a:path h="8046221" w="8002332">
                <a:moveTo>
                  <a:pt x="0" y="0"/>
                </a:moveTo>
                <a:lnTo>
                  <a:pt x="8002332" y="0"/>
                </a:lnTo>
                <a:lnTo>
                  <a:pt x="8002332" y="8046221"/>
                </a:lnTo>
                <a:lnTo>
                  <a:pt x="0" y="80462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98286" y="-1028700"/>
            <a:ext cx="3897838" cy="4114800"/>
          </a:xfrm>
          <a:custGeom>
            <a:avLst/>
            <a:gdLst/>
            <a:ahLst/>
            <a:cxnLst/>
            <a:rect r="r" b="b" t="t" l="l"/>
            <a:pathLst>
              <a:path h="4114800" w="3897838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070688" y="308980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9648000" y="1656000"/>
            <a:ext cx="4896000" cy="187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QUESTÃO DE PESQUISA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9648000" y="3168000"/>
            <a:ext cx="7776000" cy="583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24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Como os profissionais da educação encenam e recontextualizam a Política Nacional de Educação Digital no contexto da prática da Escola Municipal Domitila Castelo da Silva, em Pipa (RN), e como as culturas profissionais, as condições materiais e institucionais da escola e as especificidades socioespaciais do território atravessam esse processo, produzindo diferentes formas de atuação, entre as quais podem emergir acomodações, negociações, ressignificações e resistências?</a:t>
            </a:r>
            <a:endParaRPr lang="pt-BR" sz="2248" dirty="0"/>
          </a:p>
          <a:p>
            <a:pPr algn="l">
              <a:lnSpc>
                <a:spcPct val="100000"/>
              </a:lnSpc>
              <a:spcBef>
                <a:spcPts val="580"/>
              </a:spcBef>
              <a:spcAft>
                <a:spcPts val="869"/>
              </a:spcAft>
              <a:buNone/>
            </a:pPr>
            <a:r>
              <a:rPr lang="pt-BR" sz="224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resistência é uma possibilidade a examinar nos dados, sem ser pressuposta.</a:t>
            </a:r>
            <a:endParaRPr lang="pt-BR" sz="2248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67707">
            <a:off x="-1222503" y="-339746"/>
            <a:ext cx="3978551" cy="4438545"/>
          </a:xfrm>
          <a:custGeom>
            <a:avLst/>
            <a:gdLst/>
            <a:ahLst/>
            <a:cxnLst/>
            <a:rect r="r" b="b" t="t" l="l"/>
            <a:pathLst>
              <a:path h="4438545" w="3978551">
                <a:moveTo>
                  <a:pt x="0" y="0"/>
                </a:moveTo>
                <a:lnTo>
                  <a:pt x="3978551" y="0"/>
                </a:lnTo>
                <a:lnTo>
                  <a:pt x="3978551" y="4438546"/>
                </a:lnTo>
                <a:lnTo>
                  <a:pt x="0" y="4438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5924" y="-305796"/>
            <a:ext cx="5081512" cy="4444014"/>
          </a:xfrm>
          <a:custGeom>
            <a:avLst/>
            <a:gdLst/>
            <a:ahLst/>
            <a:cxnLst/>
            <a:rect r="r" b="b" t="t" l="l"/>
            <a:pathLst>
              <a:path h="4444014" w="5081512">
                <a:moveTo>
                  <a:pt x="0" y="0"/>
                </a:moveTo>
                <a:lnTo>
                  <a:pt x="5081512" y="0"/>
                </a:lnTo>
                <a:lnTo>
                  <a:pt x="5081512" y="4444014"/>
                </a:lnTo>
                <a:lnTo>
                  <a:pt x="0" y="4444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exto 201"/>
          <p:cNvSpPr txBox="1"/>
          <p:nvPr/>
        </p:nvSpPr>
        <p:spPr>
          <a:xfrm>
            <a:off x="3384000" y="252000"/>
            <a:ext cx="10944000" cy="2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 GERAL</a:t>
            </a:r>
            <a:endParaRPr lang="pt-BR" sz="29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Analisar</a:t>
            </a:r>
            <a:r>
              <a:rPr lang="pt-BR" sz="19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como os profissionais da educação encenam e recontextualizam a Política Nacional de Educação Digital no contexto da prática da Escola Municipal Domitila Castelo da Silva, em Pipa (RN), considerando as relações entre a política, as culturas profissionais, as condições materiais e institucionais da escola e as especificidades socioespaciais do território.</a:t>
            </a:r>
            <a:endParaRPr lang="pt-BR" sz="1958" dirty="0"/>
          </a:p>
        </p:txBody>
      </p:sp>
      <p:pic>
        <p:nvPicPr>
          <p:cNvPr id="202" name="Moldura 202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0000" y="2844000"/>
            <a:ext cx="7848000" cy="3456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1982520" y="3673440"/>
            <a:ext cx="6042960" cy="21427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a) </a:t>
            </a: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Compreender</a:t>
            </a: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como os diferentes profissionais da educação interpretam os textos da PNED e os discursos sobre educação digital, considerando suas experiências, crenças, valores e formas de organização do trabalho;</a:t>
            </a:r>
            <a:endParaRPr lang="pt-BR" sz="1958" dirty="0"/>
          </a:p>
        </p:txBody>
      </p:sp>
      <p:pic>
        <p:nvPicPr>
          <p:cNvPr id="204" name="Tacha 204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0000" y="2268000"/>
            <a:ext cx="828000" cy="1332000"/>
          </a:xfrm>
          <a:prstGeom prst="rect">
            <a:avLst/>
          </a:prstGeom>
        </p:spPr>
      </p:pic>
      <p:pic>
        <p:nvPicPr>
          <p:cNvPr id="205" name="Moldura 205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0000" y="2844000"/>
            <a:ext cx="7848000" cy="3456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10262520" y="3673440"/>
            <a:ext cx="6042960" cy="21427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b) </a:t>
            </a: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Analisar</a:t>
            </a: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como as condições materiais e institucionais da escola, articuladas às especificidades socioespaciais do território, atravessam os processos de tradução e recontextualização da PNED em ações, escolhas e práticas cotidianas;</a:t>
            </a:r>
            <a:endParaRPr lang="pt-BR" sz="1958" dirty="0"/>
          </a:p>
        </p:txBody>
      </p:sp>
      <p:pic>
        <p:nvPicPr>
          <p:cNvPr id="207" name="Tacha 207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70000" y="2268000"/>
            <a:ext cx="828000" cy="1332000"/>
          </a:xfrm>
          <a:prstGeom prst="rect">
            <a:avLst/>
          </a:prstGeom>
        </p:spPr>
      </p:pic>
      <p:pic>
        <p:nvPicPr>
          <p:cNvPr id="208" name="Moldura 208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0000" y="6624000"/>
            <a:ext cx="7848000" cy="3456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1982520" y="7453440"/>
            <a:ext cx="6042960" cy="21427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c) </a:t>
            </a: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Identificar</a:t>
            </a: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as diferentes formas de atuação produzidas diante da política, com atenção às situações em que emergem adesão, acomodação, adaptação, omissão seletiva, negociação, ressignificação ou resistência;</a:t>
            </a:r>
            <a:endParaRPr lang="pt-BR" sz="1958" dirty="0"/>
          </a:p>
        </p:txBody>
      </p:sp>
      <p:pic>
        <p:nvPicPr>
          <p:cNvPr id="210" name="Tacha 210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0000" y="6048000"/>
            <a:ext cx="828000" cy="1332000"/>
          </a:xfrm>
          <a:prstGeom prst="rect">
            <a:avLst/>
          </a:prstGeom>
        </p:spPr>
      </p:pic>
      <p:pic>
        <p:nvPicPr>
          <p:cNvPr id="211" name="Moldura 211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0000" y="6624000"/>
            <a:ext cx="7848000" cy="3456000"/>
          </a:xfrm>
          <a:prstGeom prst="rect">
            <a:avLst/>
          </a:prstGeom>
        </p:spPr>
      </p:pic>
      <p:sp>
        <p:nvSpPr>
          <p:cNvPr id="212" name="Texto 212"/>
          <p:cNvSpPr txBox="1"/>
          <p:nvPr/>
        </p:nvSpPr>
        <p:spPr>
          <a:xfrm>
            <a:off x="10262520" y="7453440"/>
            <a:ext cx="6042960" cy="21427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d) </a:t>
            </a: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Discutir</a:t>
            </a: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as implicações das diferentes formas de encenação da PNED para a educação digital das crianças, considerando as possibilidades de provisão, proteção e participação no ambiente digital.</a:t>
            </a:r>
            <a:endParaRPr lang="pt-BR" sz="1958" dirty="0"/>
          </a:p>
        </p:txBody>
      </p:sp>
      <p:pic>
        <p:nvPicPr>
          <p:cNvPr id="213" name="Tacha 213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70000" y="6048000"/>
            <a:ext cx="828000" cy="133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703516" y="799557"/>
            <a:ext cx="4559335" cy="4114800"/>
          </a:xfrm>
          <a:custGeom>
            <a:avLst/>
            <a:gdLst/>
            <a:ahLst/>
            <a:cxnLst/>
            <a:rect r="r" b="b" t="t" l="l"/>
            <a:pathLst>
              <a:path h="4114800" w="4559335">
                <a:moveTo>
                  <a:pt x="4559335" y="0"/>
                </a:moveTo>
                <a:lnTo>
                  <a:pt x="0" y="0"/>
                </a:lnTo>
                <a:lnTo>
                  <a:pt x="0" y="4114800"/>
                </a:lnTo>
                <a:lnTo>
                  <a:pt x="4559335" y="4114800"/>
                </a:lnTo>
                <a:lnTo>
                  <a:pt x="45593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917961" y="799557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4032504" y="0"/>
                </a:moveTo>
                <a:lnTo>
                  <a:pt x="0" y="0"/>
                </a:lnTo>
                <a:lnTo>
                  <a:pt x="0" y="4114800"/>
                </a:lnTo>
                <a:lnTo>
                  <a:pt x="4032504" y="4114800"/>
                </a:lnTo>
                <a:lnTo>
                  <a:pt x="40325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65132" y="6106493"/>
            <a:ext cx="3897838" cy="4114800"/>
          </a:xfrm>
          <a:custGeom>
            <a:avLst/>
            <a:gdLst/>
            <a:ahLst/>
            <a:cxnLst/>
            <a:rect r="r" b="b" t="t" l="l"/>
            <a:pathLst>
              <a:path h="4114800" w="3897838">
                <a:moveTo>
                  <a:pt x="0" y="0"/>
                </a:moveTo>
                <a:lnTo>
                  <a:pt x="3897837" y="0"/>
                </a:lnTo>
                <a:lnTo>
                  <a:pt x="3897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229923" y="7020982"/>
            <a:ext cx="4517246" cy="4114800"/>
          </a:xfrm>
          <a:custGeom>
            <a:avLst/>
            <a:gdLst/>
            <a:ahLst/>
            <a:cxnLst/>
            <a:rect r="r" b="b" t="t" l="l"/>
            <a:pathLst>
              <a:path h="4114800" w="4517246">
                <a:moveTo>
                  <a:pt x="0" y="0"/>
                </a:moveTo>
                <a:lnTo>
                  <a:pt x="4517246" y="0"/>
                </a:lnTo>
                <a:lnTo>
                  <a:pt x="4517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888000" y="576000"/>
            <a:ext cx="10512000" cy="12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AGORA?</a:t>
            </a:r>
            <a:endParaRPr lang="pt-BR" sz="5800" dirty="0"/>
          </a:p>
        </p:txBody>
      </p:sp>
      <p:sp>
        <p:nvSpPr>
          <p:cNvPr id="202" name="Cartão 202"/>
          <p:cNvSpPr/>
          <p:nvPr/>
        </p:nvSpPr>
        <p:spPr>
          <a:xfrm>
            <a:off x="3960000" y="2088000"/>
            <a:ext cx="3330000" cy="2376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>
            <a:noFill/>
          </a:ln>
        </p:spPr>
        <p:txBody>
          <a:bodyPr wrap="square" lIns="180000" tIns="180000" rIns="180000" bIns="180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jan. 2023</a:t>
            </a:r>
            <a:endParaRPr lang="pt-BR" sz="290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Lei nº 14.533 institui a PNED</a:t>
            </a:r>
            <a:endParaRPr lang="pt-BR" sz="1958" dirty="0"/>
          </a:p>
        </p:txBody>
      </p:sp>
      <p:sp>
        <p:nvSpPr>
          <p:cNvPr id="203" name="Cartão 203"/>
          <p:cNvSpPr/>
          <p:nvPr/>
        </p:nvSpPr>
        <p:spPr>
          <a:xfrm>
            <a:off x="7506000" y="2088000"/>
            <a:ext cx="3330000" cy="2376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>
            <a:noFill/>
          </a:ln>
        </p:spPr>
        <p:txBody>
          <a:bodyPr wrap="square" lIns="180000" tIns="180000" rIns="180000" bIns="180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dez. 2023</a:t>
            </a:r>
            <a:endParaRPr lang="pt-BR" sz="290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Veto derrubado: educação digital como componente curricular do ensino fundamental</a:t>
            </a:r>
            <a:endParaRPr lang="pt-BR" sz="1958" dirty="0"/>
          </a:p>
        </p:txBody>
      </p:sp>
      <p:sp>
        <p:nvSpPr>
          <p:cNvPr id="204" name="Cartão 204"/>
          <p:cNvSpPr/>
          <p:nvPr/>
        </p:nvSpPr>
        <p:spPr>
          <a:xfrm>
            <a:off x="11052000" y="2088000"/>
            <a:ext cx="3330000" cy="2376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>
            <a:noFill/>
          </a:ln>
        </p:spPr>
        <p:txBody>
          <a:bodyPr wrap="square" lIns="180000" tIns="180000" rIns="180000" bIns="180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mar. 2025</a:t>
            </a:r>
            <a:endParaRPr lang="pt-BR" sz="290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Resolução CNE/CEB nº 2: implementação curricular a partir de 2026</a:t>
            </a:r>
            <a:endParaRPr lang="pt-BR" sz="1958" dirty="0"/>
          </a:p>
        </p:txBody>
      </p:sp>
      <p:sp>
        <p:nvSpPr>
          <p:cNvPr id="205" name="Cartão 205"/>
          <p:cNvSpPr/>
          <p:nvPr/>
        </p:nvSpPr>
        <p:spPr>
          <a:xfrm>
            <a:off x="3960000" y="4608000"/>
            <a:ext cx="3330000" cy="2376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>
            <a:noFill/>
          </a:ln>
        </p:spPr>
        <p:txBody>
          <a:bodyPr wrap="square" lIns="180000" tIns="180000" rIns="180000" bIns="180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mar. 2026</a:t>
            </a:r>
            <a:endParaRPr lang="pt-BR" sz="290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Entra em vigor o Estatuto Digital da Criança e do Adolescente</a:t>
            </a:r>
            <a:endParaRPr lang="pt-BR" sz="1958" dirty="0"/>
          </a:p>
        </p:txBody>
      </p:sp>
      <p:sp>
        <p:nvSpPr>
          <p:cNvPr id="206" name="Cartão 206"/>
          <p:cNvSpPr/>
          <p:nvPr/>
        </p:nvSpPr>
        <p:spPr>
          <a:xfrm>
            <a:off x="7506000" y="4608000"/>
            <a:ext cx="3330000" cy="2376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>
            <a:noFill/>
          </a:ln>
        </p:spPr>
        <p:txBody>
          <a:bodyPr wrap="square" lIns="180000" tIns="180000" rIns="180000" bIns="180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abr. 2026</a:t>
            </a:r>
            <a:endParaRPr lang="pt-BR" sz="290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Novo Plano Nacional de Educação (Lei nº 15.388/2026)</a:t>
            </a:r>
            <a:endParaRPr lang="pt-BR" sz="1958" dirty="0"/>
          </a:p>
        </p:txBody>
      </p:sp>
      <p:sp>
        <p:nvSpPr>
          <p:cNvPr id="207" name="Cartão 207"/>
          <p:cNvSpPr/>
          <p:nvPr/>
        </p:nvSpPr>
        <p:spPr>
          <a:xfrm>
            <a:off x="11052000" y="4608000"/>
            <a:ext cx="3330000" cy="2376000"/>
          </a:xfrm>
          <a:prstGeom prst="roundRect">
            <a:avLst>
              <a:gd name="adj" fmla="val 50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180000" tIns="180000" rIns="180000" bIns="180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9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2026</a:t>
            </a:r>
            <a:endParaRPr lang="pt-BR" sz="290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Esta pesquisa: a PNED no contexto da prática</a:t>
            </a:r>
            <a:endParaRPr lang="pt-BR" sz="1958" dirty="0"/>
          </a:p>
        </p:txBody>
      </p:sp>
      <p:sp>
        <p:nvSpPr>
          <p:cNvPr id="208" name="Texto 208"/>
          <p:cNvSpPr txBox="1"/>
          <p:nvPr/>
        </p:nvSpPr>
        <p:spPr>
          <a:xfrm>
            <a:off x="3960000" y="7200000"/>
            <a:ext cx="10656000" cy="237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2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contexto da prática, “a política não é simplesmente recebida e implementada nesta arena, ao contrário, ela está sujeita à interpretação e então é ‘recriada’” (BOWE; BALL; GOLD, 1992, p. 22, tradução nossa).</a:t>
            </a:r>
            <a:endParaRPr lang="pt-BR" sz="2320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66158" y="1028700"/>
            <a:ext cx="9393142" cy="9865952"/>
            <a:chOff x="0" y="0"/>
            <a:chExt cx="2473914" cy="25984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3914" cy="2598440"/>
            </a:xfrm>
            <a:custGeom>
              <a:avLst/>
              <a:gdLst/>
              <a:ahLst/>
              <a:cxnLst/>
              <a:rect r="r" b="b" t="t" l="l"/>
              <a:pathLst>
                <a:path h="2598440" w="2473914">
                  <a:moveTo>
                    <a:pt x="34617" y="0"/>
                  </a:moveTo>
                  <a:lnTo>
                    <a:pt x="2439297" y="0"/>
                  </a:lnTo>
                  <a:cubicBezTo>
                    <a:pt x="2458415" y="0"/>
                    <a:pt x="2473914" y="15498"/>
                    <a:pt x="2473914" y="34617"/>
                  </a:cubicBezTo>
                  <a:lnTo>
                    <a:pt x="2473914" y="2563823"/>
                  </a:lnTo>
                  <a:cubicBezTo>
                    <a:pt x="2473914" y="2582942"/>
                    <a:pt x="2458415" y="2598440"/>
                    <a:pt x="2439297" y="2598440"/>
                  </a:cubicBezTo>
                  <a:lnTo>
                    <a:pt x="34617" y="2598440"/>
                  </a:lnTo>
                  <a:cubicBezTo>
                    <a:pt x="15498" y="2598440"/>
                    <a:pt x="0" y="2582942"/>
                    <a:pt x="0" y="2563823"/>
                  </a:cubicBezTo>
                  <a:lnTo>
                    <a:pt x="0" y="34617"/>
                  </a:lnTo>
                  <a:cubicBezTo>
                    <a:pt x="0" y="15498"/>
                    <a:pt x="15498" y="0"/>
                    <a:pt x="34617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73914" cy="265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-514876" y="-476841"/>
            <a:ext cx="5252464" cy="5620341"/>
          </a:xfrm>
          <a:custGeom>
            <a:avLst/>
            <a:gdLst/>
            <a:ahLst/>
            <a:cxnLst/>
            <a:rect r="r" b="b" t="t" l="l"/>
            <a:pathLst>
              <a:path h="5620341" w="5252464">
                <a:moveTo>
                  <a:pt x="5252465" y="0"/>
                </a:moveTo>
                <a:lnTo>
                  <a:pt x="0" y="0"/>
                </a:lnTo>
                <a:lnTo>
                  <a:pt x="0" y="5620341"/>
                </a:lnTo>
                <a:lnTo>
                  <a:pt x="5252465" y="5620341"/>
                </a:lnTo>
                <a:lnTo>
                  <a:pt x="525246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05129" y="9040148"/>
            <a:ext cx="7315200" cy="1981754"/>
          </a:xfrm>
          <a:custGeom>
            <a:avLst/>
            <a:gdLst/>
            <a:ahLst/>
            <a:cxnLst/>
            <a:rect r="r" b="b" t="t" l="l"/>
            <a:pathLst>
              <a:path h="1981754" w="7315200">
                <a:moveTo>
                  <a:pt x="0" y="0"/>
                </a:moveTo>
                <a:lnTo>
                  <a:pt x="7315200" y="0"/>
                </a:lnTo>
                <a:lnTo>
                  <a:pt x="7315200" y="1981754"/>
                </a:lnTo>
                <a:lnTo>
                  <a:pt x="0" y="1981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30811" y="-476841"/>
            <a:ext cx="4826211" cy="4220741"/>
          </a:xfrm>
          <a:custGeom>
            <a:avLst/>
            <a:gdLst/>
            <a:ahLst/>
            <a:cxnLst/>
            <a:rect r="r" b="b" t="t" l="l"/>
            <a:pathLst>
              <a:path h="4220741" w="4826211">
                <a:moveTo>
                  <a:pt x="0" y="0"/>
                </a:moveTo>
                <a:lnTo>
                  <a:pt x="4826211" y="0"/>
                </a:lnTo>
                <a:lnTo>
                  <a:pt x="4826211" y="4220741"/>
                </a:lnTo>
                <a:lnTo>
                  <a:pt x="0" y="42207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28700" y="3233716"/>
            <a:ext cx="7417778" cy="8276460"/>
          </a:xfrm>
          <a:custGeom>
            <a:avLst/>
            <a:gdLst/>
            <a:ahLst/>
            <a:cxnLst/>
            <a:rect r="r" b="b" t="t" l="l"/>
            <a:pathLst>
              <a:path h="8276460" w="7417778">
                <a:moveTo>
                  <a:pt x="7417778" y="0"/>
                </a:moveTo>
                <a:lnTo>
                  <a:pt x="0" y="0"/>
                </a:lnTo>
                <a:lnTo>
                  <a:pt x="0" y="8276460"/>
                </a:lnTo>
                <a:lnTo>
                  <a:pt x="7417778" y="8276460"/>
                </a:lnTo>
                <a:lnTo>
                  <a:pt x="741777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5809230" y="3430608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2431159" y="0"/>
                </a:moveTo>
                <a:lnTo>
                  <a:pt x="0" y="0"/>
                </a:lnTo>
                <a:lnTo>
                  <a:pt x="0" y="1940507"/>
                </a:lnTo>
                <a:lnTo>
                  <a:pt x="2431159" y="1940507"/>
                </a:lnTo>
                <a:lnTo>
                  <a:pt x="2431159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8496000" y="1656000"/>
            <a:ext cx="5976000" cy="194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RELEVÂNCIAS DA PESQUISA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8496000" y="3384000"/>
            <a:ext cx="7992000" cy="554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as crianças: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o eixo promete participação consciente e democrática e proteção dos dados (art. 3º, III e IV); nos anos iniciais, a escola pode ser o primeiro espaço público em que o digital é discutido com alguém responsável pelo ensino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os profissionais: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olhar a política a partir de quem a faz acontecer, sem cobrar de cada um o que só o desenho da política poderia garantir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o território: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em Pipa, o mesmo distrito reúne uso econômico intenso das tecnologias e salas de aula sem telas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a ciência: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a PNED lida pelo contexto da prática, com contribuições às políticas educacionais, à educação digital e aos direitos das crianças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a rede: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devolutiva dos resultados à escola e à Secretaria Municipal de Educação</a:t>
            </a:r>
            <a:endParaRPr lang="pt-BR" sz="2030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0662" y="5938221"/>
            <a:ext cx="4545747" cy="4864126"/>
          </a:xfrm>
          <a:custGeom>
            <a:avLst/>
            <a:gdLst/>
            <a:ahLst/>
            <a:cxnLst/>
            <a:rect r="r" b="b" t="t" l="l"/>
            <a:pathLst>
              <a:path h="4864126" w="4545747">
                <a:moveTo>
                  <a:pt x="0" y="0"/>
                </a:moveTo>
                <a:lnTo>
                  <a:pt x="4545747" y="0"/>
                </a:lnTo>
                <a:lnTo>
                  <a:pt x="4545747" y="4864126"/>
                </a:lnTo>
                <a:lnTo>
                  <a:pt x="0" y="486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67707">
            <a:off x="-1222503" y="-339746"/>
            <a:ext cx="3978551" cy="4438545"/>
          </a:xfrm>
          <a:custGeom>
            <a:avLst/>
            <a:gdLst/>
            <a:ahLst/>
            <a:cxnLst/>
            <a:rect r="r" b="b" t="t" l="l"/>
            <a:pathLst>
              <a:path h="4438545" w="3978551">
                <a:moveTo>
                  <a:pt x="0" y="0"/>
                </a:moveTo>
                <a:lnTo>
                  <a:pt x="3978551" y="0"/>
                </a:lnTo>
                <a:lnTo>
                  <a:pt x="3978551" y="4438546"/>
                </a:lnTo>
                <a:lnTo>
                  <a:pt x="0" y="4438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5924" y="-305796"/>
            <a:ext cx="5081512" cy="4444014"/>
          </a:xfrm>
          <a:custGeom>
            <a:avLst/>
            <a:gdLst/>
            <a:ahLst/>
            <a:cxnLst/>
            <a:rect r="r" b="b" t="t" l="l"/>
            <a:pathLst>
              <a:path h="4444014" w="5081512">
                <a:moveTo>
                  <a:pt x="0" y="0"/>
                </a:moveTo>
                <a:lnTo>
                  <a:pt x="5081512" y="0"/>
                </a:lnTo>
                <a:lnTo>
                  <a:pt x="5081512" y="4444014"/>
                </a:lnTo>
                <a:lnTo>
                  <a:pt x="0" y="4444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5153" y="5501478"/>
            <a:ext cx="4952068" cy="4989489"/>
          </a:xfrm>
          <a:custGeom>
            <a:avLst/>
            <a:gdLst/>
            <a:ahLst/>
            <a:cxnLst/>
            <a:rect r="r" b="b" t="t" l="l"/>
            <a:pathLst>
              <a:path h="4989489" w="4952068">
                <a:moveTo>
                  <a:pt x="0" y="0"/>
                </a:moveTo>
                <a:lnTo>
                  <a:pt x="4952068" y="0"/>
                </a:lnTo>
                <a:lnTo>
                  <a:pt x="4952068" y="4989489"/>
                </a:lnTo>
                <a:lnTo>
                  <a:pt x="0" y="49894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600000" y="504000"/>
            <a:ext cx="10800000" cy="158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INEDITISMO</a:t>
            </a:r>
            <a:endParaRPr lang="pt-BR" sz="40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três planos que se apoiam</a:t>
            </a:r>
            <a:endParaRPr lang="pt-BR" sz="2400" dirty="0"/>
          </a:p>
        </p:txBody>
      </p:sp>
      <p:pic>
        <p:nvPicPr>
          <p:cNvPr id="202" name="Moldura 202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8000" y="2628000"/>
            <a:ext cx="6912000" cy="3384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2530080" y="3440160"/>
            <a:ext cx="5667840" cy="2098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Empírico-temporal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Acompanha a chegada da PNED à escola. Nenhum dos nove estudos da RSL examina essa política nem uma rede municipal de pequeno porte.</a:t>
            </a:r>
            <a:endParaRPr lang="pt-BR" sz="2030" dirty="0"/>
          </a:p>
        </p:txBody>
      </p:sp>
      <p:pic>
        <p:nvPicPr>
          <p:cNvPr id="204" name="Tacha 204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50000" y="2052000"/>
            <a:ext cx="828000" cy="1332000"/>
          </a:xfrm>
          <a:prstGeom prst="rect">
            <a:avLst/>
          </a:prstGeom>
        </p:spPr>
      </p:pic>
      <p:pic>
        <p:nvPicPr>
          <p:cNvPr id="205" name="Moldura 205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8000" y="2628000"/>
            <a:ext cx="6912000" cy="3384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10090080" y="3440160"/>
            <a:ext cx="5667840" cy="2098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Analítico-espacial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Pipa entra como parte do contexto da prática, lida com Santos (território usado) e Massey (encontro de trajetórias).</a:t>
            </a:r>
            <a:endParaRPr lang="pt-BR" sz="2030" dirty="0"/>
          </a:p>
        </p:txBody>
      </p:sp>
      <p:pic>
        <p:nvPicPr>
          <p:cNvPr id="207" name="Tacha 207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510000" y="2052000"/>
            <a:ext cx="828000" cy="1332000"/>
          </a:xfrm>
          <a:prstGeom prst="rect">
            <a:avLst/>
          </a:prstGeom>
        </p:spPr>
      </p:pic>
      <p:pic>
        <p:nvPicPr>
          <p:cNvPr id="208" name="Moldura 208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4000" y="6336000"/>
            <a:ext cx="6912000" cy="3384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6166080" y="7148160"/>
            <a:ext cx="5667840" cy="2098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Teórico-conceitual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Atuação, culturas profissionais, materialidade e território articulados, de onde nasce a formulação “habitar o digital”.</a:t>
            </a:r>
            <a:endParaRPr lang="pt-BR" sz="2030" dirty="0"/>
          </a:p>
        </p:txBody>
      </p:sp>
      <p:pic>
        <p:nvPicPr>
          <p:cNvPr id="210" name="Tacha 210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86000" y="5760000"/>
            <a:ext cx="828000" cy="133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14760" y="1316867"/>
            <a:ext cx="12805931" cy="3826633"/>
            <a:chOff x="0" y="0"/>
            <a:chExt cx="3372755" cy="1007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4582" y="5481069"/>
            <a:ext cx="12805931" cy="3826633"/>
            <a:chOff x="0" y="0"/>
            <a:chExt cx="3372755" cy="1007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56199" y="4711899"/>
            <a:ext cx="4888650" cy="5793956"/>
          </a:xfrm>
          <a:custGeom>
            <a:avLst/>
            <a:gdLst/>
            <a:ahLst/>
            <a:cxnLst/>
            <a:rect r="r" b="b" t="t" l="l"/>
            <a:pathLst>
              <a:path h="5793956" w="4888650">
                <a:moveTo>
                  <a:pt x="0" y="0"/>
                </a:moveTo>
                <a:lnTo>
                  <a:pt x="4888651" y="0"/>
                </a:lnTo>
                <a:lnTo>
                  <a:pt x="4888651" y="5793956"/>
                </a:lnTo>
                <a:lnTo>
                  <a:pt x="0" y="579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301232" y="318233"/>
            <a:ext cx="5130568" cy="5162836"/>
          </a:xfrm>
          <a:custGeom>
            <a:avLst/>
            <a:gdLst/>
            <a:ahLst/>
            <a:cxnLst/>
            <a:rect r="r" b="b" t="t" l="l"/>
            <a:pathLst>
              <a:path h="5162836" w="5130568">
                <a:moveTo>
                  <a:pt x="5130569" y="0"/>
                </a:moveTo>
                <a:lnTo>
                  <a:pt x="0" y="0"/>
                </a:lnTo>
                <a:lnTo>
                  <a:pt x="0" y="5162836"/>
                </a:lnTo>
                <a:lnTo>
                  <a:pt x="5130569" y="5162836"/>
                </a:lnTo>
                <a:lnTo>
                  <a:pt x="5130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375592" y="741611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2431158" y="0"/>
                </a:moveTo>
                <a:lnTo>
                  <a:pt x="0" y="0"/>
                </a:lnTo>
                <a:lnTo>
                  <a:pt x="0" y="1940506"/>
                </a:lnTo>
                <a:lnTo>
                  <a:pt x="2431158" y="1940506"/>
                </a:lnTo>
                <a:lnTo>
                  <a:pt x="24311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20776" y="4855333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0" y="0"/>
                </a:moveTo>
                <a:lnTo>
                  <a:pt x="2431158" y="0"/>
                </a:lnTo>
                <a:lnTo>
                  <a:pt x="2431158" y="1940507"/>
                </a:lnTo>
                <a:lnTo>
                  <a:pt x="0" y="19405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06386">
            <a:off x="-459053" y="6798742"/>
            <a:ext cx="3532423" cy="3940837"/>
          </a:xfrm>
          <a:custGeom>
            <a:avLst/>
            <a:gdLst/>
            <a:ahLst/>
            <a:cxnLst/>
            <a:rect r="r" b="b" t="t" l="l"/>
            <a:pathLst>
              <a:path h="3940837" w="3532423">
                <a:moveTo>
                  <a:pt x="0" y="0"/>
                </a:moveTo>
                <a:lnTo>
                  <a:pt x="3532423" y="0"/>
                </a:lnTo>
                <a:lnTo>
                  <a:pt x="3532423" y="3940837"/>
                </a:lnTo>
                <a:lnTo>
                  <a:pt x="0" y="3940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0272" y="1711864"/>
            <a:ext cx="5440240" cy="4114800"/>
          </a:xfrm>
          <a:custGeom>
            <a:avLst/>
            <a:gdLst/>
            <a:ahLst/>
            <a:cxnLst/>
            <a:rect r="r" b="b" t="t" l="l"/>
            <a:pathLst>
              <a:path h="4114800" w="5440240">
                <a:moveTo>
                  <a:pt x="0" y="0"/>
                </a:moveTo>
                <a:lnTo>
                  <a:pt x="5440240" y="0"/>
                </a:lnTo>
                <a:lnTo>
                  <a:pt x="54402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936000" y="1512000"/>
            <a:ext cx="9432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REVISÃO SISTEMÁTICA</a:t>
            </a:r>
            <a:endParaRPr lang="pt-BR" sz="5000" dirty="0"/>
          </a:p>
        </p:txBody>
      </p:sp>
      <p:sp>
        <p:nvSpPr>
          <p:cNvPr id="202" name="Texto 202"/>
          <p:cNvSpPr txBox="1"/>
          <p:nvPr/>
        </p:nvSpPr>
        <p:spPr>
          <a:xfrm>
            <a:off x="7632000" y="5652000"/>
            <a:ext cx="9720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2</a:t>
            </a:r>
            <a:endParaRPr lang="pt-BR" sz="3400" dirty="0"/>
          </a:p>
          <a:p>
            <a:pPr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 que a literatura mostra</a:t>
            </a:r>
            <a:endParaRPr lang="pt-BR" sz="3000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9059">
            <a:off x="14704686" y="-67215"/>
            <a:ext cx="4178322" cy="5381913"/>
          </a:xfrm>
          <a:custGeom>
            <a:avLst/>
            <a:gdLst/>
            <a:ahLst/>
            <a:cxnLst/>
            <a:rect r="r" b="b" t="t" l="l"/>
            <a:pathLst>
              <a:path h="5381913" w="4178322">
                <a:moveTo>
                  <a:pt x="0" y="0"/>
                </a:moveTo>
                <a:lnTo>
                  <a:pt x="4178322" y="0"/>
                </a:lnTo>
                <a:lnTo>
                  <a:pt x="4178322" y="5381913"/>
                </a:lnTo>
                <a:lnTo>
                  <a:pt x="0" y="538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6807" y="-872400"/>
            <a:ext cx="3951014" cy="2794445"/>
          </a:xfrm>
          <a:custGeom>
            <a:avLst/>
            <a:gdLst/>
            <a:ahLst/>
            <a:cxnLst/>
            <a:rect r="r" b="b" t="t" l="l"/>
            <a:pathLst>
              <a:path h="2794445" w="3951014">
                <a:moveTo>
                  <a:pt x="0" y="0"/>
                </a:moveTo>
                <a:lnTo>
                  <a:pt x="3951014" y="0"/>
                </a:lnTo>
                <a:lnTo>
                  <a:pt x="3951014" y="2794445"/>
                </a:lnTo>
                <a:lnTo>
                  <a:pt x="0" y="279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97026" y="5143500"/>
            <a:ext cx="7009322" cy="5579677"/>
            <a:chOff x="0" y="0"/>
            <a:chExt cx="1846077" cy="1469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6076" cy="1469545"/>
            </a:xfrm>
            <a:custGeom>
              <a:avLst/>
              <a:gdLst/>
              <a:ahLst/>
              <a:cxnLst/>
              <a:rect r="r" b="b" t="t" l="l"/>
              <a:pathLst>
                <a:path h="1469545" w="1846076">
                  <a:moveTo>
                    <a:pt x="46390" y="0"/>
                  </a:moveTo>
                  <a:lnTo>
                    <a:pt x="1799687" y="0"/>
                  </a:lnTo>
                  <a:cubicBezTo>
                    <a:pt x="1825307" y="0"/>
                    <a:pt x="1846076" y="20769"/>
                    <a:pt x="1846076" y="46390"/>
                  </a:cubicBezTo>
                  <a:lnTo>
                    <a:pt x="1846076" y="1423155"/>
                  </a:lnTo>
                  <a:cubicBezTo>
                    <a:pt x="1846076" y="1435458"/>
                    <a:pt x="1841189" y="1447258"/>
                    <a:pt x="1832489" y="1455957"/>
                  </a:cubicBezTo>
                  <a:cubicBezTo>
                    <a:pt x="1823789" y="1464657"/>
                    <a:pt x="1811990" y="1469545"/>
                    <a:pt x="1799687" y="1469545"/>
                  </a:cubicBezTo>
                  <a:lnTo>
                    <a:pt x="46390" y="1469545"/>
                  </a:lnTo>
                  <a:cubicBezTo>
                    <a:pt x="34086" y="1469545"/>
                    <a:pt x="22287" y="1464657"/>
                    <a:pt x="13587" y="1455957"/>
                  </a:cubicBezTo>
                  <a:cubicBezTo>
                    <a:pt x="4887" y="1447258"/>
                    <a:pt x="0" y="1435458"/>
                    <a:pt x="0" y="1423155"/>
                  </a:cubicBezTo>
                  <a:lnTo>
                    <a:pt x="0" y="46390"/>
                  </a:lnTo>
                  <a:cubicBezTo>
                    <a:pt x="0" y="20769"/>
                    <a:pt x="20769" y="0"/>
                    <a:pt x="46390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46077" cy="152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1652" y="5143500"/>
            <a:ext cx="7009322" cy="5579677"/>
            <a:chOff x="0" y="0"/>
            <a:chExt cx="1846077" cy="14695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6076" cy="1469545"/>
            </a:xfrm>
            <a:custGeom>
              <a:avLst/>
              <a:gdLst/>
              <a:ahLst/>
              <a:cxnLst/>
              <a:rect r="r" b="b" t="t" l="l"/>
              <a:pathLst>
                <a:path h="1469545" w="1846076">
                  <a:moveTo>
                    <a:pt x="46390" y="0"/>
                  </a:moveTo>
                  <a:lnTo>
                    <a:pt x="1799687" y="0"/>
                  </a:lnTo>
                  <a:cubicBezTo>
                    <a:pt x="1825307" y="0"/>
                    <a:pt x="1846076" y="20769"/>
                    <a:pt x="1846076" y="46390"/>
                  </a:cubicBezTo>
                  <a:lnTo>
                    <a:pt x="1846076" y="1423155"/>
                  </a:lnTo>
                  <a:cubicBezTo>
                    <a:pt x="1846076" y="1435458"/>
                    <a:pt x="1841189" y="1447258"/>
                    <a:pt x="1832489" y="1455957"/>
                  </a:cubicBezTo>
                  <a:cubicBezTo>
                    <a:pt x="1823789" y="1464657"/>
                    <a:pt x="1811990" y="1469545"/>
                    <a:pt x="1799687" y="1469545"/>
                  </a:cubicBezTo>
                  <a:lnTo>
                    <a:pt x="46390" y="1469545"/>
                  </a:lnTo>
                  <a:cubicBezTo>
                    <a:pt x="34086" y="1469545"/>
                    <a:pt x="22287" y="1464657"/>
                    <a:pt x="13587" y="1455957"/>
                  </a:cubicBezTo>
                  <a:cubicBezTo>
                    <a:pt x="4887" y="1447258"/>
                    <a:pt x="0" y="1435458"/>
                    <a:pt x="0" y="1423155"/>
                  </a:cubicBezTo>
                  <a:lnTo>
                    <a:pt x="0" y="46390"/>
                  </a:lnTo>
                  <a:cubicBezTo>
                    <a:pt x="0" y="20769"/>
                    <a:pt x="20769" y="0"/>
                    <a:pt x="46390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846077" cy="152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0722983" y="-369962"/>
            <a:ext cx="4037087" cy="3222330"/>
          </a:xfrm>
          <a:custGeom>
            <a:avLst/>
            <a:gdLst/>
            <a:ahLst/>
            <a:cxnLst/>
            <a:rect r="r" b="b" t="t" l="l"/>
            <a:pathLst>
              <a:path h="3222330" w="4037087">
                <a:moveTo>
                  <a:pt x="4037087" y="0"/>
                </a:moveTo>
                <a:lnTo>
                  <a:pt x="0" y="0"/>
                </a:lnTo>
                <a:lnTo>
                  <a:pt x="0" y="3222329"/>
                </a:lnTo>
                <a:lnTo>
                  <a:pt x="4037087" y="3222329"/>
                </a:lnTo>
                <a:lnTo>
                  <a:pt x="403708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946807" y="6298004"/>
            <a:ext cx="3471862" cy="4114800"/>
          </a:xfrm>
          <a:custGeom>
            <a:avLst/>
            <a:gdLst/>
            <a:ahLst/>
            <a:cxnLst/>
            <a:rect r="r" b="b" t="t" l="l"/>
            <a:pathLst>
              <a:path h="4114800" w="3471862">
                <a:moveTo>
                  <a:pt x="0" y="0"/>
                </a:moveTo>
                <a:lnTo>
                  <a:pt x="3471862" y="0"/>
                </a:lnTo>
                <a:lnTo>
                  <a:pt x="3471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908000" y="1512000"/>
            <a:ext cx="9000000" cy="28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PERCURSO E</a:t>
            </a:r>
            <a:endParaRPr lang="pt-BR" sz="52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respostas da revisão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2664000" y="5544000"/>
            <a:ext cx="5760000" cy="46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Percurso</a:t>
            </a:r>
            <a:endParaRPr lang="pt-BR" sz="275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Questão: o que a produção científica evidencia sobre a implementação de políticas públicas de educação digital nos anos iniciais?</a:t>
            </a:r>
            <a:endParaRPr lang="pt-BR" sz="217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PRISMA 2020, estrutura PICo e síntese temática (THOMAS; HARDEN, 2008)</a:t>
            </a:r>
            <a:endParaRPr lang="pt-BR" sz="217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 bases · 176 registros · 35 textos avaliados · 9 estudos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publicados entre 2021 e 2024</a:t>
            </a:r>
            <a:endParaRPr lang="pt-BR" sz="2175" dirty="0"/>
          </a:p>
        </p:txBody>
      </p:sp>
      <p:sp>
        <p:nvSpPr>
          <p:cNvPr id="203" name="Texto 203"/>
          <p:cNvSpPr txBox="1"/>
          <p:nvPr/>
        </p:nvSpPr>
        <p:spPr>
          <a:xfrm>
            <a:off x="10152000" y="5544000"/>
            <a:ext cx="5760000" cy="46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Respostas</a:t>
            </a:r>
            <a:endParaRPr lang="pt-BR" sz="275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(a) Condicionantes: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equipamentos e conectividade pesam ao lado de formação continuada, estabilidade das equipes, tempo de trabalho e marco regulatório</a:t>
            </a:r>
            <a:endParaRPr lang="pt-BR" sz="217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(b) Profissionais: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resposta mais convergente; a política é feita de interpretação e de decisões situadas</a:t>
            </a:r>
            <a:endParaRPr lang="pt-BR" sz="217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(c) Cultura digital e formação cidadã:</a:t>
            </a: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apoio frágil</a:t>
            </a:r>
            <a:endParaRPr lang="pt-BR" sz="2175" dirty="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703516" y="799557"/>
            <a:ext cx="4559335" cy="4114800"/>
          </a:xfrm>
          <a:custGeom>
            <a:avLst/>
            <a:gdLst/>
            <a:ahLst/>
            <a:cxnLst/>
            <a:rect r="r" b="b" t="t" l="l"/>
            <a:pathLst>
              <a:path h="4114800" w="4559335">
                <a:moveTo>
                  <a:pt x="4559335" y="0"/>
                </a:moveTo>
                <a:lnTo>
                  <a:pt x="0" y="0"/>
                </a:lnTo>
                <a:lnTo>
                  <a:pt x="0" y="4114800"/>
                </a:lnTo>
                <a:lnTo>
                  <a:pt x="4559335" y="4114800"/>
                </a:lnTo>
                <a:lnTo>
                  <a:pt x="45593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888000" y="360000"/>
            <a:ext cx="10512000" cy="2520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A REVISÃO DECIDIU</a:t>
            </a:r>
            <a:endParaRPr lang="pt-BR" sz="44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contribuições da RSL para as escolhas da tese</a:t>
            </a:r>
            <a:endParaRPr lang="pt-BR" sz="2600" dirty="0"/>
          </a:p>
        </p:txBody>
      </p:sp>
      <p:sp>
        <p:nvSpPr>
          <p:cNvPr id="202" name="Texto 202"/>
          <p:cNvSpPr txBox="1"/>
          <p:nvPr/>
        </p:nvSpPr>
        <p:spPr>
          <a:xfrm>
            <a:off x="4176000" y="3312000"/>
            <a:ext cx="4536000" cy="50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REVISÃO MOSTROU</a:t>
            </a:r>
            <a:endParaRPr lang="pt-BR" sz="2000" dirty="0"/>
          </a:p>
        </p:txBody>
      </p:sp>
      <p:sp>
        <p:nvSpPr>
          <p:cNvPr id="203" name="Texto 203"/>
          <p:cNvSpPr txBox="1"/>
          <p:nvPr/>
        </p:nvSpPr>
        <p:spPr>
          <a:xfrm>
            <a:off x="11376000" y="3312000"/>
            <a:ext cx="4824000" cy="50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ISSO, A TESE…</a:t>
            </a:r>
            <a:endParaRPr lang="pt-BR" sz="2000" dirty="0"/>
          </a:p>
        </p:txBody>
      </p:sp>
      <p:sp>
        <p:nvSpPr>
          <p:cNvPr id="204" name="Cartão 204"/>
          <p:cNvSpPr/>
          <p:nvPr/>
        </p:nvSpPr>
        <p:spPr>
          <a:xfrm>
            <a:off x="2160000" y="3960000"/>
            <a:ext cx="7056000" cy="936000"/>
          </a:xfrm>
          <a:prstGeom prst="roundRect">
            <a:avLst>
              <a:gd name="adj" fmla="val 12000"/>
            </a:avLst>
          </a:prstGeom>
          <a:solidFill>
            <a:srgbClr val="EFE3D4"/>
          </a:solidFill>
          <a:ln w="25400">
            <a:solidFill>
              <a:srgbClr val="111111"/>
            </a:solidFill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Anos iniciais tratados em bloco; ciclo de alfabetização quase ausente</a:t>
            </a:r>
            <a:endParaRPr lang="pt-BR" sz="1885" dirty="0"/>
          </a:p>
        </p:txBody>
      </p:sp>
      <p:sp>
        <p:nvSpPr>
          <p:cNvPr id="205" name="Texto 205"/>
          <p:cNvSpPr txBox="1"/>
          <p:nvPr/>
        </p:nvSpPr>
        <p:spPr>
          <a:xfrm>
            <a:off x="9216000" y="3960000"/>
            <a:ext cx="864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4000" dirty="0"/>
          </a:p>
        </p:txBody>
      </p:sp>
      <p:sp>
        <p:nvSpPr>
          <p:cNvPr id="206" name="Cartão 206"/>
          <p:cNvSpPr/>
          <p:nvPr/>
        </p:nvSpPr>
        <p:spPr>
          <a:xfrm>
            <a:off x="10080000" y="3960000"/>
            <a:ext cx="7488000" cy="93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>
            <a:noFill/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delimita o 1º ao 5º ano, com o ciclo de alfabetização</a:t>
            </a:r>
            <a:endParaRPr lang="pt-BR" sz="1885" dirty="0"/>
          </a:p>
        </p:txBody>
      </p:sp>
      <p:sp>
        <p:nvSpPr>
          <p:cNvPr id="207" name="Cartão 207"/>
          <p:cNvSpPr/>
          <p:nvPr/>
        </p:nvSpPr>
        <p:spPr>
          <a:xfrm>
            <a:off x="2160000" y="4986000"/>
            <a:ext cx="7056000" cy="936000"/>
          </a:xfrm>
          <a:prstGeom prst="roundRect">
            <a:avLst>
              <a:gd name="adj" fmla="val 12000"/>
            </a:avLst>
          </a:prstGeom>
          <a:solidFill>
            <a:srgbClr val="EFE3D4"/>
          </a:solidFill>
          <a:ln w="25400">
            <a:solidFill>
              <a:srgbClr val="111111"/>
            </a:solidFill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PNED sem exame empírico; nenhuma rede municipal de pequeno porte</a:t>
            </a:r>
            <a:endParaRPr lang="pt-BR" sz="1885" dirty="0"/>
          </a:p>
        </p:txBody>
      </p:sp>
      <p:sp>
        <p:nvSpPr>
          <p:cNvPr id="208" name="Texto 208"/>
          <p:cNvSpPr txBox="1"/>
          <p:nvPr/>
        </p:nvSpPr>
        <p:spPr>
          <a:xfrm>
            <a:off x="9216000" y="4986000"/>
            <a:ext cx="864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4000" dirty="0"/>
          </a:p>
        </p:txBody>
      </p:sp>
      <p:sp>
        <p:nvSpPr>
          <p:cNvPr id="209" name="Cartão 209"/>
          <p:cNvSpPr/>
          <p:nvPr/>
        </p:nvSpPr>
        <p:spPr>
          <a:xfrm>
            <a:off x="10080000" y="4986000"/>
            <a:ext cx="7488000" cy="93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>
            <a:noFill/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toma o eixo Educação Digital Escolar como objeto, na rede de Tibau do Sul</a:t>
            </a:r>
            <a:endParaRPr lang="pt-BR" sz="1885" dirty="0"/>
          </a:p>
        </p:txBody>
      </p:sp>
      <p:sp>
        <p:nvSpPr>
          <p:cNvPr id="210" name="Cartão 210"/>
          <p:cNvSpPr/>
          <p:nvPr/>
        </p:nvSpPr>
        <p:spPr>
          <a:xfrm>
            <a:off x="2160000" y="6012000"/>
            <a:ext cx="7056000" cy="936000"/>
          </a:xfrm>
          <a:prstGeom prst="roundRect">
            <a:avLst>
              <a:gd name="adj" fmla="val 12000"/>
            </a:avLst>
          </a:prstGeom>
          <a:solidFill>
            <a:srgbClr val="EFE3D4"/>
          </a:solidFill>
          <a:ln w="25400">
            <a:solidFill>
              <a:srgbClr val="111111"/>
            </a:solidFill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Predomínio de respostas emergenciais à pandemia</a:t>
            </a:r>
            <a:endParaRPr lang="pt-BR" sz="1885" dirty="0"/>
          </a:p>
        </p:txBody>
      </p:sp>
      <p:sp>
        <p:nvSpPr>
          <p:cNvPr id="211" name="Texto 211"/>
          <p:cNvSpPr txBox="1"/>
          <p:nvPr/>
        </p:nvSpPr>
        <p:spPr>
          <a:xfrm>
            <a:off x="9216000" y="6012000"/>
            <a:ext cx="864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4000" dirty="0"/>
          </a:p>
        </p:txBody>
      </p:sp>
      <p:sp>
        <p:nvSpPr>
          <p:cNvPr id="212" name="Cartão 212"/>
          <p:cNvSpPr/>
          <p:nvPr/>
        </p:nvSpPr>
        <p:spPr>
          <a:xfrm>
            <a:off x="10080000" y="6012000"/>
            <a:ext cx="7488000" cy="93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>
            <a:noFill/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estuda a política no funcionamento ordinário da escola</a:t>
            </a:r>
            <a:endParaRPr lang="pt-BR" sz="1885" dirty="0"/>
          </a:p>
        </p:txBody>
      </p:sp>
      <p:sp>
        <p:nvSpPr>
          <p:cNvPr id="213" name="Cartão 213"/>
          <p:cNvSpPr/>
          <p:nvPr/>
        </p:nvSpPr>
        <p:spPr>
          <a:xfrm>
            <a:off x="2160000" y="7038000"/>
            <a:ext cx="7056000" cy="936000"/>
          </a:xfrm>
          <a:prstGeom prst="roundRect">
            <a:avLst>
              <a:gd name="adj" fmla="val 12000"/>
            </a:avLst>
          </a:prstGeom>
          <a:solidFill>
            <a:srgbClr val="EFE3D4"/>
          </a:solidFill>
          <a:ln w="25400">
            <a:solidFill>
              <a:srgbClr val="111111"/>
            </a:solidFill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Condições vão além do equipamento, e os profissionais interpretam a política</a:t>
            </a:r>
            <a:endParaRPr lang="pt-BR" sz="1885" dirty="0"/>
          </a:p>
        </p:txBody>
      </p:sp>
      <p:sp>
        <p:nvSpPr>
          <p:cNvPr id="214" name="Texto 214"/>
          <p:cNvSpPr txBox="1"/>
          <p:nvPr/>
        </p:nvSpPr>
        <p:spPr>
          <a:xfrm>
            <a:off x="9216000" y="7038000"/>
            <a:ext cx="864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4000" dirty="0"/>
          </a:p>
        </p:txBody>
      </p:sp>
      <p:sp>
        <p:nvSpPr>
          <p:cNvPr id="215" name="Cartão 215"/>
          <p:cNvSpPr/>
          <p:nvPr/>
        </p:nvSpPr>
        <p:spPr>
          <a:xfrm>
            <a:off x="10080000" y="7038000"/>
            <a:ext cx="7488000" cy="93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>
            <a:noFill/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pergunta o que os profissionais fazem quando a condição anunciada não chega</a:t>
            </a:r>
            <a:endParaRPr lang="pt-BR" sz="1885" dirty="0"/>
          </a:p>
        </p:txBody>
      </p:sp>
      <p:sp>
        <p:nvSpPr>
          <p:cNvPr id="216" name="Cartão 216"/>
          <p:cNvSpPr/>
          <p:nvPr/>
        </p:nvSpPr>
        <p:spPr>
          <a:xfrm>
            <a:off x="2160000" y="8064000"/>
            <a:ext cx="7056000" cy="936000"/>
          </a:xfrm>
          <a:prstGeom prst="roundRect">
            <a:avLst>
              <a:gd name="adj" fmla="val 12000"/>
            </a:avLst>
          </a:prstGeom>
          <a:solidFill>
            <a:srgbClr val="EFE3D4"/>
          </a:solidFill>
          <a:ln w="25400">
            <a:solidFill>
              <a:srgbClr val="111111"/>
            </a:solidFill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Cultura digital e formação cidadã com apoio frágil; crianças ausentes como sujeitos</a:t>
            </a:r>
            <a:endParaRPr lang="pt-BR" sz="1885" dirty="0"/>
          </a:p>
        </p:txBody>
      </p:sp>
      <p:sp>
        <p:nvSpPr>
          <p:cNvPr id="217" name="Texto 217"/>
          <p:cNvSpPr txBox="1"/>
          <p:nvPr/>
        </p:nvSpPr>
        <p:spPr>
          <a:xfrm>
            <a:off x="9216000" y="8064000"/>
            <a:ext cx="864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4000" dirty="0"/>
          </a:p>
        </p:txBody>
      </p:sp>
      <p:sp>
        <p:nvSpPr>
          <p:cNvPr id="218" name="Cartão 218"/>
          <p:cNvSpPr/>
          <p:nvPr/>
        </p:nvSpPr>
        <p:spPr>
          <a:xfrm>
            <a:off x="10080000" y="8064000"/>
            <a:ext cx="7488000" cy="93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>
            <a:noFill/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trata esse tema de modo exploratório e ouve os profissionais, sem avaliar efeitos nas crianças</a:t>
            </a:r>
            <a:endParaRPr lang="pt-BR" sz="1885" dirty="0"/>
          </a:p>
        </p:txBody>
      </p:sp>
      <p:sp>
        <p:nvSpPr>
          <p:cNvPr id="219" name="Cartão 219"/>
          <p:cNvSpPr/>
          <p:nvPr/>
        </p:nvSpPr>
        <p:spPr>
          <a:xfrm>
            <a:off x="2160000" y="9090000"/>
            <a:ext cx="7056000" cy="936000"/>
          </a:xfrm>
          <a:prstGeom prst="roundRect">
            <a:avLst>
              <a:gd name="adj" fmla="val 12000"/>
            </a:avLst>
          </a:prstGeom>
          <a:solidFill>
            <a:srgbClr val="EFE3D4"/>
          </a:solidFill>
          <a:ln w="25400">
            <a:solidFill>
              <a:srgbClr val="111111"/>
            </a:solidFill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Três eixos: condições, profissionais e sentidos formativos</a:t>
            </a:r>
            <a:endParaRPr lang="pt-BR" sz="1885" dirty="0"/>
          </a:p>
        </p:txBody>
      </p:sp>
      <p:sp>
        <p:nvSpPr>
          <p:cNvPr id="220" name="Texto 220"/>
          <p:cNvSpPr txBox="1"/>
          <p:nvPr/>
        </p:nvSpPr>
        <p:spPr>
          <a:xfrm>
            <a:off x="9216000" y="9090000"/>
            <a:ext cx="864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4000" dirty="0"/>
          </a:p>
        </p:txBody>
      </p:sp>
      <p:sp>
        <p:nvSpPr>
          <p:cNvPr id="221" name="Cartão 221"/>
          <p:cNvSpPr/>
          <p:nvPr/>
        </p:nvSpPr>
        <p:spPr>
          <a:xfrm>
            <a:off x="10080000" y="9090000"/>
            <a:ext cx="7488000" cy="93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>
            <a:noFill/>
          </a:ln>
        </p:spPr>
        <p:txBody>
          <a:bodyPr wrap="square" lIns="108000" tIns="108000" rIns="108000" bIns="108000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usa os eixos como referência para questionário e entrevistas, sem categorias fechadas</a:t>
            </a:r>
            <a:endParaRPr lang="pt-BR" sz="1885" dirty="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14760" y="1316867"/>
            <a:ext cx="12805931" cy="3826633"/>
            <a:chOff x="0" y="0"/>
            <a:chExt cx="3372755" cy="1007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4582" y="5481069"/>
            <a:ext cx="12805931" cy="3826633"/>
            <a:chOff x="0" y="0"/>
            <a:chExt cx="3372755" cy="1007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56199" y="4711899"/>
            <a:ext cx="4888650" cy="5793956"/>
          </a:xfrm>
          <a:custGeom>
            <a:avLst/>
            <a:gdLst/>
            <a:ahLst/>
            <a:cxnLst/>
            <a:rect r="r" b="b" t="t" l="l"/>
            <a:pathLst>
              <a:path h="5793956" w="4888650">
                <a:moveTo>
                  <a:pt x="0" y="0"/>
                </a:moveTo>
                <a:lnTo>
                  <a:pt x="4888651" y="0"/>
                </a:lnTo>
                <a:lnTo>
                  <a:pt x="4888651" y="5793956"/>
                </a:lnTo>
                <a:lnTo>
                  <a:pt x="0" y="579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301232" y="318233"/>
            <a:ext cx="5130568" cy="5162836"/>
          </a:xfrm>
          <a:custGeom>
            <a:avLst/>
            <a:gdLst/>
            <a:ahLst/>
            <a:cxnLst/>
            <a:rect r="r" b="b" t="t" l="l"/>
            <a:pathLst>
              <a:path h="5162836" w="5130568">
                <a:moveTo>
                  <a:pt x="5130569" y="0"/>
                </a:moveTo>
                <a:lnTo>
                  <a:pt x="0" y="0"/>
                </a:lnTo>
                <a:lnTo>
                  <a:pt x="0" y="5162836"/>
                </a:lnTo>
                <a:lnTo>
                  <a:pt x="5130569" y="5162836"/>
                </a:lnTo>
                <a:lnTo>
                  <a:pt x="5130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375592" y="741611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2431158" y="0"/>
                </a:moveTo>
                <a:lnTo>
                  <a:pt x="0" y="0"/>
                </a:lnTo>
                <a:lnTo>
                  <a:pt x="0" y="1940506"/>
                </a:lnTo>
                <a:lnTo>
                  <a:pt x="2431158" y="1940506"/>
                </a:lnTo>
                <a:lnTo>
                  <a:pt x="24311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20776" y="4855333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0" y="0"/>
                </a:moveTo>
                <a:lnTo>
                  <a:pt x="2431158" y="0"/>
                </a:lnTo>
                <a:lnTo>
                  <a:pt x="2431158" y="1940507"/>
                </a:lnTo>
                <a:lnTo>
                  <a:pt x="0" y="19405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06386">
            <a:off x="-459053" y="6798742"/>
            <a:ext cx="3532423" cy="3940837"/>
          </a:xfrm>
          <a:custGeom>
            <a:avLst/>
            <a:gdLst/>
            <a:ahLst/>
            <a:cxnLst/>
            <a:rect r="r" b="b" t="t" l="l"/>
            <a:pathLst>
              <a:path h="3940837" w="3532423">
                <a:moveTo>
                  <a:pt x="0" y="0"/>
                </a:moveTo>
                <a:lnTo>
                  <a:pt x="3532423" y="0"/>
                </a:lnTo>
                <a:lnTo>
                  <a:pt x="3532423" y="3940837"/>
                </a:lnTo>
                <a:lnTo>
                  <a:pt x="0" y="3940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0272" y="1711864"/>
            <a:ext cx="5440240" cy="4114800"/>
          </a:xfrm>
          <a:custGeom>
            <a:avLst/>
            <a:gdLst/>
            <a:ahLst/>
            <a:cxnLst/>
            <a:rect r="r" b="b" t="t" l="l"/>
            <a:pathLst>
              <a:path h="4114800" w="5440240">
                <a:moveTo>
                  <a:pt x="0" y="0"/>
                </a:moveTo>
                <a:lnTo>
                  <a:pt x="5440240" y="0"/>
                </a:lnTo>
                <a:lnTo>
                  <a:pt x="54402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936000" y="1512000"/>
            <a:ext cx="9432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 TEÓRICOS</a:t>
            </a:r>
            <a:endParaRPr lang="pt-BR" sz="5000" dirty="0"/>
          </a:p>
        </p:txBody>
      </p:sp>
      <p:sp>
        <p:nvSpPr>
          <p:cNvPr id="202" name="Texto 202"/>
          <p:cNvSpPr txBox="1"/>
          <p:nvPr/>
        </p:nvSpPr>
        <p:spPr>
          <a:xfrm>
            <a:off x="7632000" y="5652000"/>
            <a:ext cx="9720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3</a:t>
            </a:r>
            <a:endParaRPr lang="pt-BR" sz="3400" dirty="0"/>
          </a:p>
          <a:p>
            <a:pPr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Do texto da política ao ato</a:t>
            </a:r>
            <a:endParaRPr lang="pt-BR" sz="3000" dirty="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9059">
            <a:off x="14704686" y="-67215"/>
            <a:ext cx="4178322" cy="5381913"/>
          </a:xfrm>
          <a:custGeom>
            <a:avLst/>
            <a:gdLst/>
            <a:ahLst/>
            <a:cxnLst/>
            <a:rect r="r" b="b" t="t" l="l"/>
            <a:pathLst>
              <a:path h="5381913" w="4178322">
                <a:moveTo>
                  <a:pt x="0" y="0"/>
                </a:moveTo>
                <a:lnTo>
                  <a:pt x="4178322" y="0"/>
                </a:lnTo>
                <a:lnTo>
                  <a:pt x="4178322" y="5381913"/>
                </a:lnTo>
                <a:lnTo>
                  <a:pt x="0" y="538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6807" y="-872400"/>
            <a:ext cx="3951014" cy="2794445"/>
          </a:xfrm>
          <a:custGeom>
            <a:avLst/>
            <a:gdLst/>
            <a:ahLst/>
            <a:cxnLst/>
            <a:rect r="r" b="b" t="t" l="l"/>
            <a:pathLst>
              <a:path h="2794445" w="3951014">
                <a:moveTo>
                  <a:pt x="0" y="0"/>
                </a:moveTo>
                <a:lnTo>
                  <a:pt x="3951014" y="0"/>
                </a:lnTo>
                <a:lnTo>
                  <a:pt x="3951014" y="2794445"/>
                </a:lnTo>
                <a:lnTo>
                  <a:pt x="0" y="279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0722983" y="-369962"/>
            <a:ext cx="4037087" cy="3222330"/>
          </a:xfrm>
          <a:custGeom>
            <a:avLst/>
            <a:gdLst/>
            <a:ahLst/>
            <a:cxnLst/>
            <a:rect r="r" b="b" t="t" l="l"/>
            <a:pathLst>
              <a:path h="3222330" w="4037087">
                <a:moveTo>
                  <a:pt x="4037087" y="0"/>
                </a:moveTo>
                <a:lnTo>
                  <a:pt x="0" y="0"/>
                </a:lnTo>
                <a:lnTo>
                  <a:pt x="0" y="3222329"/>
                </a:lnTo>
                <a:lnTo>
                  <a:pt x="4037087" y="3222329"/>
                </a:lnTo>
                <a:lnTo>
                  <a:pt x="403708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908000" y="1368000"/>
            <a:ext cx="9000000" cy="324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 TEXTO AO ATO</a:t>
            </a:r>
            <a:endParaRPr lang="pt-BR" sz="52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onde a política é produzida e onde é posta em ato</a:t>
            </a:r>
            <a:endParaRPr lang="pt-BR" sz="2600" dirty="0"/>
          </a:p>
        </p:txBody>
      </p:sp>
      <p:sp>
        <p:nvSpPr>
          <p:cNvPr id="202" name="Cartão 202"/>
          <p:cNvSpPr/>
          <p:nvPr/>
        </p:nvSpPr>
        <p:spPr>
          <a:xfrm>
            <a:off x="720000" y="5256000"/>
            <a:ext cx="4824000" cy="3528000"/>
          </a:xfrm>
          <a:prstGeom prst="roundRect">
            <a:avLst>
              <a:gd name="adj" fmla="val 50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198000" tIns="198000" rIns="198000" bIns="19800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46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Contexto de influência</a:t>
            </a:r>
            <a:endParaRPr lang="pt-BR" sz="246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Agendas e discursos que disputam as finalidades da educação digital</a:t>
            </a:r>
            <a:endParaRPr lang="pt-BR" sz="217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Capítulo 5</a:t>
            </a:r>
            <a:endParaRPr lang="pt-BR" sz="2030" dirty="0"/>
          </a:p>
        </p:txBody>
      </p:sp>
      <p:sp>
        <p:nvSpPr>
          <p:cNvPr id="203" name="Cartão 203"/>
          <p:cNvSpPr/>
          <p:nvPr/>
        </p:nvSpPr>
        <p:spPr>
          <a:xfrm>
            <a:off x="6480000" y="5256000"/>
            <a:ext cx="4824000" cy="3528000"/>
          </a:xfrm>
          <a:prstGeom prst="roundRect">
            <a:avLst>
              <a:gd name="adj" fmla="val 50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198000" tIns="198000" rIns="198000" bIns="19800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46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Contexto da produção do texto</a:t>
            </a:r>
            <a:endParaRPr lang="pt-BR" sz="246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Lei nº 14.533/2023, Resolução CNE/CEB nº 2/2025: o que a lei pede e com que meios</a:t>
            </a:r>
            <a:endParaRPr lang="pt-BR" sz="217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Capítulo 5</a:t>
            </a:r>
            <a:endParaRPr lang="pt-BR" sz="2030" dirty="0"/>
          </a:p>
        </p:txBody>
      </p:sp>
      <p:sp>
        <p:nvSpPr>
          <p:cNvPr id="204" name="Cartão 204"/>
          <p:cNvSpPr/>
          <p:nvPr/>
        </p:nvSpPr>
        <p:spPr>
          <a:xfrm>
            <a:off x="12240000" y="5256000"/>
            <a:ext cx="5400000" cy="3528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 w="38100">
            <a:solidFill>
              <a:srgbClr val="111111"/>
            </a:solidFill>
          </a:ln>
        </p:spPr>
        <p:txBody>
          <a:bodyPr wrap="square" lIns="198000" tIns="198000" rIns="198000" bIns="19800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46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Contexto da prática: a política posta em ato</a:t>
            </a:r>
            <a:endParaRPr lang="pt-BR" sz="246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17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Teoria da atuação, com as dimensões situada, das culturas profissionais, material e externa (BALL; MAGUIRE; BRAUN, 2016, p. 38)</a:t>
            </a:r>
            <a:endParaRPr lang="pt-BR" sz="217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Capítulos 6 e 7</a:t>
            </a:r>
            <a:endParaRPr lang="pt-BR" sz="2030" dirty="0"/>
          </a:p>
        </p:txBody>
      </p:sp>
      <p:sp>
        <p:nvSpPr>
          <p:cNvPr id="205" name="Texto 205"/>
          <p:cNvSpPr txBox="1"/>
          <p:nvPr/>
        </p:nvSpPr>
        <p:spPr>
          <a:xfrm>
            <a:off x="5580000" y="6336000"/>
            <a:ext cx="864000" cy="122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6400" dirty="0"/>
          </a:p>
        </p:txBody>
      </p:sp>
      <p:sp>
        <p:nvSpPr>
          <p:cNvPr id="206" name="Texto 206"/>
          <p:cNvSpPr txBox="1"/>
          <p:nvPr/>
        </p:nvSpPr>
        <p:spPr>
          <a:xfrm>
            <a:off x="11340000" y="6336000"/>
            <a:ext cx="864000" cy="122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</a:t>
            </a:r>
            <a:endParaRPr lang="pt-BR" sz="6400" dirty="0"/>
          </a:p>
        </p:txBody>
      </p:sp>
      <p:sp>
        <p:nvSpPr>
          <p:cNvPr id="207" name="Texto 207"/>
          <p:cNvSpPr txBox="1"/>
          <p:nvPr/>
        </p:nvSpPr>
        <p:spPr>
          <a:xfrm>
            <a:off x="720000" y="8892000"/>
            <a:ext cx="16920000" cy="12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7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Política como processo contínuo (BOWE; BALL; GOLD, 1992; MAINARDES, 2006). Os profissionais “não se deparam com os textos das políticas como leitores ingênuos” (BOWE; BALL; GOLD, 1992, p. 22, tradução nossa).</a:t>
            </a:r>
            <a:endParaRPr lang="pt-BR" sz="2175" dirty="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0662" y="5938221"/>
            <a:ext cx="4545747" cy="4864126"/>
          </a:xfrm>
          <a:custGeom>
            <a:avLst/>
            <a:gdLst/>
            <a:ahLst/>
            <a:cxnLst/>
            <a:rect r="r" b="b" t="t" l="l"/>
            <a:pathLst>
              <a:path h="4864126" w="4545747">
                <a:moveTo>
                  <a:pt x="0" y="0"/>
                </a:moveTo>
                <a:lnTo>
                  <a:pt x="4545747" y="0"/>
                </a:lnTo>
                <a:lnTo>
                  <a:pt x="4545747" y="4864126"/>
                </a:lnTo>
                <a:lnTo>
                  <a:pt x="0" y="486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67707">
            <a:off x="-1222503" y="-339746"/>
            <a:ext cx="3978551" cy="4438545"/>
          </a:xfrm>
          <a:custGeom>
            <a:avLst/>
            <a:gdLst/>
            <a:ahLst/>
            <a:cxnLst/>
            <a:rect r="r" b="b" t="t" l="l"/>
            <a:pathLst>
              <a:path h="4438545" w="3978551">
                <a:moveTo>
                  <a:pt x="0" y="0"/>
                </a:moveTo>
                <a:lnTo>
                  <a:pt x="3978551" y="0"/>
                </a:lnTo>
                <a:lnTo>
                  <a:pt x="3978551" y="4438546"/>
                </a:lnTo>
                <a:lnTo>
                  <a:pt x="0" y="4438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5924" y="-305796"/>
            <a:ext cx="5081512" cy="4444014"/>
          </a:xfrm>
          <a:custGeom>
            <a:avLst/>
            <a:gdLst/>
            <a:ahLst/>
            <a:cxnLst/>
            <a:rect r="r" b="b" t="t" l="l"/>
            <a:pathLst>
              <a:path h="4444014" w="5081512">
                <a:moveTo>
                  <a:pt x="0" y="0"/>
                </a:moveTo>
                <a:lnTo>
                  <a:pt x="5081512" y="0"/>
                </a:lnTo>
                <a:lnTo>
                  <a:pt x="5081512" y="4444014"/>
                </a:lnTo>
                <a:lnTo>
                  <a:pt x="0" y="4444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5153" y="5501478"/>
            <a:ext cx="4952068" cy="4989489"/>
          </a:xfrm>
          <a:custGeom>
            <a:avLst/>
            <a:gdLst/>
            <a:ahLst/>
            <a:cxnLst/>
            <a:rect r="r" b="b" t="t" l="l"/>
            <a:pathLst>
              <a:path h="4989489" w="4952068">
                <a:moveTo>
                  <a:pt x="0" y="0"/>
                </a:moveTo>
                <a:lnTo>
                  <a:pt x="4952068" y="0"/>
                </a:lnTo>
                <a:lnTo>
                  <a:pt x="4952068" y="4989489"/>
                </a:lnTo>
                <a:lnTo>
                  <a:pt x="0" y="49894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384000" y="324000"/>
            <a:ext cx="11304000" cy="2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CONTEXTO DA PRÁTICA</a:t>
            </a:r>
            <a:endParaRPr lang="pt-BR" sz="40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que filtra, pressiona e tensiona a atuação</a:t>
            </a:r>
            <a:endParaRPr lang="pt-BR" sz="2600" dirty="0"/>
          </a:p>
        </p:txBody>
      </p:sp>
      <p:pic>
        <p:nvPicPr>
          <p:cNvPr id="202" name="Moldura 202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8000" y="2628000"/>
            <a:ext cx="6912000" cy="3384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2530080" y="3440160"/>
            <a:ext cx="5667840" cy="2098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53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Culturas profissionais filtram</a:t>
            </a:r>
            <a:endParaRPr lang="pt-BR" sz="2538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Crenças, valores, hábitos e formas de fazer das comunidades de professores; individualismo, colaboração, colegialidade artificial, balcanização (HARGREAVES, 2005, p. 189-191)</a:t>
            </a:r>
            <a:endParaRPr lang="pt-BR" sz="1958" dirty="0"/>
          </a:p>
        </p:txBody>
      </p:sp>
      <p:pic>
        <p:nvPicPr>
          <p:cNvPr id="204" name="Tacha 204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50000" y="2052000"/>
            <a:ext cx="828000" cy="1332000"/>
          </a:xfrm>
          <a:prstGeom prst="rect">
            <a:avLst/>
          </a:prstGeom>
        </p:spPr>
      </p:pic>
      <p:pic>
        <p:nvPicPr>
          <p:cNvPr id="205" name="Moldura 205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8000" y="2628000"/>
            <a:ext cx="6912000" cy="3384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10090080" y="3440160"/>
            <a:ext cx="5667840" cy="2098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53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Performatividade pressiona</a:t>
            </a:r>
            <a:endParaRPr lang="pt-BR" sz="2538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Prestação de contas por julgamentos, comparações e exposições (BALL, 2008, p. 49); fabricação: a escola produzida para ser vista (BALL, 2002)</a:t>
            </a:r>
            <a:endParaRPr lang="pt-BR" sz="1958" dirty="0"/>
          </a:p>
        </p:txBody>
      </p:sp>
      <p:pic>
        <p:nvPicPr>
          <p:cNvPr id="207" name="Tacha 207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510000" y="2052000"/>
            <a:ext cx="828000" cy="1332000"/>
          </a:xfrm>
          <a:prstGeom prst="rect">
            <a:avLst/>
          </a:prstGeom>
        </p:spPr>
      </p:pic>
      <p:pic>
        <p:nvPicPr>
          <p:cNvPr id="208" name="Moldura 208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4000" y="6336000"/>
            <a:ext cx="6912000" cy="3384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6166080" y="7148160"/>
            <a:ext cx="5667840" cy="2098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53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Relações de poder tensionam</a:t>
            </a:r>
            <a:endParaRPr lang="pt-BR" sz="2538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Poder “não unívoco”, com “focos de instabilidade” (FOUCAULT, 1999, p. 29); da adesão à resistência, sem culpar nem heroicizar os sujeitos (BALL, 2011; FREIRE, 2019)</a:t>
            </a:r>
            <a:endParaRPr lang="pt-BR" sz="1958" dirty="0"/>
          </a:p>
        </p:txBody>
      </p:sp>
      <p:pic>
        <p:nvPicPr>
          <p:cNvPr id="210" name="Tacha 210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86000" y="5760000"/>
            <a:ext cx="828000" cy="133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3787" y="4364386"/>
            <a:ext cx="7465126" cy="4893914"/>
            <a:chOff x="0" y="0"/>
            <a:chExt cx="1966124" cy="1288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66124" cy="1288932"/>
            </a:xfrm>
            <a:custGeom>
              <a:avLst/>
              <a:gdLst/>
              <a:ahLst/>
              <a:cxnLst/>
              <a:rect r="r" b="b" t="t" l="l"/>
              <a:pathLst>
                <a:path h="1288932" w="1966124">
                  <a:moveTo>
                    <a:pt x="43557" y="0"/>
                  </a:moveTo>
                  <a:lnTo>
                    <a:pt x="1922566" y="0"/>
                  </a:lnTo>
                  <a:cubicBezTo>
                    <a:pt x="1934118" y="0"/>
                    <a:pt x="1945197" y="4589"/>
                    <a:pt x="1953366" y="12758"/>
                  </a:cubicBezTo>
                  <a:cubicBezTo>
                    <a:pt x="1961535" y="20926"/>
                    <a:pt x="1966124" y="32005"/>
                    <a:pt x="1966124" y="43557"/>
                  </a:cubicBezTo>
                  <a:lnTo>
                    <a:pt x="1966124" y="1245375"/>
                  </a:lnTo>
                  <a:cubicBezTo>
                    <a:pt x="1966124" y="1256927"/>
                    <a:pt x="1961535" y="1268006"/>
                    <a:pt x="1953366" y="1276174"/>
                  </a:cubicBezTo>
                  <a:cubicBezTo>
                    <a:pt x="1945197" y="1284343"/>
                    <a:pt x="1934118" y="1288932"/>
                    <a:pt x="1922566" y="1288932"/>
                  </a:cubicBezTo>
                  <a:lnTo>
                    <a:pt x="43557" y="1288932"/>
                  </a:lnTo>
                  <a:cubicBezTo>
                    <a:pt x="32005" y="1288932"/>
                    <a:pt x="20926" y="1284343"/>
                    <a:pt x="12758" y="1276174"/>
                  </a:cubicBezTo>
                  <a:cubicBezTo>
                    <a:pt x="4589" y="1268006"/>
                    <a:pt x="0" y="1256927"/>
                    <a:pt x="0" y="1245375"/>
                  </a:cubicBezTo>
                  <a:lnTo>
                    <a:pt x="0" y="43557"/>
                  </a:lnTo>
                  <a:cubicBezTo>
                    <a:pt x="0" y="32005"/>
                    <a:pt x="4589" y="20926"/>
                    <a:pt x="12758" y="12758"/>
                  </a:cubicBezTo>
                  <a:cubicBezTo>
                    <a:pt x="20926" y="4589"/>
                    <a:pt x="32005" y="0"/>
                    <a:pt x="43557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966124" cy="13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69087" y="4364386"/>
            <a:ext cx="7465126" cy="4893914"/>
            <a:chOff x="0" y="0"/>
            <a:chExt cx="1966124" cy="12889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6124" cy="1288932"/>
            </a:xfrm>
            <a:custGeom>
              <a:avLst/>
              <a:gdLst/>
              <a:ahLst/>
              <a:cxnLst/>
              <a:rect r="r" b="b" t="t" l="l"/>
              <a:pathLst>
                <a:path h="1288932" w="1966124">
                  <a:moveTo>
                    <a:pt x="43557" y="0"/>
                  </a:moveTo>
                  <a:lnTo>
                    <a:pt x="1922566" y="0"/>
                  </a:lnTo>
                  <a:cubicBezTo>
                    <a:pt x="1934118" y="0"/>
                    <a:pt x="1945197" y="4589"/>
                    <a:pt x="1953366" y="12758"/>
                  </a:cubicBezTo>
                  <a:cubicBezTo>
                    <a:pt x="1961535" y="20926"/>
                    <a:pt x="1966124" y="32005"/>
                    <a:pt x="1966124" y="43557"/>
                  </a:cubicBezTo>
                  <a:lnTo>
                    <a:pt x="1966124" y="1245375"/>
                  </a:lnTo>
                  <a:cubicBezTo>
                    <a:pt x="1966124" y="1256927"/>
                    <a:pt x="1961535" y="1268006"/>
                    <a:pt x="1953366" y="1276174"/>
                  </a:cubicBezTo>
                  <a:cubicBezTo>
                    <a:pt x="1945197" y="1284343"/>
                    <a:pt x="1934118" y="1288932"/>
                    <a:pt x="1922566" y="1288932"/>
                  </a:cubicBezTo>
                  <a:lnTo>
                    <a:pt x="43557" y="1288932"/>
                  </a:lnTo>
                  <a:cubicBezTo>
                    <a:pt x="32005" y="1288932"/>
                    <a:pt x="20926" y="1284343"/>
                    <a:pt x="12758" y="1276174"/>
                  </a:cubicBezTo>
                  <a:cubicBezTo>
                    <a:pt x="4589" y="1268006"/>
                    <a:pt x="0" y="1256927"/>
                    <a:pt x="0" y="1245375"/>
                  </a:cubicBezTo>
                  <a:lnTo>
                    <a:pt x="0" y="43557"/>
                  </a:lnTo>
                  <a:cubicBezTo>
                    <a:pt x="0" y="32005"/>
                    <a:pt x="4589" y="20926"/>
                    <a:pt x="12758" y="12758"/>
                  </a:cubicBezTo>
                  <a:cubicBezTo>
                    <a:pt x="20926" y="4589"/>
                    <a:pt x="32005" y="0"/>
                    <a:pt x="43557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966124" cy="13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-703516" y="799557"/>
            <a:ext cx="4559335" cy="4114800"/>
          </a:xfrm>
          <a:custGeom>
            <a:avLst/>
            <a:gdLst/>
            <a:ahLst/>
            <a:cxnLst/>
            <a:rect r="r" b="b" t="t" l="l"/>
            <a:pathLst>
              <a:path h="4114800" w="4559335">
                <a:moveTo>
                  <a:pt x="4559335" y="0"/>
                </a:moveTo>
                <a:lnTo>
                  <a:pt x="0" y="0"/>
                </a:lnTo>
                <a:lnTo>
                  <a:pt x="0" y="4114800"/>
                </a:lnTo>
                <a:lnTo>
                  <a:pt x="4559335" y="4114800"/>
                </a:lnTo>
                <a:lnTo>
                  <a:pt x="45593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917961" y="799557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4032504" y="0"/>
                </a:moveTo>
                <a:lnTo>
                  <a:pt x="0" y="0"/>
                </a:lnTo>
                <a:lnTo>
                  <a:pt x="0" y="4114800"/>
                </a:lnTo>
                <a:lnTo>
                  <a:pt x="4032504" y="4114800"/>
                </a:lnTo>
                <a:lnTo>
                  <a:pt x="40325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888000" y="864000"/>
            <a:ext cx="10512000" cy="316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ONDE A POLÍTICA É POSTA EM ATO</a:t>
            </a:r>
            <a:endParaRPr lang="pt-BR" sz="40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território, lugar e habitar o digital</a:t>
            </a:r>
            <a:endParaRPr lang="pt-BR" sz="3000" dirty="0"/>
          </a:p>
        </p:txBody>
      </p:sp>
      <p:sp>
        <p:nvSpPr>
          <p:cNvPr id="202" name="Texto 202"/>
          <p:cNvSpPr txBox="1"/>
          <p:nvPr/>
        </p:nvSpPr>
        <p:spPr>
          <a:xfrm>
            <a:off x="1944000" y="4644000"/>
            <a:ext cx="6336000" cy="446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Território e lugar</a:t>
            </a:r>
            <a:endParaRPr lang="pt-BR" sz="275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 categoria de análise é o território usado (SANTOS, 1999)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Rugosidades: o que fica do passado como forma e paisagem (SANTOS, 2006, p. 92)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 lugar como “um encontro de trajetórias” (MASSEY, 2008, p. 204)</a:t>
            </a:r>
            <a:endParaRPr lang="pt-BR" sz="2030" dirty="0"/>
          </a:p>
        </p:txBody>
      </p:sp>
      <p:sp>
        <p:nvSpPr>
          <p:cNvPr id="203" name="Texto 203"/>
          <p:cNvSpPr txBox="1"/>
          <p:nvPr/>
        </p:nvSpPr>
        <p:spPr>
          <a:xfrm>
            <a:off x="10044000" y="4644000"/>
            <a:ext cx="6336000" cy="446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Habitar o digital</a:t>
            </a:r>
            <a:endParaRPr lang="pt-BR" sz="275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Maneiras pelas quais as tecnologias digitais atravessam os espaços, as relações e as práticas cotidianas de um território, produzindo possibilidades desiguais de acesso, participação e apropriação.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Com Schlemmer, Backes e Palagi (2021) e Di Felice (2009); plataformas e dados como contexto (ZUBOFF, 2021; SILVEIRA, 2017; MOROZOV, 2018; PRETTO; CORDEIRO; OLIVEIRA, 2013).</a:t>
            </a:r>
            <a:endParaRPr lang="pt-BR" sz="1885" dirty="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14760" y="1316867"/>
            <a:ext cx="12805931" cy="3826633"/>
            <a:chOff x="0" y="0"/>
            <a:chExt cx="3372755" cy="1007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4582" y="5481069"/>
            <a:ext cx="12805931" cy="3826633"/>
            <a:chOff x="0" y="0"/>
            <a:chExt cx="3372755" cy="1007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56199" y="4711899"/>
            <a:ext cx="4888650" cy="5793956"/>
          </a:xfrm>
          <a:custGeom>
            <a:avLst/>
            <a:gdLst/>
            <a:ahLst/>
            <a:cxnLst/>
            <a:rect r="r" b="b" t="t" l="l"/>
            <a:pathLst>
              <a:path h="5793956" w="4888650">
                <a:moveTo>
                  <a:pt x="0" y="0"/>
                </a:moveTo>
                <a:lnTo>
                  <a:pt x="4888651" y="0"/>
                </a:lnTo>
                <a:lnTo>
                  <a:pt x="4888651" y="5793956"/>
                </a:lnTo>
                <a:lnTo>
                  <a:pt x="0" y="579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301232" y="318233"/>
            <a:ext cx="5130568" cy="5162836"/>
          </a:xfrm>
          <a:custGeom>
            <a:avLst/>
            <a:gdLst/>
            <a:ahLst/>
            <a:cxnLst/>
            <a:rect r="r" b="b" t="t" l="l"/>
            <a:pathLst>
              <a:path h="5162836" w="5130568">
                <a:moveTo>
                  <a:pt x="5130569" y="0"/>
                </a:moveTo>
                <a:lnTo>
                  <a:pt x="0" y="0"/>
                </a:lnTo>
                <a:lnTo>
                  <a:pt x="0" y="5162836"/>
                </a:lnTo>
                <a:lnTo>
                  <a:pt x="5130569" y="5162836"/>
                </a:lnTo>
                <a:lnTo>
                  <a:pt x="5130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375592" y="741611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2431158" y="0"/>
                </a:moveTo>
                <a:lnTo>
                  <a:pt x="0" y="0"/>
                </a:lnTo>
                <a:lnTo>
                  <a:pt x="0" y="1940506"/>
                </a:lnTo>
                <a:lnTo>
                  <a:pt x="2431158" y="1940506"/>
                </a:lnTo>
                <a:lnTo>
                  <a:pt x="24311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20776" y="4855333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0" y="0"/>
                </a:moveTo>
                <a:lnTo>
                  <a:pt x="2431158" y="0"/>
                </a:lnTo>
                <a:lnTo>
                  <a:pt x="2431158" y="1940507"/>
                </a:lnTo>
                <a:lnTo>
                  <a:pt x="0" y="19405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06386">
            <a:off x="-459053" y="6798742"/>
            <a:ext cx="3532423" cy="3940837"/>
          </a:xfrm>
          <a:custGeom>
            <a:avLst/>
            <a:gdLst/>
            <a:ahLst/>
            <a:cxnLst/>
            <a:rect r="r" b="b" t="t" l="l"/>
            <a:pathLst>
              <a:path h="3940837" w="3532423">
                <a:moveTo>
                  <a:pt x="0" y="0"/>
                </a:moveTo>
                <a:lnTo>
                  <a:pt x="3532423" y="0"/>
                </a:lnTo>
                <a:lnTo>
                  <a:pt x="3532423" y="3940837"/>
                </a:lnTo>
                <a:lnTo>
                  <a:pt x="0" y="3940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0272" y="1711864"/>
            <a:ext cx="5440240" cy="4114800"/>
          </a:xfrm>
          <a:custGeom>
            <a:avLst/>
            <a:gdLst/>
            <a:ahLst/>
            <a:cxnLst/>
            <a:rect r="r" b="b" t="t" l="l"/>
            <a:pathLst>
              <a:path h="4114800" w="5440240">
                <a:moveTo>
                  <a:pt x="0" y="0"/>
                </a:moveTo>
                <a:lnTo>
                  <a:pt x="5440240" y="0"/>
                </a:lnTo>
                <a:lnTo>
                  <a:pt x="54402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936000" y="1512000"/>
            <a:ext cx="9432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METODOLOGIA</a:t>
            </a:r>
            <a:endParaRPr lang="pt-BR" sz="5000" dirty="0"/>
          </a:p>
        </p:txBody>
      </p:sp>
      <p:sp>
        <p:nvSpPr>
          <p:cNvPr id="202" name="Texto 202"/>
          <p:cNvSpPr txBox="1"/>
          <p:nvPr/>
        </p:nvSpPr>
        <p:spPr>
          <a:xfrm>
            <a:off x="7632000" y="5652000"/>
            <a:ext cx="9720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4</a:t>
            </a:r>
            <a:endParaRPr lang="pt-BR" sz="3400" dirty="0"/>
          </a:p>
          <a:p>
            <a:pPr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Estudo de caso qualitativo</a:t>
            </a:r>
            <a:endParaRPr lang="pt-BR" sz="3000" dirty="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9059">
            <a:off x="14704686" y="-67215"/>
            <a:ext cx="4178322" cy="5381913"/>
          </a:xfrm>
          <a:custGeom>
            <a:avLst/>
            <a:gdLst/>
            <a:ahLst/>
            <a:cxnLst/>
            <a:rect r="r" b="b" t="t" l="l"/>
            <a:pathLst>
              <a:path h="5381913" w="4178322">
                <a:moveTo>
                  <a:pt x="0" y="0"/>
                </a:moveTo>
                <a:lnTo>
                  <a:pt x="4178322" y="0"/>
                </a:lnTo>
                <a:lnTo>
                  <a:pt x="4178322" y="5381913"/>
                </a:lnTo>
                <a:lnTo>
                  <a:pt x="0" y="538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6807" y="-872400"/>
            <a:ext cx="3951014" cy="2794445"/>
          </a:xfrm>
          <a:custGeom>
            <a:avLst/>
            <a:gdLst/>
            <a:ahLst/>
            <a:cxnLst/>
            <a:rect r="r" b="b" t="t" l="l"/>
            <a:pathLst>
              <a:path h="2794445" w="3951014">
                <a:moveTo>
                  <a:pt x="0" y="0"/>
                </a:moveTo>
                <a:lnTo>
                  <a:pt x="3951014" y="0"/>
                </a:lnTo>
                <a:lnTo>
                  <a:pt x="3951014" y="2794445"/>
                </a:lnTo>
                <a:lnTo>
                  <a:pt x="0" y="279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97026" y="5143500"/>
            <a:ext cx="7009322" cy="5579677"/>
            <a:chOff x="0" y="0"/>
            <a:chExt cx="1846077" cy="1469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6076" cy="1469545"/>
            </a:xfrm>
            <a:custGeom>
              <a:avLst/>
              <a:gdLst/>
              <a:ahLst/>
              <a:cxnLst/>
              <a:rect r="r" b="b" t="t" l="l"/>
              <a:pathLst>
                <a:path h="1469545" w="1846076">
                  <a:moveTo>
                    <a:pt x="46390" y="0"/>
                  </a:moveTo>
                  <a:lnTo>
                    <a:pt x="1799687" y="0"/>
                  </a:lnTo>
                  <a:cubicBezTo>
                    <a:pt x="1825307" y="0"/>
                    <a:pt x="1846076" y="20769"/>
                    <a:pt x="1846076" y="46390"/>
                  </a:cubicBezTo>
                  <a:lnTo>
                    <a:pt x="1846076" y="1423155"/>
                  </a:lnTo>
                  <a:cubicBezTo>
                    <a:pt x="1846076" y="1435458"/>
                    <a:pt x="1841189" y="1447258"/>
                    <a:pt x="1832489" y="1455957"/>
                  </a:cubicBezTo>
                  <a:cubicBezTo>
                    <a:pt x="1823789" y="1464657"/>
                    <a:pt x="1811990" y="1469545"/>
                    <a:pt x="1799687" y="1469545"/>
                  </a:cubicBezTo>
                  <a:lnTo>
                    <a:pt x="46390" y="1469545"/>
                  </a:lnTo>
                  <a:cubicBezTo>
                    <a:pt x="34086" y="1469545"/>
                    <a:pt x="22287" y="1464657"/>
                    <a:pt x="13587" y="1455957"/>
                  </a:cubicBezTo>
                  <a:cubicBezTo>
                    <a:pt x="4887" y="1447258"/>
                    <a:pt x="0" y="1435458"/>
                    <a:pt x="0" y="1423155"/>
                  </a:cubicBezTo>
                  <a:lnTo>
                    <a:pt x="0" y="46390"/>
                  </a:lnTo>
                  <a:cubicBezTo>
                    <a:pt x="0" y="20769"/>
                    <a:pt x="20769" y="0"/>
                    <a:pt x="46390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46077" cy="152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1652" y="5143500"/>
            <a:ext cx="7009322" cy="5579677"/>
            <a:chOff x="0" y="0"/>
            <a:chExt cx="1846077" cy="14695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6076" cy="1469545"/>
            </a:xfrm>
            <a:custGeom>
              <a:avLst/>
              <a:gdLst/>
              <a:ahLst/>
              <a:cxnLst/>
              <a:rect r="r" b="b" t="t" l="l"/>
              <a:pathLst>
                <a:path h="1469545" w="1846076">
                  <a:moveTo>
                    <a:pt x="46390" y="0"/>
                  </a:moveTo>
                  <a:lnTo>
                    <a:pt x="1799687" y="0"/>
                  </a:lnTo>
                  <a:cubicBezTo>
                    <a:pt x="1825307" y="0"/>
                    <a:pt x="1846076" y="20769"/>
                    <a:pt x="1846076" y="46390"/>
                  </a:cubicBezTo>
                  <a:lnTo>
                    <a:pt x="1846076" y="1423155"/>
                  </a:lnTo>
                  <a:cubicBezTo>
                    <a:pt x="1846076" y="1435458"/>
                    <a:pt x="1841189" y="1447258"/>
                    <a:pt x="1832489" y="1455957"/>
                  </a:cubicBezTo>
                  <a:cubicBezTo>
                    <a:pt x="1823789" y="1464657"/>
                    <a:pt x="1811990" y="1469545"/>
                    <a:pt x="1799687" y="1469545"/>
                  </a:cubicBezTo>
                  <a:lnTo>
                    <a:pt x="46390" y="1469545"/>
                  </a:lnTo>
                  <a:cubicBezTo>
                    <a:pt x="34086" y="1469545"/>
                    <a:pt x="22287" y="1464657"/>
                    <a:pt x="13587" y="1455957"/>
                  </a:cubicBezTo>
                  <a:cubicBezTo>
                    <a:pt x="4887" y="1447258"/>
                    <a:pt x="0" y="1435458"/>
                    <a:pt x="0" y="1423155"/>
                  </a:cubicBezTo>
                  <a:lnTo>
                    <a:pt x="0" y="46390"/>
                  </a:lnTo>
                  <a:cubicBezTo>
                    <a:pt x="0" y="20769"/>
                    <a:pt x="20769" y="0"/>
                    <a:pt x="46390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846077" cy="152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0722983" y="-369962"/>
            <a:ext cx="4037087" cy="3222330"/>
          </a:xfrm>
          <a:custGeom>
            <a:avLst/>
            <a:gdLst/>
            <a:ahLst/>
            <a:cxnLst/>
            <a:rect r="r" b="b" t="t" l="l"/>
            <a:pathLst>
              <a:path h="3222330" w="4037087">
                <a:moveTo>
                  <a:pt x="4037087" y="0"/>
                </a:moveTo>
                <a:lnTo>
                  <a:pt x="0" y="0"/>
                </a:lnTo>
                <a:lnTo>
                  <a:pt x="0" y="3222329"/>
                </a:lnTo>
                <a:lnTo>
                  <a:pt x="4037087" y="3222329"/>
                </a:lnTo>
                <a:lnTo>
                  <a:pt x="403708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946807" y="6298004"/>
            <a:ext cx="3471862" cy="4114800"/>
          </a:xfrm>
          <a:custGeom>
            <a:avLst/>
            <a:gdLst/>
            <a:ahLst/>
            <a:cxnLst/>
            <a:rect r="r" b="b" t="t" l="l"/>
            <a:pathLst>
              <a:path h="4114800" w="3471862">
                <a:moveTo>
                  <a:pt x="0" y="0"/>
                </a:moveTo>
                <a:lnTo>
                  <a:pt x="3471862" y="0"/>
                </a:lnTo>
                <a:lnTo>
                  <a:pt x="3471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908000" y="1512000"/>
            <a:ext cx="9000000" cy="28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DESENHO</a:t>
            </a:r>
            <a:endParaRPr lang="pt-BR" sz="52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participantes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2664000" y="5472000"/>
            <a:ext cx="5760000" cy="46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Desenho</a:t>
            </a:r>
            <a:endParaRPr lang="pt-BR" sz="275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Qualitativa e interpretativa (MINAYO, 2009); estudo de caso (YIN, 2001)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SME como dimensão complementar do contexto externo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Sem observação de aula, como em Ball, Maguire e Braun (2016, p. 49)</a:t>
            </a:r>
            <a:endParaRPr lang="pt-BR" sz="2030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Análise temática reflexiva (BRAUN; CLARKE, 2006, 2019)</a:t>
            </a:r>
            <a:endParaRPr lang="pt-BR" sz="2030" dirty="0"/>
          </a:p>
        </p:txBody>
      </p:sp>
      <p:sp>
        <p:nvSpPr>
          <p:cNvPr id="203" name="Texto 203"/>
          <p:cNvSpPr txBox="1"/>
          <p:nvPr/>
        </p:nvSpPr>
        <p:spPr>
          <a:xfrm>
            <a:off x="10152000" y="5472000"/>
            <a:ext cx="5760000" cy="46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Participantes: 24 + 1</a:t>
            </a:r>
            <a:endParaRPr lang="pt-BR" sz="275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 profissionais da escola: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diretor, vice-diretora, coordenadora pedagógica, 4 do apoio pedagógico, 15 regentes e 2 no apoio à recomposição de aula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técnico da SME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03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351 crianças</a:t>
            </a: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em 15 turmas, que não participam da produção dos dados (TIBAU DO SUL, 2026)</a:t>
            </a:r>
            <a:endParaRPr lang="pt-BR" sz="2030" dirty="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1592" y="-85725"/>
            <a:ext cx="4910563" cy="4437363"/>
          </a:xfrm>
          <a:custGeom>
            <a:avLst/>
            <a:gdLst/>
            <a:ahLst/>
            <a:cxnLst/>
            <a:rect r="r" b="b" t="t" l="l"/>
            <a:pathLst>
              <a:path h="4437363" w="4910563">
                <a:moveTo>
                  <a:pt x="0" y="0"/>
                </a:moveTo>
                <a:lnTo>
                  <a:pt x="4910562" y="0"/>
                </a:lnTo>
                <a:lnTo>
                  <a:pt x="4910562" y="4437363"/>
                </a:lnTo>
                <a:lnTo>
                  <a:pt x="0" y="4437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949030" y="-85725"/>
            <a:ext cx="4910563" cy="4437363"/>
          </a:xfrm>
          <a:custGeom>
            <a:avLst/>
            <a:gdLst/>
            <a:ahLst/>
            <a:cxnLst/>
            <a:rect r="r" b="b" t="t" l="l"/>
            <a:pathLst>
              <a:path h="4437363" w="4910563">
                <a:moveTo>
                  <a:pt x="4910562" y="0"/>
                </a:moveTo>
                <a:lnTo>
                  <a:pt x="0" y="0"/>
                </a:lnTo>
                <a:lnTo>
                  <a:pt x="0" y="4437363"/>
                </a:lnTo>
                <a:lnTo>
                  <a:pt x="4910562" y="4437363"/>
                </a:lnTo>
                <a:lnTo>
                  <a:pt x="49105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4464000" y="576000"/>
            <a:ext cx="9360000" cy="266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CONSTRUÇÃO DOS DADOS</a:t>
            </a:r>
            <a:endParaRPr lang="pt-BR" sz="46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cinco movimentos e o campo</a:t>
            </a:r>
            <a:endParaRPr lang="pt-BR" sz="3200" dirty="0"/>
          </a:p>
        </p:txBody>
      </p:sp>
      <p:pic>
        <p:nvPicPr>
          <p:cNvPr id="202" name="Moldura 202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2000" y="4176000"/>
            <a:ext cx="4860000" cy="2376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1769400" y="4746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· Documentos</a:t>
            </a:r>
            <a:endParaRPr lang="pt-BR" sz="2175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1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PPP, planos, atas e registros, já solicitados à direção e à Secretaria</a:t>
            </a:r>
            <a:endParaRPr lang="pt-BR" sz="1812" dirty="0"/>
          </a:p>
        </p:txBody>
      </p:sp>
      <p:pic>
        <p:nvPicPr>
          <p:cNvPr id="204" name="Tacha 204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000" y="3600000"/>
            <a:ext cx="828000" cy="1332000"/>
          </a:xfrm>
          <a:prstGeom prst="rect">
            <a:avLst/>
          </a:prstGeom>
        </p:spPr>
      </p:pic>
      <p:pic>
        <p:nvPicPr>
          <p:cNvPr id="205" name="Moldura 205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000" y="4176000"/>
            <a:ext cx="4860000" cy="2376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7169400" y="4746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· Imagens</a:t>
            </a:r>
            <a:endParaRPr lang="pt-BR" sz="2175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1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38 imagens da escola e do Museu Digital de Pipa</a:t>
            </a:r>
            <a:endParaRPr lang="pt-BR" sz="1812" dirty="0"/>
          </a:p>
        </p:txBody>
      </p:sp>
      <p:pic>
        <p:nvPicPr>
          <p:cNvPr id="207" name="Tacha 207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8000" y="3600000"/>
            <a:ext cx="828000" cy="1332000"/>
          </a:xfrm>
          <a:prstGeom prst="rect">
            <a:avLst/>
          </a:prstGeom>
        </p:spPr>
      </p:pic>
      <p:pic>
        <p:nvPicPr>
          <p:cNvPr id="208" name="Moldura 208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2000" y="4176000"/>
            <a:ext cx="4860000" cy="2376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12569400" y="4746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 · Questionário</a:t>
            </a:r>
            <a:endParaRPr lang="pt-BR" sz="2175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1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Perfil e primeiras percepções, aplicado presencialmente</a:t>
            </a:r>
            <a:endParaRPr lang="pt-BR" sz="1812" dirty="0"/>
          </a:p>
        </p:txBody>
      </p:sp>
      <p:pic>
        <p:nvPicPr>
          <p:cNvPr id="210" name="Tacha 210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48000" y="3600000"/>
            <a:ext cx="828000" cy="1332000"/>
          </a:xfrm>
          <a:prstGeom prst="rect">
            <a:avLst/>
          </a:prstGeom>
        </p:spPr>
      </p:pic>
      <p:pic>
        <p:nvPicPr>
          <p:cNvPr id="211" name="Moldura 211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2000" y="7488000"/>
            <a:ext cx="4860000" cy="2376000"/>
          </a:xfrm>
          <a:prstGeom prst="rect">
            <a:avLst/>
          </a:prstGeom>
        </p:spPr>
      </p:pic>
      <p:sp>
        <p:nvSpPr>
          <p:cNvPr id="212" name="Texto 212"/>
          <p:cNvSpPr txBox="1"/>
          <p:nvPr/>
        </p:nvSpPr>
        <p:spPr>
          <a:xfrm>
            <a:off x="1769400" y="8058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· Entrevistas</a:t>
            </a:r>
            <a:endParaRPr lang="pt-BR" sz="2175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1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Semiestruturadas, individuais, de 60 a 90 minutos</a:t>
            </a:r>
            <a:endParaRPr lang="pt-BR" sz="1812" dirty="0"/>
          </a:p>
        </p:txBody>
      </p:sp>
      <p:pic>
        <p:nvPicPr>
          <p:cNvPr id="213" name="Tacha 213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000" y="6912000"/>
            <a:ext cx="828000" cy="1332000"/>
          </a:xfrm>
          <a:prstGeom prst="rect">
            <a:avLst/>
          </a:prstGeom>
        </p:spPr>
      </p:pic>
      <p:pic>
        <p:nvPicPr>
          <p:cNvPr id="214" name="Moldura 214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000" y="7488000"/>
            <a:ext cx="4860000" cy="2376000"/>
          </a:xfrm>
          <a:prstGeom prst="rect">
            <a:avLst/>
          </a:prstGeom>
        </p:spPr>
      </p:pic>
      <p:sp>
        <p:nvSpPr>
          <p:cNvPr id="215" name="Texto 215"/>
          <p:cNvSpPr txBox="1"/>
          <p:nvPr/>
        </p:nvSpPr>
        <p:spPr>
          <a:xfrm>
            <a:off x="7169400" y="8058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· Análise e devolutiva</a:t>
            </a:r>
            <a:endParaRPr lang="pt-BR" sz="2175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1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Triangulação das fontes e devolutiva à escola e à SME</a:t>
            </a:r>
            <a:endParaRPr lang="pt-BR" sz="1812" dirty="0"/>
          </a:p>
        </p:txBody>
      </p:sp>
      <p:pic>
        <p:nvPicPr>
          <p:cNvPr id="216" name="Tacha 216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8000" y="6912000"/>
            <a:ext cx="828000" cy="1332000"/>
          </a:xfrm>
          <a:prstGeom prst="rect">
            <a:avLst/>
          </a:prstGeom>
        </p:spPr>
      </p:pic>
      <p:pic>
        <p:nvPicPr>
          <p:cNvPr id="217" name="Moldura 217" descr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2000" y="7488000"/>
            <a:ext cx="4860000" cy="2376000"/>
          </a:xfrm>
          <a:prstGeom prst="rect">
            <a:avLst/>
          </a:prstGeom>
        </p:spPr>
      </p:pic>
      <p:sp>
        <p:nvSpPr>
          <p:cNvPr id="218" name="Texto 218"/>
          <p:cNvSpPr txBox="1"/>
          <p:nvPr/>
        </p:nvSpPr>
        <p:spPr>
          <a:xfrm>
            <a:off x="12569400" y="8058240"/>
            <a:ext cx="3985200" cy="14731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Ética e campo</a:t>
            </a:r>
            <a:endParaRPr lang="pt-BR" sz="2175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1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Emenda ao CEP; TCLE e pseudônimos; Res. CNS nº 466/2012 e 510/2016; dez semanas</a:t>
            </a:r>
            <a:endParaRPr lang="pt-BR" sz="1812" dirty="0"/>
          </a:p>
        </p:txBody>
      </p:sp>
      <p:pic>
        <p:nvPicPr>
          <p:cNvPr id="219" name="Tacha 219" descr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48000" y="6912000"/>
            <a:ext cx="828000" cy="133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14760" y="1316867"/>
            <a:ext cx="12805931" cy="3826633"/>
            <a:chOff x="0" y="0"/>
            <a:chExt cx="3372755" cy="1007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4582" y="5481069"/>
            <a:ext cx="12805931" cy="3826633"/>
            <a:chOff x="0" y="0"/>
            <a:chExt cx="3372755" cy="1007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56199" y="4711899"/>
            <a:ext cx="4888650" cy="5793956"/>
          </a:xfrm>
          <a:custGeom>
            <a:avLst/>
            <a:gdLst/>
            <a:ahLst/>
            <a:cxnLst/>
            <a:rect r="r" b="b" t="t" l="l"/>
            <a:pathLst>
              <a:path h="5793956" w="4888650">
                <a:moveTo>
                  <a:pt x="0" y="0"/>
                </a:moveTo>
                <a:lnTo>
                  <a:pt x="4888651" y="0"/>
                </a:lnTo>
                <a:lnTo>
                  <a:pt x="4888651" y="5793956"/>
                </a:lnTo>
                <a:lnTo>
                  <a:pt x="0" y="579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301232" y="318233"/>
            <a:ext cx="5130568" cy="5162836"/>
          </a:xfrm>
          <a:custGeom>
            <a:avLst/>
            <a:gdLst/>
            <a:ahLst/>
            <a:cxnLst/>
            <a:rect r="r" b="b" t="t" l="l"/>
            <a:pathLst>
              <a:path h="5162836" w="5130568">
                <a:moveTo>
                  <a:pt x="5130569" y="0"/>
                </a:moveTo>
                <a:lnTo>
                  <a:pt x="0" y="0"/>
                </a:lnTo>
                <a:lnTo>
                  <a:pt x="0" y="5162836"/>
                </a:lnTo>
                <a:lnTo>
                  <a:pt x="5130569" y="5162836"/>
                </a:lnTo>
                <a:lnTo>
                  <a:pt x="5130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375592" y="741611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2431158" y="0"/>
                </a:moveTo>
                <a:lnTo>
                  <a:pt x="0" y="0"/>
                </a:lnTo>
                <a:lnTo>
                  <a:pt x="0" y="1940506"/>
                </a:lnTo>
                <a:lnTo>
                  <a:pt x="2431158" y="1940506"/>
                </a:lnTo>
                <a:lnTo>
                  <a:pt x="24311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20776" y="4855333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0" y="0"/>
                </a:moveTo>
                <a:lnTo>
                  <a:pt x="2431158" y="0"/>
                </a:lnTo>
                <a:lnTo>
                  <a:pt x="2431158" y="1940507"/>
                </a:lnTo>
                <a:lnTo>
                  <a:pt x="0" y="19405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06386">
            <a:off x="-459053" y="6798742"/>
            <a:ext cx="3532423" cy="3940837"/>
          </a:xfrm>
          <a:custGeom>
            <a:avLst/>
            <a:gdLst/>
            <a:ahLst/>
            <a:cxnLst/>
            <a:rect r="r" b="b" t="t" l="l"/>
            <a:pathLst>
              <a:path h="3940837" w="3532423">
                <a:moveTo>
                  <a:pt x="0" y="0"/>
                </a:moveTo>
                <a:lnTo>
                  <a:pt x="3532423" y="0"/>
                </a:lnTo>
                <a:lnTo>
                  <a:pt x="3532423" y="3940837"/>
                </a:lnTo>
                <a:lnTo>
                  <a:pt x="0" y="3940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0272" y="1711864"/>
            <a:ext cx="5440240" cy="4114800"/>
          </a:xfrm>
          <a:custGeom>
            <a:avLst/>
            <a:gdLst/>
            <a:ahLst/>
            <a:cxnLst/>
            <a:rect r="r" b="b" t="t" l="l"/>
            <a:pathLst>
              <a:path h="4114800" w="5440240">
                <a:moveTo>
                  <a:pt x="0" y="0"/>
                </a:moveTo>
                <a:lnTo>
                  <a:pt x="5440240" y="0"/>
                </a:lnTo>
                <a:lnTo>
                  <a:pt x="54402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936000" y="1512000"/>
            <a:ext cx="9432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 GLOBAL E PNED</a:t>
            </a:r>
            <a:endParaRPr lang="pt-BR" sz="5000" dirty="0"/>
          </a:p>
        </p:txBody>
      </p:sp>
      <p:sp>
        <p:nvSpPr>
          <p:cNvPr id="202" name="Texto 202"/>
          <p:cNvSpPr txBox="1"/>
          <p:nvPr/>
        </p:nvSpPr>
        <p:spPr>
          <a:xfrm>
            <a:off x="7632000" y="5652000"/>
            <a:ext cx="9720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5</a:t>
            </a:r>
            <a:endParaRPr lang="pt-BR" sz="3400" dirty="0"/>
          </a:p>
          <a:p>
            <a:pPr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 produção do texto da política</a:t>
            </a:r>
            <a:endParaRPr lang="pt-BR" sz="3000" dirty="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504000" y="288000"/>
            <a:ext cx="9360000" cy="151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OUTROS TERRITÓRIOS NOS ENSINAM</a:t>
            </a:r>
            <a:endParaRPr lang="pt-BR" sz="30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políticas de educação digital e seu foco</a:t>
            </a:r>
            <a:endParaRPr lang="pt-BR" sz="2200" dirty="0"/>
          </a:p>
        </p:txBody>
      </p:sp>
      <p:pic>
        <p:nvPicPr>
          <p:cNvPr id="202" name="Mapa 202" descr="Mapa das Américas e da Europa com as políticas de educação digital numeradas e coloridas pela categoria principa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000" y="1944000"/>
            <a:ext cx="8856000" cy="5202000"/>
          </a:xfrm>
          <a:prstGeom prst="rect">
            <a:avLst/>
          </a:prstGeom>
          <a:ln w="50800">
            <a:solidFill>
              <a:srgbClr val="111111"/>
            </a:solidFill>
          </a:ln>
        </p:spPr>
      </p:pic>
      <p:pic>
        <p:nvPicPr>
          <p:cNvPr id="203" name="Tacha 203" descr="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1440000"/>
            <a:ext cx="720000" cy="1152000"/>
          </a:xfrm>
          <a:prstGeom prst="rect">
            <a:avLst/>
          </a:prstGeom>
        </p:spPr>
      </p:pic>
      <p:sp>
        <p:nvSpPr>
          <p:cNvPr id="204" name="Forma 204"/>
          <p:cNvSpPr/>
          <p:nvPr/>
        </p:nvSpPr>
        <p:spPr>
          <a:xfrm>
            <a:off x="576000" y="7452000"/>
            <a:ext cx="252000" cy="252000"/>
          </a:xfrm>
          <a:prstGeom prst="ellipse">
            <a:avLst/>
          </a:prstGeom>
          <a:solidFill>
            <a:srgbClr val="2A6B67"/>
          </a:solidFill>
          <a:ln w="19050">
            <a:solidFill>
              <a:srgbClr val="FFFFFF"/>
            </a:solidFill>
          </a:ln>
        </p:spPr>
      </p:sp>
      <p:sp>
        <p:nvSpPr>
          <p:cNvPr id="205" name="Texto 205"/>
          <p:cNvSpPr txBox="1"/>
          <p:nvPr/>
        </p:nvSpPr>
        <p:spPr>
          <a:xfrm>
            <a:off x="918000" y="7380000"/>
            <a:ext cx="259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Governança</a:t>
            </a:r>
            <a:endParaRPr lang="pt-BR" sz="1600" dirty="0"/>
          </a:p>
        </p:txBody>
      </p:sp>
      <p:sp>
        <p:nvSpPr>
          <p:cNvPr id="206" name="Forma 206"/>
          <p:cNvSpPr/>
          <p:nvPr/>
        </p:nvSpPr>
        <p:spPr>
          <a:xfrm>
            <a:off x="3600000" y="7452000"/>
            <a:ext cx="252000" cy="252000"/>
          </a:xfrm>
          <a:prstGeom prst="ellipse">
            <a:avLst/>
          </a:prstGeom>
          <a:solidFill>
            <a:srgbClr val="C9892B"/>
          </a:solidFill>
          <a:ln w="19050">
            <a:solidFill>
              <a:srgbClr val="FFFFFF"/>
            </a:solidFill>
          </a:ln>
        </p:spPr>
      </p:sp>
      <p:sp>
        <p:nvSpPr>
          <p:cNvPr id="207" name="Texto 207"/>
          <p:cNvSpPr txBox="1"/>
          <p:nvPr/>
        </p:nvSpPr>
        <p:spPr>
          <a:xfrm>
            <a:off x="3942000" y="7380000"/>
            <a:ext cx="259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Formação</a:t>
            </a:r>
            <a:endParaRPr lang="pt-BR" sz="1600" dirty="0"/>
          </a:p>
        </p:txBody>
      </p:sp>
      <p:sp>
        <p:nvSpPr>
          <p:cNvPr id="208" name="Forma 208"/>
          <p:cNvSpPr/>
          <p:nvPr/>
        </p:nvSpPr>
        <p:spPr>
          <a:xfrm>
            <a:off x="6624000" y="7452000"/>
            <a:ext cx="252000" cy="252000"/>
          </a:xfrm>
          <a:prstGeom prst="ellipse">
            <a:avLst/>
          </a:prstGeom>
          <a:solidFill>
            <a:srgbClr val="4F7CAC"/>
          </a:solidFill>
          <a:ln w="19050">
            <a:solidFill>
              <a:srgbClr val="FFFFFF"/>
            </a:solidFill>
          </a:ln>
        </p:spPr>
      </p:sp>
      <p:sp>
        <p:nvSpPr>
          <p:cNvPr id="209" name="Texto 209"/>
          <p:cNvSpPr txBox="1"/>
          <p:nvPr/>
        </p:nvSpPr>
        <p:spPr>
          <a:xfrm>
            <a:off x="6966000" y="7380000"/>
            <a:ext cx="259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Infraestrutura</a:t>
            </a:r>
            <a:endParaRPr lang="pt-BR" sz="1600" dirty="0"/>
          </a:p>
        </p:txBody>
      </p:sp>
      <p:sp>
        <p:nvSpPr>
          <p:cNvPr id="210" name="Forma 210"/>
          <p:cNvSpPr/>
          <p:nvPr/>
        </p:nvSpPr>
        <p:spPr>
          <a:xfrm>
            <a:off x="576000" y="7902000"/>
            <a:ext cx="252000" cy="252000"/>
          </a:xfrm>
          <a:prstGeom prst="ellipse">
            <a:avLst/>
          </a:prstGeom>
          <a:solidFill>
            <a:srgbClr val="8A5A9E"/>
          </a:solidFill>
          <a:ln w="19050">
            <a:solidFill>
              <a:srgbClr val="FFFFFF"/>
            </a:solidFill>
          </a:ln>
        </p:spPr>
      </p:sp>
      <p:sp>
        <p:nvSpPr>
          <p:cNvPr id="211" name="Texto 211"/>
          <p:cNvSpPr txBox="1"/>
          <p:nvPr/>
        </p:nvSpPr>
        <p:spPr>
          <a:xfrm>
            <a:off x="918000" y="7830000"/>
            <a:ext cx="259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Continuidade institucional</a:t>
            </a:r>
            <a:endParaRPr lang="pt-BR" sz="1600" dirty="0"/>
          </a:p>
        </p:txBody>
      </p:sp>
      <p:sp>
        <p:nvSpPr>
          <p:cNvPr id="212" name="Forma 212"/>
          <p:cNvSpPr/>
          <p:nvPr/>
        </p:nvSpPr>
        <p:spPr>
          <a:xfrm>
            <a:off x="4536000" y="7902000"/>
            <a:ext cx="252000" cy="252000"/>
          </a:xfrm>
          <a:prstGeom prst="ellipse">
            <a:avLst/>
          </a:prstGeom>
          <a:solidFill>
            <a:srgbClr val="D9652E"/>
          </a:solidFill>
          <a:ln w="19050">
            <a:solidFill>
              <a:srgbClr val="FFFFFF"/>
            </a:solidFill>
          </a:ln>
        </p:spPr>
      </p:sp>
      <p:sp>
        <p:nvSpPr>
          <p:cNvPr id="213" name="Texto 213"/>
          <p:cNvSpPr txBox="1"/>
          <p:nvPr/>
        </p:nvSpPr>
        <p:spPr>
          <a:xfrm>
            <a:off x="4878000" y="7830000"/>
            <a:ext cx="259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Cultura digital</a:t>
            </a:r>
            <a:endParaRPr lang="pt-BR" sz="1600" dirty="0"/>
          </a:p>
        </p:txBody>
      </p:sp>
      <p:sp>
        <p:nvSpPr>
          <p:cNvPr id="214" name="Texto 214"/>
          <p:cNvSpPr txBox="1"/>
          <p:nvPr/>
        </p:nvSpPr>
        <p:spPr>
          <a:xfrm>
            <a:off x="504000" y="8352000"/>
            <a:ext cx="8856000" cy="165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cor indica a categoria principal que cada experiência informa, segundo a leitura do Capítulo 5.</a:t>
            </a:r>
            <a:endParaRPr lang="pt-B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Fonte: elaborado a partir dos Quadros 10 e 11 do Capítulo 5; base cartográfica Natural Earth.</a:t>
            </a:r>
            <a:endParaRPr lang="pt-BR" sz="1200" dirty="0"/>
          </a:p>
        </p:txBody>
      </p:sp>
      <p:sp>
        <p:nvSpPr>
          <p:cNvPr id="215" name="Cartão 215"/>
          <p:cNvSpPr/>
          <p:nvPr/>
        </p:nvSpPr>
        <p:spPr>
          <a:xfrm>
            <a:off x="9648000" y="360000"/>
            <a:ext cx="8352000" cy="9576000"/>
          </a:xfrm>
          <a:prstGeom prst="roundRect">
            <a:avLst>
              <a:gd name="adj" fmla="val 25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216000" tIns="216000" rIns="216000" bIns="21600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AMÉRICAS</a:t>
            </a:r>
            <a:endParaRPr lang="pt-BR" sz="18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EUA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National Ed. Technology Plan (2024)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fossos de acesso, desenho e uso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Canadá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Digital Literacy Framework (BC)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literacia além dos equipamentos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 México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@prende 2.0 (2016)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programas reiniciados a cada gestão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Costa Rica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PRONIE MEP-FOD (1988)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35 anos de continuidade, ruptura em 2023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Colômbia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Computadores para Educar (2000)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foco territorial e rural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 Peru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Una Laptop por Niño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acesso sem ganhos equivalentes de aprendizagem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 Chile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Red Enlaces (1992)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estabilidade institucional e avaliação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 Argentina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Conectar Igualdad (2010)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três reversões normativas em quinze anos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 Uruguai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Plan Ceibal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acesso universal e continuidade entre governos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★ Brasil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PNED (Lei nº 14.533/2023)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articulação nacional da educação digital</a:t>
            </a:r>
            <a:endParaRPr lang="pt-BR" sz="1700" dirty="0"/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pt-BR" sz="18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EUROPA</a:t>
            </a:r>
            <a:endParaRPr lang="pt-BR" sz="18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 União Europeia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DigComp, DigCompEdu e BIK+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referenciais comuns e proteção infantil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 Portugal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PTE e INCoDe.2030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infraestrutura sem sustentação pedagógica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 Espanha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Competência Digital Docente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formação ligada à carreira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 Irlanda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Digital Strategy for Schools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apoio continuado à escola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 Reino Unido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DfE (2019)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política e mercado de EdTech entrelaçados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 França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Stratégie du numérique 2023-2027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cidadania e soberania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 Países Baixos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digitalização (OCDE, 2025)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acesso alto, uso heterogêneo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 Alemanha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DigitalPakt Schule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recursos sem coordenação entre escalas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 Itália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PNSD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acesso igual, usos desiguais</a:t>
            </a:r>
            <a:endParaRPr lang="pt-BR" sz="1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 Finlândia</a:t>
            </a:r>
            <a:r>
              <a:rPr lang="pt-BR" sz="17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· Currículo Nacional (2014) · </a:t>
            </a:r>
            <a:r>
              <a:rPr lang="pt-BR" sz="170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decisão delegada ao município</a:t>
            </a:r>
            <a:endParaRPr lang="pt-BR" sz="1700" dirty="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440000" y="288000"/>
            <a:ext cx="15408000" cy="230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A COMPARAÇÃO TRAZ</a:t>
            </a:r>
            <a:endParaRPr lang="pt-BR" sz="44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 a tese: cinco categorias sensibilizadoras</a:t>
            </a:r>
            <a:endParaRPr lang="pt-BR" sz="2600" dirty="0"/>
          </a:p>
        </p:txBody>
      </p:sp>
      <p:sp>
        <p:nvSpPr>
          <p:cNvPr id="202" name="Cartão 202"/>
          <p:cNvSpPr/>
          <p:nvPr/>
        </p:nvSpPr>
        <p:spPr>
          <a:xfrm>
            <a:off x="576000" y="3456000"/>
            <a:ext cx="3240000" cy="5040000"/>
          </a:xfrm>
          <a:prstGeom prst="roundRect">
            <a:avLst>
              <a:gd name="adj" fmla="val 4000"/>
            </a:avLst>
          </a:prstGeom>
          <a:solidFill>
            <a:srgbClr val="EFE3D4"/>
          </a:solidFill>
          <a:ln w="31750">
            <a:solidFill>
              <a:srgbClr val="111111"/>
            </a:solidFill>
          </a:ln>
        </p:spPr>
        <p:txBody>
          <a:bodyPr wrap="square" lIns="162000" tIns="162000" rIns="162000" bIns="162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mostram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Coordenar escalas faz parte da política (Alemanha, Finlândia, UE).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campo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 que chega da União e do estado à rede, e o que a Secretaria repassa à escola?</a:t>
            </a:r>
            <a:endParaRPr lang="pt-BR" sz="2030" dirty="0"/>
          </a:p>
        </p:txBody>
      </p:sp>
      <p:sp>
        <p:nvSpPr>
          <p:cNvPr id="203" name="Cartão 203"/>
          <p:cNvSpPr/>
          <p:nvPr/>
        </p:nvSpPr>
        <p:spPr>
          <a:xfrm>
            <a:off x="576000" y="2664000"/>
            <a:ext cx="3240000" cy="792000"/>
          </a:xfrm>
          <a:prstGeom prst="roundRect">
            <a:avLst>
              <a:gd name="adj" fmla="val 8000"/>
            </a:avLst>
          </a:prstGeom>
          <a:solidFill>
            <a:srgbClr val="2A6B67"/>
          </a:solidFill>
          <a:ln w="31750">
            <a:solidFill>
              <a:srgbClr val="111111"/>
            </a:solidFill>
          </a:ln>
        </p:spPr>
        <p:txBody>
          <a:bodyPr wrap="square" lIns="72000" tIns="72000" rIns="72000" bIns="7200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Governança</a:t>
            </a:r>
            <a:endParaRPr lang="pt-BR" sz="2030" dirty="0"/>
          </a:p>
        </p:txBody>
      </p:sp>
      <p:sp>
        <p:nvSpPr>
          <p:cNvPr id="204" name="Cartão 204"/>
          <p:cNvSpPr/>
          <p:nvPr/>
        </p:nvSpPr>
        <p:spPr>
          <a:xfrm>
            <a:off x="4032000" y="3456000"/>
            <a:ext cx="3240000" cy="5040000"/>
          </a:xfrm>
          <a:prstGeom prst="roundRect">
            <a:avLst>
              <a:gd name="adj" fmla="val 4000"/>
            </a:avLst>
          </a:prstGeom>
          <a:solidFill>
            <a:srgbClr val="EFE3D4"/>
          </a:solidFill>
          <a:ln w="31750">
            <a:solidFill>
              <a:srgbClr val="111111"/>
            </a:solidFill>
          </a:ln>
        </p:spPr>
        <p:txBody>
          <a:bodyPr wrap="square" lIns="162000" tIns="162000" rIns="162000" bIns="162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mostram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 mediação dos profissionais é condição do uso; tempo e apoio contam.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campo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Que formação chegou à escola, e quando?</a:t>
            </a:r>
            <a:endParaRPr lang="pt-BR" sz="2030" dirty="0"/>
          </a:p>
        </p:txBody>
      </p:sp>
      <p:sp>
        <p:nvSpPr>
          <p:cNvPr id="205" name="Cartão 205"/>
          <p:cNvSpPr/>
          <p:nvPr/>
        </p:nvSpPr>
        <p:spPr>
          <a:xfrm>
            <a:off x="4032000" y="2664000"/>
            <a:ext cx="3240000" cy="792000"/>
          </a:xfrm>
          <a:prstGeom prst="roundRect">
            <a:avLst>
              <a:gd name="adj" fmla="val 8000"/>
            </a:avLst>
          </a:prstGeom>
          <a:solidFill>
            <a:srgbClr val="C9892B"/>
          </a:solidFill>
          <a:ln w="31750">
            <a:solidFill>
              <a:srgbClr val="111111"/>
            </a:solidFill>
          </a:ln>
        </p:spPr>
        <p:txBody>
          <a:bodyPr wrap="square" lIns="72000" tIns="72000" rIns="72000" bIns="7200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Formação</a:t>
            </a:r>
            <a:endParaRPr lang="pt-BR" sz="2030" dirty="0"/>
          </a:p>
        </p:txBody>
      </p:sp>
      <p:sp>
        <p:nvSpPr>
          <p:cNvPr id="206" name="Cartão 206"/>
          <p:cNvSpPr/>
          <p:nvPr/>
        </p:nvSpPr>
        <p:spPr>
          <a:xfrm>
            <a:off x="7488000" y="3456000"/>
            <a:ext cx="3240000" cy="5040000"/>
          </a:xfrm>
          <a:prstGeom prst="roundRect">
            <a:avLst>
              <a:gd name="adj" fmla="val 4000"/>
            </a:avLst>
          </a:prstGeom>
          <a:solidFill>
            <a:srgbClr val="EFE3D4"/>
          </a:solidFill>
          <a:ln w="31750">
            <a:solidFill>
              <a:srgbClr val="111111"/>
            </a:solidFill>
          </a:ln>
        </p:spPr>
        <p:txBody>
          <a:bodyPr wrap="square" lIns="162000" tIns="162000" rIns="162000" bIns="162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mostram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Condição relevante e insuficiente: equalizar o acesso não equalizou o uso (Itália, Peru).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campo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Com que equipamentos se trabalha?</a:t>
            </a:r>
            <a:endParaRPr lang="pt-BR" sz="2030" dirty="0"/>
          </a:p>
        </p:txBody>
      </p:sp>
      <p:sp>
        <p:nvSpPr>
          <p:cNvPr id="207" name="Cartão 207"/>
          <p:cNvSpPr/>
          <p:nvPr/>
        </p:nvSpPr>
        <p:spPr>
          <a:xfrm>
            <a:off x="7488000" y="2664000"/>
            <a:ext cx="3240000" cy="792000"/>
          </a:xfrm>
          <a:prstGeom prst="roundRect">
            <a:avLst>
              <a:gd name="adj" fmla="val 8000"/>
            </a:avLst>
          </a:prstGeom>
          <a:solidFill>
            <a:srgbClr val="4F7CAC"/>
          </a:solidFill>
          <a:ln w="31750">
            <a:solidFill>
              <a:srgbClr val="111111"/>
            </a:solidFill>
          </a:ln>
        </p:spPr>
        <p:txBody>
          <a:bodyPr wrap="square" lIns="72000" tIns="72000" rIns="72000" bIns="7200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Infraestrutura</a:t>
            </a:r>
            <a:endParaRPr lang="pt-BR" sz="2030" dirty="0"/>
          </a:p>
        </p:txBody>
      </p:sp>
      <p:sp>
        <p:nvSpPr>
          <p:cNvPr id="208" name="Cartão 208"/>
          <p:cNvSpPr/>
          <p:nvPr/>
        </p:nvSpPr>
        <p:spPr>
          <a:xfrm>
            <a:off x="10944000" y="3456000"/>
            <a:ext cx="3240000" cy="5040000"/>
          </a:xfrm>
          <a:prstGeom prst="roundRect">
            <a:avLst>
              <a:gd name="adj" fmla="val 4000"/>
            </a:avLst>
          </a:prstGeom>
          <a:solidFill>
            <a:srgbClr val="EFE3D4"/>
          </a:solidFill>
          <a:ln w="31750">
            <a:solidFill>
              <a:srgbClr val="111111"/>
            </a:solidFill>
          </a:ln>
        </p:spPr>
        <p:txBody>
          <a:bodyPr wrap="square" lIns="162000" tIns="162000" rIns="162000" bIns="162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mostram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 Ceibal atravessou governos; a Argentina teve três reversões em quinze anos.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campo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Que continuidade a rede municipal teve?</a:t>
            </a:r>
            <a:endParaRPr lang="pt-BR" sz="2030" dirty="0"/>
          </a:p>
        </p:txBody>
      </p:sp>
      <p:sp>
        <p:nvSpPr>
          <p:cNvPr id="209" name="Cartão 209"/>
          <p:cNvSpPr/>
          <p:nvPr/>
        </p:nvSpPr>
        <p:spPr>
          <a:xfrm>
            <a:off x="10944000" y="2664000"/>
            <a:ext cx="3240000" cy="792000"/>
          </a:xfrm>
          <a:prstGeom prst="roundRect">
            <a:avLst>
              <a:gd name="adj" fmla="val 8000"/>
            </a:avLst>
          </a:prstGeom>
          <a:solidFill>
            <a:srgbClr val="8A5A9E"/>
          </a:solidFill>
          <a:ln w="31750">
            <a:solidFill>
              <a:srgbClr val="111111"/>
            </a:solidFill>
          </a:ln>
        </p:spPr>
        <p:txBody>
          <a:bodyPr wrap="square" lIns="72000" tIns="72000" rIns="72000" bIns="7200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Continuidade institucional</a:t>
            </a:r>
            <a:endParaRPr lang="pt-BR" sz="2030" dirty="0"/>
          </a:p>
        </p:txBody>
      </p:sp>
      <p:sp>
        <p:nvSpPr>
          <p:cNvPr id="210" name="Cartão 210"/>
          <p:cNvSpPr/>
          <p:nvPr/>
        </p:nvSpPr>
        <p:spPr>
          <a:xfrm>
            <a:off x="14400000" y="3456000"/>
            <a:ext cx="3240000" cy="5040000"/>
          </a:xfrm>
          <a:prstGeom prst="roundRect">
            <a:avLst>
              <a:gd name="adj" fmla="val 4000"/>
            </a:avLst>
          </a:prstGeom>
          <a:solidFill>
            <a:srgbClr val="EFE3D4"/>
          </a:solidFill>
          <a:ln w="31750">
            <a:solidFill>
              <a:srgbClr val="111111"/>
            </a:solidFill>
          </a:ln>
        </p:spPr>
        <p:txBody>
          <a:bodyPr wrap="square" lIns="162000" tIns="162000" rIns="162000" bIns="162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mostram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Educação digital ligada à cidadania e à proteção das crianças (França, BIK+).</a:t>
            </a:r>
            <a:endParaRPr lang="pt-BR" sz="203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90"/>
              </a:spcAft>
              <a:buNone/>
            </a:pPr>
            <a:r>
              <a:rPr lang="pt-BR" sz="195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campo</a:t>
            </a:r>
            <a:endParaRPr lang="pt-BR" sz="195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i="1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 que se faz com crianças de seis a dez anos?</a:t>
            </a:r>
            <a:endParaRPr lang="pt-BR" sz="2030" dirty="0"/>
          </a:p>
        </p:txBody>
      </p:sp>
      <p:sp>
        <p:nvSpPr>
          <p:cNvPr id="211" name="Cartão 211"/>
          <p:cNvSpPr/>
          <p:nvPr/>
        </p:nvSpPr>
        <p:spPr>
          <a:xfrm>
            <a:off x="14400000" y="2664000"/>
            <a:ext cx="3240000" cy="792000"/>
          </a:xfrm>
          <a:prstGeom prst="roundRect">
            <a:avLst>
              <a:gd name="adj" fmla="val 8000"/>
            </a:avLst>
          </a:prstGeom>
          <a:solidFill>
            <a:srgbClr val="D9652E"/>
          </a:solidFill>
          <a:ln w="31750">
            <a:solidFill>
              <a:srgbClr val="111111"/>
            </a:solidFill>
          </a:ln>
        </p:spPr>
        <p:txBody>
          <a:bodyPr wrap="square" lIns="72000" tIns="72000" rIns="72000" bIns="7200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Cultura digital</a:t>
            </a:r>
            <a:endParaRPr lang="pt-BR" sz="2030" dirty="0"/>
          </a:p>
        </p:txBody>
      </p:sp>
      <p:sp>
        <p:nvSpPr>
          <p:cNvPr id="212" name="Texto 212"/>
          <p:cNvSpPr txBox="1"/>
          <p:nvPr/>
        </p:nvSpPr>
        <p:spPr>
          <a:xfrm>
            <a:off x="720000" y="8640000"/>
            <a:ext cx="16920000" cy="154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2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Nenhuma experiência descreve Pipa. Fica a pergunta que nenhum caso responde: o que acontece quando a PNED chega a uma escola onde parte das condições que esses países apontam como necessárias não está garantida?</a:t>
            </a:r>
            <a:endParaRPr lang="pt-BR" sz="2102" dirty="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9059">
            <a:off x="14704686" y="-67215"/>
            <a:ext cx="4178322" cy="5381913"/>
          </a:xfrm>
          <a:custGeom>
            <a:avLst/>
            <a:gdLst/>
            <a:ahLst/>
            <a:cxnLst/>
            <a:rect r="r" b="b" t="t" l="l"/>
            <a:pathLst>
              <a:path h="5381913" w="4178322">
                <a:moveTo>
                  <a:pt x="0" y="0"/>
                </a:moveTo>
                <a:lnTo>
                  <a:pt x="4178322" y="0"/>
                </a:lnTo>
                <a:lnTo>
                  <a:pt x="4178322" y="5381913"/>
                </a:lnTo>
                <a:lnTo>
                  <a:pt x="0" y="538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6807" y="-872400"/>
            <a:ext cx="3951014" cy="2794445"/>
          </a:xfrm>
          <a:custGeom>
            <a:avLst/>
            <a:gdLst/>
            <a:ahLst/>
            <a:cxnLst/>
            <a:rect r="r" b="b" t="t" l="l"/>
            <a:pathLst>
              <a:path h="2794445" w="3951014">
                <a:moveTo>
                  <a:pt x="0" y="0"/>
                </a:moveTo>
                <a:lnTo>
                  <a:pt x="3951014" y="0"/>
                </a:lnTo>
                <a:lnTo>
                  <a:pt x="3951014" y="2794445"/>
                </a:lnTo>
                <a:lnTo>
                  <a:pt x="0" y="279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97026" y="5143500"/>
            <a:ext cx="7009322" cy="5579677"/>
            <a:chOff x="0" y="0"/>
            <a:chExt cx="1846077" cy="1469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6076" cy="1469545"/>
            </a:xfrm>
            <a:custGeom>
              <a:avLst/>
              <a:gdLst/>
              <a:ahLst/>
              <a:cxnLst/>
              <a:rect r="r" b="b" t="t" l="l"/>
              <a:pathLst>
                <a:path h="1469545" w="1846076">
                  <a:moveTo>
                    <a:pt x="46390" y="0"/>
                  </a:moveTo>
                  <a:lnTo>
                    <a:pt x="1799687" y="0"/>
                  </a:lnTo>
                  <a:cubicBezTo>
                    <a:pt x="1825307" y="0"/>
                    <a:pt x="1846076" y="20769"/>
                    <a:pt x="1846076" y="46390"/>
                  </a:cubicBezTo>
                  <a:lnTo>
                    <a:pt x="1846076" y="1423155"/>
                  </a:lnTo>
                  <a:cubicBezTo>
                    <a:pt x="1846076" y="1435458"/>
                    <a:pt x="1841189" y="1447258"/>
                    <a:pt x="1832489" y="1455957"/>
                  </a:cubicBezTo>
                  <a:cubicBezTo>
                    <a:pt x="1823789" y="1464657"/>
                    <a:pt x="1811990" y="1469545"/>
                    <a:pt x="1799687" y="1469545"/>
                  </a:cubicBezTo>
                  <a:lnTo>
                    <a:pt x="46390" y="1469545"/>
                  </a:lnTo>
                  <a:cubicBezTo>
                    <a:pt x="34086" y="1469545"/>
                    <a:pt x="22287" y="1464657"/>
                    <a:pt x="13587" y="1455957"/>
                  </a:cubicBezTo>
                  <a:cubicBezTo>
                    <a:pt x="4887" y="1447258"/>
                    <a:pt x="0" y="1435458"/>
                    <a:pt x="0" y="1423155"/>
                  </a:cubicBezTo>
                  <a:lnTo>
                    <a:pt x="0" y="46390"/>
                  </a:lnTo>
                  <a:cubicBezTo>
                    <a:pt x="0" y="20769"/>
                    <a:pt x="20769" y="0"/>
                    <a:pt x="46390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46077" cy="152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1652" y="5143500"/>
            <a:ext cx="7009322" cy="5579677"/>
            <a:chOff x="0" y="0"/>
            <a:chExt cx="1846077" cy="14695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6076" cy="1469545"/>
            </a:xfrm>
            <a:custGeom>
              <a:avLst/>
              <a:gdLst/>
              <a:ahLst/>
              <a:cxnLst/>
              <a:rect r="r" b="b" t="t" l="l"/>
              <a:pathLst>
                <a:path h="1469545" w="1846076">
                  <a:moveTo>
                    <a:pt x="46390" y="0"/>
                  </a:moveTo>
                  <a:lnTo>
                    <a:pt x="1799687" y="0"/>
                  </a:lnTo>
                  <a:cubicBezTo>
                    <a:pt x="1825307" y="0"/>
                    <a:pt x="1846076" y="20769"/>
                    <a:pt x="1846076" y="46390"/>
                  </a:cubicBezTo>
                  <a:lnTo>
                    <a:pt x="1846076" y="1423155"/>
                  </a:lnTo>
                  <a:cubicBezTo>
                    <a:pt x="1846076" y="1435458"/>
                    <a:pt x="1841189" y="1447258"/>
                    <a:pt x="1832489" y="1455957"/>
                  </a:cubicBezTo>
                  <a:cubicBezTo>
                    <a:pt x="1823789" y="1464657"/>
                    <a:pt x="1811990" y="1469545"/>
                    <a:pt x="1799687" y="1469545"/>
                  </a:cubicBezTo>
                  <a:lnTo>
                    <a:pt x="46390" y="1469545"/>
                  </a:lnTo>
                  <a:cubicBezTo>
                    <a:pt x="34086" y="1469545"/>
                    <a:pt x="22287" y="1464657"/>
                    <a:pt x="13587" y="1455957"/>
                  </a:cubicBezTo>
                  <a:cubicBezTo>
                    <a:pt x="4887" y="1447258"/>
                    <a:pt x="0" y="1435458"/>
                    <a:pt x="0" y="1423155"/>
                  </a:cubicBezTo>
                  <a:lnTo>
                    <a:pt x="0" y="46390"/>
                  </a:lnTo>
                  <a:cubicBezTo>
                    <a:pt x="0" y="20769"/>
                    <a:pt x="20769" y="0"/>
                    <a:pt x="46390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846077" cy="152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0722983" y="-369962"/>
            <a:ext cx="4037087" cy="3222330"/>
          </a:xfrm>
          <a:custGeom>
            <a:avLst/>
            <a:gdLst/>
            <a:ahLst/>
            <a:cxnLst/>
            <a:rect r="r" b="b" t="t" l="l"/>
            <a:pathLst>
              <a:path h="3222330" w="4037087">
                <a:moveTo>
                  <a:pt x="4037087" y="0"/>
                </a:moveTo>
                <a:lnTo>
                  <a:pt x="0" y="0"/>
                </a:lnTo>
                <a:lnTo>
                  <a:pt x="0" y="3222329"/>
                </a:lnTo>
                <a:lnTo>
                  <a:pt x="4037087" y="3222329"/>
                </a:lnTo>
                <a:lnTo>
                  <a:pt x="403708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946807" y="6298004"/>
            <a:ext cx="3471862" cy="4114800"/>
          </a:xfrm>
          <a:custGeom>
            <a:avLst/>
            <a:gdLst/>
            <a:ahLst/>
            <a:cxnLst/>
            <a:rect r="r" b="b" t="t" l="l"/>
            <a:pathLst>
              <a:path h="4114800" w="3471862">
                <a:moveTo>
                  <a:pt x="0" y="0"/>
                </a:moveTo>
                <a:lnTo>
                  <a:pt x="3471862" y="0"/>
                </a:lnTo>
                <a:lnTo>
                  <a:pt x="3471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908000" y="1512000"/>
            <a:ext cx="9000000" cy="28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PNED E O</a:t>
            </a:r>
            <a:endParaRPr lang="pt-BR" sz="52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vazio material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2664000" y="5544000"/>
            <a:ext cx="5760000" cy="46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a lei exige</a:t>
            </a:r>
            <a:endParaRPr lang="pt-BR" sz="275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0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Componente curricular obrigatório no ensino fundamental, após a derrubada do veto</a:t>
            </a:r>
            <a:endParaRPr lang="pt-BR" sz="2102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0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Implementação curricular a partir de 2026 (Res. CNE/CEB nº 2/2025, art. 36)</a:t>
            </a:r>
            <a:endParaRPr lang="pt-BR" sz="2102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0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Formação tratada como ação de promoção</a:t>
            </a:r>
            <a:endParaRPr lang="pt-BR" sz="2102" dirty="0"/>
          </a:p>
        </p:txBody>
      </p:sp>
      <p:sp>
        <p:nvSpPr>
          <p:cNvPr id="203" name="Texto 203"/>
          <p:cNvSpPr txBox="1"/>
          <p:nvPr/>
        </p:nvSpPr>
        <p:spPr>
          <a:xfrm>
            <a:off x="10152000" y="5544000"/>
            <a:ext cx="5760000" cy="46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 que meios</a:t>
            </a:r>
            <a:endParaRPr lang="pt-BR" sz="2755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0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Inclusão digital “dentro dos limites orçamentários” de cada ente (art. 2º)</a:t>
            </a:r>
            <a:endParaRPr lang="pt-BR" sz="2102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0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Art. 11: nenhum fundo próprio nem transferência obrigatória aos municípios</a:t>
            </a:r>
            <a:endParaRPr lang="pt-BR" sz="2102" dirty="0"/>
          </a:p>
          <a:p>
            <a:pPr algn="l" marL="270000" indent="-270000">
              <a:lnSpc>
                <a:spcPct val="100000"/>
              </a:lnSpc>
              <a:spcBef>
                <a:spcPts val="0"/>
              </a:spcBef>
              <a:spcAft>
                <a:spcPts val="725"/>
              </a:spcAft>
              <a:buClr>
                <a:srgbClr val="111111"/>
              </a:buClr>
              <a:buSzPct val="100000"/>
              <a:buFont typeface="Arial"/>
              <a:buChar char="•"/>
            </a:pPr>
            <a:r>
              <a:rPr lang="pt-BR" sz="2102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Vazio material:</a:t>
            </a:r>
            <a:r>
              <a:rPr lang="pt-BR" sz="2102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 proposição a verificar no campo</a:t>
            </a:r>
            <a:endParaRPr lang="pt-BR" sz="2102" dirty="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14760" y="1316867"/>
            <a:ext cx="12805931" cy="3826633"/>
            <a:chOff x="0" y="0"/>
            <a:chExt cx="3372755" cy="1007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4582" y="5481069"/>
            <a:ext cx="12805931" cy="3826633"/>
            <a:chOff x="0" y="0"/>
            <a:chExt cx="3372755" cy="1007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2755" cy="1007838"/>
            </a:xfrm>
            <a:custGeom>
              <a:avLst/>
              <a:gdLst/>
              <a:ahLst/>
              <a:cxnLst/>
              <a:rect r="r" b="b" t="t" l="l"/>
              <a:pathLst>
                <a:path h="1007838" w="3372755">
                  <a:moveTo>
                    <a:pt x="25391" y="0"/>
                  </a:moveTo>
                  <a:lnTo>
                    <a:pt x="3347364" y="0"/>
                  </a:lnTo>
                  <a:cubicBezTo>
                    <a:pt x="3361387" y="0"/>
                    <a:pt x="3372755" y="11368"/>
                    <a:pt x="3372755" y="25391"/>
                  </a:cubicBezTo>
                  <a:lnTo>
                    <a:pt x="3372755" y="982446"/>
                  </a:lnTo>
                  <a:cubicBezTo>
                    <a:pt x="3372755" y="989180"/>
                    <a:pt x="3370080" y="995639"/>
                    <a:pt x="3365318" y="1000401"/>
                  </a:cubicBezTo>
                  <a:cubicBezTo>
                    <a:pt x="3360557" y="1005162"/>
                    <a:pt x="3354098" y="1007838"/>
                    <a:pt x="3347364" y="1007838"/>
                  </a:cubicBezTo>
                  <a:lnTo>
                    <a:pt x="25391" y="1007838"/>
                  </a:lnTo>
                  <a:cubicBezTo>
                    <a:pt x="11368" y="1007838"/>
                    <a:pt x="0" y="996470"/>
                    <a:pt x="0" y="982446"/>
                  </a:cubicBezTo>
                  <a:lnTo>
                    <a:pt x="0" y="25391"/>
                  </a:lnTo>
                  <a:cubicBezTo>
                    <a:pt x="0" y="11368"/>
                    <a:pt x="11368" y="0"/>
                    <a:pt x="25391" y="0"/>
                  </a:cubicBezTo>
                  <a:close/>
                </a:path>
              </a:pathLst>
            </a:custGeom>
            <a:solidFill>
              <a:srgbClr val="FFCE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372755" cy="106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56199" y="4711899"/>
            <a:ext cx="4888650" cy="5793956"/>
          </a:xfrm>
          <a:custGeom>
            <a:avLst/>
            <a:gdLst/>
            <a:ahLst/>
            <a:cxnLst/>
            <a:rect r="r" b="b" t="t" l="l"/>
            <a:pathLst>
              <a:path h="5793956" w="4888650">
                <a:moveTo>
                  <a:pt x="0" y="0"/>
                </a:moveTo>
                <a:lnTo>
                  <a:pt x="4888651" y="0"/>
                </a:lnTo>
                <a:lnTo>
                  <a:pt x="4888651" y="5793956"/>
                </a:lnTo>
                <a:lnTo>
                  <a:pt x="0" y="579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301232" y="318233"/>
            <a:ext cx="5130568" cy="5162836"/>
          </a:xfrm>
          <a:custGeom>
            <a:avLst/>
            <a:gdLst/>
            <a:ahLst/>
            <a:cxnLst/>
            <a:rect r="r" b="b" t="t" l="l"/>
            <a:pathLst>
              <a:path h="5162836" w="5130568">
                <a:moveTo>
                  <a:pt x="5130569" y="0"/>
                </a:moveTo>
                <a:lnTo>
                  <a:pt x="0" y="0"/>
                </a:lnTo>
                <a:lnTo>
                  <a:pt x="0" y="5162836"/>
                </a:lnTo>
                <a:lnTo>
                  <a:pt x="5130569" y="5162836"/>
                </a:lnTo>
                <a:lnTo>
                  <a:pt x="5130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375592" y="741611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2431158" y="0"/>
                </a:moveTo>
                <a:lnTo>
                  <a:pt x="0" y="0"/>
                </a:lnTo>
                <a:lnTo>
                  <a:pt x="0" y="1940506"/>
                </a:lnTo>
                <a:lnTo>
                  <a:pt x="2431158" y="1940506"/>
                </a:lnTo>
                <a:lnTo>
                  <a:pt x="24311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20776" y="4855333"/>
            <a:ext cx="2431158" cy="1940506"/>
          </a:xfrm>
          <a:custGeom>
            <a:avLst/>
            <a:gdLst/>
            <a:ahLst/>
            <a:cxnLst/>
            <a:rect r="r" b="b" t="t" l="l"/>
            <a:pathLst>
              <a:path h="1940506" w="2431158">
                <a:moveTo>
                  <a:pt x="0" y="0"/>
                </a:moveTo>
                <a:lnTo>
                  <a:pt x="2431158" y="0"/>
                </a:lnTo>
                <a:lnTo>
                  <a:pt x="2431158" y="1940507"/>
                </a:lnTo>
                <a:lnTo>
                  <a:pt x="0" y="19405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06386">
            <a:off x="-459053" y="6798742"/>
            <a:ext cx="3532423" cy="3940837"/>
          </a:xfrm>
          <a:custGeom>
            <a:avLst/>
            <a:gdLst/>
            <a:ahLst/>
            <a:cxnLst/>
            <a:rect r="r" b="b" t="t" l="l"/>
            <a:pathLst>
              <a:path h="3940837" w="3532423">
                <a:moveTo>
                  <a:pt x="0" y="0"/>
                </a:moveTo>
                <a:lnTo>
                  <a:pt x="3532423" y="0"/>
                </a:lnTo>
                <a:lnTo>
                  <a:pt x="3532423" y="3940837"/>
                </a:lnTo>
                <a:lnTo>
                  <a:pt x="0" y="3940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0272" y="1711864"/>
            <a:ext cx="5440240" cy="4114800"/>
          </a:xfrm>
          <a:custGeom>
            <a:avLst/>
            <a:gdLst/>
            <a:ahLst/>
            <a:cxnLst/>
            <a:rect r="r" b="b" t="t" l="l"/>
            <a:pathLst>
              <a:path h="4114800" w="5440240">
                <a:moveTo>
                  <a:pt x="0" y="0"/>
                </a:moveTo>
                <a:lnTo>
                  <a:pt x="5440240" y="0"/>
                </a:lnTo>
                <a:lnTo>
                  <a:pt x="54402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936000" y="1512000"/>
            <a:ext cx="9432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TERRITÓRIO E ESCOLA</a:t>
            </a:r>
            <a:endParaRPr lang="pt-BR" sz="5000" dirty="0"/>
          </a:p>
        </p:txBody>
      </p:sp>
      <p:sp>
        <p:nvSpPr>
          <p:cNvPr id="202" name="Texto 202"/>
          <p:cNvSpPr txBox="1"/>
          <p:nvPr/>
        </p:nvSpPr>
        <p:spPr>
          <a:xfrm>
            <a:off x="7632000" y="5652000"/>
            <a:ext cx="9720000" cy="345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6</a:t>
            </a:r>
            <a:endParaRPr lang="pt-BR" sz="3400" dirty="0"/>
          </a:p>
          <a:p>
            <a:pPr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Pipa como contexto da prática</a:t>
            </a:r>
            <a:endParaRPr lang="pt-BR" sz="3000" dirty="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9059">
            <a:off x="14704686" y="-67215"/>
            <a:ext cx="4178322" cy="5381913"/>
          </a:xfrm>
          <a:custGeom>
            <a:avLst/>
            <a:gdLst/>
            <a:ahLst/>
            <a:cxnLst/>
            <a:rect r="r" b="b" t="t" l="l"/>
            <a:pathLst>
              <a:path h="5381913" w="4178322">
                <a:moveTo>
                  <a:pt x="0" y="0"/>
                </a:moveTo>
                <a:lnTo>
                  <a:pt x="4178322" y="0"/>
                </a:lnTo>
                <a:lnTo>
                  <a:pt x="4178322" y="5381913"/>
                </a:lnTo>
                <a:lnTo>
                  <a:pt x="0" y="538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6807" y="-872400"/>
            <a:ext cx="3951014" cy="2794445"/>
          </a:xfrm>
          <a:custGeom>
            <a:avLst/>
            <a:gdLst/>
            <a:ahLst/>
            <a:cxnLst/>
            <a:rect r="r" b="b" t="t" l="l"/>
            <a:pathLst>
              <a:path h="2794445" w="3951014">
                <a:moveTo>
                  <a:pt x="0" y="0"/>
                </a:moveTo>
                <a:lnTo>
                  <a:pt x="3951014" y="0"/>
                </a:lnTo>
                <a:lnTo>
                  <a:pt x="3951014" y="2794445"/>
                </a:lnTo>
                <a:lnTo>
                  <a:pt x="0" y="279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0722983" y="-369962"/>
            <a:ext cx="4037087" cy="3222330"/>
          </a:xfrm>
          <a:custGeom>
            <a:avLst/>
            <a:gdLst/>
            <a:ahLst/>
            <a:cxnLst/>
            <a:rect r="r" b="b" t="t" l="l"/>
            <a:pathLst>
              <a:path h="3222330" w="4037087">
                <a:moveTo>
                  <a:pt x="4037087" y="0"/>
                </a:moveTo>
                <a:lnTo>
                  <a:pt x="0" y="0"/>
                </a:lnTo>
                <a:lnTo>
                  <a:pt x="0" y="3222329"/>
                </a:lnTo>
                <a:lnTo>
                  <a:pt x="4037087" y="3222329"/>
                </a:lnTo>
                <a:lnTo>
                  <a:pt x="403708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1908000" y="1296000"/>
            <a:ext cx="9000000" cy="158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PIPA</a:t>
            </a:r>
            <a:endParaRPr lang="pt-BR" sz="52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 aldeia de pescadores a polo turístico</a:t>
            </a:r>
            <a:endParaRPr lang="pt-BR" sz="3000" dirty="0"/>
          </a:p>
        </p:txBody>
      </p:sp>
      <p:sp>
        <p:nvSpPr>
          <p:cNvPr id="202" name="Texto 202"/>
          <p:cNvSpPr txBox="1"/>
          <p:nvPr/>
        </p:nvSpPr>
        <p:spPr>
          <a:xfrm>
            <a:off x="1908000" y="3024000"/>
            <a:ext cx="9180000" cy="180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Comunidade agrícola e pesqueira nos anos 1970; surfistas desde meados da década; divulgação intensa nos anos 1990 (AIRES, 2012, p. 80-82). Hoje, pousadas, restaurantes e passeios vendidos pela internet.</a:t>
            </a:r>
            <a:endParaRPr lang="pt-BR" sz="2030" dirty="0"/>
          </a:p>
        </p:txBody>
      </p:sp>
      <p:pic>
        <p:nvPicPr>
          <p:cNvPr id="203" name="Foto 203" descr="Construção artesanal de embarcação na antiga Pipa"/>
          <p:cNvPicPr>
            <a:picLocks noChangeAspect="1"/>
          </p:cNvPicPr>
          <p:nvPr/>
        </p:nvPicPr>
        <p:blipFill>
          <a:blip r:embed="rId13"/>
          <a:srcRect l="0" t="60" r="0" b="60"/>
          <a:stretch>
            <a:fillRect/>
          </a:stretch>
        </p:blipFill>
        <p:spPr>
          <a:xfrm rot="-90000">
            <a:off x="864000" y="5400000"/>
            <a:ext cx="5112000" cy="3708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4" name="Tacha 204" descr="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60000" y="4860000"/>
            <a:ext cx="720000" cy="1152000"/>
          </a:xfrm>
          <a:prstGeom prst="rect">
            <a:avLst/>
          </a:prstGeom>
        </p:spPr>
      </p:pic>
      <p:pic>
        <p:nvPicPr>
          <p:cNvPr id="205" name="Foto 205" descr="Grupo de surfistas com pranchas, abril de 1991"/>
          <p:cNvPicPr>
            <a:picLocks noChangeAspect="1"/>
          </p:cNvPicPr>
          <p:nvPr/>
        </p:nvPicPr>
        <p:blipFill>
          <a:blip r:embed="rId16"/>
          <a:srcRect l="0" t="5" r="0" b="5"/>
          <a:stretch>
            <a:fillRect/>
          </a:stretch>
        </p:blipFill>
        <p:spPr>
          <a:xfrm rot="72000">
            <a:off x="6624000" y="5400000"/>
            <a:ext cx="4680000" cy="3708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6" name="Tacha 206" descr="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04000" y="4860000"/>
            <a:ext cx="720000" cy="1152000"/>
          </a:xfrm>
          <a:prstGeom prst="rect">
            <a:avLst/>
          </a:prstGeom>
        </p:spPr>
      </p:pic>
      <p:pic>
        <p:nvPicPr>
          <p:cNvPr id="207" name="Foto 207" descr="Vista aérea contemporânea de Pipa e sua orla turística"/>
          <p:cNvPicPr>
            <a:picLocks noChangeAspect="1"/>
          </p:cNvPicPr>
          <p:nvPr/>
        </p:nvPicPr>
        <p:blipFill>
          <a:blip r:embed="rId17"/>
          <a:srcRect l="0" t="119" r="0" b="119"/>
          <a:stretch>
            <a:fillRect/>
          </a:stretch>
        </p:blipFill>
        <p:spPr>
          <a:xfrm rot="-60000">
            <a:off x="11952000" y="5400000"/>
            <a:ext cx="5040000" cy="3708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8" name="Tacha 208" descr="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12000" y="4860000"/>
            <a:ext cx="720000" cy="1152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864000" y="9252000"/>
            <a:ext cx="5112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Embarcação artesanal</a:t>
            </a:r>
            <a:endParaRPr lang="pt-BR" sz="1700" dirty="0"/>
          </a:p>
        </p:txBody>
      </p:sp>
      <p:sp>
        <p:nvSpPr>
          <p:cNvPr id="210" name="Texto 210"/>
          <p:cNvSpPr txBox="1"/>
          <p:nvPr/>
        </p:nvSpPr>
        <p:spPr>
          <a:xfrm>
            <a:off x="6624000" y="9252000"/>
            <a:ext cx="4680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Surfistas, abril de 1991</a:t>
            </a:r>
            <a:endParaRPr lang="pt-BR" sz="1700" dirty="0"/>
          </a:p>
        </p:txBody>
      </p:sp>
      <p:sp>
        <p:nvSpPr>
          <p:cNvPr id="211" name="Texto 211"/>
          <p:cNvSpPr txBox="1"/>
          <p:nvPr/>
        </p:nvSpPr>
        <p:spPr>
          <a:xfrm>
            <a:off x="11952000" y="9252000"/>
            <a:ext cx="5040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Vista aérea atual</a:t>
            </a:r>
            <a:endParaRPr lang="pt-BR" sz="1700" dirty="0"/>
          </a:p>
        </p:txBody>
      </p:sp>
      <p:sp>
        <p:nvSpPr>
          <p:cNvPr id="212" name="Texto 212"/>
          <p:cNvSpPr txBox="1"/>
          <p:nvPr/>
        </p:nvSpPr>
        <p:spPr>
          <a:xfrm>
            <a:off x="864000" y="9720000"/>
            <a:ext cx="16128000" cy="32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Fotografias: Museu Digital de Pipa / Acervo da pesquisa (2026).</a:t>
            </a:r>
            <a:endParaRPr lang="pt-BR" sz="1300" dirty="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703516" y="799557"/>
            <a:ext cx="4559335" cy="4114800"/>
          </a:xfrm>
          <a:custGeom>
            <a:avLst/>
            <a:gdLst/>
            <a:ahLst/>
            <a:cxnLst/>
            <a:rect r="r" b="b" t="t" l="l"/>
            <a:pathLst>
              <a:path h="4114800" w="4559335">
                <a:moveTo>
                  <a:pt x="4559335" y="0"/>
                </a:moveTo>
                <a:lnTo>
                  <a:pt x="0" y="0"/>
                </a:lnTo>
                <a:lnTo>
                  <a:pt x="0" y="4114800"/>
                </a:lnTo>
                <a:lnTo>
                  <a:pt x="4559335" y="4114800"/>
                </a:lnTo>
                <a:lnTo>
                  <a:pt x="45593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917961" y="799557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4032504" y="0"/>
                </a:moveTo>
                <a:lnTo>
                  <a:pt x="0" y="0"/>
                </a:lnTo>
                <a:lnTo>
                  <a:pt x="0" y="4114800"/>
                </a:lnTo>
                <a:lnTo>
                  <a:pt x="4032504" y="4114800"/>
                </a:lnTo>
                <a:lnTo>
                  <a:pt x="40325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888000" y="504000"/>
            <a:ext cx="10512000" cy="27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ESCOLA</a:t>
            </a:r>
            <a:endParaRPr lang="pt-BR" sz="5600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laboratório desligado e salas sem telas</a:t>
            </a:r>
            <a:endParaRPr lang="pt-BR" sz="3000" dirty="0"/>
          </a:p>
        </p:txBody>
      </p:sp>
      <p:pic>
        <p:nvPicPr>
          <p:cNvPr id="202" name="Foto 202" descr="Laboratório de informática com equipamentos desligados"/>
          <p:cNvPicPr>
            <a:picLocks noChangeAspect="1"/>
          </p:cNvPicPr>
          <p:nvPr/>
        </p:nvPicPr>
        <p:blipFill>
          <a:blip r:embed="rId11"/>
          <a:srcRect l="0" t="70" r="0" b="70"/>
          <a:stretch>
            <a:fillRect/>
          </a:stretch>
        </p:blipFill>
        <p:spPr>
          <a:xfrm rot="-72000">
            <a:off x="936000" y="5112000"/>
            <a:ext cx="5256000" cy="2952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3" name="Tacha 203" descr="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04000" y="4572000"/>
            <a:ext cx="720000" cy="1152000"/>
          </a:xfrm>
          <a:prstGeom prst="rect">
            <a:avLst/>
          </a:prstGeom>
        </p:spPr>
      </p:pic>
      <p:pic>
        <p:nvPicPr>
          <p:cNvPr id="204" name="Foto 204" descr="Sala de aula dos primeiros anos"/>
          <p:cNvPicPr>
            <a:picLocks noChangeAspect="1"/>
          </p:cNvPicPr>
          <p:nvPr/>
        </p:nvPicPr>
        <p:blipFill>
          <a:blip r:embed="rId14"/>
          <a:srcRect l="0" t="70" r="0" b="70"/>
          <a:stretch>
            <a:fillRect/>
          </a:stretch>
        </p:blipFill>
        <p:spPr>
          <a:xfrm rot="60000">
            <a:off x="6516000" y="5112000"/>
            <a:ext cx="5256000" cy="2952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5" name="Tacha 205" descr="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4000" y="4572000"/>
            <a:ext cx="720000" cy="1152000"/>
          </a:xfrm>
          <a:prstGeom prst="rect">
            <a:avLst/>
          </a:prstGeom>
        </p:spPr>
      </p:pic>
      <p:pic>
        <p:nvPicPr>
          <p:cNvPr id="206" name="Foto 206" descr="Alfabeto móvel confeccionado artesanalmente"/>
          <p:cNvPicPr>
            <a:picLocks noChangeAspect="1"/>
          </p:cNvPicPr>
          <p:nvPr/>
        </p:nvPicPr>
        <p:blipFill>
          <a:blip r:embed="rId15"/>
          <a:srcRect l="0" t="70" r="0" b="70"/>
          <a:stretch>
            <a:fillRect/>
          </a:stretch>
        </p:blipFill>
        <p:spPr>
          <a:xfrm rot="-60000">
            <a:off x="12096000" y="5112000"/>
            <a:ext cx="5256000" cy="2952000"/>
          </a:xfrm>
          <a:prstGeom prst="rect">
            <a:avLst/>
          </a:prstGeom>
          <a:ln w="63500">
            <a:solidFill>
              <a:srgbClr val="111111"/>
            </a:solidFill>
          </a:ln>
        </p:spPr>
      </p:pic>
      <p:pic>
        <p:nvPicPr>
          <p:cNvPr id="207" name="Tacha 207" descr="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364000" y="4572000"/>
            <a:ext cx="720000" cy="1152000"/>
          </a:xfrm>
          <a:prstGeom prst="rect">
            <a:avLst/>
          </a:prstGeom>
        </p:spPr>
      </p:pic>
      <p:sp>
        <p:nvSpPr>
          <p:cNvPr id="208" name="Texto 208"/>
          <p:cNvSpPr txBox="1"/>
          <p:nvPr/>
        </p:nvSpPr>
        <p:spPr>
          <a:xfrm>
            <a:off x="936000" y="8172000"/>
            <a:ext cx="5256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Laboratório de informática</a:t>
            </a:r>
            <a:endParaRPr lang="pt-BR" sz="1700" dirty="0"/>
          </a:p>
        </p:txBody>
      </p:sp>
      <p:sp>
        <p:nvSpPr>
          <p:cNvPr id="209" name="Texto 209"/>
          <p:cNvSpPr txBox="1"/>
          <p:nvPr/>
        </p:nvSpPr>
        <p:spPr>
          <a:xfrm>
            <a:off x="6516000" y="8172000"/>
            <a:ext cx="5256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Sala dos primeiros anos</a:t>
            </a:r>
            <a:endParaRPr lang="pt-BR" sz="1700" dirty="0"/>
          </a:p>
        </p:txBody>
      </p:sp>
      <p:sp>
        <p:nvSpPr>
          <p:cNvPr id="210" name="Texto 210"/>
          <p:cNvSpPr txBox="1"/>
          <p:nvPr/>
        </p:nvSpPr>
        <p:spPr>
          <a:xfrm>
            <a:off x="12096000" y="8172000"/>
            <a:ext cx="5256000" cy="36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Alfabeto móvel feito à mão</a:t>
            </a:r>
            <a:endParaRPr lang="pt-BR" sz="1700" dirty="0"/>
          </a:p>
        </p:txBody>
      </p:sp>
      <p:sp>
        <p:nvSpPr>
          <p:cNvPr id="211" name="Texto 211"/>
          <p:cNvSpPr txBox="1"/>
          <p:nvPr/>
        </p:nvSpPr>
        <p:spPr>
          <a:xfrm>
            <a:off x="936000" y="8640000"/>
            <a:ext cx="16416000" cy="158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Computadores adquiridos pela Prefeitura em 2022, segundo informação preliminar a confirmar. </a:t>
            </a:r>
            <a:r>
              <a:rPr lang="pt-BR" sz="20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Rugosidade tecnológica:</a:t>
            </a:r>
            <a:r>
              <a:rPr lang="pt-BR" sz="20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forma “permanece aguardando o próximo movimento dinâmico da sociedade” (SANTOS, 2012, p. 74-75). Fotografias: Acervo da pesquisa (2026).</a:t>
            </a:r>
            <a:endParaRPr lang="pt-BR" sz="2030" dirty="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0662" y="5938221"/>
            <a:ext cx="4545747" cy="4864126"/>
          </a:xfrm>
          <a:custGeom>
            <a:avLst/>
            <a:gdLst/>
            <a:ahLst/>
            <a:cxnLst/>
            <a:rect r="r" b="b" t="t" l="l"/>
            <a:pathLst>
              <a:path h="4864126" w="4545747">
                <a:moveTo>
                  <a:pt x="0" y="0"/>
                </a:moveTo>
                <a:lnTo>
                  <a:pt x="4545747" y="0"/>
                </a:lnTo>
                <a:lnTo>
                  <a:pt x="4545747" y="4864126"/>
                </a:lnTo>
                <a:lnTo>
                  <a:pt x="0" y="486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67707">
            <a:off x="-1222503" y="-339746"/>
            <a:ext cx="3978551" cy="4438545"/>
          </a:xfrm>
          <a:custGeom>
            <a:avLst/>
            <a:gdLst/>
            <a:ahLst/>
            <a:cxnLst/>
            <a:rect r="r" b="b" t="t" l="l"/>
            <a:pathLst>
              <a:path h="4438545" w="3978551">
                <a:moveTo>
                  <a:pt x="0" y="0"/>
                </a:moveTo>
                <a:lnTo>
                  <a:pt x="3978551" y="0"/>
                </a:lnTo>
                <a:lnTo>
                  <a:pt x="3978551" y="4438546"/>
                </a:lnTo>
                <a:lnTo>
                  <a:pt x="0" y="4438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5924" y="-305796"/>
            <a:ext cx="5081512" cy="4444014"/>
          </a:xfrm>
          <a:custGeom>
            <a:avLst/>
            <a:gdLst/>
            <a:ahLst/>
            <a:cxnLst/>
            <a:rect r="r" b="b" t="t" l="l"/>
            <a:pathLst>
              <a:path h="4444014" w="5081512">
                <a:moveTo>
                  <a:pt x="0" y="0"/>
                </a:moveTo>
                <a:lnTo>
                  <a:pt x="5081512" y="0"/>
                </a:lnTo>
                <a:lnTo>
                  <a:pt x="5081512" y="4444014"/>
                </a:lnTo>
                <a:lnTo>
                  <a:pt x="0" y="4444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5153" y="5501478"/>
            <a:ext cx="4952068" cy="4989489"/>
          </a:xfrm>
          <a:custGeom>
            <a:avLst/>
            <a:gdLst/>
            <a:ahLst/>
            <a:cxnLst/>
            <a:rect r="r" b="b" t="t" l="l"/>
            <a:pathLst>
              <a:path h="4989489" w="4952068">
                <a:moveTo>
                  <a:pt x="0" y="0"/>
                </a:moveTo>
                <a:lnTo>
                  <a:pt x="4952068" y="0"/>
                </a:lnTo>
                <a:lnTo>
                  <a:pt x="4952068" y="4989489"/>
                </a:lnTo>
                <a:lnTo>
                  <a:pt x="0" y="49894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exto 201"/>
          <p:cNvSpPr txBox="1"/>
          <p:nvPr/>
        </p:nvSpPr>
        <p:spPr>
          <a:xfrm>
            <a:off x="3240000" y="216000"/>
            <a:ext cx="11376000" cy="223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TESE DE PARTIDA</a:t>
            </a:r>
            <a:endParaRPr lang="pt-BR" sz="3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175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forma assumida pela PNED no cotidiano escolar resulta da relação entre o que ela prescreve e as condições sob as quais os profissionais precisam atuar.</a:t>
            </a:r>
            <a:endParaRPr lang="pt-BR" sz="217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Daí podem surgir da adesão à resistência, que permanece hipótese a examinar nos dados.</a:t>
            </a:r>
            <a:endParaRPr lang="pt-BR" sz="1958" dirty="0"/>
          </a:p>
        </p:txBody>
      </p:sp>
      <p:pic>
        <p:nvPicPr>
          <p:cNvPr id="202" name="Moldura 202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8000" y="2880000"/>
            <a:ext cx="6912000" cy="3312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2530080" y="3674880"/>
            <a:ext cx="5667840" cy="20534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Habitar o digital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Quem consegue habitar o digital, em que condições e com quais possibilidades de participação</a:t>
            </a:r>
            <a:endParaRPr lang="pt-BR" sz="2030" dirty="0"/>
          </a:p>
        </p:txBody>
      </p:sp>
      <p:pic>
        <p:nvPicPr>
          <p:cNvPr id="204" name="Tacha 204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50000" y="2304000"/>
            <a:ext cx="828000" cy="1332000"/>
          </a:xfrm>
          <a:prstGeom prst="rect">
            <a:avLst/>
          </a:prstGeom>
        </p:spPr>
      </p:pic>
      <p:pic>
        <p:nvPicPr>
          <p:cNvPr id="205" name="Moldura 205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8000" y="2880000"/>
            <a:ext cx="6912000" cy="3312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10090080" y="3674880"/>
            <a:ext cx="5667840" cy="20534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Rugosidade tecnológica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Equipamentos de 2022, anteriores à lei, chamados a cumprir nova função (com SANTOS, 2012)</a:t>
            </a:r>
            <a:endParaRPr lang="pt-BR" sz="2030" dirty="0"/>
          </a:p>
        </p:txBody>
      </p:sp>
      <p:pic>
        <p:nvPicPr>
          <p:cNvPr id="207" name="Tacha 207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510000" y="2304000"/>
            <a:ext cx="828000" cy="1332000"/>
          </a:xfrm>
          <a:prstGeom prst="rect">
            <a:avLst/>
          </a:prstGeom>
        </p:spPr>
      </p:pic>
      <p:pic>
        <p:nvPicPr>
          <p:cNvPr id="208" name="Moldura 208" descr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4000" y="6552000"/>
            <a:ext cx="6912000" cy="3312000"/>
          </a:xfrm>
          <a:prstGeom prst="rect">
            <a:avLst/>
          </a:prstGeom>
        </p:spPr>
      </p:pic>
      <p:sp>
        <p:nvSpPr>
          <p:cNvPr id="209" name="Texto 209"/>
          <p:cNvSpPr txBox="1"/>
          <p:nvPr/>
        </p:nvSpPr>
        <p:spPr>
          <a:xfrm>
            <a:off x="6166080" y="7346880"/>
            <a:ext cx="5667840" cy="20534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275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Vazio material</a:t>
            </a:r>
            <a:endParaRPr lang="pt-BR" sz="2755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Exigência curricular com data marcada e meios sem mecanismo federativo obrigatório</a:t>
            </a:r>
            <a:endParaRPr lang="pt-BR" sz="2030" dirty="0"/>
          </a:p>
        </p:txBody>
      </p:sp>
      <p:pic>
        <p:nvPicPr>
          <p:cNvPr id="210" name="Tacha 210" descr="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86000" y="5976000"/>
            <a:ext cx="828000" cy="1332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3870" y="389732"/>
            <a:ext cx="7320803" cy="9507536"/>
          </a:xfrm>
          <a:custGeom>
            <a:avLst/>
            <a:gdLst/>
            <a:ahLst/>
            <a:cxnLst/>
            <a:rect r="r" b="b" t="t" l="l"/>
            <a:pathLst>
              <a:path h="9507536" w="7320803">
                <a:moveTo>
                  <a:pt x="0" y="0"/>
                </a:moveTo>
                <a:lnTo>
                  <a:pt x="7320803" y="0"/>
                </a:lnTo>
                <a:lnTo>
                  <a:pt x="7320803" y="9507536"/>
                </a:lnTo>
                <a:lnTo>
                  <a:pt x="0" y="950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5837">
            <a:off x="6716389" y="624673"/>
            <a:ext cx="2536569" cy="3461819"/>
          </a:xfrm>
          <a:custGeom>
            <a:avLst/>
            <a:gdLst/>
            <a:ahLst/>
            <a:cxnLst/>
            <a:rect r="r" b="b" t="t" l="l"/>
            <a:pathLst>
              <a:path h="3461819" w="2536569">
                <a:moveTo>
                  <a:pt x="0" y="0"/>
                </a:moveTo>
                <a:lnTo>
                  <a:pt x="2536569" y="0"/>
                </a:lnTo>
                <a:lnTo>
                  <a:pt x="2536569" y="3461819"/>
                </a:lnTo>
                <a:lnTo>
                  <a:pt x="0" y="3461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71139">
            <a:off x="1028984" y="792541"/>
            <a:ext cx="1715649" cy="2341456"/>
          </a:xfrm>
          <a:custGeom>
            <a:avLst/>
            <a:gdLst/>
            <a:ahLst/>
            <a:cxnLst/>
            <a:rect r="r" b="b" t="t" l="l"/>
            <a:pathLst>
              <a:path h="2341456" w="1715649">
                <a:moveTo>
                  <a:pt x="0" y="0"/>
                </a:moveTo>
                <a:lnTo>
                  <a:pt x="1715649" y="0"/>
                </a:lnTo>
                <a:lnTo>
                  <a:pt x="1715649" y="2341456"/>
                </a:lnTo>
                <a:lnTo>
                  <a:pt x="0" y="2341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16803" y="-508556"/>
            <a:ext cx="5298582" cy="4633851"/>
          </a:xfrm>
          <a:custGeom>
            <a:avLst/>
            <a:gdLst/>
            <a:ahLst/>
            <a:cxnLst/>
            <a:rect r="r" b="b" t="t" l="l"/>
            <a:pathLst>
              <a:path h="4633851" w="5298582">
                <a:moveTo>
                  <a:pt x="0" y="0"/>
                </a:moveTo>
                <a:lnTo>
                  <a:pt x="5298583" y="0"/>
                </a:lnTo>
                <a:lnTo>
                  <a:pt x="5298583" y="4633851"/>
                </a:lnTo>
                <a:lnTo>
                  <a:pt x="0" y="4633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10754" y="389732"/>
            <a:ext cx="3595229" cy="2542807"/>
          </a:xfrm>
          <a:custGeom>
            <a:avLst/>
            <a:gdLst/>
            <a:ahLst/>
            <a:cxnLst/>
            <a:rect r="r" b="b" t="t" l="l"/>
            <a:pathLst>
              <a:path h="2542807" w="3595229">
                <a:moveTo>
                  <a:pt x="0" y="0"/>
                </a:moveTo>
                <a:lnTo>
                  <a:pt x="3595229" y="0"/>
                </a:lnTo>
                <a:lnTo>
                  <a:pt x="3595229" y="2542807"/>
                </a:lnTo>
                <a:lnTo>
                  <a:pt x="0" y="25428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419711">
            <a:off x="-669291" y="7248429"/>
            <a:ext cx="3275863" cy="3654614"/>
          </a:xfrm>
          <a:custGeom>
            <a:avLst/>
            <a:gdLst/>
            <a:ahLst/>
            <a:cxnLst/>
            <a:rect r="r" b="b" t="t" l="l"/>
            <a:pathLst>
              <a:path h="3654614" w="3275863">
                <a:moveTo>
                  <a:pt x="0" y="0"/>
                </a:moveTo>
                <a:lnTo>
                  <a:pt x="3275863" y="0"/>
                </a:lnTo>
                <a:lnTo>
                  <a:pt x="3275863" y="3654614"/>
                </a:lnTo>
                <a:lnTo>
                  <a:pt x="0" y="3654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46635" y="6172200"/>
            <a:ext cx="3897838" cy="4114800"/>
          </a:xfrm>
          <a:custGeom>
            <a:avLst/>
            <a:gdLst/>
            <a:ahLst/>
            <a:cxnLst/>
            <a:rect r="r" b="b" t="t" l="l"/>
            <a:pathLst>
              <a:path h="4114800" w="3897838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8496000" y="3024000"/>
            <a:ext cx="9000000" cy="10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QUESTÃO ABERTA</a:t>
            </a:r>
            <a:endParaRPr lang="pt-BR" sz="4400" dirty="0"/>
          </a:p>
        </p:txBody>
      </p:sp>
      <p:sp>
        <p:nvSpPr>
          <p:cNvPr id="202" name="Texto 202"/>
          <p:cNvSpPr txBox="1"/>
          <p:nvPr/>
        </p:nvSpPr>
        <p:spPr>
          <a:xfrm>
            <a:off x="8568000" y="4176000"/>
            <a:ext cx="9216000" cy="1080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política fez da educação digital um direito e deixou os meios na dependência de cada ente federado. A pergunta de fundo, que só as narrativas podem responder:</a:t>
            </a:r>
            <a:endParaRPr lang="pt-BR" sz="2030" dirty="0"/>
          </a:p>
        </p:txBody>
      </p:sp>
      <p:sp>
        <p:nvSpPr>
          <p:cNvPr id="203" name="Cartão 203"/>
          <p:cNvSpPr/>
          <p:nvPr/>
        </p:nvSpPr>
        <p:spPr>
          <a:xfrm>
            <a:off x="8568000" y="5292000"/>
            <a:ext cx="9216000" cy="2376000"/>
          </a:xfrm>
          <a:prstGeom prst="roundRect">
            <a:avLst>
              <a:gd name="adj" fmla="val 5000"/>
            </a:avLst>
          </a:prstGeom>
          <a:solidFill>
            <a:srgbClr val="FFCE32"/>
          </a:solidFill>
          <a:ln w="38100">
            <a:solidFill>
              <a:srgbClr val="111111"/>
            </a:solidFill>
          </a:ln>
        </p:spPr>
        <p:txBody>
          <a:bodyPr wrap="square" lIns="216000" tIns="216000" rIns="216000" bIns="21600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69"/>
              </a:spcAft>
              <a:buNone/>
            </a:pPr>
            <a:r>
              <a:rPr lang="pt-BR" sz="224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Quando a política não faz chegar o equipamento nem a formação, quem paga, no cotidiano escolar, por esse vazio material e formativo?</a:t>
            </a:r>
            <a:endParaRPr lang="pt-BR" sz="2248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48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o que isso significa para os direitos que a lei prometeu às crianças?</a:t>
            </a:r>
            <a:endParaRPr lang="pt-BR" sz="2248" dirty="0"/>
          </a:p>
        </p:txBody>
      </p:sp>
      <p:sp>
        <p:nvSpPr>
          <p:cNvPr id="204" name="Cartão 204"/>
          <p:cNvSpPr/>
          <p:nvPr/>
        </p:nvSpPr>
        <p:spPr>
          <a:xfrm>
            <a:off x="8568000" y="7884000"/>
            <a:ext cx="9216000" cy="2160000"/>
          </a:xfrm>
          <a:prstGeom prst="roundRect">
            <a:avLst>
              <a:gd name="adj" fmla="val 50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180000" tIns="180000" rIns="180000" bIns="18000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4"/>
              </a:spcAft>
              <a:buNone/>
            </a:pPr>
            <a:r>
              <a:rPr lang="pt-BR" sz="2175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Próximos passos</a:t>
            </a:r>
            <a:endParaRPr lang="pt-BR" sz="2175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5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Emenda ao CEP · campo em dez semanas após a aprovação · análise documental: os documentos da escola já foram solicitados à direção, e os municipais, ao técnico da Secretaria de Educação · capítulo 7, com as narrativas dos profissionais · contribuições da banca</a:t>
            </a:r>
            <a:endParaRPr lang="pt-BR" sz="1885" dirty="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98597" y="-108828"/>
            <a:ext cx="6582509" cy="10746953"/>
          </a:xfrm>
          <a:custGeom>
            <a:avLst/>
            <a:gdLst/>
            <a:ahLst/>
            <a:cxnLst/>
            <a:rect r="r" b="b" t="t" l="l"/>
            <a:pathLst>
              <a:path h="10746953" w="6582509">
                <a:moveTo>
                  <a:pt x="0" y="0"/>
                </a:moveTo>
                <a:lnTo>
                  <a:pt x="6582509" y="0"/>
                </a:lnTo>
                <a:lnTo>
                  <a:pt x="6582509" y="10746953"/>
                </a:lnTo>
                <a:lnTo>
                  <a:pt x="0" y="10746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725">
            <a:off x="13679956" y="-1054879"/>
            <a:ext cx="4476702" cy="4994292"/>
          </a:xfrm>
          <a:custGeom>
            <a:avLst/>
            <a:gdLst/>
            <a:ahLst/>
            <a:cxnLst/>
            <a:rect r="r" b="b" t="t" l="l"/>
            <a:pathLst>
              <a:path h="4994292" w="4476702">
                <a:moveTo>
                  <a:pt x="0" y="0"/>
                </a:moveTo>
                <a:lnTo>
                  <a:pt x="4476701" y="0"/>
                </a:lnTo>
                <a:lnTo>
                  <a:pt x="4476701" y="4994292"/>
                </a:lnTo>
                <a:lnTo>
                  <a:pt x="0" y="49942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44550" y="2366363"/>
            <a:ext cx="5751911" cy="14071953"/>
          </a:xfrm>
          <a:custGeom>
            <a:avLst/>
            <a:gdLst/>
            <a:ahLst/>
            <a:cxnLst/>
            <a:rect r="r" b="b" t="t" l="l"/>
            <a:pathLst>
              <a:path h="14071953" w="5751911">
                <a:moveTo>
                  <a:pt x="0" y="0"/>
                </a:moveTo>
                <a:lnTo>
                  <a:pt x="5751911" y="0"/>
                </a:lnTo>
                <a:lnTo>
                  <a:pt x="5751911" y="14071954"/>
                </a:lnTo>
                <a:lnTo>
                  <a:pt x="0" y="14071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792658" y="5143500"/>
            <a:ext cx="4946577" cy="5519194"/>
          </a:xfrm>
          <a:custGeom>
            <a:avLst/>
            <a:gdLst/>
            <a:ahLst/>
            <a:cxnLst/>
            <a:rect r="r" b="b" t="t" l="l"/>
            <a:pathLst>
              <a:path h="5519194" w="4946577">
                <a:moveTo>
                  <a:pt x="4946577" y="0"/>
                </a:moveTo>
                <a:lnTo>
                  <a:pt x="0" y="0"/>
                </a:lnTo>
                <a:lnTo>
                  <a:pt x="0" y="5519194"/>
                </a:lnTo>
                <a:lnTo>
                  <a:pt x="4946577" y="5519194"/>
                </a:lnTo>
                <a:lnTo>
                  <a:pt x="494657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1066058" y="4957733"/>
            <a:ext cx="6322410" cy="7438130"/>
          </a:xfrm>
          <a:custGeom>
            <a:avLst/>
            <a:gdLst/>
            <a:ahLst/>
            <a:cxnLst/>
            <a:rect r="r" b="b" t="t" l="l"/>
            <a:pathLst>
              <a:path h="7438130" w="6322410">
                <a:moveTo>
                  <a:pt x="6322410" y="0"/>
                </a:moveTo>
                <a:lnTo>
                  <a:pt x="0" y="0"/>
                </a:lnTo>
                <a:lnTo>
                  <a:pt x="0" y="7438130"/>
                </a:lnTo>
                <a:lnTo>
                  <a:pt x="6322410" y="7438130"/>
                </a:lnTo>
                <a:lnTo>
                  <a:pt x="632241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76517" y="-809891"/>
            <a:ext cx="4294014" cy="3427404"/>
          </a:xfrm>
          <a:custGeom>
            <a:avLst/>
            <a:gdLst/>
            <a:ahLst/>
            <a:cxnLst/>
            <a:rect r="r" b="b" t="t" l="l"/>
            <a:pathLst>
              <a:path h="3427404" w="4294014">
                <a:moveTo>
                  <a:pt x="0" y="0"/>
                </a:moveTo>
                <a:lnTo>
                  <a:pt x="4294014" y="0"/>
                </a:lnTo>
                <a:lnTo>
                  <a:pt x="4294014" y="3427404"/>
                </a:lnTo>
                <a:lnTo>
                  <a:pt x="0" y="34274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6312">
            <a:off x="6081818" y="6805324"/>
            <a:ext cx="5385775" cy="4905951"/>
          </a:xfrm>
          <a:custGeom>
            <a:avLst/>
            <a:gdLst/>
            <a:ahLst/>
            <a:cxnLst/>
            <a:rect r="r" b="b" t="t" l="l"/>
            <a:pathLst>
              <a:path h="4905951" w="5385775">
                <a:moveTo>
                  <a:pt x="0" y="0"/>
                </a:moveTo>
                <a:lnTo>
                  <a:pt x="5385774" y="0"/>
                </a:lnTo>
                <a:lnTo>
                  <a:pt x="5385774" y="4905952"/>
                </a:lnTo>
                <a:lnTo>
                  <a:pt x="0" y="49059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3960000" y="2232000"/>
            <a:ext cx="10368000" cy="2304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AGRADEÇO</a:t>
            </a:r>
            <a:endParaRPr lang="pt-BR" sz="11000" dirty="0"/>
          </a:p>
        </p:txBody>
      </p:sp>
      <p:sp>
        <p:nvSpPr>
          <p:cNvPr id="202" name="Texto 202"/>
          <p:cNvSpPr txBox="1"/>
          <p:nvPr/>
        </p:nvSpPr>
        <p:spPr>
          <a:xfrm>
            <a:off x="3960000" y="4428000"/>
            <a:ext cx="10368000" cy="64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pela atenção e pelas contribuições</a:t>
            </a:r>
            <a:endParaRPr lang="pt-BR" sz="2900" dirty="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648000" y="324000"/>
            <a:ext cx="14400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REFERÊNCIAS (1/2)</a:t>
            </a:r>
            <a:endParaRPr lang="pt-BR" sz="3600" dirty="0"/>
          </a:p>
        </p:txBody>
      </p:sp>
      <p:sp>
        <p:nvSpPr>
          <p:cNvPr id="202" name="Cartão 202"/>
          <p:cNvSpPr/>
          <p:nvPr/>
        </p:nvSpPr>
        <p:spPr>
          <a:xfrm>
            <a:off x="504000" y="1440000"/>
            <a:ext cx="17280000" cy="8640000"/>
          </a:xfrm>
          <a:prstGeom prst="roundRect">
            <a:avLst>
              <a:gd name="adj" fmla="val 20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216000" tIns="216000" rIns="216000" bIns="216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320" dirty="0"/>
          </a:p>
        </p:txBody>
      </p:sp>
      <p:sp>
        <p:nvSpPr>
          <p:cNvPr id="203" name="Texto 203"/>
          <p:cNvSpPr txBox="1"/>
          <p:nvPr/>
        </p:nvSpPr>
        <p:spPr>
          <a:xfrm>
            <a:off x="792000" y="1656000"/>
            <a:ext cx="8136000" cy="82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AIRES, Jussara Danielle Martins.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Histórias e relatos sobre Pipa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a praia internacional do Rio Grande do Norte. 2012. 114 f. Dissertação (Mestrado em Ciências Sociais) – Programa de Pós-Graduação em Ciências Sociais, Universidade Federal do Rio Grande do Norte, Natal, 2012.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BALL, Stephen J. Reformar escolas/reformar professores e os terrores da performatividade.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Revista Portuguesa de Educação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Braga, v. 15, n. 2, p. 3-23, 2002.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BALL, Stephen J.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education debate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Bristol: The Policy Press, 2008.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BALL, Stephen J. Sociologia das políticas educacionais e pesquisa crítico-social: uma revisão pessoal das políticas educacionais e da pesquisa em política educacional. In: BALL, Stephen J.; MAINARDES, Jefferson (org.).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Políticas educacionais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questões e dilemas. São Paulo: Cortez, 2011. p. 21-53.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BALL, Stephen J.; MAGUIRE, Meg; BRAUN, Annette.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as escolas fazem as políticas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atuação em escolas secundárias. Tradução de Janete Bridon. Ponta Grossa: Editora UEPG, 2016.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BANCO MUNDIAL.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Reimagining Human Connections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Technology and Innovation in Education at the World Bank. Washington, DC: World Bank, 2020.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BOWE, Richard; BALL, Stephen J.; GOLD, Anne.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Reforming education and changing schools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case studies in policy sociology. London: Routledge, 1992.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BRASIL. Conselho Nacional de Saúde.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Resolução nº 466, de 12 de dezembro de 2012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Aprova diretrizes e normas regulamentadoras de pesquisas envolvendo seres humanos. Brasília, DF: CNS, 2012.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BRASIL. Conselho Nacional de Saúde.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Resolução nº 510, de 7 de abril de 2016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Dispõe sobre as normas aplicáveis a pesquisas em Ciências Humanas e Sociais. Brasília, DF: CNS, 2016.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BRASIL.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14.533, de 11 de janeiro de 2023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Institui a Política Nacional de Educação Digital. Brasília, DF: Presidência da República, 2023.</a:t>
            </a:r>
            <a:endParaRPr lang="pt-BR" sz="1650" dirty="0"/>
          </a:p>
        </p:txBody>
      </p:sp>
      <p:sp>
        <p:nvSpPr>
          <p:cNvPr id="204" name="Texto 204"/>
          <p:cNvSpPr txBox="1"/>
          <p:nvPr/>
        </p:nvSpPr>
        <p:spPr>
          <a:xfrm>
            <a:off x="9288000" y="1656000"/>
            <a:ext cx="8136000" cy="82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BRASIL. Conselho Nacional de Educação. Câmara de Educação Básica.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Resolução CNE/CEB nº 2, de 21 de março de 2025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Institui as Diretrizes Operacionais Nacionais sobre o uso de dispositivos digitais em espaços escolares e integração curricular de educação digital e midiática. Brasília, DF: CNE, 2025a.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BRASIL.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15.211, de 17 de setembro de 2025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Dispõe sobre a proteção de crianças e adolescentes em ambientes digitais (Estatuto Digital da Criança e do Adolescente). Brasília, DF: Presidência da República, 2025b.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BRASIL.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15.388, de 14 de abril de 2026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Aprova o Plano Nacional de Educação. Brasília, DF: Presidência da República, 2026.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BRAUN, Virginia; CLARKE, Victoria. Using thematic analysis in psychology.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Psychology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v. 3, n. 2, p. 77-101, 2006.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BRAUN, Virginia; CLARKE, Victoria. Reflecting on reflexive thematic analysis.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Sport, Exercise and Health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v. 11, n. 4, p. 589-597, 2019.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DI FELICE, Massimo.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Paisagens pós-urbanas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o fim da experiência urbana e as formas comunicativas do habitar. São Paulo: Annablume, 2009.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FOUCAULT, Michel.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Vigiar e punir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nascimento da prisão. Tradução de Raquel Ramalhete. 20. ed. Petrópolis: Vozes, 1999.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FREIRE, Paulo.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Pedagogia da autonomia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saberes necessários à prática educativa. 60. ed. Rio de Janeiro: Paz e Terra, 2019.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HARGREAVES, Andy.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Profesorado, cultura y postmodernidad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cambian los tiempos, cambia el profesorado. 5. ed. Madrid: Morata, 2005.</a:t>
            </a:r>
            <a:endParaRPr lang="pt-BR" sz="1650" dirty="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id="201" name="Título 201"/>
          <p:cNvSpPr txBox="1"/>
          <p:nvPr/>
        </p:nvSpPr>
        <p:spPr>
          <a:xfrm>
            <a:off x="648000" y="324000"/>
            <a:ext cx="14400000" cy="93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REFERÊNCIAS (2/2)</a:t>
            </a:r>
            <a:endParaRPr lang="pt-BR" sz="3600" dirty="0"/>
          </a:p>
        </p:txBody>
      </p:sp>
      <p:sp>
        <p:nvSpPr>
          <p:cNvPr id="202" name="Cartão 202"/>
          <p:cNvSpPr/>
          <p:nvPr/>
        </p:nvSpPr>
        <p:spPr>
          <a:xfrm>
            <a:off x="504000" y="1440000"/>
            <a:ext cx="17280000" cy="8640000"/>
          </a:xfrm>
          <a:prstGeom prst="roundRect">
            <a:avLst>
              <a:gd name="adj" fmla="val 2000"/>
            </a:avLst>
          </a:prstGeom>
          <a:solidFill>
            <a:srgbClr val="EFE3D4"/>
          </a:solidFill>
          <a:ln w="38100">
            <a:solidFill>
              <a:srgbClr val="111111"/>
            </a:solidFill>
          </a:ln>
        </p:spPr>
        <p:txBody>
          <a:bodyPr wrap="square" lIns="216000" tIns="216000" rIns="216000" bIns="21600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320" dirty="0"/>
          </a:p>
        </p:txBody>
      </p:sp>
      <p:sp>
        <p:nvSpPr>
          <p:cNvPr id="203" name="Texto 203"/>
          <p:cNvSpPr txBox="1"/>
          <p:nvPr/>
        </p:nvSpPr>
        <p:spPr>
          <a:xfrm>
            <a:off x="792000" y="1656000"/>
            <a:ext cx="8136000" cy="82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LOCKWOOD, Craig et al. Qualitative research synthesis: methodological guidance for systematic reviewers utilizing meta-aggregation.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International Journal of Evidence-Based Healthcare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v. 13, n. 3, p. 179-187, 2015.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MAINARDES, Jefferson. Abordagem do ciclo de políticas: uma contribuição para a análise de políticas educacionais.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&amp; Sociedade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Campinas, v. 27, n. 94, p. 47-69, jan./abr. 2006.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MASSEY, Doreen.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Pelo espaço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uma nova política da espacialidade. Tradução de Hilda Pareto Maciel e Rogério Haesbaert. Rio de Janeiro: Bertrand Brasil, 2008.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MINAYO, Maria Cecília de Souza (org.).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Pesquisa social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teoria, método e criatividade. 28. ed. Petrópolis: Vozes, 2009.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MOROZOV, Evgeny.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Big Tech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a ascensão dos dados e a morte da política. Tradução de Claudio Marcondes. São Paulo: Ubu Editora, 2018.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OCDE.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Students, computers and learning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making the connection. Paris: OECD Publishing, 2015.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ONU. Comitê dos Direitos da Criança.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Comentário Geral nº 25 (2021) sobre os direitos das crianças em relação ao ambiente digital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Genebra: Organização das Nações Unidas, 2021.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PAGE, Matthew J. et al. A declaração PRISMA 2020: diretriz atualizada para relatar revisões sistemáticas.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Epidemiologia e Serviços de Saúde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Brasília, v. 31, n. 2, e2022107, 2022.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PRETTO, Nelson De Luca; CORDEIRO, Salete Noro; OLIVEIRA, Washington dos Santos. Produção cultural e compartilhamento de saberes em rede: entraves e possibilidades para a cultura e a educação.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em Revista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Belo Horizonte, v. 29, n. 3, p. 17-40, set. 2013.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SANTOS, Milton. O território e o saber local: algumas categorias de análise.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Cadernos IPPUR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Rio de Janeiro, ano 13, n. 2, p. 15-26, 1999.</a:t>
            </a:r>
            <a:endParaRPr lang="pt-BR" sz="1650" dirty="0"/>
          </a:p>
        </p:txBody>
      </p:sp>
      <p:sp>
        <p:nvSpPr>
          <p:cNvPr id="204" name="Texto 204"/>
          <p:cNvSpPr txBox="1"/>
          <p:nvPr/>
        </p:nvSpPr>
        <p:spPr>
          <a:xfrm>
            <a:off x="9288000" y="1656000"/>
            <a:ext cx="8136000" cy="8208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SANTOS, Milton.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natureza do espaço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técnica e tempo, razão e emoção. 4. ed. 2. reimpr. São Paulo: Editora da Universidade de São Paulo, 2006.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SANTOS, Milton.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Espaço e método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. 5. ed., 1. reimpr. São Paulo: Editora da Universidade de São Paulo, 2012.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SCHLEMMER, Eliane; BACKES, Luciana; PALAGI, Ana Maria Marques. O habitar do ensinar e do aprender OnLIFE: vivências na educação contemporânea. In: SCHLEMMER, Eliane et al. (org.).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habitar do ensinar e do aprender OnLIFE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vivências na educação contemporânea. São Leopoldo: Casa Leiria, 2021. p. 15-34.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SILVEIRA, Sergio Amadeu da.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Tudo sobre tod@s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redes digitais, privacidade e venda de dados pessoais. São Paulo: Edições Sesc São Paulo, 2017. E-book.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THOMAS, James; HARDEN, Angela. Methods for the thematic synthesis of qualitative research in systematic reviews.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BMC Medical Research Methodology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, v. 8, art. 45, 2008.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TIBAU DO SUL. Secretaria de Educação.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Relatório sintético de turmas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EM Domitila Castelo da Silva, Ensino Fundamental – anos iniciais, ano 2026. Tibau do Sul: Portal SIGEduc, 2026.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UNESCO.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Relatório de monitoramento global da educação 2023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tecnologia na educação: uma ferramenta nos termos de quem? Paris: UNESCO, 2023.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YIN, Robert K.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planejamento e métodos. 2. ed. Porto Alegre: Bookman, 2001.</a:t>
            </a:r>
            <a:endParaRPr lang="pt-BR" sz="1650" dirty="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ZUBOFF, Shoshana. </a:t>
            </a:r>
            <a:r>
              <a:rPr lang="pt-BR" sz="1650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era do capitalismo de vigilância</a:t>
            </a:r>
            <a:r>
              <a:rPr lang="pt-BR" sz="165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: a luta por um futuro humano na nova fronteira do poder. Tradução de George Schlesinger. Rio de Janeiro: Intrínseca, 2021. E-book.</a:t>
            </a:r>
            <a:endParaRPr lang="pt-BR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DAHW_3ivhS8</dc:identifier>
  <dcterms:modified xsi:type="dcterms:W3CDTF">2011-08-01T06:04:30Z</dcterms:modified>
  <cp:revision>1</cp:revision>
</cp:coreProperties>
</file>