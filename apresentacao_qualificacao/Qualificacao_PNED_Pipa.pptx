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  <Relationship Id="rId49" Type="http://schemas.openxmlformats.org/officeDocument/2006/relationships/slide" Target="slides/slide41.xml"/>
  <Relationship Id="rId50" Type="http://schemas.openxmlformats.org/officeDocument/2006/relationships/slide" Target="slides/slide42.xml"/>
  <Relationship Id="rId51" Type="http://schemas.openxmlformats.org/officeDocument/2006/relationships/slide" Target="slides/slide43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1_mapa_municip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Relationship Id="rId13" Type="http://schemas.openxmlformats.org/officeDocument/2006/relationships/image" Target="../media/pesq_fig03_barco.jpg"/><Relationship Id="rId14" Type="http://schemas.openxmlformats.org/officeDocument/2006/relationships/image" Target="../media/image14.png"/><Relationship Id="rId15" Type="http://schemas.openxmlformats.org/officeDocument/2006/relationships/image" Target="../media/image15.svg"/><Relationship Id="rId16" Type="http://schemas.openxmlformats.org/officeDocument/2006/relationships/image" Target="../media/pesq_fig12_surfistas_1991.jpg"/><Relationship Id="rId17" Type="http://schemas.openxmlformats.org/officeDocument/2006/relationships/image" Target="../media/pesq_fig15_vista_aerea.jpg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5_laborator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32_sala.jpg"/><Relationship Id="rId15" Type="http://schemas.openxmlformats.org/officeDocument/2006/relationships/image" Target="../media/pesq_fig37_alfabeto.jpg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4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4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TIBAU DO SUL/RN</a:t>
            </a:r>
            <a:endParaRPr lang="pt-BR" sz="46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 Secretaria Municipal de Educação à escola de Pipa, entre culturas profissionais, território e resistências</a:t>
            </a:r>
            <a:endParaRPr lang="pt-BR" sz="2465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município à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encenação da Política Nacional de Educação Digital (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eixo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na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Silva, em Pipa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pelos profissionais dos anos iniciais (1º ao 5º ano): docentes, coordenação, direção e apoio pedagógico.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Para chegar a Pipa, a pesquisa percorre 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municipal de Tibau do Sul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 os documentos da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Secretaria Municipal de Educação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perguntando se consideram a realidade diversa de cada localidade.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02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056000" y="-216000"/>
            <a:ext cx="2304000" cy="2016000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12000" y="324000"/>
            <a:ext cx="1080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as partes se conectam</a:t>
            </a:r>
            <a:endParaRPr lang="pt-BR" sz="2400" dirty="0"/>
          </a:p>
        </p:txBody>
      </p:sp>
      <p:sp>
        <p:nvSpPr>
          <p:cNvPr id="202" name="Texto 202"/>
          <p:cNvSpPr txBox="1"/>
          <p:nvPr/>
        </p:nvSpPr>
        <p:spPr>
          <a:xfrm>
            <a:off x="612000" y="1944000"/>
            <a:ext cx="15336000" cy="1512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4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Nacional de Educação Digital é recontextualizada e encenada pelos profissionais da educação de Tibau do Sul (RN), da Secretaria Municipal de Educação à escola de Pipa, atravessados pelas culturas profissionais, pelas condições materiais e institucionais e pelas especificidades do lugar, e que formas de atuação emergem desse processo, entre acomodações, negociações, ressignificações e resistências?</a:t>
            </a:r>
            <a:endParaRPr lang="pt-BR" sz="1740" dirty="0"/>
          </a:p>
        </p:txBody>
      </p:sp>
      <p:sp>
        <p:nvSpPr>
          <p:cNvPr id="203" name="Cartão 203"/>
          <p:cNvSpPr/>
          <p:nvPr/>
        </p:nvSpPr>
        <p:spPr>
          <a:xfrm>
            <a:off x="612000" y="3744000"/>
            <a:ext cx="2520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eixo Educação Digital Escolar</a:t>
            </a:r>
            <a:endParaRPr lang="pt-BR" sz="1522" dirty="0"/>
          </a:p>
        </p:txBody>
      </p:sp>
      <p:sp>
        <p:nvSpPr>
          <p:cNvPr id="204" name="Cartão 204"/>
          <p:cNvSpPr/>
          <p:nvPr/>
        </p:nvSpPr>
        <p:spPr>
          <a:xfrm>
            <a:off x="3708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é recontextualizada pela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SME DE TIBAU DO SUL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traduz a política para um território diverso: sede, áreas rurais, povoados e a comunidade quilombola de Sibaúma</a:t>
            </a:r>
            <a:endParaRPr lang="pt-BR" sz="1522" dirty="0"/>
          </a:p>
        </p:txBody>
      </p:sp>
      <p:sp>
        <p:nvSpPr>
          <p:cNvPr id="205" name="Cartão 205"/>
          <p:cNvSpPr/>
          <p:nvPr/>
        </p:nvSpPr>
        <p:spPr>
          <a:xfrm>
            <a:off x="7236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é encenada na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DE PIPA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pelos profissionais da educação (os atores)</a:t>
            </a:r>
            <a:endParaRPr lang="pt-BR" sz="1522" dirty="0"/>
          </a:p>
        </p:txBody>
      </p:sp>
      <p:sp>
        <p:nvSpPr>
          <p:cNvPr id="206" name="Forma 206"/>
          <p:cNvSpPr/>
          <p:nvPr/>
        </p:nvSpPr>
        <p:spPr>
          <a:xfrm>
            <a:off x="3222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7" name="Forma 207"/>
          <p:cNvSpPr/>
          <p:nvPr/>
        </p:nvSpPr>
        <p:spPr>
          <a:xfrm>
            <a:off x="6750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8" name="Forma 208"/>
          <p:cNvSpPr/>
          <p:nvPr/>
        </p:nvSpPr>
        <p:spPr>
          <a:xfrm>
            <a:off x="10278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09" name="Cartão 209"/>
          <p:cNvSpPr/>
          <p:nvPr/>
        </p:nvSpPr>
        <p:spPr>
          <a:xfrm>
            <a:off x="10764000" y="3744000"/>
            <a:ext cx="3456000" cy="345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26000" tIns="126000" rIns="126000" bIns="126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atravessada por</a:t>
            </a:r>
            <a:endParaRPr lang="pt-BR" sz="1522" dirty="0"/>
          </a:p>
        </p:txBody>
      </p:sp>
      <p:sp>
        <p:nvSpPr>
          <p:cNvPr id="210" name="Cartão 210"/>
          <p:cNvSpPr/>
          <p:nvPr/>
        </p:nvSpPr>
        <p:spPr>
          <a:xfrm>
            <a:off x="10980000" y="4284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</a:t>
            </a:r>
            <a:endParaRPr lang="pt-BR" sz="1595" dirty="0"/>
          </a:p>
        </p:txBody>
      </p:sp>
      <p:sp>
        <p:nvSpPr>
          <p:cNvPr id="211" name="Cartão 211"/>
          <p:cNvSpPr/>
          <p:nvPr/>
        </p:nvSpPr>
        <p:spPr>
          <a:xfrm>
            <a:off x="10980000" y="5238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materiais e institucionais</a:t>
            </a:r>
            <a:endParaRPr lang="pt-BR" sz="1595" dirty="0"/>
          </a:p>
        </p:txBody>
      </p:sp>
      <p:sp>
        <p:nvSpPr>
          <p:cNvPr id="212" name="Cartão 212"/>
          <p:cNvSpPr/>
          <p:nvPr/>
        </p:nvSpPr>
        <p:spPr>
          <a:xfrm>
            <a:off x="10980000" y="6192000"/>
            <a:ext cx="3024000" cy="8100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Especificidades do lugar (território)</a:t>
            </a:r>
            <a:endParaRPr lang="pt-BR" sz="1595" dirty="0"/>
          </a:p>
        </p:txBody>
      </p:sp>
      <p:sp>
        <p:nvSpPr>
          <p:cNvPr id="213" name="Forma 213"/>
          <p:cNvSpPr/>
          <p:nvPr/>
        </p:nvSpPr>
        <p:spPr>
          <a:xfrm>
            <a:off x="14256000" y="5220000"/>
            <a:ext cx="432000" cy="504000"/>
          </a:xfrm>
          <a:prstGeom prst="right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4" name="Cartão 214"/>
          <p:cNvSpPr/>
          <p:nvPr/>
        </p:nvSpPr>
        <p:spPr>
          <a:xfrm>
            <a:off x="14724000" y="3744000"/>
            <a:ext cx="2952000" cy="345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22" i="1" dirty="0">
                <a:solidFill>
                  <a:srgbClr val="3F48BA"/>
                </a:solidFill>
                <a:latin typeface="Canva Sans"/>
                <a:ea typeface="Canva Sans"/>
                <a:cs typeface="Canva Sans"/>
                <a:sym typeface="Canva Sans"/>
              </a:rPr>
              <a:t>e produz</a:t>
            </a:r>
            <a:endParaRPr lang="pt-BR" sz="1522" dirty="0"/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</a:t>
            </a:r>
            <a:endParaRPr lang="pt-BR" sz="203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acomodação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negociação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66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ressignificação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resistência*</a:t>
            </a:r>
            <a:endParaRPr lang="pt-BR" sz="1668" dirty="0"/>
          </a:p>
        </p:txBody>
      </p:sp>
      <p:sp>
        <p:nvSpPr>
          <p:cNvPr id="215" name="Cartão 215"/>
          <p:cNvSpPr/>
          <p:nvPr/>
        </p:nvSpPr>
        <p:spPr>
          <a:xfrm>
            <a:off x="612000" y="7560000"/>
            <a:ext cx="4536000" cy="237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</a:t>
            </a:r>
            <a:endParaRPr lang="pt-BR" sz="159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“coletivas, criativas e limitadas”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7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(BALL; MAGUIRE; BRAUN, 2016, p. 103)</a:t>
            </a:r>
            <a:endParaRPr lang="pt-BR" sz="1378" dirty="0"/>
          </a:p>
        </p:txBody>
      </p:sp>
      <p:sp>
        <p:nvSpPr>
          <p:cNvPr id="216" name="Cartão 216"/>
          <p:cNvSpPr/>
          <p:nvPr/>
        </p:nvSpPr>
        <p:spPr>
          <a:xfrm>
            <a:off x="5472000" y="7560000"/>
            <a:ext cx="7776000" cy="2376000"/>
          </a:xfrm>
          <a:prstGeom prst="roundRect">
            <a:avLst>
              <a:gd name="adj" fmla="val 9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152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Um discurso é “um modo de construir sentidos que influencia e organiza tanto nossas ações quanto a concepção que temos de nós mesmos” (HALL, 2006, p. 50-51; aproximação nossa).</a:t>
            </a:r>
            <a:endParaRPr lang="pt-BR" sz="1522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4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as narrativas dos profissionais ocupam o centro da produção de dados.</a:t>
            </a:r>
            <a:endParaRPr lang="pt-BR" sz="1740" dirty="0"/>
          </a:p>
        </p:txBody>
      </p:sp>
      <p:sp>
        <p:nvSpPr>
          <p:cNvPr id="217" name="Forma 217"/>
          <p:cNvSpPr/>
          <p:nvPr/>
        </p:nvSpPr>
        <p:spPr>
          <a:xfrm>
            <a:off x="15948000" y="7236000"/>
            <a:ext cx="432000" cy="360000"/>
          </a:xfrm>
          <a:prstGeom prst="downArrow">
            <a:avLst/>
          </a:prstGeom>
          <a:solidFill>
            <a:srgbClr val="FFCE32"/>
          </a:solidFill>
          <a:ln w="19050">
            <a:solidFill>
              <a:srgbClr val="111111"/>
            </a:solidFill>
          </a:ln>
        </p:spPr>
      </p:sp>
      <p:sp>
        <p:nvSpPr>
          <p:cNvPr id="218" name="Cartão 218"/>
          <p:cNvSpPr/>
          <p:nvPr/>
        </p:nvSpPr>
        <p:spPr>
          <a:xfrm>
            <a:off x="13572000" y="7560000"/>
            <a:ext cx="4104000" cy="2376000"/>
          </a:xfrm>
          <a:prstGeom prst="roundRect">
            <a:avLst>
              <a:gd name="adj" fmla="val 9000"/>
            </a:avLst>
          </a:prstGeom>
          <a:solidFill>
            <a:srgbClr val="FFCE32"/>
          </a:solidFill>
          <a:ln w="31750">
            <a:solidFill>
              <a:srgbClr val="111111"/>
            </a:solidFill>
          </a:ln>
        </p:spPr>
        <p:txBody>
          <a:bodyPr wrap="square" lIns="144000" tIns="144000" rIns="144000" bIns="144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166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* A resistência é uma possibilidade:</a:t>
            </a:r>
            <a:endParaRPr lang="pt-BR" sz="166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9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hipótese a examinar nos dados, sem ser pressuposta.</a:t>
            </a:r>
            <a:endParaRPr lang="pt-BR" sz="1595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Política Nacional de Educação Digital da Secretaria Municipal de Educação de Tibau do Sul até o contexto da prática da Escola Municipal Domitila Castelo da Silva, em Pipa, considerando a diversidade socioespacial do território municipal, as culturas profissionais e as condições materiais e institucionais da rede e da escola.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interpretação da PNED e das orientações municipais pelos profissionais da escola, à luz de suas experiências, crenças, valores e formas de organização do trabalho;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Examinar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relação entre as condições materiais e institucionais da escola, articuladas às especificidades de Pipa no território municipal, e a tradução da política em ações, escolhas e práticas cotidianas;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formas de atuação produzidas diante da política e das orientações municipais, da adesão à resistência;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Discutir</a:t>
            </a: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implicações dessas formas de atuação para a provisão, a proteção e a participação das crianças no ambiente digital.</a:t>
            </a:r>
            <a:endParaRPr lang="pt-BR" sz="1958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Tibau do Sul reúne localidades muito distintas numa mesma rede; em Pipa, uso econômico intenso das tecnologias convive com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mostra se a tradução municipal da PNED considera as diferenças entre as localidades e o que chega a Pipa, com devolutiva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a uma escola de Pipa, lida a partir da rede.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no centro, lida dentro do território municipal diverso,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numa escola de Pipa, lida a partir da rede municipal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na Secretaria e na escola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SME traduz a política para a rede; na escola,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056000" y="-216000"/>
            <a:ext cx="2304000" cy="2016000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12000" y="324000"/>
            <a:ext cx="144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CONCEITOS E TEÓRICOS</a:t>
            </a:r>
            <a:endParaRPr lang="pt-BR" sz="4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guia a leitura da tese</a:t>
            </a:r>
            <a:endParaRPr lang="pt-BR" sz="2400" dirty="0"/>
          </a:p>
        </p:txBody>
      </p:sp>
      <p:sp>
        <p:nvSpPr>
          <p:cNvPr id="202" name="Cartão 202"/>
          <p:cNvSpPr/>
          <p:nvPr/>
        </p:nvSpPr>
        <p:spPr>
          <a:xfrm>
            <a:off x="612000" y="2232000"/>
            <a:ext cx="4104000" cy="6408000"/>
          </a:xfrm>
          <a:prstGeom prst="roundRect">
            <a:avLst>
              <a:gd name="adj" fmla="val 7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61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POLÍTICA</a:t>
            </a:r>
            <a:endParaRPr lang="pt-BR" sz="261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Ciclo de políticas: influência, produção do texto, prática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(1992); Mainardes (2006)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Atuação (encenação): interpretar e traduzir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Maguire e Braun (2016)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Recontextualização: a política "recriada" na prática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Ball e Gold (1992, p. 22)</a:t>
            </a:r>
            <a:endParaRPr lang="pt-BR" sz="1958" dirty="0"/>
          </a:p>
        </p:txBody>
      </p:sp>
      <p:sp>
        <p:nvSpPr>
          <p:cNvPr id="203" name="Cartão 203"/>
          <p:cNvSpPr/>
          <p:nvPr/>
        </p:nvSpPr>
        <p:spPr>
          <a:xfrm>
            <a:off x="4914000" y="2232000"/>
            <a:ext cx="4104000" cy="6408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61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OS PROFISSIONAIS</a:t>
            </a:r>
            <a:endParaRPr lang="pt-BR" sz="261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 (2005)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e fabricação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 (2002; 2008)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Poder e resistência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 (1999); Ball (2011); Freire (2019)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Sentidos que organizam ações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Hall (2006)</a:t>
            </a:r>
            <a:endParaRPr lang="pt-BR" sz="1958" dirty="0"/>
          </a:p>
        </p:txBody>
      </p:sp>
      <p:sp>
        <p:nvSpPr>
          <p:cNvPr id="204" name="Cartão 204"/>
          <p:cNvSpPr/>
          <p:nvPr/>
        </p:nvSpPr>
        <p:spPr>
          <a:xfrm>
            <a:off x="9216000" y="2232000"/>
            <a:ext cx="4104000" cy="6408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61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TERRITÓRIO</a:t>
            </a:r>
            <a:endParaRPr lang="pt-BR" sz="261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usado e rugosidades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 (1999; 2006; 2012)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Lugar como encontro de trajetórias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 (2008)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e Educação OnLIFE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Backes e Palagi (2021); Di Felice (2009)</a:t>
            </a:r>
            <a:endParaRPr lang="pt-BR" sz="1958" dirty="0"/>
          </a:p>
        </p:txBody>
      </p:sp>
      <p:sp>
        <p:nvSpPr>
          <p:cNvPr id="205" name="Cartão 205"/>
          <p:cNvSpPr/>
          <p:nvPr/>
        </p:nvSpPr>
        <p:spPr>
          <a:xfrm>
            <a:off x="13518000" y="2232000"/>
            <a:ext cx="4104000" cy="6408000"/>
          </a:xfrm>
          <a:prstGeom prst="roundRect">
            <a:avLst>
              <a:gd name="adj" fmla="val 7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261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CULTURA DIGITAL</a:t>
            </a:r>
            <a:endParaRPr lang="pt-BR" sz="261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Capitalismo de vigilância e dados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 (2021); Silveira (2017)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Solucionismo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 (2018)</a:t>
            </a:r>
            <a:endParaRPr lang="pt-BR" sz="1958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Sujeitos produtores de cultura</a:t>
            </a:r>
            <a:endParaRPr lang="pt-BR" sz="2175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173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Cordeiro e Oliveira (2013)</a:t>
            </a:r>
            <a:endParaRPr lang="pt-BR" sz="1958" dirty="0"/>
          </a:p>
        </p:txBody>
      </p:sp>
      <p:sp>
        <p:nvSpPr>
          <p:cNvPr id="206" name="Cartão 206"/>
          <p:cNvSpPr/>
          <p:nvPr/>
        </p:nvSpPr>
        <p:spPr>
          <a:xfrm>
            <a:off x="612000" y="8892000"/>
            <a:ext cx="17010000" cy="1152000"/>
          </a:xfrm>
          <a:prstGeom prst="roundRect">
            <a:avLst>
              <a:gd name="adj" fmla="val 20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Formulações da tese: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habitar o digital · rugosidade tecnológica · vazio material</a:t>
            </a:r>
            <a:endParaRPr lang="pt-BR" sz="2175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Caso único: a escola de Pipa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Percurso em funil: território municipal, documentos da SME, Pipa e a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primeira entrevista do campo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rede à escola: plano da rede, currículo, formações, PPP e planos, já solicitados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Território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 e Censo Escolar por localidade; 38 imagens de Pipa e da escola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Primeiro o técnico da SME, depois os profissionais da escola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coparticipante, a submeter; TCLE;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64000"/>
            <a:ext cx="6048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digital, para a lei</a:t>
            </a:r>
            <a:endParaRPr lang="pt-BR" sz="239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Letramento digital e informacional e aprendizagem de computação, programação, robótica e outras competências digitais, em todos os níveis e modalidades (art. 3º)</a:t>
            </a:r>
            <a:endParaRPr lang="pt-BR" sz="188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é inegociável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 (dez. 2023)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Dever do Estado, com conectividade garantida às escolas públicas (LDB, art. 4º, XII)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Currículos implementados a partir de 2026 (Res. CNE/CEB nº 2/2025, art. 36)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64000"/>
            <a:ext cx="6264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de professores e gestores como ação de promoção (art. 3º, § 1º, IX e X)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Nenhum fundo próprio nem transferência obrigatória aos municípios (art. 11)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obrigação tem data e os meios não; proposição a verificar no campo</a:t>
            </a:r>
            <a:endParaRPr lang="pt-BR" sz="1885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À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 Tibau do Sul a Pipa</a:t>
            </a:r>
            <a:endParaRPr lang="pt-BR" sz="3000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pic>
        <p:nvPicPr>
          <p:cNvPr id="201" name="Foto 201" descr="Mapa de localização do município de Tibau do Sul (RN)"/>
          <p:cNvPicPr>
            <a:picLocks noChangeAspect="1"/>
          </p:cNvPicPr>
          <p:nvPr/>
        </p:nvPicPr>
        <p:blipFill>
          <a:blip r:embed="rId11"/>
          <a:srcRect l="0" t="8" r="0" b="8"/>
          <a:stretch>
            <a:fillRect/>
          </a:stretch>
        </p:blipFill>
        <p:spPr>
          <a:xfrm>
            <a:off x="864000" y="576000"/>
            <a:ext cx="6984000" cy="777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2" name="Tacha 202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96000" y="36000"/>
            <a:ext cx="720000" cy="115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864000" y="8460000"/>
            <a:ext cx="6984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Tibau do Sul no Rio Grande do Norte. Base cartográfica IBGE; elaboração adaptada (2026).</a:t>
            </a:r>
            <a:endParaRPr lang="pt-BR" sz="1200" dirty="0"/>
          </a:p>
        </p:txBody>
      </p:sp>
      <p:sp>
        <p:nvSpPr>
          <p:cNvPr id="204" name="Título 204"/>
          <p:cNvSpPr txBox="1"/>
          <p:nvPr/>
        </p:nvSpPr>
        <p:spPr>
          <a:xfrm>
            <a:off x="8496000" y="432000"/>
            <a:ext cx="921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TIBAU DO SUL</a:t>
            </a:r>
            <a:endParaRPr lang="pt-BR" sz="5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um município, muitas localidades</a:t>
            </a:r>
            <a:endParaRPr lang="pt-BR" sz="2800" dirty="0"/>
          </a:p>
        </p:txBody>
      </p:sp>
      <p:sp>
        <p:nvSpPr>
          <p:cNvPr id="205" name="Cartão 205"/>
          <p:cNvSpPr/>
          <p:nvPr/>
        </p:nvSpPr>
        <p:spPr>
          <a:xfrm>
            <a:off x="8496000" y="2664000"/>
            <a:ext cx="9288000" cy="7272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município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102,68 km² e 16.929 habitantes (IBGE, 2023; 2025); cerca de 40% rurais em 2010, a conferir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Só o distrito sede no IBGE; localidades com feições próprias: sede, Pipa, Sibaúma, Piau e povoados rurais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Sibaúma, comunidade quilombola certificada em 2005 (FUNDAÇÃO CULTURAL PALMARES, 2005)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rede e a Secretaria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Escolas na sede, em Pipa, em Sibaúma, em Piau e nos povoados (levantamento preliminar)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Sibaúma, dois computadores (2007-2009) estragaram sem manutenção e a internet foi desativada (SILVA, 2011, p. 101-102)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Segundo o técnico da SME, há um plano elaborado para a rede como um todo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pergunta:</a:t>
            </a:r>
            <a:r>
              <a:rPr lang="pt-BR" sz="239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tradução municipal da PNED considera essas diferenças? O que chega a Pipa?</a:t>
            </a:r>
            <a:endParaRPr lang="pt-BR" sz="2392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de aldeia de pescadores a polo turístico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08000" y="3024000"/>
            <a:ext cx="9180000" cy="180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Comunidade agrícola e pesqueira nos anos 1970; surfistas desde meados da década; divulgação intensa nos anos 1990 (AIRES, 2012, p. 80-82). Hoje, pousadas, restaurantes e passeios vendidos pela internet.</a:t>
            </a:r>
            <a:endParaRPr lang="pt-BR" sz="2030" dirty="0"/>
          </a:p>
        </p:txBody>
      </p:sp>
      <p:pic>
        <p:nvPicPr>
          <p:cNvPr id="203" name="Foto 203" descr="Construção artesanal de embarcação na antiga Pipa"/>
          <p:cNvPicPr>
            <a:picLocks noChangeAspect="1"/>
          </p:cNvPicPr>
          <p:nvPr/>
        </p:nvPicPr>
        <p:blipFill>
          <a:blip r:embed="rId13"/>
          <a:srcRect l="0" t="60" r="0" b="60"/>
          <a:stretch>
            <a:fillRect/>
          </a:stretch>
        </p:blipFill>
        <p:spPr>
          <a:xfrm rot="-90000">
            <a:off x="864000" y="5400000"/>
            <a:ext cx="5112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60000" y="4860000"/>
            <a:ext cx="720000" cy="1152000"/>
          </a:xfrm>
          <a:prstGeom prst="rect">
            <a:avLst/>
          </a:prstGeom>
        </p:spPr>
      </p:pic>
      <p:pic>
        <p:nvPicPr>
          <p:cNvPr id="205" name="Foto 205" descr="Grupo de surfistas com pranchas, abril de 1991"/>
          <p:cNvPicPr>
            <a:picLocks noChangeAspect="1"/>
          </p:cNvPicPr>
          <p:nvPr/>
        </p:nvPicPr>
        <p:blipFill>
          <a:blip r:embed="rId16"/>
          <a:srcRect l="0" t="5" r="0" b="5"/>
          <a:stretch>
            <a:fillRect/>
          </a:stretch>
        </p:blipFill>
        <p:spPr>
          <a:xfrm rot="72000">
            <a:off x="6624000" y="5400000"/>
            <a:ext cx="468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604000" y="4860000"/>
            <a:ext cx="720000" cy="1152000"/>
          </a:xfrm>
          <a:prstGeom prst="rect">
            <a:avLst/>
          </a:prstGeom>
        </p:spPr>
      </p:pic>
      <p:pic>
        <p:nvPicPr>
          <p:cNvPr id="207" name="Foto 207" descr="Vista aérea contemporânea de Pipa e sua orla turística"/>
          <p:cNvPicPr>
            <a:picLocks noChangeAspect="1"/>
          </p:cNvPicPr>
          <p:nvPr/>
        </p:nvPicPr>
        <p:blipFill>
          <a:blip r:embed="rId17"/>
          <a:srcRect l="0" t="119" r="0" b="119"/>
          <a:stretch>
            <a:fillRect/>
          </a:stretch>
        </p:blipFill>
        <p:spPr>
          <a:xfrm rot="-60000">
            <a:off x="11952000" y="5400000"/>
            <a:ext cx="5040000" cy="3708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4112000" y="486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864000" y="9252000"/>
            <a:ext cx="5112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Embarcação artesanal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6624000" y="9252000"/>
            <a:ext cx="468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Surfistas, abril de 1991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11952000" y="9252000"/>
            <a:ext cx="5040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Vista aérea atual</a:t>
            </a:r>
            <a:endParaRPr lang="pt-BR" sz="1700" dirty="0"/>
          </a:p>
        </p:txBody>
      </p:sp>
      <p:sp>
        <p:nvSpPr>
          <p:cNvPr id="212" name="Texto 212"/>
          <p:cNvSpPr txBox="1"/>
          <p:nvPr/>
        </p:nvSpPr>
        <p:spPr>
          <a:xfrm>
            <a:off x="864000" y="9720000"/>
            <a:ext cx="16128000" cy="3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Fotografias: Museu Digital de Pipa / Acervo da pesquisa (2026).</a:t>
            </a:r>
            <a:endParaRPr lang="pt-BR" sz="1300" dirty="0"/>
          </a:p>
        </p:txBody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504000"/>
            <a:ext cx="10512000" cy="27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ESCOLA</a:t>
            </a:r>
            <a:endParaRPr lang="pt-BR" sz="5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desligado e salas sem telas</a:t>
            </a:r>
            <a:endParaRPr lang="pt-BR" sz="3000" dirty="0"/>
          </a:p>
        </p:txBody>
      </p:sp>
      <p:pic>
        <p:nvPicPr>
          <p:cNvPr id="202" name="Foto 202" descr="Laboratório de informática com equipamentos desligados"/>
          <p:cNvPicPr>
            <a:picLocks noChangeAspect="1"/>
          </p:cNvPicPr>
          <p:nvPr/>
        </p:nvPicPr>
        <p:blipFill>
          <a:blip r:embed="rId11"/>
          <a:srcRect l="0" t="70" r="0" b="70"/>
          <a:stretch>
            <a:fillRect/>
          </a:stretch>
        </p:blipFill>
        <p:spPr>
          <a:xfrm rot="-72000">
            <a:off x="93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572000"/>
            <a:ext cx="720000" cy="1152000"/>
          </a:xfrm>
          <a:prstGeom prst="rect">
            <a:avLst/>
          </a:prstGeom>
        </p:spPr>
      </p:pic>
      <p:pic>
        <p:nvPicPr>
          <p:cNvPr id="204" name="Foto 204" descr="Sala de aula dos primeiros anos"/>
          <p:cNvPicPr>
            <a:picLocks noChangeAspect="1"/>
          </p:cNvPicPr>
          <p:nvPr/>
        </p:nvPicPr>
        <p:blipFill>
          <a:blip r:embed="rId14"/>
          <a:srcRect l="0" t="70" r="0" b="70"/>
          <a:stretch>
            <a:fillRect/>
          </a:stretch>
        </p:blipFill>
        <p:spPr>
          <a:xfrm rot="60000">
            <a:off x="651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5" name="Tacha 205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572000"/>
            <a:ext cx="720000" cy="1152000"/>
          </a:xfrm>
          <a:prstGeom prst="rect">
            <a:avLst/>
          </a:prstGeom>
        </p:spPr>
      </p:pic>
      <p:pic>
        <p:nvPicPr>
          <p:cNvPr id="206" name="Foto 206" descr="Alfabeto móvel confeccionado artesanalmente"/>
          <p:cNvPicPr>
            <a:picLocks noChangeAspect="1"/>
          </p:cNvPicPr>
          <p:nvPr/>
        </p:nvPicPr>
        <p:blipFill>
          <a:blip r:embed="rId15"/>
          <a:srcRect l="0" t="70" r="0" b="70"/>
          <a:stretch>
            <a:fillRect/>
          </a:stretch>
        </p:blipFill>
        <p:spPr>
          <a:xfrm rot="-60000">
            <a:off x="12096000" y="5112000"/>
            <a:ext cx="5256000" cy="2952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7" name="Tacha 207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572000"/>
            <a:ext cx="720000" cy="1152000"/>
          </a:xfrm>
          <a:prstGeom prst="rect">
            <a:avLst/>
          </a:prstGeom>
        </p:spPr>
      </p:pic>
      <p:sp>
        <p:nvSpPr>
          <p:cNvPr id="208" name="Texto 208"/>
          <p:cNvSpPr txBox="1"/>
          <p:nvPr/>
        </p:nvSpPr>
        <p:spPr>
          <a:xfrm>
            <a:off x="93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700" dirty="0"/>
          </a:p>
        </p:txBody>
      </p:sp>
      <p:sp>
        <p:nvSpPr>
          <p:cNvPr id="209" name="Texto 209"/>
          <p:cNvSpPr txBox="1"/>
          <p:nvPr/>
        </p:nvSpPr>
        <p:spPr>
          <a:xfrm>
            <a:off x="651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Sala dos primeiros anos</a:t>
            </a:r>
            <a:endParaRPr lang="pt-BR" sz="1700" dirty="0"/>
          </a:p>
        </p:txBody>
      </p:sp>
      <p:sp>
        <p:nvSpPr>
          <p:cNvPr id="210" name="Texto 210"/>
          <p:cNvSpPr txBox="1"/>
          <p:nvPr/>
        </p:nvSpPr>
        <p:spPr>
          <a:xfrm>
            <a:off x="12096000" y="8172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700" dirty="0"/>
          </a:p>
        </p:txBody>
      </p:sp>
      <p:sp>
        <p:nvSpPr>
          <p:cNvPr id="211" name="Texto 211"/>
          <p:cNvSpPr txBox="1"/>
          <p:nvPr/>
        </p:nvSpPr>
        <p:spPr>
          <a:xfrm>
            <a:off x="936000" y="8640000"/>
            <a:ext cx="16416000" cy="158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 a confirmar.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prescreve, o que a rede municipal traduz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240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464000"/>
            <a:ext cx="9216000" cy="12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175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832000"/>
            <a:ext cx="9216000" cy="3024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52000" tIns="252000" rIns="252000" bIns="252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465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108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8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FOI FEITO</a:t>
            </a:r>
            <a:endParaRPr lang="pt-BR" sz="4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o que falta fazer</a:t>
            </a:r>
            <a:endParaRPr lang="pt-BR" sz="36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28000"/>
            <a:ext cx="6084000" cy="489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Feito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315 h de 330 h em componentes curriculares; proficiência em espanhol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Aprovação no CEP (Parecer nº 8.038.332)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Texto de qualificação e registro iconográfico de Pipa e da escola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Documentação já solicitada: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PPP e planos à direção da escola; plano da rede, currículo e formações ao técnico da SME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Produção: ConWiTE (2024; 2026), ConBAlf (2025), V Colóquio de Políticas Educacionais (2025)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28000"/>
            <a:ext cx="6336000" cy="489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Falta fazer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 e o projeto atualizado à PNED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Campo em dez semanas: técnico da SME, questionários, entrevistas e análise da documentação recebida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Transcrição, análise temática reflexiva e devolutiva à escola e à SME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7, revisão dos capítulos com as contribuições da banca e considerações finais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Seminário de Formação Doutoral II e Seminário de Pesquisa IV (em curso); proficiência em inglês; artigos; depósito e defesa</a:t>
            </a:r>
            <a:endParaRPr lang="pt-BR" sz="1885" dirty="0"/>
          </a:p>
        </p:txBody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ALVES, Josemery Araújo.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Turismo, recursos de uso comum e conflitos socioambientais em Pipa-Tibau do Sul/RN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perspectiva à luz dos princípios de Ostrom. 2018. Tese (Doutorado em Recursos Naturais) – Universidade Federal de Campina Grande, Campina Grande,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FUNDAÇÃO CULTURAL PALMARES. Portaria nº 26, de 6 de junho de 2005.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Diário Oficial da União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seção 1, Brasília, DF, 8 jun.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HALL, Stuart.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identidade cultural na pós-modernidade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11. ed. Rio de Janeiro: DP&amp;A,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Censo Demográfico 2022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população e domicílios: primeiros resultados. Rio de Janeiro: IBGE, 2023.</a:t>
            </a:r>
            <a:endParaRPr lang="pt-BR" sz="1550" dirty="0"/>
          </a:p>
        </p:txBody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Cidades@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Tibau do Sul. Rio de Janeiro: IBGE, 2025. Disponível em: https://cidades.ibge.gov.br/brasil/rn/tibau-do-sul.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SILVA, Terezinha Martins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educação escolar na comunidade negra de Sibaúma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trajetória educacional da Escola Municipal Armando de Paiva. 2011. 139 f. Dissertação (Mestrado em Educação) – Universidade Federal do Rio Grande do Norte, Natal, 2011.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