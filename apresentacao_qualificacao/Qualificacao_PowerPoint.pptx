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 tarde a todas e a todos. Agradeço à banca pela leitura e à minha orientadora, professora Maria Cristina, pelo acompanhamento. Apresento hoje a tese A encenação da Política Nacional de Educação Digital em Pipa, que investiga como uma política nacional ganha forma numa escola situada, a partir de quem trabalha nela, das condições que ela tem e do território em que está.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apresentação tem seis partes. Começo pela proposta, com o problema, o objeto, os objetivos, as relevâncias e o ineditismo. Depois mostro o que a revisão sistemática responde, os fundamentos teóricos e metodológicos, os cinco movimentos da pesquisa e a agenda territorial da política. Termino com o capítulo do território, que já traz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problema nasce de uma distância. A lei fez da educação digital um direito, um dever do Estado e um componente curricular, com implementação obrigatória a partir de 2026. Na sala, encontramos turmas dos anos iniciais sem tela, um laboratório cujo uso ainda precisa ser verificado e uma formação que a lei prevê apenas como promoção. É nessa distância que os profissionais precisam encenar a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objeto é a encenação da PNED, em seu eixo Educação Digital Escolar, pelos profissionais da educação do primeiro ao quinto ano da Escola Municipal Domitila Castelo. Escuto docentes, coordenação, direção e demais profissionais, porque todos constroem a política. A questão foi formulada para manter o resultado em aberto: queremos saber como encenam e recontextualizam a PNED e como culturas profissionais, condições da escola e território atravessam esse processo.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objetivo geral é analisar essa encenação considerando a política, as culturas profissionais, as condições materiais e institucionais e o território. Os quatro objetivos específicos seguem o caminho da própria política até as crianças: como ela é lida, como é traduzida nas condições da escola e do lugar, que formas de atuação os profissionais produzem e que implicações isso tem para a provisão, a proteção e a participação das crianças no ambiente digital.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pesquisa tem quatro relevâncias. A primeira está no que o eixo promete às crianças: participação consciente e democrática e proteção de dados, e, nos anos iniciais, a escola é para muitas delas o primeiro espaço público para conversar sobre o digital com alguém que ensina. A segunda está em quem faz a política acontecer, os profissionais, cada um de uma posição. A terceira está no território: o distrito que vende pousadas e passeios pela internet é o mesmo de onde as crianças saem para salas sem tela. A quarta está no debate sobre desigualdade. Pela TIC Educação 2024, a conexão chegou a quase todas as escolas, enquanto os computadores para os alunos ficaram estáveis no total e caíram nas escolas rurais. Castells lembra que ser excluído dessas redes é uma das formas mais danosas de exclusão.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ineditismo tem três dimensões. A empírico-temporal: a pesquisa acompanha a PNED no momento em que o componente se torna obrigatório, e nenhum estudo da revisão trata dela ou de rede municipal de pequeno porte. A analítico-espacial: Pipa entra como parte do contexto da prática. A teórico-conceitual: a articulação entre teoria da atuação, culturas profissionais, dimensão material e território, com a noção de habitar o digital.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tese de partida é que a PNED chega à escola como orientação a ser lida e interpretada, e que a forma que ela assume no cotidiano resulta da relação entre o que prescreve e as condições em que os profissionais atuam. Nenhuma forma de atuação é pressuposta. A pergunta que move a pesquisa é o que acontece com uma política de educação digital quando encontra uma escola, seus profissionais, suas condições e um território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revisão sistemática partiu de uma questão: o que a produção científica evidencia sobre a implementação de políticas de educação digital nos anos iniciais. Seguimos o PRISMA 2020 em sete bases. Dos 176 registros, 39 foram buscados para leitura integral, 35 foram lidos e 9 compõem o corpus, publicado entre 2021 e 2024. A resposta é que a atuação dessas políticas depende da articulação entre recursos, condições institucionais e trabalho interpretativo dos profissionais. O corpus responde com mais consistência às condições e ao papel dos profissionais e tem apoio mais restrito quanto à formação dirigida às crianças.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resposta se compõe de três subperguntas. Sobre os condicionantes, o corpus converge: além de equipamentos e conexão, pesam a formação continuada, a estabilidade das equipes, o tempo de trabalho e a própria norma, que pode restringir práticas. O território aparece só como contraste entre países. Sobre o papel dos profissionais, a convergência é ainda maior: eles interpretam e decidem, embora as razões desse trabalho sejam pouco examinadas. Sobre cultura digital e cidadania, o apoio é frágil. Daí as lacunas que a tese assume: a PNED, o ciclo de alfabetização, o funcionamento ordinário da escola, a rede municipal de pequeno porte e o que os profissionais fazem quando a formação não chega.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fundamentos teóricos acompanham o caminho da política. A Abordagem do Ciclo de Políticas mostra que a política é recriada no contexto da prática. A teoria da atuação de Ball, Maguire e Braun traz as dimensões do contexto. Hargreaves ajuda a ler as culturas profissionais; Ball, a performatividade e as fabricações. Santos e Massey inscrevem o território na análise, e o Comentário Geral número 25 organiza a leitura dos direitos das crianças. Da ACP com a teoria da atuação construímos a categoria integradora da tese, a recontextualização.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Habitar o digital é uma formulação desta tese. Ela parte do habitar como experiência relacional, em Schlemmer e colaboradores, passa pelo habitar atópico de Di Felice e encontra a distribuição desigual dos objetos técnicos, em Santos, e o lugar como encontro de trajetórias, em Massey. Em Pipa, a expressão nomeia a assimetria entre a alta densidade tecnológica dos circuitos do turismo e a disponibilidade restrita de tecnologia nos espaços pedagógicos da escola.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fundamentos metodológicos são seis. A abordagem é qualitativa, porque a tese trabalha com significados, motivos e valores, como em Minayo e em Bogdan e Biklen. A estratégia é o estudo de caso único, no sentido de Yin, com a advertência de André contra o estudo apenas pontual. A ACP é operacionalizada com as questões analíticas de Mainardes, e a recontextualização integra a leitura. Os participantes são escolhidos de forma intencional, pela posição que ocupam no arranjo da política, e a análise segue a abordagem temática reflexiva de Braun e Clarke, com triangulação.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dados são construídos em cinco movimentos. A análise documental acompanha todo o percurso. O registro iconográfico já foi realizado e sustenta o capítulo seis. O questionário situa os participantes antes das entrevistas, que são o principal momento de escuta. O quinto movimento é a análise, com triangulação e devolutiva à escola e à Secretaria.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primeiro movimento, os documentos formam dois conjuntos. O pedagógico reúne o PPP, os planos, as atas e os cadernos de uso do laboratório e do kit multimídia. O administrativo reúne a contratação da conexão, os termos de doação e tombamento, a execução do PIEC, os contratos de manutenção e o Censo. No segundo movimento, o registro iconográfico reúne trinta e oito figuras e duas peças cartográficas, lidas em duas etapas: primeiro o que está no enquadramento, depois a interpretação. Não fotografamos rostos de crianças e não observamos aulas.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questionário tem cinco blocos, do perfil profissional às concepções sobre os direitos da criança, e serve para situar as pessoas e ajustar as conversas. As entrevistas têm seis eixos, da trajetória ao habitar o digital, com perguntas abertas antes das diretas. A análise passa pela familiarização, pela codificação com oito dimensões sensibilizadoras e pela interpretação com triangulação, em diálogo com as cinco categorias da perspectiva comparada, e termina com a devolutiva.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formas de atuação que podem aparecer vão da adesão à resistência, passando por acomodação, adaptação, omissão seletiva, negociação e ressignificação. Nenhuma é pressuposta. Para que uma forma vire achado, ela precisa aparecer de modo recorrente e sem indução pela pergunta. Quando não há alternativa, o que se vê é custo transferido ao trabalhador, e assim será nomeado. As categorias não serão ditas aos participantes.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agenda territorial começa no contexto de influência. A UNESCO lembra que uma em cada quatro escolas primárias do mundo não tem eletricidade e que a tecnologia deve complementar a interação com os professores. A OCDE mostra efeitos no máximo mistos dos computadores sobre o desempenho, e o Banco Mundial pergunta qual é o problema educacional antes de escolher a tecnologia. Os três deslocam o foco da presença dos recursos para as condições, os usos e as finalidades.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perspectiva comparada percorreu dezenove experiências na Europa e nas Américas, além do Brasil. O mapa mostra, pela cor, a categoria que cada experiência mais informa: governança, formação, infraestrutura, continuidade institucional e cultura digital. A comparação mostra como referências parecidas mudam de forma quando encontram outros sistemas e outros territórios.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Dessas experiências saem cinco categorias que orientam o olhar do campo. Cada uma leva uma pergunta para Pipa: o que chega da União e do estado à rede, que formação chegou à escola, com que equipamentos se trabalha, que continuidade a rede teve e o que se faz com crianças de seis a dez anos. Nenhuma experiência descreve Pipa, e fica a pergunta que nenhum caso responde: o que acontece quando parte das condições não chega?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escala nacional, a leitura da lei mostra o que chamamos de vazio material. A PNED se define como instância de articulação, condiciona a inclusão digital aos limites orçamentários de cada ente, não cria fundo próprio nem repasse obrigatório aos municípios e trata a formação como promoção. Na escala do território, isso significa que a chegada dos meios à escola depende da capacidade de um município de pequeno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Chego ao capítulo do território, que já traz resultados. Ali, o território funciona como categoria de análise em quatro dimensões: histórica, socioeconômica, tecnológica e institucional. Cada uma documenta algo e leva uma pergunta ao campo. A formação, quinta categoria da perspectiva comparada, fica para o capítulo sete, porque o registro iconográfico não a alcança.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capítulo começa com dois mapas do mesmo lugar. O institucional situa Tibau do Sul e Pipa por referências político-administrativas, e é por essa estrutura que a política chega à escola. O turístico organiza o distrito pela circulação do visitante. Os dois desenhos introduzem Pipa como território usado, no sentido de Milton Santos.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registro iconográfico segue pela antiga Pipa. As imagens do Museu Digital mostram trabalho, moradia e mar articulados: a construção artesanal de embarcações, os barcos na enseada, o mutirão do curral de pesca e o cruzeiro em sua localização original. Com Santos, lemos a paisagem como registro dos meios de trabalho de cada tempo; com Massey, evitamos congelar a vila num passado idealizado.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partir dos anos 1990, o turismo ligado ao surfe, os investimentos imobiliários, a chegada de trabalhadores para o setor de serviços e, mais recentemente, o trabalho remoto transformaram o distrito. A Pipa de hoje resulta da sobreposição dessas trajetórias, e os novos usos dividem o território com os antigos.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Pipa de hoje, a rua turística se enche à noite, as pousadas ocupam as falésias, os passeios cruzam a baía e o pescador segue descarregando o pescado na enseada. Hotelaria, reservas e pagamentos dependem da conexão. Dessa presença das tecnologias no território, porém, não se presume que a escola tenha condições equivalentes para o uso pedagógico.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quadro sintetiza a comparação entre a Pipa histórica e a contemporânea em seis dimensões e diz o que cada uma traz para a escola. A coluna da direita é a que interessa à tese: temporalidades diferentes, trabalhos diferentes, repertórios diferentes, tecnologia presente no território sem uso pedagógico equivalente e infâncias com condições desiguais de acesso. Esse é o ponto de partida da Educação Digital na escola.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escola, as imagens mostram mais do que faltas. Há piso tátil na entrada e nos percursos, corredor coberto com coleta seletiva, um parque dentro da restinga, onde as crianças brincam e convivem, e um pátio usado nas festas. Com Dornelles, lembramos que as infâncias são plurais. A pergunta passa a ser como as condições materiais estão distribuídas.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distribuição é o achado mais forte do capítulo. No corredor administrativo, o ar-condicionado aparece nas salas da equipe e nos demais ambientes do enquadramento não aparece; as razões, a fotografia não diz. O único computador registrado está na sala dos professores, e o laboratório, segundo informações preliminares montado pela Prefeitura em 2022, tinha os equipamentos desligados no momento do registro. A escola recebe pelo PIEC uma verba anual para conexão e equipamentos e teria um único kit multimídia; ambos os dados são preliminares e serão verificados. A síntese é esta: a conexão chegou ao prédio; os dispositivos não chegaram às salas.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Nas salas fotografadas, tudo é impresso ou feito à mão: carteiras, ventiladores, murais, produções das crianças, o painel numérico e o alfabeto móvel. Nenhum computador, tela ou dispositivo. O painel remete a sequência e correspondência, operações próximas do pensamento computacional que a lei define, mas a foto não mostra seu uso. Soares valoriza os artefatos feitos com as crianças; a tese guarda uma cautela: alguém os produziu, em algum tempo, e o custo disso só as narrativas vão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noção de rugosidade, de Milton Santos, ajuda a ler o laboratório. Proponho distinguir a rugosidade por perda, quando a forma sobrevive a uma função que existiu, como seria o caso do cruzeiro, da rugosidade por ausência, quando a forma é instalada sem o sistema de ações que lhe daria função. Cada caso pede uma resposta de política diferente. O laboratório é anterior à PNED, e, se o Censo o registra enquanto os cadernos não registram uso, a forma conta nos números mesmo sem função constituída.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quadro põe lado a lado o território documentado e o território prescrito pela BNCC e pela PNED. Em cada dimensão, a política orienta acesso, cultura digital, linguagens, mediação crítica e infraestrutura; o território mostra tecnologia intensa nos circuitos econômicos e, nas salas, nenhum recurso visível. A mediação pedagógica não aparece nas imagens, e por isso depende das narrativas.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ser rigorosa com o que afirmo, separo o que as imagens documentam do que ainda é preliminar. Está documentado: salas sem dispositivo digital, um computador na sala dos professores, o laboratório desligado no registro, a climatização nas salas da equipe e os recursos artesanais. Está por verificar: a data e a origem do laboratório, os cadernos de uso, o kit multimídia, a verba do PIEC, a manutenção e o Censo. O capítulo fecha com uma cadeia de mediações: o território participa das condições da escola, que delimitam as margens do trabalho, dentro das quais os profissionais interpretam, decidem e atuam.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isso o território atravessa toda a tese. Está na questão e no ineditismo, aparece como lacuna na revisão, entra no método como dimensão situacional, aparece pelo avesso na lei, que deixa os meios por conta de cada ente, é documentado no capítulo seis e será lido em relação aos quatro objetivos no capítulo sete.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Até aqui, o projeto foi reformulado e os capítulos um, dois, quatro, cinco e seis foram alinhados a ele; a revisão sistemática e o registro iconográfico estão concluídos, e o capítulo três está em construção. Antes do campo, falta aprovar a emenda no Comitê de Ética, datar os critérios de leitura, fazer a análise documental, reunir os dados fiscais do município e realizar os testes de conexão.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são as referências principais mobilizadas na apresentação. A lista completa está nos capítulos.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Encerro com a pergunta que fica aberta para o campo: quando a política não faz chegar o equipamento nem a formação, quem paga, no cotidiano da escola, o preço dessa ausência? E o que isso significa para os direitos prometidos às crianças? Agradeço a atenção e fico à disposição da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png"/><Relationship Id="rId6" Type="http://schemas.openxmlformats.org/officeDocument/2006/relationships/image" Target="../media/image27.jpg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jpg"/><Relationship Id="rId4" Type="http://schemas.openxmlformats.org/officeDocument/2006/relationships/image" Target="../media/image29.pn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9.jpg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jpg"/><Relationship Id="rId4" Type="http://schemas.openxmlformats.org/officeDocument/2006/relationships/image" Target="../media/image34.jp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8.png"/><Relationship Id="rId4" Type="http://schemas.openxmlformats.org/officeDocument/2006/relationships/image" Target="../media/image10.png"/><Relationship Id="rId5" Type="http://schemas.openxmlformats.org/officeDocument/2006/relationships/image" Target="../media/image39.png"/><Relationship Id="rId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2" y="243833"/>
            <a:ext cx="2194505" cy="1996999"/>
          </a:xfrm>
          <a:prstGeom prst="rect">
            <a:avLst/>
          </a:prstGeom>
        </p:spPr>
      </p:pic>
      <p:pic>
        <p:nvPicPr>
          <p:cNvPr id="4" name="Picture 3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0" y="4389010"/>
            <a:ext cx="1828754" cy="2355597"/>
          </a:xfrm>
          <a:prstGeom prst="rect">
            <a:avLst/>
          </a:prstGeom>
        </p:spPr>
      </p:pic>
      <p:pic>
        <p:nvPicPr>
          <p:cNvPr id="5" name="Picture 4" descr="Ilustração decorati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148" y="304792"/>
            <a:ext cx="1828754" cy="1931407"/>
          </a:xfrm>
          <a:prstGeom prst="rect">
            <a:avLst/>
          </a:prstGeom>
        </p:spPr>
      </p:pic>
      <p:pic>
        <p:nvPicPr>
          <p:cNvPr id="6" name="Picture 5" descr="Ilustração decorativ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6231" y="3901342"/>
            <a:ext cx="2072588" cy="23134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94505" y="914377"/>
            <a:ext cx="7802684" cy="256025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FFFFFF"/>
                </a:solidFill>
                <a:latin typeface="Arial"/>
              </a:rPr>
              <a:t>A ENCENAÇÃO DA POLÍTICA NACIONAL DE EDUCAÇÃO DIGITAL EM PIPA/RN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8339" y="3627029"/>
            <a:ext cx="7315017" cy="822939"/>
          </a:xfrm>
          <a:prstGeom prst="roundRect">
            <a:avLst>
              <a:gd name="adj" fmla="val 25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38339" y="3627029"/>
            <a:ext cx="7315017" cy="82293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866" b="1">
                <a:solidFill>
                  <a:srgbClr val="1A1A1A"/>
                </a:solidFill>
                <a:latin typeface="Arial"/>
              </a:rPr>
              <a:t>Culturas profissionais, território e resistências no contexto da prática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3546" y="4724281"/>
            <a:ext cx="7924601" cy="1463003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ctr">
              <a:lnSpc>
                <a:spcPct val="110000"/>
              </a:lnSpc>
              <a:spcAft>
                <a:spcPts val="266"/>
              </a:spcAft>
            </a:pPr>
            <a:r>
              <a:rPr sz="1599" b="1">
                <a:solidFill>
                  <a:srgbClr val="FFFFFF"/>
                </a:solidFill>
                <a:latin typeface="Arial"/>
              </a:rPr>
              <a:t>Yzynya Silva Rezende Machado</a:t>
            </a:r>
          </a:p>
          <a:p>
            <a:pPr algn="ctr">
              <a:lnSpc>
                <a:spcPct val="110000"/>
              </a:lnSpc>
              <a:spcAft>
                <a:spcPts val="266"/>
              </a:spcAft>
            </a:pPr>
            <a:r>
              <a:rPr sz="1599" b="0">
                <a:solidFill>
                  <a:srgbClr val="FFFFFF"/>
                </a:solidFill>
                <a:latin typeface="Arial"/>
              </a:rPr>
              <a:t>Orientadora: Profa. Dra. Maria Cristina Leandro de Paiva</a:t>
            </a:r>
          </a:p>
          <a:p>
            <a:pPr algn="ctr">
              <a:lnSpc>
                <a:spcPct val="110000"/>
              </a:lnSpc>
            </a:pPr>
            <a:r>
              <a:rPr sz="1599" b="0">
                <a:solidFill>
                  <a:srgbClr val="FFFFFF"/>
                </a:solidFill>
                <a:latin typeface="Arial"/>
              </a:rPr>
              <a:t>Qualificação de doutorado · PPGEd/UFRN · Natal,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65750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PERCURSO DA APRESENTAÇÃO</a:t>
            </a:r>
          </a:p>
        </p:txBody>
      </p:sp>
      <p:pic>
        <p:nvPicPr>
          <p:cNvPr id="4" name="Picture 3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0" y="243833"/>
            <a:ext cx="853418" cy="1383698"/>
          </a:xfrm>
          <a:prstGeom prst="rect">
            <a:avLst/>
          </a:prstGeom>
        </p:spPr>
      </p:pic>
      <p:pic>
        <p:nvPicPr>
          <p:cNvPr id="5" name="Picture 4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1567" y="182875"/>
            <a:ext cx="975335" cy="10882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26" y="1523961"/>
            <a:ext cx="3566070" cy="2164025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645878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01" y="2255463"/>
            <a:ext cx="3200319" cy="13410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866" b="1">
                <a:solidFill>
                  <a:srgbClr val="1A1A1A"/>
                </a:solidFill>
                <a:latin typeface="Arial"/>
              </a:rPr>
              <a:t>A proposta: problema, objetivos, relevâncias e ineditismo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572" y="1523961"/>
            <a:ext cx="3566070" cy="2164025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447" y="1645878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447" y="2255463"/>
            <a:ext cx="3200319" cy="13410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866" b="1">
                <a:solidFill>
                  <a:srgbClr val="1A1A1A"/>
                </a:solidFill>
                <a:latin typeface="Arial"/>
              </a:rPr>
              <a:t>O que a revisão sistemática responde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518" y="1523961"/>
            <a:ext cx="3566070" cy="2164025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394" y="1645878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394" y="2255463"/>
            <a:ext cx="3200319" cy="13410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866" b="1">
                <a:solidFill>
                  <a:srgbClr val="1A1A1A"/>
                </a:solidFill>
                <a:latin typeface="Arial"/>
              </a:rPr>
              <a:t>Fundamentos teóricos e metodológicos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26" y="3931821"/>
            <a:ext cx="3566070" cy="2164025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01" y="4053738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01" y="4663323"/>
            <a:ext cx="3200319" cy="13410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866" b="1">
                <a:solidFill>
                  <a:srgbClr val="1A1A1A"/>
                </a:solidFill>
                <a:latin typeface="Arial"/>
              </a:rPr>
              <a:t>Os cinco movimentos da pesquisa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572" y="3931821"/>
            <a:ext cx="3566070" cy="2164025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447" y="4053738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447" y="4663323"/>
            <a:ext cx="3200319" cy="13410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866" b="1">
                <a:solidFill>
                  <a:srgbClr val="1A1A1A"/>
                </a:solidFill>
                <a:latin typeface="Arial"/>
              </a:rPr>
              <a:t>A agenda territorial da política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518" y="3931821"/>
            <a:ext cx="3566070" cy="2164025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394" y="4053738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394" y="4663323"/>
            <a:ext cx="3200319" cy="13410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866" b="1">
                <a:solidFill>
                  <a:srgbClr val="1A1A1A"/>
                </a:solidFill>
                <a:latin typeface="Arial"/>
              </a:rPr>
              <a:t>O território de Pipa: primeiros resultados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1 · 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O DIREITO CHEGA ANTES DOS MEIOS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63003"/>
            <a:ext cx="7071183" cy="219450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584920"/>
            <a:ext cx="6644473" cy="201162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A LEI PROMETE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Educação digital como direito, dever do Estado e componente curricular, com implementação obrigatória a partir de 2026 (Lei nº 14.533/2023; Resolução CNE/CEB nº 2/2025).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1885" y="3901342"/>
            <a:ext cx="7071183" cy="219450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15719" y="4023259"/>
            <a:ext cx="6644473" cy="201162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A SALA RECEBE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Salas dos anos iniciais sem tela, um laboratório com uso a verificar, formação prevista como simples promoção e meios que dependem de cada ente federado.</a:t>
            </a:r>
          </a:p>
        </p:txBody>
      </p:sp>
      <p:pic>
        <p:nvPicPr>
          <p:cNvPr id="10" name="Picture 9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352" y="1402044"/>
            <a:ext cx="2194505" cy="198425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51" y="3950109"/>
            <a:ext cx="3438058" cy="197505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lfabeto móvel feito à mão numa sala dos anos iniciais (Figura 37)"/>
          <p:cNvPicPr>
            <a:picLocks noChangeAspect="1"/>
          </p:cNvPicPr>
          <p:nvPr/>
        </p:nvPicPr>
        <p:blipFill>
          <a:blip r:embed="rId4"/>
          <a:srcRect t="617" b="617"/>
          <a:stretch>
            <a:fillRect/>
          </a:stretch>
        </p:blipFill>
        <p:spPr>
          <a:xfrm>
            <a:off x="731501" y="4023259"/>
            <a:ext cx="3291757" cy="182875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Lei nº 14.533/2023; Mainardes (2006); Ball, Maguire e Braun (2016).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1 · 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OBJETO E QUESTÃO DE PESQUISA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584920"/>
            <a:ext cx="4754761" cy="4510927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933" b="1">
                <a:solidFill>
                  <a:srgbClr val="1A1A1A"/>
                </a:solidFill>
                <a:latin typeface="Arial"/>
              </a:rPr>
              <a:t>OBJETO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933" b="0">
                <a:solidFill>
                  <a:srgbClr val="1A1A1A"/>
                </a:solidFill>
                <a:latin typeface="Arial"/>
              </a:rPr>
              <a:t>A encenação da PNED, em seu eixo Educação Digital Escolar, pelos profissionais da educação do 1º ao 5º ano da Escola Municipal Domitila Castelo, em Pipa, Tibau do Sul (RN).</a:t>
            </a:r>
          </a:p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Todos constroem a política: docentes, coordenação, direção e demais profissionais ligados ao trabalho pedagógico.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639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4473" y="1584920"/>
            <a:ext cx="4754761" cy="4510927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QUESTÃO</a:t>
            </a:r>
          </a:p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Como os profissionais da educação encenam e recontextualizam a PNED no contexto da prática da Escola Municipal Domitila Castelo, em Pipa (RN), e como as culturas profissionais, as condições materiais e institucionais da escola e as especificidades socioespaciais do território atravessam esse processo, produzindo diferentes formas de atuação, entre as quais podem emergir acomodações, negociações, ressignificações e resistências?</a:t>
            </a:r>
          </a:p>
        </p:txBody>
      </p:sp>
      <p:pic>
        <p:nvPicPr>
          <p:cNvPr id="10" name="Picture 9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401" y="243833"/>
            <a:ext cx="792460" cy="10818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Bowe, Ball e Gold (1992); Mainardes (2006); Ball, Maguire e Braun (2016).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1 · 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243833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OBJETIVOS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1097252"/>
            <a:ext cx="10972525" cy="103629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533" b="1">
                <a:solidFill>
                  <a:srgbClr val="FFFFFF"/>
                </a:solidFill>
                <a:latin typeface="Arial"/>
              </a:rPr>
              <a:t>Geral: </a:t>
            </a:r>
            <a:r>
              <a:rPr sz="1533" b="0">
                <a:solidFill>
                  <a:srgbClr val="FFFFFF"/>
                </a:solidFill>
                <a:latin typeface="Arial"/>
              </a:rPr>
              <a:t>analisar como os profissionais da educação encenam e recontextualizam a PNED no contexto da prática da escola, considerando as relações entre a política, as culturas profissionais, as condições materiais e institucionais e o território.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26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022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22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Compreender como os profissionais interpretam a PNED a partir de experiências, crenças, valores e formas de organizar o trabalho.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07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7304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7304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Analisar como as condições materiais e institucionais da escola e o território atravessam a tradução da política.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189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3585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585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Identificar formas de atuação: adesão, acomodação, adaptação, omissão seletiva, negociação, ressignificação ou resistência.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471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9867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9867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Discutir as implicações para as crianças: provisão, proteção e participação no ambiente digital.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Hargreaves (2005); Ball, Maguire e Braun (2016); ONU (2021).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1 · 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733" b="1">
                <a:solidFill>
                  <a:srgbClr val="FFFFFF"/>
                </a:solidFill>
                <a:latin typeface="Arial"/>
              </a:rPr>
              <a:t>RELEVÂNCIAS DA PESQUISA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02044"/>
            <a:ext cx="5425304" cy="2011629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493482"/>
            <a:ext cx="5059553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399"/>
              </a:spcAft>
            </a:pPr>
            <a:r>
              <a:rPr sz="1399" b="1">
                <a:solidFill>
                  <a:srgbClr val="6C4FD8"/>
                </a:solidFill>
                <a:latin typeface="Arial"/>
              </a:rPr>
              <a:t>Para as crianças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O eixo associa a cultura digital à “participação consciente e democrática” e os direitos digitais à proteção dos dados de crianças (art. 3º, III e IV). Nos anos iniciais, a escola é, para muitas, o primeiro espaço público para discutir o digital com quem ensina.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6806" y="1402044"/>
            <a:ext cx="5425304" cy="2011629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9681" y="1493482"/>
            <a:ext cx="5059553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399"/>
              </a:spcAft>
            </a:pPr>
            <a:r>
              <a:rPr sz="1399" b="1">
                <a:solidFill>
                  <a:srgbClr val="6C4FD8"/>
                </a:solidFill>
                <a:latin typeface="Arial"/>
              </a:rPr>
              <a:t>Para quem faz a política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Docentes, coordenação, direção e demais profissionais encenam a PNED de posições diferentes, com margens de decisão e responsabilidades próprias. A lei prevê sua formação continuada (art. 3º, § 1º, X).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3566070"/>
            <a:ext cx="5425304" cy="2011629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01" y="3657508"/>
            <a:ext cx="5059553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399"/>
              </a:spcAft>
            </a:pPr>
            <a:r>
              <a:rPr sz="1399" b="1">
                <a:solidFill>
                  <a:srgbClr val="6C4FD8"/>
                </a:solidFill>
                <a:latin typeface="Arial"/>
              </a:rPr>
              <a:t>Para o território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O distrito onde pousadas, restaurantes e passeios se vendem pela internet é o mesmo de onde as crianças saem para salas com alfabeto móvel feito à mão e nenhuma tela.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6806" y="3566070"/>
            <a:ext cx="5425304" cy="2011629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9681" y="3657508"/>
            <a:ext cx="5059553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399"/>
              </a:spcAft>
            </a:pPr>
            <a:r>
              <a:rPr sz="1399" b="1">
                <a:solidFill>
                  <a:srgbClr val="6C4FD8"/>
                </a:solidFill>
                <a:latin typeface="Arial"/>
              </a:rPr>
              <a:t>Para o debate sobre desigualdade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TIC Educação 2024: internet em 94% das escolas municipais; computadores para os alunos em 59% das escolas (60% em 2020) e em 28% das rurais (36% em 2020).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26" y="5791055"/>
            <a:ext cx="11094442" cy="57910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01" y="5791055"/>
            <a:ext cx="10728691" cy="57910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“Ser excluído dessas redes é sofrer uma das formas mais danosas de exclusão em nossa economia e em nossa cultura” </a:t>
            </a:r>
            <a:r>
              <a:rPr sz="1199" b="1">
                <a:solidFill>
                  <a:srgbClr val="1A1A1A"/>
                </a:solidFill>
                <a:latin typeface="Arial"/>
              </a:rPr>
              <a:t>(CASTELLS, 2003, p. 8).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Brasil (2023); ONU (2021); Lei nº 15.211/2025 (ECA Digital); CGI.br (2025a).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1 · 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INEDITISMO EM TRÊS DIMENSÕES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584920"/>
            <a:ext cx="3566070" cy="438901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737316"/>
            <a:ext cx="3200319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799" b="1">
                <a:solidFill>
                  <a:srgbClr val="6C4FD8"/>
                </a:solidFill>
                <a:latin typeface="Arial"/>
              </a:rPr>
              <a:t>EMPÍRICO-TEMPORAL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01" y="2621214"/>
            <a:ext cx="3200319" cy="323079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A PNED chega à escola quando o componente se torna obrigatório, em 2026. Nenhum dos 9 estudos da RSL trata dela nem de rede municipal de pequeno porte.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572" y="1584920"/>
            <a:ext cx="3566070" cy="438901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447" y="1737316"/>
            <a:ext cx="3200319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799" b="1">
                <a:solidFill>
                  <a:srgbClr val="6C4FD8"/>
                </a:solidFill>
                <a:latin typeface="Arial"/>
              </a:rPr>
              <a:t>ANALÍTICO-ESPACIAL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447" y="2621214"/>
            <a:ext cx="3200319" cy="323079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Pipa como dimensão constitutiva do contexto da prática, que atravessa toda a tese (SANTOS, 1999; MASSEY, 2008).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518" y="1584920"/>
            <a:ext cx="3566070" cy="438901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394" y="1737316"/>
            <a:ext cx="3200319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799" b="1">
                <a:solidFill>
                  <a:srgbClr val="6C4FD8"/>
                </a:solidFill>
                <a:latin typeface="Arial"/>
              </a:rPr>
              <a:t>TEÓRICO-CONCEITUAL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394" y="2621214"/>
            <a:ext cx="3200319" cy="323079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Teoria da atuação, culturas profissionais, dimensão material e território articulados, com a noção de habitar o digital.</a:t>
            </a:r>
          </a:p>
        </p:txBody>
      </p:sp>
      <p:pic>
        <p:nvPicPr>
          <p:cNvPr id="15" name="Picture 14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442" y="182875"/>
            <a:ext cx="853418" cy="9522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Revisão sistemática (Cap. 2); Ball, Maguire e Braun (2016); Hargreaves (2005).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7" y="1341086"/>
            <a:ext cx="4023259" cy="52333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98595" y="335271"/>
            <a:ext cx="6705432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TESE DE PARTIDA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98595" y="1402044"/>
            <a:ext cx="6644473" cy="3047923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42428" y="1523961"/>
            <a:ext cx="6156806" cy="280408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A PNED chega à escola como orientação a ser lida e interpretada. A forma que assume no cotidiano resulta da relação entre o que prescreve e as condições em que os profissionais precisam atuar, atravessadas pelas culturas profissionais e pelo território. Nenhuma forma de atuação é pressuposta.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8595" y="4632844"/>
            <a:ext cx="6644473" cy="158492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599" b="1">
                <a:solidFill>
                  <a:srgbClr val="FFFFFF"/>
                </a:solidFill>
                <a:latin typeface="Arial"/>
              </a:rPr>
              <a:t>Pergunta de fundo: </a:t>
            </a:r>
            <a:r>
              <a:rPr sz="1599" b="0">
                <a:solidFill>
                  <a:srgbClr val="FFFFFF"/>
                </a:solidFill>
                <a:latin typeface="Arial"/>
              </a:rPr>
              <a:t>o que acontece com uma política de educação digital quando encontra uma escola, seus profissionais, suas condições materiais e um território específico?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8595" y="6431119"/>
            <a:ext cx="6644473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Bowe, Ball e Gold (1992); Mainardes (2006); Ball, Maguire e Braun (2016).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2 · REVISÃO SISTEMÁTICA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333" b="1">
                <a:solidFill>
                  <a:srgbClr val="FFFFFF"/>
                </a:solidFill>
                <a:latin typeface="Arial"/>
              </a:rPr>
              <a:t>A RESPOSTA À QUESTÃO NORTEADORA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341086"/>
            <a:ext cx="11094442" cy="944856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341086"/>
            <a:ext cx="10728691" cy="94485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399" b="1">
                <a:solidFill>
                  <a:srgbClr val="6C4FD8"/>
                </a:solidFill>
                <a:latin typeface="Arial"/>
              </a:rPr>
              <a:t>Questão: </a:t>
            </a:r>
            <a:r>
              <a:rPr sz="1399" b="0">
                <a:solidFill>
                  <a:srgbClr val="1A1A1A"/>
                </a:solidFill>
                <a:latin typeface="Arial"/>
              </a:rPr>
              <a:t>o que a produção científica nacional e internacional evidencia sobre a implementação de políticas públicas de educação digital nos anos iniciais do Ensino Fundamental?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2468818"/>
            <a:ext cx="2011629" cy="1066773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26" y="2499297"/>
            <a:ext cx="2011629" cy="60958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2933" b="1">
                <a:solidFill>
                  <a:srgbClr val="6C4FD8"/>
                </a:solidFill>
                <a:latin typeface="Arial"/>
              </a:rPr>
              <a:t>176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26" y="3078403"/>
            <a:ext cx="2011629" cy="42670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registros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4089" y="2468818"/>
            <a:ext cx="2011629" cy="1066773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4089" y="2499297"/>
            <a:ext cx="2011629" cy="60958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2933" b="1">
                <a:solidFill>
                  <a:srgbClr val="6C4FD8"/>
                </a:solidFill>
                <a:latin typeface="Arial"/>
              </a:rPr>
              <a:t>171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4089" y="3078403"/>
            <a:ext cx="2011629" cy="42670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sem duplicatas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59553" y="2468818"/>
            <a:ext cx="2011629" cy="1066773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9553" y="2499297"/>
            <a:ext cx="2011629" cy="60958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2933" b="1">
                <a:solidFill>
                  <a:srgbClr val="6C4FD8"/>
                </a:solidFill>
                <a:latin typeface="Arial"/>
              </a:rPr>
              <a:t>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9553" y="3078403"/>
            <a:ext cx="2011629" cy="42670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buscados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017" y="2468818"/>
            <a:ext cx="2011629" cy="1066773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017" y="2499297"/>
            <a:ext cx="2011629" cy="60958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2933" b="1">
                <a:solidFill>
                  <a:srgbClr val="6C4FD8"/>
                </a:solidFill>
                <a:latin typeface="Arial"/>
              </a:rPr>
              <a:t>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017" y="3078403"/>
            <a:ext cx="2011629" cy="42670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lidos na íntegra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70480" y="2468818"/>
            <a:ext cx="2011629" cy="1066773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70480" y="2499297"/>
            <a:ext cx="2011629" cy="60958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2933" b="1">
                <a:solidFill>
                  <a:srgbClr val="1A1A1A"/>
                </a:solidFill>
                <a:latin typeface="Arial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0480" y="3078403"/>
            <a:ext cx="2011629" cy="42670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estudos incluídos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26" y="3718467"/>
            <a:ext cx="11094442" cy="182875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460" y="3779425"/>
            <a:ext cx="10606774" cy="170683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533" b="1">
                <a:solidFill>
                  <a:srgbClr val="1A1A1A"/>
                </a:solidFill>
                <a:latin typeface="Arial"/>
              </a:rPr>
              <a:t>Resposta: </a:t>
            </a:r>
            <a:r>
              <a:rPr sz="1533" b="0">
                <a:solidFill>
                  <a:srgbClr val="1A1A1A"/>
                </a:solidFill>
                <a:latin typeface="Arial"/>
              </a:rPr>
              <a:t>a atuação dessas políticas depende da articulação entre recursos disponíveis, condições institucionais e trabalho dos profissionais da educação, que participam de sua interpretação diante das condições do cotidiano escolar. O corpus responde com mais consistência às condições e ao papel dos profissionais do que à formação dirigida às crianças.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26" y="5638659"/>
            <a:ext cx="11094442" cy="670543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266" b="0">
                <a:solidFill>
                  <a:srgbClr val="FFFFFF"/>
                </a:solidFill>
                <a:latin typeface="Arial"/>
              </a:rPr>
              <a:t>Corpus de 2021 a 2024: Brasil (Fortaleza, Passo Fundo, Aracaju), México, Turquia, Espanha, Cuba, Luxemburgo e Escócia.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584" y="640063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PRISMA 2020; sete bases; buscas de 2019 a setembro de 2026; MMAT 2018 e protocolo próprio para estudos documentais.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2 · REVISÃO SISTEMÁTICA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199" b="1">
                <a:solidFill>
                  <a:srgbClr val="FFFFFF"/>
                </a:solidFill>
                <a:latin typeface="Arial"/>
              </a:rPr>
              <a:t>O QUE O CORPUS RESPONDE E O QUE FALTA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341086"/>
            <a:ext cx="3566070" cy="3505112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1022" y="1402044"/>
            <a:ext cx="3261278" cy="45718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466" b="1">
                <a:solidFill>
                  <a:srgbClr val="6C4FD8"/>
                </a:solidFill>
                <a:latin typeface="Arial"/>
              </a:rPr>
              <a:t>a) Condicionantes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1022" y="1889712"/>
            <a:ext cx="2194505" cy="335271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1022" y="1889712"/>
            <a:ext cx="2194505" cy="335271"/>
          </a:xfrm>
          <a:prstGeom prst="rect">
            <a:avLst/>
          </a:prstGeom>
          <a:noFill/>
        </p:spPr>
        <p:txBody>
          <a:bodyPr wrap="square" lIns="18287" rIns="18287" tIns="18287" bIns="18287" anchor="ctr"/>
          <a:lstStyle/>
          <a:p>
            <a:pPr algn="ctr">
              <a:lnSpc>
                <a:spcPct val="100000"/>
              </a:lnSpc>
            </a:pPr>
            <a:r>
              <a:rPr sz="933" b="1">
                <a:solidFill>
                  <a:srgbClr val="1A1A1A"/>
                </a:solidFill>
                <a:latin typeface="Arial"/>
              </a:rPr>
              <a:t>RESPOSTA CONVERGENTE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022" y="2285942"/>
            <a:ext cx="3261278" cy="2529776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Equipamentos e conectividade, formação continuada e situada, estabilidade das equipes e do suporte, tempo de trabalho e a própria norma como fonte de restrição (Brown et al., 2021). O território aparece só como contraste entre países.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572" y="1341086"/>
            <a:ext cx="3566070" cy="3505112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9968" y="1402044"/>
            <a:ext cx="3261278" cy="45718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466" b="1">
                <a:solidFill>
                  <a:srgbClr val="6C4FD8"/>
                </a:solidFill>
                <a:latin typeface="Arial"/>
              </a:rPr>
              <a:t>b) Papel dos profissionais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9968" y="1889712"/>
            <a:ext cx="2194505" cy="335271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9968" y="1889712"/>
            <a:ext cx="2194505" cy="335271"/>
          </a:xfrm>
          <a:prstGeom prst="rect">
            <a:avLst/>
          </a:prstGeom>
          <a:noFill/>
        </p:spPr>
        <p:txBody>
          <a:bodyPr wrap="square" lIns="18287" rIns="18287" tIns="18287" bIns="18287" anchor="ctr"/>
          <a:lstStyle/>
          <a:p>
            <a:pPr algn="ctr">
              <a:lnSpc>
                <a:spcPct val="100000"/>
              </a:lnSpc>
            </a:pPr>
            <a:r>
              <a:rPr sz="933" b="1">
                <a:solidFill>
                  <a:srgbClr val="1A1A1A"/>
                </a:solidFill>
                <a:latin typeface="Arial"/>
              </a:rPr>
              <a:t>A MAIS CONVERGENTE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9968" y="2285942"/>
            <a:ext cx="3261278" cy="2529776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Interpretação e decisões situadas: ACP em Pereira (2022), terceiro espaço em Brown et al. (2021), custo do trabalho em Gómez-Nashiki e Quijada-Lovatón (2021). As razões desse trabalho seguem pouco examinadas.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518" y="1341086"/>
            <a:ext cx="3566070" cy="3505112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8915" y="1402044"/>
            <a:ext cx="3261278" cy="45718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466" b="1">
                <a:solidFill>
                  <a:srgbClr val="6C4FD8"/>
                </a:solidFill>
                <a:latin typeface="Arial"/>
              </a:rPr>
              <a:t>c) Cultura digital e cidadania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8915" y="1889712"/>
            <a:ext cx="2194505" cy="335271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8915" y="1889712"/>
            <a:ext cx="2194505" cy="335271"/>
          </a:xfrm>
          <a:prstGeom prst="rect">
            <a:avLst/>
          </a:prstGeom>
          <a:noFill/>
        </p:spPr>
        <p:txBody>
          <a:bodyPr wrap="square" lIns="18287" rIns="18287" tIns="18287" bIns="18287" anchor="ctr"/>
          <a:lstStyle/>
          <a:p>
            <a:pPr algn="ctr">
              <a:lnSpc>
                <a:spcPct val="100000"/>
              </a:lnSpc>
            </a:pPr>
            <a:r>
              <a:rPr sz="933" b="1">
                <a:solidFill>
                  <a:srgbClr val="1A1A1A"/>
                </a:solidFill>
                <a:latin typeface="Arial"/>
              </a:rPr>
              <a:t>APOIO FRÁGIL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8915" y="2285942"/>
            <a:ext cx="3261278" cy="2529776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Williams (2022) trata a cultura digital como conteúdo com progressão própria; Karaferye (2022) sugere sentidos reorganizados pela pandemia. Nenhum estudo examina o que as crianças aprendem a ser.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26" y="4998595"/>
            <a:ext cx="11094442" cy="1310607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460" y="5029074"/>
            <a:ext cx="10606774" cy="124964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333" b="1">
                <a:solidFill>
                  <a:srgbClr val="1A1A1A"/>
                </a:solidFill>
                <a:latin typeface="Arial"/>
              </a:rPr>
              <a:t>Lacunas que a tese assume: </a:t>
            </a:r>
            <a:r>
              <a:rPr sz="1333" b="0">
                <a:solidFill>
                  <a:srgbClr val="1A1A1A"/>
                </a:solidFill>
                <a:latin typeface="Arial"/>
              </a:rPr>
              <a:t>nenhum estudo examina a PNED; o ciclo de alfabetização aparece delimitado só em Nunes (2024); predomina o contexto emergencial da pandemia; nenhuma rede municipal de pequeno porte; falta estudo sobre o que os profissionais fazem quando a formação prevista não chega e a exigência curricular permanece.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3 · FUNDAMENTOS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733" b="1">
                <a:solidFill>
                  <a:srgbClr val="FFFFFF"/>
                </a:solidFill>
                <a:latin typeface="Arial"/>
              </a:rPr>
              <a:t>FUNDAMENTOS TEÓRICOS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02044"/>
            <a:ext cx="3566070" cy="2133546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523961"/>
            <a:ext cx="3200319" cy="188971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Ciclo de Políticas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Bowe, Ball e Gold (1992); Mainardes (2006). A política é interpretada e recriada no contexto da prática.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572" y="1402044"/>
            <a:ext cx="3566070" cy="2133546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447" y="1523961"/>
            <a:ext cx="3200319" cy="188971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Teoria da atuação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Ball, Maguire e Braun (2016). Dimensões situacional, profissional, material e externa do contexto.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518" y="1402044"/>
            <a:ext cx="3566070" cy="2133546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394" y="1523961"/>
            <a:ext cx="3200319" cy="188971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Culturas profissionais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Hargreaves (2005). Conteúdo e forma das culturas do trabalho docente.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3687987"/>
            <a:ext cx="3566070" cy="2133546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01" y="3809904"/>
            <a:ext cx="3200319" cy="188971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Performatividade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Ball (2002; 2004). Metas, registros e fabricações que acompanham a política.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572" y="3687987"/>
            <a:ext cx="3566070" cy="2133546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447" y="3809904"/>
            <a:ext cx="3200319" cy="188971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Território e lugar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Santos (1999; 2006; 2012); Massey (2008). Território usado, rugosidade, encontro de trajetórias.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518" y="3687987"/>
            <a:ext cx="3566070" cy="2133546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394" y="3809904"/>
            <a:ext cx="3200319" cy="188971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Direitos da criança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ONU (2021). Provisão, proteção e participação no ambiente digital.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26" y="6034889"/>
            <a:ext cx="11094442" cy="579105"/>
          </a:xfrm>
          <a:prstGeom prst="roundRect">
            <a:avLst>
              <a:gd name="adj" fmla="val 3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01" y="6034889"/>
            <a:ext cx="10728691" cy="57910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99" b="1">
                <a:solidFill>
                  <a:srgbClr val="6C4FD8"/>
                </a:solidFill>
                <a:latin typeface="Arial"/>
              </a:rPr>
              <a:t>Categoria integradora: </a:t>
            </a:r>
            <a:r>
              <a:rPr sz="1399" b="0">
                <a:solidFill>
                  <a:srgbClr val="1A1A1A"/>
                </a:solidFill>
                <a:latin typeface="Arial"/>
              </a:rPr>
              <a:t>a recontextualização, que reúne a ACP e a teoria da atuação.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3 · FUNDAMENTOS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066" b="1">
                <a:solidFill>
                  <a:srgbClr val="FFFFFF"/>
                </a:solidFill>
                <a:latin typeface="Arial"/>
              </a:rPr>
              <a:t>HABITAR O DIGITAL: UMA FORMULAÇÃO DA TESE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02044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1022" y="1450811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Schlemmer et al. (2021)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Habitar como experiência relacional entre sujeitos, ambientes, tecnologias e redes.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2529776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1022" y="2578543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Di Felice (2009)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O habitar transformado pelas redes digitais: o habitar atópico.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3657508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022" y="3706275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Santos (2006)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Objetos técnicos distribuídos de modo desigual, com idades e funções diferentes.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4785240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022" y="4834007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Massey (2008)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O lugar como encontro de trajetórias.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26" y="5943451"/>
            <a:ext cx="5730096" cy="701022"/>
          </a:xfrm>
          <a:prstGeom prst="roundRect">
            <a:avLst>
              <a:gd name="adj" fmla="val 2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543" y="5943451"/>
            <a:ext cx="5486262" cy="70102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266" b="1">
                <a:solidFill>
                  <a:srgbClr val="1A1A1A"/>
                </a:solidFill>
                <a:latin typeface="Arial"/>
              </a:rPr>
              <a:t>Maneiras desiguais de acesso, participação e apropriação do digital num território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2282" y="1389853"/>
            <a:ext cx="5022978" cy="416955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Vista aérea contemporânea de Pipa (Figura 15). Acervo da pesquisa (2026)."/>
          <p:cNvPicPr>
            <a:picLocks noChangeAspect="1"/>
          </p:cNvPicPr>
          <p:nvPr/>
        </p:nvPicPr>
        <p:blipFill>
          <a:blip r:embed="rId3"/>
          <a:srcRect t="850" b="850"/>
          <a:stretch>
            <a:fillRect/>
          </a:stretch>
        </p:blipFill>
        <p:spPr>
          <a:xfrm>
            <a:off x="6705432" y="1463003"/>
            <a:ext cx="4876678" cy="353559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05432" y="5010786"/>
            <a:ext cx="4876678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Vista aérea contemporânea de Pipa (Figura 15). Acervo da pesquisa (2026).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432" y="5699617"/>
            <a:ext cx="4876678" cy="914377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399" b="0">
                <a:solidFill>
                  <a:srgbClr val="FFFFFF"/>
                </a:solidFill>
                <a:latin typeface="Arial"/>
              </a:rPr>
              <a:t>Em Pipa: alta densidade tecnológica nos circuitos do turismo e disponibilidade restrita nos espaços pedagógicos da escola.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3 · FUNDAMENTOS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FUNDAMENTOS METODOLÓGICOS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02044"/>
            <a:ext cx="3566070" cy="2255463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493482"/>
            <a:ext cx="3200319" cy="2072588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466" b="1">
                <a:solidFill>
                  <a:srgbClr val="6C4FD8"/>
                </a:solidFill>
                <a:latin typeface="Arial"/>
              </a:rPr>
              <a:t>Abordagem qualitativa</a:t>
            </a:r>
          </a:p>
          <a:p>
            <a:pPr algn="l">
              <a:lnSpc>
                <a:spcPct val="115000"/>
              </a:lnSpc>
            </a:pPr>
            <a:r>
              <a:rPr sz="1466" b="0">
                <a:solidFill>
                  <a:srgbClr val="1A1A1A"/>
                </a:solidFill>
                <a:latin typeface="Arial"/>
              </a:rPr>
              <a:t>O universo dos significados, motivos, crenças e valores (MINAYO, 2009); compreender como as pessoas constroem significados (BOGDAN; BIKLEN, 2007).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572" y="1402044"/>
            <a:ext cx="3566070" cy="2255463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447" y="1493482"/>
            <a:ext cx="3200319" cy="2072588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466" b="1">
                <a:solidFill>
                  <a:srgbClr val="6C4FD8"/>
                </a:solidFill>
                <a:latin typeface="Arial"/>
              </a:rPr>
              <a:t>Estudo de caso único</a:t>
            </a:r>
          </a:p>
          <a:p>
            <a:pPr algn="l">
              <a:lnSpc>
                <a:spcPct val="115000"/>
              </a:lnSpc>
            </a:pPr>
            <a:r>
              <a:rPr sz="1466" b="0">
                <a:solidFill>
                  <a:srgbClr val="1A1A1A"/>
                </a:solidFill>
                <a:latin typeface="Arial"/>
              </a:rPr>
              <a:t>Fenômeno contemporâneo em contexto real, de limites pouco nítidos (YIN, 2001), com a cautela de André (2005) sobre o “estudo de um caso”.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518" y="1402044"/>
            <a:ext cx="3566070" cy="2255463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394" y="1493482"/>
            <a:ext cx="3200319" cy="2072588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466" b="1">
                <a:solidFill>
                  <a:srgbClr val="6C4FD8"/>
                </a:solidFill>
                <a:latin typeface="Arial"/>
              </a:rPr>
              <a:t>ACP operacionalizada</a:t>
            </a:r>
          </a:p>
          <a:p>
            <a:pPr algn="l">
              <a:lnSpc>
                <a:spcPct val="115000"/>
              </a:lnSpc>
            </a:pPr>
            <a:r>
              <a:rPr sz="1466" b="0">
                <a:solidFill>
                  <a:srgbClr val="1A1A1A"/>
                </a:solidFill>
                <a:latin typeface="Arial"/>
              </a:rPr>
              <a:t>Contextos de influência, de produção do texto e da prática, com as questões analíticas de Mainardes (2006, p. 67-68).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3809904"/>
            <a:ext cx="3566070" cy="2255463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01" y="3901342"/>
            <a:ext cx="3200319" cy="2072588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466" b="1">
                <a:solidFill>
                  <a:srgbClr val="6C4FD8"/>
                </a:solidFill>
                <a:latin typeface="Arial"/>
              </a:rPr>
              <a:t>Recontextualização</a:t>
            </a:r>
          </a:p>
          <a:p>
            <a:pPr algn="l">
              <a:lnSpc>
                <a:spcPct val="115000"/>
              </a:lnSpc>
            </a:pPr>
            <a:r>
              <a:rPr sz="1466" b="0">
                <a:solidFill>
                  <a:srgbClr val="1A1A1A"/>
                </a:solidFill>
                <a:latin typeface="Arial"/>
              </a:rPr>
              <a:t>A política ganha sentidos particulares ao encontrar pessoas, instituições, recursos e limites de um lugar.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572" y="3809904"/>
            <a:ext cx="3566070" cy="2255463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447" y="3901342"/>
            <a:ext cx="3200319" cy="2072588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466" b="1">
                <a:solidFill>
                  <a:srgbClr val="6C4FD8"/>
                </a:solidFill>
                <a:latin typeface="Arial"/>
              </a:rPr>
              <a:t>Seleção intencional</a:t>
            </a:r>
          </a:p>
          <a:p>
            <a:pPr algn="l">
              <a:lnSpc>
                <a:spcPct val="115000"/>
              </a:lnSpc>
            </a:pPr>
            <a:r>
              <a:rPr sz="1466" b="0">
                <a:solidFill>
                  <a:srgbClr val="1A1A1A"/>
                </a:solidFill>
                <a:latin typeface="Arial"/>
              </a:rPr>
              <a:t>Profissionais escolhidos pela posição no arranjo da política (MARCONI; LAKATOS, 2007), com um técnico da Secretaria.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518" y="3809904"/>
            <a:ext cx="3566070" cy="2255463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394" y="3901342"/>
            <a:ext cx="3200319" cy="2072588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466" b="1">
                <a:solidFill>
                  <a:srgbClr val="6C4FD8"/>
                </a:solidFill>
                <a:latin typeface="Arial"/>
              </a:rPr>
              <a:t>Análise temática reflexiva</a:t>
            </a:r>
          </a:p>
          <a:p>
            <a:pPr algn="l">
              <a:lnSpc>
                <a:spcPct val="115000"/>
              </a:lnSpc>
            </a:pPr>
            <a:r>
              <a:rPr sz="1466" b="0">
                <a:solidFill>
                  <a:srgbClr val="1A1A1A"/>
                </a:solidFill>
                <a:latin typeface="Arial"/>
              </a:rPr>
              <a:t>Temas construídos entre dados, referencial e reflexividade (BRAUN; CLARKE, 2006; 2019), com triangulação no ATLAS.ti.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Resoluções CNS nº 466/2012 e 510/2016: compromissos éticos; critérios de leitura datados antes da 1ª entrevista.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4 ·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OS CINCO MOVIMENTOS DA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26" y="1188690"/>
            <a:ext cx="11094442" cy="670543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466" b="0">
                <a:solidFill>
                  <a:srgbClr val="FFFFFF"/>
                </a:solidFill>
                <a:latin typeface="Arial"/>
              </a:rPr>
              <a:t>Quatro fontes de evidência, organizadas em cinco movimentos e confrontadas por triangulação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26" y="1981150"/>
            <a:ext cx="2072588" cy="411469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543" y="2072588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43" y="2712652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66" b="1">
                <a:solidFill>
                  <a:srgbClr val="1A1A1A"/>
                </a:solidFill>
                <a:latin typeface="Arial"/>
              </a:rPr>
              <a:t>Análise documental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43" y="3596550"/>
            <a:ext cx="1828754" cy="16458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Lei, Resolução CNE/CEB nº 2/2025, PPP, planos, atas, aquisição, PIEC e Censo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63" y="5333866"/>
            <a:ext cx="1889712" cy="6095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63" y="5333866"/>
            <a:ext cx="1889712" cy="609584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999" b="1">
                <a:solidFill>
                  <a:srgbClr val="1A1A1A"/>
                </a:solidFill>
                <a:latin typeface="Arial"/>
              </a:rPr>
              <a:t>Da entrada no campo ao fim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4089" y="1981150"/>
            <a:ext cx="2072588" cy="411469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06" y="2072588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06" y="2712652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66" b="1">
                <a:solidFill>
                  <a:srgbClr val="1A1A1A"/>
                </a:solidFill>
                <a:latin typeface="Arial"/>
              </a:rPr>
              <a:t>Registro iconográfico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06" y="3596550"/>
            <a:ext cx="1828754" cy="16458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38 figuras e 2 peças cartográficas, lidas com Santos e Massey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5527" y="5333866"/>
            <a:ext cx="1889712" cy="609584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95527" y="5333866"/>
            <a:ext cx="1889712" cy="609584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999" b="1">
                <a:solidFill>
                  <a:srgbClr val="1A1A1A"/>
                </a:solidFill>
                <a:latin typeface="Arial"/>
              </a:rPr>
              <a:t>Realizado · Cap.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59553" y="1981150"/>
            <a:ext cx="2072588" cy="411469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1470" y="2072588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470" y="2712652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66" b="1">
                <a:solidFill>
                  <a:srgbClr val="1A1A1A"/>
                </a:solidFill>
                <a:latin typeface="Arial"/>
              </a:rPr>
              <a:t>Questionário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470" y="3596550"/>
            <a:ext cx="1828754" cy="16458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Perfil e percepções, em cinco blocos, aplicado presencialmente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50991" y="5333866"/>
            <a:ext cx="1889712" cy="6095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50991" y="5333866"/>
            <a:ext cx="1889712" cy="609584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999" b="1">
                <a:solidFill>
                  <a:srgbClr val="1A1A1A"/>
                </a:solidFill>
                <a:latin typeface="Arial"/>
              </a:rPr>
              <a:t>Antes das entrevistas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017" y="1981150"/>
            <a:ext cx="2072588" cy="411469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36934" y="2072588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36934" y="2712652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66" b="1">
                <a:solidFill>
                  <a:srgbClr val="1A1A1A"/>
                </a:solidFill>
                <a:latin typeface="Arial"/>
              </a:rPr>
              <a:t>Entrevistas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6934" y="3596550"/>
            <a:ext cx="1828754" cy="16458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Individuais, seis eixos, de 60 a 90 minutos; técnico da Secretaria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06454" y="5333866"/>
            <a:ext cx="1889712" cy="6095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454" y="5333866"/>
            <a:ext cx="1889712" cy="609584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999" b="1">
                <a:solidFill>
                  <a:srgbClr val="1A1A1A"/>
                </a:solidFill>
                <a:latin typeface="Arial"/>
              </a:rPr>
              <a:t>Principal escuta · Cap. 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70480" y="1981150"/>
            <a:ext cx="2072588" cy="411469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397" y="2072588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397" y="2712652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66" b="1">
                <a:solidFill>
                  <a:srgbClr val="1A1A1A"/>
                </a:solidFill>
                <a:latin typeface="Arial"/>
              </a:rPr>
              <a:t>Análise e devolutiva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397" y="3596550"/>
            <a:ext cx="1828754" cy="16458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Análise temática reflexiva, triangulação e retorno à escola e à Secretaria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61918" y="5333866"/>
            <a:ext cx="1889712" cy="6095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61918" y="5333866"/>
            <a:ext cx="1889712" cy="609584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999" b="1">
                <a:solidFill>
                  <a:srgbClr val="1A1A1A"/>
                </a:solidFill>
                <a:latin typeface="Arial"/>
              </a:rPr>
              <a:t>Após o campo · Caps. 7 e 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Yin (2001); Braun e Clarke (2006; 2019); Resoluções CNS nº 466/2012 e 510/2016.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4 ·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066" b="1">
                <a:solidFill>
                  <a:srgbClr val="FFFFFF"/>
                </a:solidFill>
                <a:latin typeface="Arial"/>
              </a:rPr>
              <a:t>1º E 2º MOVIMENTOS: DOCUMENTOS E IMAGENS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341086"/>
            <a:ext cx="5455783" cy="4937636"/>
          </a:xfrm>
          <a:prstGeom prst="roundRect">
            <a:avLst>
              <a:gd name="adj" fmla="val 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432524"/>
            <a:ext cx="5120511" cy="478524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1 · Análise documental</a:t>
            </a:r>
          </a:p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599" b="1">
                <a:solidFill>
                  <a:srgbClr val="1A1A1A"/>
                </a:solidFill>
                <a:latin typeface="Arial"/>
              </a:rPr>
              <a:t>Pedagógico e institucional: </a:t>
            </a:r>
            <a:r>
              <a:rPr sz="1599" b="0">
                <a:solidFill>
                  <a:srgbClr val="1A1A1A"/>
                </a:solidFill>
                <a:latin typeface="Arial"/>
              </a:rPr>
              <a:t>PPP, planos de aula do 1º ao 5º ano, atas e cadernos de uso do laboratório e do kit multimídia.</a:t>
            </a:r>
          </a:p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599" b="1">
                <a:solidFill>
                  <a:srgbClr val="1A1A1A"/>
                </a:solidFill>
                <a:latin typeface="Arial"/>
              </a:rPr>
              <a:t>Administrativo e de aquisição: </a:t>
            </a:r>
            <a:r>
              <a:rPr sz="1599" b="0">
                <a:solidFill>
                  <a:srgbClr val="1A1A1A"/>
                </a:solidFill>
                <a:latin typeface="Arial"/>
              </a:rPr>
              <a:t>contratação da conectividade, doação e tombamento dos equipamentos, execução do PIEC, contratos de manutenção e respostas ao Censo Escolar.</a:t>
            </a:r>
          </a:p>
          <a:p>
            <a:pPr algn="l">
              <a:lnSpc>
                <a:spcPct val="115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Leitura: </a:t>
            </a:r>
            <a:r>
              <a:rPr sz="1599" b="0">
                <a:solidFill>
                  <a:srgbClr val="1A1A1A"/>
                </a:solidFill>
                <a:latin typeface="Arial"/>
              </a:rPr>
              <a:t>matriz temática prévia, crítica às condições de produção de cada documento; registros no ATLAS.ti.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5" y="1341086"/>
            <a:ext cx="5455783" cy="4937636"/>
          </a:xfrm>
          <a:prstGeom prst="roundRect">
            <a:avLst>
              <a:gd name="adj" fmla="val 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0160" y="1432524"/>
            <a:ext cx="5120511" cy="478524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2 · Registro iconográfico</a:t>
            </a:r>
          </a:p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599" b="1">
                <a:solidFill>
                  <a:srgbClr val="1A1A1A"/>
                </a:solidFill>
                <a:latin typeface="Arial"/>
              </a:rPr>
              <a:t>Corpus: </a:t>
            </a:r>
            <a:r>
              <a:rPr sz="1599" b="0">
                <a:solidFill>
                  <a:srgbClr val="1A1A1A"/>
                </a:solidFill>
                <a:latin typeface="Arial"/>
              </a:rPr>
              <a:t>38 figuras e 2 peças cartográficas (Apêndice A), de três procedências: Museu Digital de Pipa, fotografias da pesquisa e divulgação turística.</a:t>
            </a:r>
          </a:p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599" b="1">
                <a:solidFill>
                  <a:srgbClr val="1A1A1A"/>
                </a:solidFill>
                <a:latin typeface="Arial"/>
              </a:rPr>
              <a:t>Duas etapas: </a:t>
            </a:r>
            <a:r>
              <a:rPr sz="1599" b="0">
                <a:solidFill>
                  <a:srgbClr val="1A1A1A"/>
                </a:solidFill>
                <a:latin typeface="Arial"/>
              </a:rPr>
              <a:t>descrição do que está no enquadramento; depois, interpretação com as categorias da tese.</a:t>
            </a:r>
          </a:p>
          <a:p>
            <a:pPr algn="l">
              <a:lnSpc>
                <a:spcPct val="115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Cuidados: </a:t>
            </a:r>
            <a:r>
              <a:rPr sz="1599" b="0">
                <a:solidFill>
                  <a:srgbClr val="1A1A1A"/>
                </a:solidFill>
                <a:latin typeface="Arial"/>
              </a:rPr>
              <a:t>nenhum rosto de criança; sem observação de aulas; testes de velocidade da conexão nas salas e no laboratório, a fazer.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Marconi e Lakatos (2007); Santos (2012, p. 73): o passado técnico da forma.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4 ·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066" b="1">
                <a:solidFill>
                  <a:srgbClr val="FFFFFF"/>
                </a:solidFill>
                <a:latin typeface="Arial"/>
              </a:rPr>
              <a:t>3º, 4º E 5º MOVIMENTOS: ESCUTAR E ANALISAR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341086"/>
            <a:ext cx="3566070" cy="4419489"/>
          </a:xfrm>
          <a:prstGeom prst="roundRect">
            <a:avLst>
              <a:gd name="adj" fmla="val 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1022" y="1402044"/>
            <a:ext cx="3261278" cy="51814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599" b="1">
                <a:solidFill>
                  <a:srgbClr val="6C4FD8"/>
                </a:solidFill>
                <a:latin typeface="Arial"/>
              </a:rPr>
              <a:t>3 · Questionário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22" y="1950671"/>
            <a:ext cx="3261278" cy="3748946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Perfil e trajetória profissional</a:t>
            </a:r>
          </a:p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Formação e relação com o digital</a:t>
            </a:r>
          </a:p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Condições materiais e território</a:t>
            </a:r>
          </a:p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A PNED e as exigências de registro</a:t>
            </a:r>
          </a:p>
          <a:p>
            <a:pPr algn="l">
              <a:lnSpc>
                <a:spcPct val="108000"/>
              </a:lnSpc>
            </a:pPr>
            <a:r>
              <a:rPr sz="1466" b="0">
                <a:solidFill>
                  <a:srgbClr val="1A1A1A"/>
                </a:solidFill>
                <a:latin typeface="Arial"/>
              </a:rPr>
              <a:t>· Concepções e direitos da criança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572" y="1341086"/>
            <a:ext cx="3566070" cy="4419489"/>
          </a:xfrm>
          <a:prstGeom prst="roundRect">
            <a:avLst>
              <a:gd name="adj" fmla="val 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9968" y="1402044"/>
            <a:ext cx="3261278" cy="51814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599" b="1">
                <a:solidFill>
                  <a:srgbClr val="6C4FD8"/>
                </a:solidFill>
                <a:latin typeface="Arial"/>
              </a:rPr>
              <a:t>4 · Entrevistas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9968" y="1950671"/>
            <a:ext cx="3261278" cy="3748946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Trajetória e culturas profissionais</a:t>
            </a:r>
          </a:p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Interpretação da política</a:t>
            </a:r>
          </a:p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Tradução: dimensão material e território</a:t>
            </a:r>
          </a:p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Performatividade: registros e cobranças</a:t>
            </a:r>
          </a:p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Formas de atuação</a:t>
            </a:r>
          </a:p>
          <a:p>
            <a:pPr algn="l">
              <a:lnSpc>
                <a:spcPct val="108000"/>
              </a:lnSpc>
            </a:pPr>
            <a:r>
              <a:rPr sz="1466" b="0">
                <a:solidFill>
                  <a:srgbClr val="1A1A1A"/>
                </a:solidFill>
                <a:latin typeface="Arial"/>
              </a:rPr>
              <a:t>· Habitar o digital e direitos da criança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518" y="1341086"/>
            <a:ext cx="3566070" cy="4419489"/>
          </a:xfrm>
          <a:prstGeom prst="roundRect">
            <a:avLst>
              <a:gd name="adj" fmla="val 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8915" y="1402044"/>
            <a:ext cx="3261278" cy="51814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599" b="1">
                <a:solidFill>
                  <a:srgbClr val="6C4FD8"/>
                </a:solidFill>
                <a:latin typeface="Arial"/>
              </a:rPr>
              <a:t>5 · Análise e devolutiva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8915" y="1950671"/>
            <a:ext cx="3261278" cy="3748946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Familiarização com todo o material</a:t>
            </a:r>
          </a:p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Codificação com oito dimensões sensibilizadoras</a:t>
            </a:r>
          </a:p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Interpretação com triangulação, por participante e entre posições</a:t>
            </a:r>
          </a:p>
          <a:p>
            <a:pPr algn="l">
              <a:lnSpc>
                <a:spcPct val="108000"/>
              </a:lnSpc>
              <a:spcAft>
                <a:spcPts val="5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· Diálogo com as cinco categorias do Cap. 5</a:t>
            </a:r>
          </a:p>
          <a:p>
            <a:pPr algn="l">
              <a:lnSpc>
                <a:spcPct val="108000"/>
              </a:lnSpc>
            </a:pPr>
            <a:r>
              <a:rPr sz="1466" b="0">
                <a:solidFill>
                  <a:srgbClr val="1A1A1A"/>
                </a:solidFill>
                <a:latin typeface="Arial"/>
              </a:rPr>
              <a:t>· Devolutiva à escola e à Secretaria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26" y="5852013"/>
            <a:ext cx="11094442" cy="518147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01" y="5852013"/>
            <a:ext cx="10728691" cy="51814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As perguntas abertas vêm antes das diretas, e as categorias não são ditas aos participantes.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Braun e Clarke (2006; 2019); Hargreaves (2005); Ball (2004).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4 ·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333" b="1">
                <a:solidFill>
                  <a:srgbClr val="FFFFFF"/>
                </a:solidFill>
                <a:latin typeface="Arial"/>
              </a:rPr>
              <a:t>FORMAS DE ATUAÇÃO E COMO SERÃO LIDAS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63003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26" y="1463003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Adesão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78403" y="1463003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78403" y="1463003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Acomodação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2529776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26" y="2529776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Adaptação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8403" y="2529776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78403" y="2529776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Omissão seletiva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26" y="3596550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26" y="3596550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Negociação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78403" y="3596550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78403" y="3596550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Ressignificação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26" y="4663323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26" y="4663323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Resistência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26" y="5730096"/>
            <a:ext cx="4876678" cy="60958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FFFFFF"/>
                </a:solidFill>
                <a:latin typeface="Arial"/>
              </a:rPr>
              <a:t>Nenhuma forma é pressuposta; outras podem surgir do material.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013" y="1463003"/>
            <a:ext cx="5791055" cy="481571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5847" y="1584920"/>
            <a:ext cx="5303387" cy="457188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Recorrência. </a:t>
            </a:r>
            <a:r>
              <a:rPr sz="1733" b="0">
                <a:solidFill>
                  <a:srgbClr val="1A1A1A"/>
                </a:solidFill>
                <a:latin typeface="Arial"/>
              </a:rPr>
              <a:t>Uma forma só vira achado quando aparece de modo recorrente e sem indução pela pergunta.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Posição. </a:t>
            </a:r>
            <a:r>
              <a:rPr sz="1733" b="0">
                <a:solidFill>
                  <a:srgbClr val="1A1A1A"/>
                </a:solidFill>
                <a:latin typeface="Arial"/>
              </a:rPr>
              <a:t>As formas podem variar entre docência, coordenação, direção, apoio e Secretaria.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Nome justo. </a:t>
            </a:r>
            <a:r>
              <a:rPr sz="1733" b="0">
                <a:solidFill>
                  <a:srgbClr val="1A1A1A"/>
                </a:solidFill>
                <a:latin typeface="Arial"/>
              </a:rPr>
              <a:t>Quando não há alternativa, o que se vê é custo transferido ao trabalhador, e assim será nomeado.</a:t>
            </a:r>
          </a:p>
          <a:p>
            <a:pPr algn="l">
              <a:lnSpc>
                <a:spcPct val="115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Sem antecipar. </a:t>
            </a:r>
            <a:r>
              <a:rPr sz="1733" b="0">
                <a:solidFill>
                  <a:srgbClr val="1A1A1A"/>
                </a:solidFill>
                <a:latin typeface="Arial"/>
              </a:rPr>
              <a:t>As categorias não são ditas aos participantes; os critérios são datados antes da 1ª entrevista.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Ball (2002; 2004); Hargreaves (2005); Ball, Maguire e Braun (2016).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5 · AGENDA TERRITORIAL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733" b="1">
                <a:solidFill>
                  <a:srgbClr val="FFFFFF"/>
                </a:solidFill>
                <a:latin typeface="Arial"/>
              </a:rPr>
              <a:t>A AGENDA INTERNACIONAL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02044"/>
            <a:ext cx="3566070" cy="365750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523961"/>
            <a:ext cx="3200319" cy="341367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6C4FD8"/>
                </a:solidFill>
                <a:latin typeface="Arial"/>
              </a:rPr>
              <a:t>UNESCO (2023)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Relatório de Monitoramento Global da Educação</a:t>
            </a:r>
          </a:p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“Uma em cada quatro escolas primárias do mundo não dispõe de eletricidade” (p. 126, tradução nossa). A tecnologia deve complementar a interação com os professores.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572" y="1402044"/>
            <a:ext cx="3566070" cy="365750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447" y="1523961"/>
            <a:ext cx="3200319" cy="341367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6C4FD8"/>
                </a:solidFill>
                <a:latin typeface="Arial"/>
              </a:rPr>
              <a:t>OCDE (2015)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Students, Computers and Learning</a:t>
            </a:r>
          </a:p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Mesmo onde os computadores são usados em sala, seu impacto sobre o desempenho é, “na melhor das hipóteses, misto” (p. 3, tradução nossa).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518" y="1402044"/>
            <a:ext cx="3566070" cy="365750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394" y="1523961"/>
            <a:ext cx="3200319" cy="341367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6C4FD8"/>
                </a:solidFill>
                <a:latin typeface="Arial"/>
              </a:rPr>
              <a:t>Banco Mundial (2020)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Reimagining Human Connections</a:t>
            </a:r>
          </a:p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“Se a tecnologia é a resposta, qual é a pergunta?” Primeiro se define o problema educacional; depois se escolhe a tecnologia.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5272908"/>
            <a:ext cx="11094442" cy="97533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60" y="5272908"/>
            <a:ext cx="10606774" cy="97533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466" b="1">
                <a:solidFill>
                  <a:srgbClr val="1A1A1A"/>
                </a:solidFill>
                <a:latin typeface="Arial"/>
              </a:rPr>
              <a:t>Ponto em comum: </a:t>
            </a:r>
            <a:r>
              <a:rPr sz="1466" b="0">
                <a:solidFill>
                  <a:srgbClr val="1A1A1A"/>
                </a:solidFill>
                <a:latin typeface="Arial"/>
              </a:rPr>
              <a:t>os três documentos tiram o foco da simples presença dos recursos e o colocam nas condições, nos usos e nas finalidades. Sem condições materiais, o uso não acontece.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" y="640063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Mainardes (2006): contexto de influência; Ball (2004): performatividade.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5 · AGENDA TERRITORIAL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O QUE OUTROS TERRITÓRIOS NOS ENSINAM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76" y="1328894"/>
            <a:ext cx="6973649" cy="426099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pa das políticas de educação digital nas Américas e na Euro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26" y="1402044"/>
            <a:ext cx="6827349" cy="40110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26" y="5638659"/>
            <a:ext cx="6827349" cy="36575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999" b="0">
                <a:solidFill>
                  <a:srgbClr val="FFFFFF"/>
                </a:solidFill>
                <a:latin typeface="Arial"/>
              </a:rPr>
              <a:t>Fonte: elaborado a partir dos quadros do Capítulo 5; base cartográfica Natural Earth.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767" y="1328894"/>
            <a:ext cx="3962300" cy="4876678"/>
          </a:xfrm>
          <a:prstGeom prst="roundRect">
            <a:avLst>
              <a:gd name="adj" fmla="val 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643" y="1402044"/>
            <a:ext cx="3657508" cy="36575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0000"/>
              </a:lnSpc>
            </a:pPr>
            <a:r>
              <a:rPr sz="1133" b="1">
                <a:solidFill>
                  <a:srgbClr val="1A1A1A"/>
                </a:solidFill>
                <a:latin typeface="Arial"/>
              </a:rPr>
              <a:t>A cor indica a categoria principal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94122" y="1901904"/>
            <a:ext cx="195067" cy="195067"/>
          </a:xfrm>
          <a:prstGeom prst="roundRect">
            <a:avLst>
              <a:gd name="adj" fmla="val 50000"/>
            </a:avLst>
          </a:prstGeom>
          <a:solidFill>
            <a:srgbClr val="2A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8435" y="1859233"/>
            <a:ext cx="3352716" cy="280408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1133" b="0">
                <a:solidFill>
                  <a:srgbClr val="1A1A1A"/>
                </a:solidFill>
                <a:latin typeface="Arial"/>
              </a:rPr>
              <a:t>Governança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94122" y="2206696"/>
            <a:ext cx="195067" cy="195067"/>
          </a:xfrm>
          <a:prstGeom prst="roundRect">
            <a:avLst>
              <a:gd name="adj" fmla="val 50000"/>
            </a:avLst>
          </a:prstGeom>
          <a:solidFill>
            <a:srgbClr val="C9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8435" y="2164025"/>
            <a:ext cx="3352716" cy="280408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1133" b="0">
                <a:solidFill>
                  <a:srgbClr val="1A1A1A"/>
                </a:solidFill>
                <a:latin typeface="Arial"/>
              </a:rPr>
              <a:t>Formação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94122" y="2511489"/>
            <a:ext cx="195067" cy="195067"/>
          </a:xfrm>
          <a:prstGeom prst="roundRect">
            <a:avLst>
              <a:gd name="adj" fmla="val 50000"/>
            </a:avLst>
          </a:prstGeom>
          <a:solidFill>
            <a:srgbClr val="4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8435" y="2468818"/>
            <a:ext cx="3352716" cy="280408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1133" b="0">
                <a:solidFill>
                  <a:srgbClr val="1A1A1A"/>
                </a:solidFill>
                <a:latin typeface="Arial"/>
              </a:rPr>
              <a:t>Infraestrutura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94122" y="2816281"/>
            <a:ext cx="195067" cy="195067"/>
          </a:xfrm>
          <a:prstGeom prst="roundRect">
            <a:avLst>
              <a:gd name="adj" fmla="val 50000"/>
            </a:avLst>
          </a:prstGeom>
          <a:solidFill>
            <a:srgbClr val="8A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8435" y="2773610"/>
            <a:ext cx="3352716" cy="280408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1133" b="0">
                <a:solidFill>
                  <a:srgbClr val="1A1A1A"/>
                </a:solidFill>
                <a:latin typeface="Arial"/>
              </a:rPr>
              <a:t>Continuidade institucional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94122" y="3121073"/>
            <a:ext cx="195067" cy="195067"/>
          </a:xfrm>
          <a:prstGeom prst="roundRect">
            <a:avLst>
              <a:gd name="adj" fmla="val 50000"/>
            </a:avLst>
          </a:prstGeom>
          <a:solidFill>
            <a:srgbClr val="D96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8435" y="3078403"/>
            <a:ext cx="3352716" cy="280408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1133" b="0">
                <a:solidFill>
                  <a:srgbClr val="1A1A1A"/>
                </a:solidFill>
                <a:latin typeface="Arial"/>
              </a:rPr>
              <a:t>Cultura digital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643" y="3444153"/>
            <a:ext cx="3657508" cy="274313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066" b="1">
                <a:solidFill>
                  <a:srgbClr val="6C4FD8"/>
                </a:solidFill>
                <a:latin typeface="Arial"/>
              </a:rPr>
              <a:t>Américas: </a:t>
            </a:r>
            <a:r>
              <a:rPr sz="1066" b="0">
                <a:solidFill>
                  <a:srgbClr val="1A1A1A"/>
                </a:solidFill>
                <a:latin typeface="Arial"/>
              </a:rPr>
              <a:t>1 EUA · Ed. Technology Plan · 2 Canadá · Digital Literacy (BC) · 3 México · @prende 2.0 · 4 Costa Rica · PRONIE · 5 Colômbia · Computadores para Educar · 6 Peru · Una Laptop por Niño · 7 Chile · Red Enlaces · 8 Argentina · Conectar Igualdad · 9 Uruguai · Plan Ceibal · Brasil · PNED (2023)</a:t>
            </a:r>
          </a:p>
          <a:p>
            <a:pPr algn="l">
              <a:lnSpc>
                <a:spcPct val="105000"/>
              </a:lnSpc>
            </a:pPr>
            <a:r>
              <a:rPr sz="1066" b="1">
                <a:solidFill>
                  <a:srgbClr val="6C4FD8"/>
                </a:solidFill>
                <a:latin typeface="Arial"/>
              </a:rPr>
              <a:t>Europa: </a:t>
            </a:r>
            <a:r>
              <a:rPr sz="1066" b="0">
                <a:solidFill>
                  <a:srgbClr val="1A1A1A"/>
                </a:solidFill>
                <a:latin typeface="Arial"/>
              </a:rPr>
              <a:t>10 União Europeia · DigComp · 11 Portugal · PTE e INCoDe · 12 Espanha · Comp. Digital Docente · 13 Irlanda · Digital Strategy · 14 Reino Unido · 15 França · Stratégie du numérique · 16 Países Baixos · 17 Alemanha · DigitalPakt · 18 Itália · PNSD · 19 Finlândia · Currículo (2014)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84" y="640063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Mainardes (2006): contexto de influência.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5 · AGENDA TERRITORIAL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066" b="1">
                <a:solidFill>
                  <a:srgbClr val="FFFFFF"/>
                </a:solidFill>
                <a:latin typeface="Arial"/>
              </a:rPr>
              <a:t>O QUE ESSAS EXPERIÊNCIAS TRAZEM PARA A TESE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02044"/>
            <a:ext cx="2072588" cy="4206134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0543" y="1523961"/>
            <a:ext cx="1828754" cy="487667"/>
          </a:xfrm>
          <a:prstGeom prst="roundRect">
            <a:avLst>
              <a:gd name="adj" fmla="val 30000"/>
            </a:avLst>
          </a:prstGeom>
          <a:solidFill>
            <a:srgbClr val="2A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543" y="1523961"/>
            <a:ext cx="1828754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FFFFFF"/>
                </a:solidFill>
                <a:latin typeface="Arial"/>
              </a:rPr>
              <a:t>Governança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43" y="2133546"/>
            <a:ext cx="1828754" cy="1828754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Coordenar escalas faz parte da política (Alemanha, Finlândia, UE).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43" y="3992780"/>
            <a:ext cx="1828754" cy="1523961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199" b="1">
                <a:solidFill>
                  <a:srgbClr val="6C4FD8"/>
                </a:solidFill>
                <a:latin typeface="Arial"/>
              </a:rPr>
              <a:t>No campo: </a:t>
            </a:r>
            <a:r>
              <a:rPr sz="1199" b="0">
                <a:solidFill>
                  <a:srgbClr val="1A1A1A"/>
                </a:solidFill>
                <a:latin typeface="Arial"/>
              </a:rPr>
              <a:t>O que chega da União e do estado à rede, e o que a Secretaria repassa à escola?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4089" y="1402044"/>
            <a:ext cx="2072588" cy="4206134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26006" y="1523961"/>
            <a:ext cx="1828754" cy="487667"/>
          </a:xfrm>
          <a:prstGeom prst="roundRect">
            <a:avLst>
              <a:gd name="adj" fmla="val 30000"/>
            </a:avLst>
          </a:prstGeom>
          <a:solidFill>
            <a:srgbClr val="C9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06" y="1523961"/>
            <a:ext cx="1828754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FFFFFF"/>
                </a:solidFill>
                <a:latin typeface="Arial"/>
              </a:rPr>
              <a:t>Formação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06" y="2133546"/>
            <a:ext cx="1828754" cy="1828754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A mediação dos profissionais é condição do uso; tempo e apoio contam.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06" y="3992780"/>
            <a:ext cx="1828754" cy="1523961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199" b="1">
                <a:solidFill>
                  <a:srgbClr val="6C4FD8"/>
                </a:solidFill>
                <a:latin typeface="Arial"/>
              </a:rPr>
              <a:t>No campo: </a:t>
            </a:r>
            <a:r>
              <a:rPr sz="1199" b="0">
                <a:solidFill>
                  <a:srgbClr val="1A1A1A"/>
                </a:solidFill>
                <a:latin typeface="Arial"/>
              </a:rPr>
              <a:t>Que formação chegou à escola, e quando?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59553" y="1402044"/>
            <a:ext cx="2072588" cy="4206134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81470" y="1523961"/>
            <a:ext cx="1828754" cy="487667"/>
          </a:xfrm>
          <a:prstGeom prst="roundRect">
            <a:avLst>
              <a:gd name="adj" fmla="val 30000"/>
            </a:avLst>
          </a:prstGeom>
          <a:solidFill>
            <a:srgbClr val="4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1470" y="1523961"/>
            <a:ext cx="1828754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FFFFFF"/>
                </a:solidFill>
                <a:latin typeface="Arial"/>
              </a:rPr>
              <a:t>Infraestrutura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1470" y="2133546"/>
            <a:ext cx="1828754" cy="1828754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Equalizar equipamentos não equalizou usos (Itália, Peru).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1470" y="3992780"/>
            <a:ext cx="1828754" cy="1523961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199" b="1">
                <a:solidFill>
                  <a:srgbClr val="6C4FD8"/>
                </a:solidFill>
                <a:latin typeface="Arial"/>
              </a:rPr>
              <a:t>No campo: </a:t>
            </a:r>
            <a:r>
              <a:rPr sz="1199" b="0">
                <a:solidFill>
                  <a:srgbClr val="1A1A1A"/>
                </a:solidFill>
                <a:latin typeface="Arial"/>
              </a:rPr>
              <a:t>Com que equipamentos se trabalha?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017" y="1402044"/>
            <a:ext cx="2072588" cy="4206134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36934" y="1523961"/>
            <a:ext cx="1828754" cy="487667"/>
          </a:xfrm>
          <a:prstGeom prst="roundRect">
            <a:avLst>
              <a:gd name="adj" fmla="val 30000"/>
            </a:avLst>
          </a:prstGeom>
          <a:solidFill>
            <a:srgbClr val="8A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36934" y="1523961"/>
            <a:ext cx="1828754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FFFFFF"/>
                </a:solidFill>
                <a:latin typeface="Arial"/>
              </a:rPr>
              <a:t>Continuidade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6934" y="2133546"/>
            <a:ext cx="1828754" cy="1828754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O Ceibal atravessou governos; a Argentina teve três reversões em quinze anos.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6934" y="3992780"/>
            <a:ext cx="1828754" cy="1523961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199" b="1">
                <a:solidFill>
                  <a:srgbClr val="6C4FD8"/>
                </a:solidFill>
                <a:latin typeface="Arial"/>
              </a:rPr>
              <a:t>No campo: </a:t>
            </a:r>
            <a:r>
              <a:rPr sz="1199" b="0">
                <a:solidFill>
                  <a:srgbClr val="1A1A1A"/>
                </a:solidFill>
                <a:latin typeface="Arial"/>
              </a:rPr>
              <a:t>Que continuidade a rede municipal teve?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70480" y="1402044"/>
            <a:ext cx="2072588" cy="4206134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397" y="1523961"/>
            <a:ext cx="1828754" cy="487667"/>
          </a:xfrm>
          <a:prstGeom prst="roundRect">
            <a:avLst>
              <a:gd name="adj" fmla="val 30000"/>
            </a:avLst>
          </a:prstGeom>
          <a:solidFill>
            <a:srgbClr val="D96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397" y="1523961"/>
            <a:ext cx="1828754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FFFFFF"/>
                </a:solidFill>
                <a:latin typeface="Arial"/>
              </a:rPr>
              <a:t>Cultura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397" y="2133546"/>
            <a:ext cx="1828754" cy="1828754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Educação digital ligada à cidadania e à proteção das crianças (França, BIK+).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397" y="3992780"/>
            <a:ext cx="1828754" cy="1523961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199" b="1">
                <a:solidFill>
                  <a:srgbClr val="6C4FD8"/>
                </a:solidFill>
                <a:latin typeface="Arial"/>
              </a:rPr>
              <a:t>No campo: </a:t>
            </a:r>
            <a:r>
              <a:rPr sz="1199" b="0">
                <a:solidFill>
                  <a:srgbClr val="1A1A1A"/>
                </a:solidFill>
                <a:latin typeface="Arial"/>
              </a:rPr>
              <a:t>O que se faz com crianças de seis a dez anos?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26" y="5760575"/>
            <a:ext cx="11094442" cy="6095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01" y="5760575"/>
            <a:ext cx="10728691" cy="60958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Nenhuma experiência descreve Pipa. Fica a pergunta que nenhum caso responde: o que acontece quando parte das condições não chega?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5 · AGENDA TERRITORIAL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O TEXTO DA POLÍTICA: O VAZIO MATERIAL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02044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493482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1º, § 3º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A PNED se define como “instância de articulação” das políticas de infraestrutura e conectividade já existentes.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6806" y="1402044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9681" y="1493482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2º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A inclusão digital, onde está a conectividade das escolas, segue “dentro dos limites orçamentários” de cada 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3291757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01" y="3383195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11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Dotações dos entes, doações, Fust e Funttel: nenhum fundo próprio, nenhum repasse obrigatório aos municípios.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6806" y="3291757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9681" y="3383195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3º, § 1º, IX e X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A formação de professores aparece como promoção, sem responsáveis, prazos, carga horária ou custeio.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26" y="5242428"/>
            <a:ext cx="11033484" cy="1066773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460" y="5242428"/>
            <a:ext cx="10545816" cy="1066773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466" b="1">
                <a:solidFill>
                  <a:srgbClr val="1A1A1A"/>
                </a:solidFill>
                <a:latin typeface="Arial"/>
              </a:rPr>
              <a:t>Na escala do território: </a:t>
            </a:r>
            <a:r>
              <a:rPr sz="1466" b="0">
                <a:solidFill>
                  <a:srgbClr val="1A1A1A"/>
                </a:solidFill>
                <a:latin typeface="Arial"/>
              </a:rPr>
              <a:t>a lei declara o direito e deixa a chegada dos meios à escola na dependência da capacidade de cada ente. Em Pipa, essa capacidade é a de um município de pequeno porte.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Brasil (2023); Brasil (2025); Mainardes (2006); Ball (2004).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199" b="1">
                <a:solidFill>
                  <a:srgbClr val="FFFFFF"/>
                </a:solidFill>
                <a:latin typeface="Arial"/>
              </a:rPr>
              <a:t>O TERRITÓRIO COMO CATEGORIA DE ANÁLISE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26" y="1188690"/>
            <a:ext cx="11094442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399" b="0">
                <a:solidFill>
                  <a:srgbClr val="FFFFFF"/>
                </a:solidFill>
                <a:latin typeface="Arial"/>
              </a:rPr>
              <a:t>Capítulo 6: o que o registro iconográfico e o acervo histórico já documentam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26" y="1828754"/>
            <a:ext cx="2621214" cy="4389010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0543" y="1950671"/>
            <a:ext cx="2377380" cy="487667"/>
          </a:xfrm>
          <a:prstGeom prst="roundRect">
            <a:avLst>
              <a:gd name="adj" fmla="val 30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43" y="1950671"/>
            <a:ext cx="2377380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Histórica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43" y="2529776"/>
            <a:ext cx="2377380" cy="1767795"/>
          </a:xfrm>
          <a:prstGeom prst="rect">
            <a:avLst/>
          </a:prstGeom>
          <a:noFill/>
        </p:spPr>
        <p:txBody>
          <a:bodyPr wrap="square" lIns="30479" rIns="30479" tIns="30479" bIns="30479" anchor="t"/>
          <a:lstStyle/>
          <a:p>
            <a:pPr algn="l">
              <a:lnSpc>
                <a:spcPct val="115000"/>
              </a:lnSpc>
            </a:pPr>
            <a:r>
              <a:rPr sz="1399" b="1">
                <a:solidFill>
                  <a:srgbClr val="1A1A1A"/>
                </a:solidFill>
                <a:latin typeface="Arial"/>
              </a:rPr>
              <a:t>Documenta: </a:t>
            </a:r>
            <a:r>
              <a:rPr sz="1399" b="0">
                <a:solidFill>
                  <a:srgbClr val="1A1A1A"/>
                </a:solidFill>
                <a:latin typeface="Arial"/>
              </a:rPr>
              <a:t>Permanências e transformações; formas herdadas que sobrevivem à função que as criou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43" y="4328051"/>
            <a:ext cx="2377380" cy="1828754"/>
          </a:xfrm>
          <a:prstGeom prst="rect">
            <a:avLst/>
          </a:prstGeom>
          <a:noFill/>
        </p:spPr>
        <p:txBody>
          <a:bodyPr wrap="square" lIns="30479" rIns="30479" tIns="30479" bIns="30479" anchor="t"/>
          <a:lstStyle/>
          <a:p>
            <a:pPr algn="l">
              <a:lnSpc>
                <a:spcPct val="115000"/>
              </a:lnSpc>
            </a:pPr>
            <a:r>
              <a:rPr sz="1399" b="1">
                <a:solidFill>
                  <a:srgbClr val="6C4FD8"/>
                </a:solidFill>
                <a:latin typeface="Arial"/>
              </a:rPr>
              <a:t>Pergunta: </a:t>
            </a:r>
            <a:r>
              <a:rPr sz="1399" b="0">
                <a:solidFill>
                  <a:srgbClr val="1A1A1A"/>
                </a:solidFill>
                <a:latin typeface="Arial"/>
              </a:rPr>
              <a:t>Que camadas do território a política encontra ao chegar?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2716" y="1828754"/>
            <a:ext cx="2621214" cy="4389010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633" y="1950671"/>
            <a:ext cx="2377380" cy="487667"/>
          </a:xfrm>
          <a:prstGeom prst="roundRect">
            <a:avLst>
              <a:gd name="adj" fmla="val 30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633" y="1950671"/>
            <a:ext cx="2377380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Socioeconômica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633" y="2529776"/>
            <a:ext cx="2377380" cy="1767795"/>
          </a:xfrm>
          <a:prstGeom prst="rect">
            <a:avLst/>
          </a:prstGeom>
          <a:noFill/>
        </p:spPr>
        <p:txBody>
          <a:bodyPr wrap="square" lIns="30479" rIns="30479" tIns="30479" bIns="30479" anchor="t"/>
          <a:lstStyle/>
          <a:p>
            <a:pPr algn="l">
              <a:lnSpc>
                <a:spcPct val="115000"/>
              </a:lnSpc>
            </a:pPr>
            <a:r>
              <a:rPr sz="1399" b="1">
                <a:solidFill>
                  <a:srgbClr val="1A1A1A"/>
                </a:solidFill>
                <a:latin typeface="Arial"/>
              </a:rPr>
              <a:t>Documenta: </a:t>
            </a:r>
            <a:r>
              <a:rPr sz="1399" b="0">
                <a:solidFill>
                  <a:srgbClr val="1A1A1A"/>
                </a:solidFill>
                <a:latin typeface="Arial"/>
              </a:rPr>
              <a:t>Turismo, trabalho, mobilidade, valorização fundiária e desigualdades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633" y="4328051"/>
            <a:ext cx="2377380" cy="1828754"/>
          </a:xfrm>
          <a:prstGeom prst="rect">
            <a:avLst/>
          </a:prstGeom>
          <a:noFill/>
        </p:spPr>
        <p:txBody>
          <a:bodyPr wrap="square" lIns="30479" rIns="30479" tIns="30479" bIns="30479" anchor="t"/>
          <a:lstStyle/>
          <a:p>
            <a:pPr algn="l">
              <a:lnSpc>
                <a:spcPct val="115000"/>
              </a:lnSpc>
            </a:pPr>
            <a:r>
              <a:rPr sz="1399" b="1">
                <a:solidFill>
                  <a:srgbClr val="6C4FD8"/>
                </a:solidFill>
                <a:latin typeface="Arial"/>
              </a:rPr>
              <a:t>Pergunta: </a:t>
            </a:r>
            <a:r>
              <a:rPr sz="1399" b="0">
                <a:solidFill>
                  <a:srgbClr val="1A1A1A"/>
                </a:solidFill>
                <a:latin typeface="Arial"/>
              </a:rPr>
              <a:t>Como a dinâmica econômica e suas desigualdades atravessam a rotina da escola?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6806" y="1828754"/>
            <a:ext cx="2621214" cy="4389010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78723" y="1950671"/>
            <a:ext cx="2377380" cy="487667"/>
          </a:xfrm>
          <a:prstGeom prst="roundRect">
            <a:avLst>
              <a:gd name="adj" fmla="val 30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723" y="1950671"/>
            <a:ext cx="2377380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Tecnológica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3" y="2529776"/>
            <a:ext cx="2377380" cy="1767795"/>
          </a:xfrm>
          <a:prstGeom prst="rect">
            <a:avLst/>
          </a:prstGeom>
          <a:noFill/>
        </p:spPr>
        <p:txBody>
          <a:bodyPr wrap="square" lIns="30479" rIns="30479" tIns="30479" bIns="30479" anchor="t"/>
          <a:lstStyle/>
          <a:p>
            <a:pPr algn="l">
              <a:lnSpc>
                <a:spcPct val="115000"/>
              </a:lnSpc>
            </a:pPr>
            <a:r>
              <a:rPr sz="1399" b="1">
                <a:solidFill>
                  <a:srgbClr val="1A1A1A"/>
                </a:solidFill>
                <a:latin typeface="Arial"/>
              </a:rPr>
              <a:t>Documenta: </a:t>
            </a:r>
            <a:r>
              <a:rPr sz="1399" b="0">
                <a:solidFill>
                  <a:srgbClr val="1A1A1A"/>
                </a:solidFill>
                <a:latin typeface="Arial"/>
              </a:rPr>
              <a:t>Circulação, acesso e apropriação das tecnologias no território e na escola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723" y="4328051"/>
            <a:ext cx="2377380" cy="1828754"/>
          </a:xfrm>
          <a:prstGeom prst="rect">
            <a:avLst/>
          </a:prstGeom>
          <a:noFill/>
        </p:spPr>
        <p:txBody>
          <a:bodyPr wrap="square" lIns="30479" rIns="30479" tIns="30479" bIns="30479" anchor="t"/>
          <a:lstStyle/>
          <a:p>
            <a:pPr algn="l">
              <a:lnSpc>
                <a:spcPct val="115000"/>
              </a:lnSpc>
            </a:pPr>
            <a:r>
              <a:rPr sz="1399" b="1">
                <a:solidFill>
                  <a:srgbClr val="6C4FD8"/>
                </a:solidFill>
                <a:latin typeface="Arial"/>
              </a:rPr>
              <a:t>Pergunta: </a:t>
            </a:r>
            <a:r>
              <a:rPr sz="1399" b="0">
                <a:solidFill>
                  <a:srgbClr val="1A1A1A"/>
                </a:solidFill>
                <a:latin typeface="Arial"/>
              </a:rPr>
              <a:t>Como a distribuição da infraestrutura participa das possibilidades de uso pedagógico?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0895" y="1828754"/>
            <a:ext cx="2621214" cy="4389010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82812" y="1950671"/>
            <a:ext cx="2377380" cy="487667"/>
          </a:xfrm>
          <a:prstGeom prst="roundRect">
            <a:avLst>
              <a:gd name="adj" fmla="val 30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2812" y="1950671"/>
            <a:ext cx="2377380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Institucional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2812" y="2529776"/>
            <a:ext cx="2377380" cy="1767795"/>
          </a:xfrm>
          <a:prstGeom prst="rect">
            <a:avLst/>
          </a:prstGeom>
          <a:noFill/>
        </p:spPr>
        <p:txBody>
          <a:bodyPr wrap="square" lIns="30479" rIns="30479" tIns="30479" bIns="30479" anchor="t"/>
          <a:lstStyle/>
          <a:p>
            <a:pPr algn="l">
              <a:lnSpc>
                <a:spcPct val="115000"/>
              </a:lnSpc>
            </a:pPr>
            <a:r>
              <a:rPr sz="1399" b="1">
                <a:solidFill>
                  <a:srgbClr val="1A1A1A"/>
                </a:solidFill>
                <a:latin typeface="Arial"/>
              </a:rPr>
              <a:t>Documenta: </a:t>
            </a:r>
            <a:r>
              <a:rPr sz="1399" b="0">
                <a:solidFill>
                  <a:srgbClr val="1A1A1A"/>
                </a:solidFill>
                <a:latin typeface="Arial"/>
              </a:rPr>
              <a:t>Infraestrutura escolar, alocação de recursos, gestão e condições profissionais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2812" y="4328051"/>
            <a:ext cx="2377380" cy="1828754"/>
          </a:xfrm>
          <a:prstGeom prst="rect">
            <a:avLst/>
          </a:prstGeom>
          <a:noFill/>
        </p:spPr>
        <p:txBody>
          <a:bodyPr wrap="square" lIns="30479" rIns="30479" tIns="30479" bIns="30479" anchor="t"/>
          <a:lstStyle/>
          <a:p>
            <a:pPr algn="l">
              <a:lnSpc>
                <a:spcPct val="115000"/>
              </a:lnSpc>
            </a:pPr>
            <a:r>
              <a:rPr sz="1399" b="1">
                <a:solidFill>
                  <a:srgbClr val="6C4FD8"/>
                </a:solidFill>
                <a:latin typeface="Arial"/>
              </a:rPr>
              <a:t>Pergunta: </a:t>
            </a:r>
            <a:r>
              <a:rPr sz="1399" b="0">
                <a:solidFill>
                  <a:srgbClr val="1A1A1A"/>
                </a:solidFill>
                <a:latin typeface="Arial"/>
              </a:rPr>
              <a:t>Como as decisões institucionais ampliam ou restringem as margens na ponta?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584" y="640063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Quadro 17 (Cap. 6); Santos (1999; 2006); Massey (2008). A formação fica para o Cap. 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UM TERRITÓRIO, DOIS DESENHOS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6434" y="1359374"/>
            <a:ext cx="2950390" cy="42914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pa de localização de Tibau do Sul e Pipa"/>
          <p:cNvPicPr>
            <a:picLocks noChangeAspect="1"/>
          </p:cNvPicPr>
          <p:nvPr/>
        </p:nvPicPr>
        <p:blipFill>
          <a:blip r:embed="rId3"/>
          <a:srcRect l="7298" r="7298"/>
          <a:stretch>
            <a:fillRect/>
          </a:stretch>
        </p:blipFill>
        <p:spPr>
          <a:xfrm>
            <a:off x="609584" y="1432524"/>
            <a:ext cx="2804089" cy="36575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584" y="5102224"/>
            <a:ext cx="2804089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Tibau do Sul e Pipa (Figura 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6275" y="1359374"/>
            <a:ext cx="4413393" cy="42914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pa turístico do núcleo urbano de Pipa"/>
          <p:cNvPicPr>
            <a:picLocks noChangeAspect="1"/>
          </p:cNvPicPr>
          <p:nvPr/>
        </p:nvPicPr>
        <p:blipFill>
          <a:blip r:embed="rId4"/>
          <a:srcRect l="32817" r="32817"/>
          <a:stretch>
            <a:fillRect/>
          </a:stretch>
        </p:blipFill>
        <p:spPr>
          <a:xfrm>
            <a:off x="3779425" y="1432524"/>
            <a:ext cx="4267093" cy="36575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79425" y="5102224"/>
            <a:ext cx="4267093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Mapa turístico de Pipa (Figura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1790" y="1359374"/>
            <a:ext cx="3261278" cy="4267093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4186" y="1432524"/>
            <a:ext cx="2986965" cy="4145176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399" b="1">
                <a:solidFill>
                  <a:srgbClr val="1A1A1A"/>
                </a:solidFill>
                <a:latin typeface="Arial"/>
              </a:rPr>
              <a:t>Institucional: </a:t>
            </a:r>
            <a:r>
              <a:rPr sz="1399" b="0">
                <a:solidFill>
                  <a:srgbClr val="1A1A1A"/>
                </a:solidFill>
                <a:latin typeface="Arial"/>
              </a:rPr>
              <a:t>organiza Pipa por referências político-administrativas; a política chega pela rede municipal.</a:t>
            </a:r>
          </a:p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399" b="1">
                <a:solidFill>
                  <a:srgbClr val="1A1A1A"/>
                </a:solidFill>
                <a:latin typeface="Arial"/>
              </a:rPr>
              <a:t>Turístico: </a:t>
            </a:r>
            <a:r>
              <a:rPr sz="1399" b="0">
                <a:solidFill>
                  <a:srgbClr val="1A1A1A"/>
                </a:solidFill>
                <a:latin typeface="Arial"/>
              </a:rPr>
              <a:t>organiza o mesmo lugar pela circulação e pela experiência do visitante.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“A categoria de análise é o território usado” (SANTOS, 1999, p. 18).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" y="6065368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FFFFFF"/>
                </a:solidFill>
                <a:latin typeface="Arial"/>
              </a:rPr>
              <a:t>Fontes: base cartográfica IBGE, adaptada pela autora (2026); material de divulgação turística de Pipa.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333" b="1">
                <a:solidFill>
                  <a:srgbClr val="FFFFFF"/>
                </a:solidFill>
                <a:latin typeface="Arial"/>
              </a:rPr>
              <a:t>A ANTIGA PIPA: TRABALHO, MORADIA E MAR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76" y="1328894"/>
            <a:ext cx="3559974" cy="2523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nstrução artesanal de embarcação (Figura 3)"/>
          <p:cNvPicPr>
            <a:picLocks noChangeAspect="1"/>
          </p:cNvPicPr>
          <p:nvPr/>
        </p:nvPicPr>
        <p:blipFill>
          <a:blip r:embed="rId3"/>
          <a:srcRect t="11879" b="11879"/>
          <a:stretch>
            <a:fillRect/>
          </a:stretch>
        </p:blipFill>
        <p:spPr>
          <a:xfrm>
            <a:off x="548626" y="1402044"/>
            <a:ext cx="3413674" cy="1889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26" y="3303949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Construção artesanal de embarcação (Figura 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2984" y="1328894"/>
            <a:ext cx="3559974" cy="2523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mbarcações de pesca na enseada (Figura 7)"/>
          <p:cNvPicPr>
            <a:picLocks noChangeAspect="1"/>
          </p:cNvPicPr>
          <p:nvPr/>
        </p:nvPicPr>
        <p:blipFill>
          <a:blip r:embed="rId4"/>
          <a:srcRect t="8532" b="8532"/>
          <a:stretch>
            <a:fillRect/>
          </a:stretch>
        </p:blipFill>
        <p:spPr>
          <a:xfrm>
            <a:off x="4206134" y="1402044"/>
            <a:ext cx="3413674" cy="1889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06134" y="3303949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Embarcações de pesca na enseada (Figura 7)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76" y="3858671"/>
            <a:ext cx="3559974" cy="2523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utirão para curral de pesca (Figura 9)"/>
          <p:cNvPicPr>
            <a:picLocks noChangeAspect="1"/>
          </p:cNvPicPr>
          <p:nvPr/>
        </p:nvPicPr>
        <p:blipFill>
          <a:blip r:embed="rId5"/>
          <a:srcRect t="15617" b="15617"/>
          <a:stretch>
            <a:fillRect/>
          </a:stretch>
        </p:blipFill>
        <p:spPr>
          <a:xfrm>
            <a:off x="548626" y="3931821"/>
            <a:ext cx="3413674" cy="18897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26" y="5833726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Mutirão para curral de pesca (Figura 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32984" y="3858671"/>
            <a:ext cx="3559974" cy="2523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O cruzeiro em sua localização original (Figura 10)"/>
          <p:cNvPicPr>
            <a:picLocks noChangeAspect="1"/>
          </p:cNvPicPr>
          <p:nvPr/>
        </p:nvPicPr>
        <p:blipFill>
          <a:blip r:embed="rId6"/>
          <a:srcRect t="8395" b="8395"/>
          <a:stretch>
            <a:fillRect/>
          </a:stretch>
        </p:blipFill>
        <p:spPr>
          <a:xfrm>
            <a:off x="4206134" y="3931821"/>
            <a:ext cx="3413674" cy="18897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06134" y="5833726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O cruzeiro em sua localização original (Figura 10)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643" y="1328894"/>
            <a:ext cx="3779425" cy="4907157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518" y="1432524"/>
            <a:ext cx="3413674" cy="469380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399" b="1">
                <a:solidFill>
                  <a:srgbClr val="1A1A1A"/>
                </a:solidFill>
                <a:latin typeface="Arial"/>
              </a:rPr>
              <a:t>O que as imagens registram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399" b="0">
                <a:solidFill>
                  <a:srgbClr val="1A1A1A"/>
                </a:solidFill>
                <a:latin typeface="Arial"/>
              </a:rPr>
              <a:t>Trabalho, moradia e atividade marítima articulados no mesmo território.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399" b="0">
                <a:solidFill>
                  <a:srgbClr val="1A1A1A"/>
                </a:solidFill>
                <a:latin typeface="Arial"/>
              </a:rPr>
              <a:t>Um saber aprendido no próprio fazer, em trabalho coletivo, como no mutirão.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399" b="0">
                <a:solidFill>
                  <a:srgbClr val="1A1A1A"/>
                </a:solidFill>
                <a:latin typeface="Arial"/>
              </a:rPr>
              <a:t>Com Santos, a paisagem guarda as marcas dos meios de trabalho de cada tempo.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Com Massey, evitamos congelar a vila de pescadores num passado idealizado.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Santos (2006, p. 92): rugosidade; Massey (2008). Imagens: Museu Digital de Pipa / acervo da pesquisa (2026).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199" b="1">
                <a:solidFill>
                  <a:srgbClr val="FFFFFF"/>
                </a:solidFill>
                <a:latin typeface="Arial"/>
              </a:rPr>
              <a:t>AS TRANSFORMAÇÕES: DE VILA A POLO TURÍSTICO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76" y="132889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rbanização da orla (Figura 11)"/>
          <p:cNvPicPr>
            <a:picLocks noChangeAspect="1"/>
          </p:cNvPicPr>
          <p:nvPr/>
        </p:nvPicPr>
        <p:blipFill>
          <a:blip r:embed="rId3"/>
          <a:srcRect t="3192" b="3192"/>
          <a:stretch>
            <a:fillRect/>
          </a:stretch>
        </p:blipFill>
        <p:spPr>
          <a:xfrm>
            <a:off x="548626" y="1402044"/>
            <a:ext cx="3413674" cy="21945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26" y="360874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Urbanização da orla (Figura 11)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4422" y="132889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urfistas e pranchas, abril de 1991 (Figura 12)"/>
          <p:cNvPicPr>
            <a:picLocks noChangeAspect="1"/>
          </p:cNvPicPr>
          <p:nvPr/>
        </p:nvPicPr>
        <p:blipFill>
          <a:blip r:embed="rId4"/>
          <a:srcRect t="9420" b="9420"/>
          <a:stretch>
            <a:fillRect/>
          </a:stretch>
        </p:blipFill>
        <p:spPr>
          <a:xfrm>
            <a:off x="4297572" y="1402044"/>
            <a:ext cx="3413674" cy="21945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97572" y="360874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Surfistas e pranchas, abril de 1991 (Figura 12)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368" y="132889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mércio e transporte na vila (Figura 13)"/>
          <p:cNvPicPr>
            <a:picLocks noChangeAspect="1"/>
          </p:cNvPicPr>
          <p:nvPr/>
        </p:nvPicPr>
        <p:blipFill>
          <a:blip r:embed="rId5"/>
          <a:srcRect t="1635" b="1635"/>
          <a:stretch>
            <a:fillRect/>
          </a:stretch>
        </p:blipFill>
        <p:spPr>
          <a:xfrm>
            <a:off x="8046518" y="1402044"/>
            <a:ext cx="3413674" cy="219450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518" y="360874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Comércio e transporte na vila (Figura 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26" y="4297572"/>
            <a:ext cx="2621214" cy="1066773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0543" y="4328051"/>
            <a:ext cx="2377380" cy="100581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1">
                <a:solidFill>
                  <a:srgbClr val="6C4FD8"/>
                </a:solidFill>
                <a:latin typeface="Arial"/>
              </a:rPr>
              <a:t>a) </a:t>
            </a:r>
            <a:r>
              <a:rPr sz="1266" b="0">
                <a:solidFill>
                  <a:srgbClr val="1A1A1A"/>
                </a:solidFill>
                <a:latin typeface="Arial"/>
              </a:rPr>
              <a:t>turismo associado ao surfe, a partir dos anos 1990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2716" y="4297572"/>
            <a:ext cx="2621214" cy="1066773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633" y="4328051"/>
            <a:ext cx="2377380" cy="100581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1">
                <a:solidFill>
                  <a:srgbClr val="6C4FD8"/>
                </a:solidFill>
                <a:latin typeface="Arial"/>
              </a:rPr>
              <a:t>b) </a:t>
            </a:r>
            <a:r>
              <a:rPr sz="1266" b="0">
                <a:solidFill>
                  <a:srgbClr val="1A1A1A"/>
                </a:solidFill>
                <a:latin typeface="Arial"/>
              </a:rPr>
              <a:t>investimentos imobiliários nacionais e estrangeiros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6806" y="4297572"/>
            <a:ext cx="2621214" cy="1066773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3" y="4328051"/>
            <a:ext cx="2377380" cy="100581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1">
                <a:solidFill>
                  <a:srgbClr val="6C4FD8"/>
                </a:solidFill>
                <a:latin typeface="Arial"/>
              </a:rPr>
              <a:t>c) </a:t>
            </a:r>
            <a:r>
              <a:rPr sz="1266" b="0">
                <a:solidFill>
                  <a:srgbClr val="1A1A1A"/>
                </a:solidFill>
                <a:latin typeface="Arial"/>
              </a:rPr>
              <a:t>migração de trabalhadores para o setor de serviços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0895" y="4297572"/>
            <a:ext cx="2621214" cy="1066773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2812" y="4328051"/>
            <a:ext cx="2377380" cy="100581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1">
                <a:solidFill>
                  <a:srgbClr val="6C4FD8"/>
                </a:solidFill>
                <a:latin typeface="Arial"/>
              </a:rPr>
              <a:t>d) </a:t>
            </a:r>
            <a:r>
              <a:rPr sz="1266" b="0">
                <a:solidFill>
                  <a:srgbClr val="1A1A1A"/>
                </a:solidFill>
                <a:latin typeface="Arial"/>
              </a:rPr>
              <a:t>mais recentemente, o trabalho remoto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26" y="5455783"/>
            <a:ext cx="11094442" cy="731501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399" b="0">
                <a:solidFill>
                  <a:srgbClr val="FFFFFF"/>
                </a:solidFill>
                <a:latin typeface="Arial"/>
              </a:rPr>
              <a:t>A Pipa contemporânea resulta da sobreposição de trajetórias: os novos usos dividem o território com os antigos, sem apagá-los.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" y="640063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Castells (2013); Bauman (1999); Massey (2008). Imagens: Museu Digital de Pipa / acervo da pesquisa (2026).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066" b="1">
                <a:solidFill>
                  <a:srgbClr val="FFFFFF"/>
                </a:solidFill>
                <a:latin typeface="Arial"/>
              </a:rPr>
              <a:t>A PIPA DE HOJE: O ANTIGO E O CONECTADO JUNTOS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76" y="1328894"/>
            <a:ext cx="3316141" cy="246272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a turística à noite (Figura 16)"/>
          <p:cNvPicPr>
            <a:picLocks noChangeAspect="1"/>
          </p:cNvPicPr>
          <p:nvPr/>
        </p:nvPicPr>
        <p:blipFill>
          <a:blip r:embed="rId3"/>
          <a:srcRect t="6427" b="6427"/>
          <a:stretch>
            <a:fillRect/>
          </a:stretch>
        </p:blipFill>
        <p:spPr>
          <a:xfrm>
            <a:off x="548626" y="1402044"/>
            <a:ext cx="3169840" cy="18287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26" y="3242990"/>
            <a:ext cx="3169840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Rua turística à noite (Figura 16)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76" y="3828192"/>
            <a:ext cx="3316141" cy="246272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sseios na baía (Figura 20)"/>
          <p:cNvPicPr>
            <a:picLocks noChangeAspect="1"/>
          </p:cNvPicPr>
          <p:nvPr/>
        </p:nvPicPr>
        <p:blipFill>
          <a:blip r:embed="rId4"/>
          <a:srcRect t="10871" b="10871"/>
          <a:stretch>
            <a:fillRect/>
          </a:stretch>
        </p:blipFill>
        <p:spPr>
          <a:xfrm>
            <a:off x="548626" y="3901342"/>
            <a:ext cx="3169840" cy="18287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26" y="5742288"/>
            <a:ext cx="3169840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Passeios na baía (Figura 20)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109" y="1328894"/>
            <a:ext cx="2340805" cy="496201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ousadas junto às falésias (Figura 19)"/>
          <p:cNvPicPr>
            <a:picLocks noChangeAspect="1"/>
          </p:cNvPicPr>
          <p:nvPr/>
        </p:nvPicPr>
        <p:blipFill>
          <a:blip r:embed="rId5"/>
          <a:srcRect l="5024" r="5024"/>
          <a:stretch>
            <a:fillRect/>
          </a:stretch>
        </p:blipFill>
        <p:spPr>
          <a:xfrm>
            <a:off x="4023259" y="1402044"/>
            <a:ext cx="2194505" cy="43280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23259" y="5742288"/>
            <a:ext cx="2194505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Pousadas junto às falésias (Figura 19)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9406" y="1328894"/>
            <a:ext cx="2706556" cy="496201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scador descarregando o pescado (Figura 21)"/>
          <p:cNvPicPr>
            <a:picLocks noChangeAspect="1"/>
          </p:cNvPicPr>
          <p:nvPr/>
        </p:nvPicPr>
        <p:blipFill>
          <a:blip r:embed="rId6"/>
          <a:srcRect l="11022" r="11022"/>
          <a:stretch>
            <a:fillRect/>
          </a:stretch>
        </p:blipFill>
        <p:spPr>
          <a:xfrm>
            <a:off x="6522556" y="1402044"/>
            <a:ext cx="2560255" cy="43280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22556" y="5742288"/>
            <a:ext cx="2560255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Pescador descarregando o pescado (Figura 21)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05" y="1328894"/>
            <a:ext cx="2255463" cy="4876678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522" y="1402044"/>
            <a:ext cx="2011629" cy="4754761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333" b="1">
                <a:solidFill>
                  <a:srgbClr val="1A1A1A"/>
                </a:solidFill>
                <a:latin typeface="Arial"/>
              </a:rPr>
              <a:t>Hotelaria, reservas e pagamentos dependem da conexão.</a:t>
            </a:r>
          </a:p>
          <a:p>
            <a:pPr algn="l">
              <a:lnSpc>
                <a:spcPct val="11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A pesca segue no mesmo mar. Da presença das tecnologias no território não se presume seu uso pedagógico na escola.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Santos (1999): território usado; Massey (2008): encontro de trajetórias. Fonte: acervo da pesquisa (2026).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333" b="1">
                <a:solidFill>
                  <a:srgbClr val="FFFFFF"/>
                </a:solidFill>
                <a:latin typeface="Arial"/>
              </a:rPr>
              <a:t>ONTEM, HOJE E O QUE CHEGA À ESCOLA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310607"/>
            <a:ext cx="1584920" cy="380990"/>
          </a:xfrm>
          <a:prstGeom prst="roundRect">
            <a:avLst>
              <a:gd name="adj" fmla="val 8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26" y="1310607"/>
            <a:ext cx="1584920" cy="38099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Dimensão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70121" y="1310607"/>
            <a:ext cx="2986965" cy="380990"/>
          </a:xfrm>
          <a:prstGeom prst="roundRect">
            <a:avLst>
              <a:gd name="adj" fmla="val 8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70121" y="1310607"/>
            <a:ext cx="2986965" cy="38099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Pipa histórica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93662" y="1310607"/>
            <a:ext cx="3108882" cy="380990"/>
          </a:xfrm>
          <a:prstGeom prst="roundRect">
            <a:avLst>
              <a:gd name="adj" fmla="val 8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662" y="1310607"/>
            <a:ext cx="3108882" cy="38099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Pipa contemporânea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39119" y="1310607"/>
            <a:ext cx="3291757" cy="380990"/>
          </a:xfrm>
          <a:prstGeom prst="roundRect">
            <a:avLst>
              <a:gd name="adj" fmla="val 8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119" y="1310607"/>
            <a:ext cx="3291757" cy="38099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Repercussão para a escola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26" y="1728172"/>
            <a:ext cx="1584920" cy="59332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26" y="1728172"/>
            <a:ext cx="1584920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1">
                <a:solidFill>
                  <a:srgbClr val="1A1A1A"/>
                </a:solidFill>
                <a:latin typeface="Arial"/>
              </a:rPr>
              <a:t>Território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70121" y="1728172"/>
            <a:ext cx="2986965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70121" y="1728172"/>
            <a:ext cx="2986965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Vila da pesca e da circulação local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93662" y="1728172"/>
            <a:ext cx="3108882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662" y="1728172"/>
            <a:ext cx="3108882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Distrito integrado a circuitos turísticos e fluxos amplos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9119" y="1728172"/>
            <a:ext cx="3291757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119" y="1728172"/>
            <a:ext cx="3291757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Temporalidades e usos diferentes compõem o contexto da escola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26" y="2358077"/>
            <a:ext cx="1584920" cy="59332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26" y="2358077"/>
            <a:ext cx="1584920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1">
                <a:solidFill>
                  <a:srgbClr val="1A1A1A"/>
                </a:solidFill>
                <a:latin typeface="Arial"/>
              </a:rPr>
              <a:t>Economia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0121" y="2358077"/>
            <a:ext cx="2986965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70121" y="2358077"/>
            <a:ext cx="2986965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Pesca artesanal, comércio local, trabalho ligado ao mar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93662" y="2358077"/>
            <a:ext cx="3108882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3662" y="2358077"/>
            <a:ext cx="3108882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Turismo, serviços e atividades articuladas a redes digitais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39119" y="2358077"/>
            <a:ext cx="3291757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9119" y="2358077"/>
            <a:ext cx="3291757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Formas de trabalho e condições de acesso às tecnologias coexistem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26" y="2987981"/>
            <a:ext cx="1584920" cy="59332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26" y="2987981"/>
            <a:ext cx="1584920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1">
                <a:solidFill>
                  <a:srgbClr val="1A1A1A"/>
                </a:solidFill>
                <a:latin typeface="Arial"/>
              </a:rPr>
              <a:t>Cultura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0121" y="2987981"/>
            <a:ext cx="2986965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70121" y="2987981"/>
            <a:ext cx="2986965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Repertórios transmitidos na convivência comunitária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93662" y="2987981"/>
            <a:ext cx="3108882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3662" y="2987981"/>
            <a:ext cx="3108882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Diversidade de trajetórias e práticas culturais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39119" y="2987981"/>
            <a:ext cx="3291757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39119" y="2987981"/>
            <a:ext cx="3291757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Repertórios diferentes integram o cotidiano escolar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26" y="3617885"/>
            <a:ext cx="1584920" cy="816843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26" y="3617885"/>
            <a:ext cx="1584920" cy="816843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1">
                <a:solidFill>
                  <a:srgbClr val="1A1A1A"/>
                </a:solidFill>
                <a:latin typeface="Arial"/>
              </a:rPr>
              <a:t>Tecnologia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70121" y="3617885"/>
            <a:ext cx="2986965" cy="8168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70121" y="3617885"/>
            <a:ext cx="2986965" cy="816843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Presença reduzida nas atividades registradas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93662" y="3617885"/>
            <a:ext cx="3108882" cy="8168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93662" y="3617885"/>
            <a:ext cx="3108882" cy="816843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Tecnologias nas atividades econômicas, sociais e comunicacionais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39119" y="3617885"/>
            <a:ext cx="3291757" cy="8168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39119" y="3617885"/>
            <a:ext cx="3291757" cy="816843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Presença no território não implica uso pedagógico equivalente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26" y="4471304"/>
            <a:ext cx="1584920" cy="59332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26" y="4471304"/>
            <a:ext cx="1584920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1">
                <a:solidFill>
                  <a:srgbClr val="1A1A1A"/>
                </a:solidFill>
                <a:latin typeface="Arial"/>
              </a:rPr>
              <a:t>Demografia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70121" y="4471304"/>
            <a:ext cx="2986965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70121" y="4471304"/>
            <a:ext cx="2986965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Moradores ligados às trajetórias da vila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93662" y="4471304"/>
            <a:ext cx="3108882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93662" y="4471304"/>
            <a:ext cx="3108882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Mais diversidade de moradores, trabalhadores e visitantes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39119" y="4471304"/>
            <a:ext cx="3291757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39119" y="4471304"/>
            <a:ext cx="3291757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Diversidade social, linguística e cultural na escola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26" y="5101208"/>
            <a:ext cx="1584920" cy="59332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26" y="5101208"/>
            <a:ext cx="1584920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1">
                <a:solidFill>
                  <a:srgbClr val="1A1A1A"/>
                </a:solidFill>
                <a:latin typeface="Arial"/>
              </a:rPr>
              <a:t>Infância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170121" y="5101208"/>
            <a:ext cx="2986965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170121" y="5101208"/>
            <a:ext cx="2986965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Experiências no espaço público local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93662" y="5101208"/>
            <a:ext cx="3108882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93662" y="5101208"/>
            <a:ext cx="3108882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Experiências atravessadas por mediações digitais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39119" y="5101208"/>
            <a:ext cx="3291757" cy="5933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39119" y="5101208"/>
            <a:ext cx="3291757" cy="593329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Condições desiguais de acesso são o ponto de partida da Educação Digital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Quadro 16 (Cap. 6), sintetizado. Santos (2006); Massey (2008); Castells (2013).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A ESCOLA: O QUE AS IMAGENS MOSTRAM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76" y="1328894"/>
            <a:ext cx="2645597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chada (Figura 22)"/>
          <p:cNvPicPr>
            <a:picLocks noChangeAspect="1"/>
          </p:cNvPicPr>
          <p:nvPr/>
        </p:nvPicPr>
        <p:blipFill>
          <a:blip r:embed="rId3"/>
          <a:srcRect l="17969" r="17969"/>
          <a:stretch>
            <a:fillRect/>
          </a:stretch>
        </p:blipFill>
        <p:spPr>
          <a:xfrm>
            <a:off x="548626" y="1402044"/>
            <a:ext cx="2499297" cy="21945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26" y="3608741"/>
            <a:ext cx="2499297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Fachada (Figura 22)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76" y="4267093"/>
            <a:ext cx="2645597" cy="137156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26" y="4297572"/>
            <a:ext cx="2499297" cy="131060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Piso tátil na entrada; a placa situa a escola na rede de Tibau do Sul.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9566" y="1328894"/>
            <a:ext cx="2645597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rredor coberto (Figura 23)"/>
          <p:cNvPicPr>
            <a:picLocks noChangeAspect="1"/>
          </p:cNvPicPr>
          <p:nvPr/>
        </p:nvPicPr>
        <p:blipFill>
          <a:blip r:embed="rId4"/>
          <a:srcRect t="25362" b="25362"/>
          <a:stretch>
            <a:fillRect/>
          </a:stretch>
        </p:blipFill>
        <p:spPr>
          <a:xfrm>
            <a:off x="3352716" y="1402044"/>
            <a:ext cx="2499297" cy="21945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52716" y="3608741"/>
            <a:ext cx="2499297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Corredor coberto (Figura 23)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9566" y="4267093"/>
            <a:ext cx="2645597" cy="137156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2716" y="4297572"/>
            <a:ext cx="2499297" cy="131060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Acessibilidade, cobogós e coleta seletiva no percurso.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3655" y="1328894"/>
            <a:ext cx="2645597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rque na restinga (Figura 24)"/>
          <p:cNvPicPr>
            <a:picLocks noChangeAspect="1"/>
          </p:cNvPicPr>
          <p:nvPr/>
        </p:nvPicPr>
        <p:blipFill>
          <a:blip r:embed="rId5"/>
          <a:srcRect t="25305" b="25305"/>
          <a:stretch>
            <a:fillRect/>
          </a:stretch>
        </p:blipFill>
        <p:spPr>
          <a:xfrm>
            <a:off x="6156806" y="1402044"/>
            <a:ext cx="2499297" cy="219450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6806" y="3608741"/>
            <a:ext cx="2499297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Parque na restinga (Figura 24)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3655" y="4267093"/>
            <a:ext cx="2645597" cy="137156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6806" y="4297572"/>
            <a:ext cx="2499297" cy="131060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Brincadeira e convivência ligadas ao lugar, sem depender de tecnologia.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7745" y="1328894"/>
            <a:ext cx="2645597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átio em festa junina (Figura 29)"/>
          <p:cNvPicPr>
            <a:picLocks noChangeAspect="1"/>
          </p:cNvPicPr>
          <p:nvPr/>
        </p:nvPicPr>
        <p:blipFill>
          <a:blip r:embed="rId6"/>
          <a:srcRect l="17969" r="17969"/>
          <a:stretch>
            <a:fillRect/>
          </a:stretch>
        </p:blipFill>
        <p:spPr>
          <a:xfrm>
            <a:off x="8960895" y="1402044"/>
            <a:ext cx="2499297" cy="21945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960895" y="3608741"/>
            <a:ext cx="2499297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Pátio em festa junina (Figura 29)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745" y="4267093"/>
            <a:ext cx="2645597" cy="137156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0895" y="4297572"/>
            <a:ext cx="2499297" cy="131060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Espaços coletivos de convivência e celebração.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26" y="5760575"/>
            <a:ext cx="11094442" cy="579105"/>
          </a:xfrm>
          <a:prstGeom prst="roundRect">
            <a:avLst>
              <a:gd name="adj" fmla="val 3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01" y="5760575"/>
            <a:ext cx="10728691" cy="57910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As condições materiais da escola vão além da ausência de recursos. Cabe ver como estão distribuídas.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Massey (2008); Santos (2006); Dornelles (2005): infâncias plurais. Fonte: acervo da pesquisa (2026).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ONDE ESTÃO OS RECURSOS?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76" y="1298415"/>
            <a:ext cx="3559974" cy="264559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rredor administrativo (Figura 28)"/>
          <p:cNvPicPr>
            <a:picLocks noChangeAspect="1"/>
          </p:cNvPicPr>
          <p:nvPr/>
        </p:nvPicPr>
        <p:blipFill>
          <a:blip r:embed="rId3"/>
          <a:srcRect t="33426" b="33426"/>
          <a:stretch>
            <a:fillRect/>
          </a:stretch>
        </p:blipFill>
        <p:spPr>
          <a:xfrm>
            <a:off x="548626" y="1371565"/>
            <a:ext cx="3413674" cy="20116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26" y="3395387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Corredor administrativo (Figura 28)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76" y="3962300"/>
            <a:ext cx="3559974" cy="1493482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26" y="3992780"/>
            <a:ext cx="3413674" cy="143252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No enquadramento, há ar-condicionado nas salas da equipe; nos demais ambientes, nenhum aparelho. As razões, a fotografia não revela.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4422" y="1298415"/>
            <a:ext cx="3559974" cy="264559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ala dos professores (Figura 31)"/>
          <p:cNvPicPr>
            <a:picLocks noChangeAspect="1"/>
          </p:cNvPicPr>
          <p:nvPr/>
        </p:nvPicPr>
        <p:blipFill>
          <a:blip r:embed="rId4"/>
          <a:srcRect t="33426" b="33426"/>
          <a:stretch>
            <a:fillRect/>
          </a:stretch>
        </p:blipFill>
        <p:spPr>
          <a:xfrm>
            <a:off x="4297572" y="1371565"/>
            <a:ext cx="3413674" cy="20116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97572" y="3395387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Sala dos professores (Figura 31)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422" y="3962300"/>
            <a:ext cx="3559974" cy="1493482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572" y="3992780"/>
            <a:ext cx="3413674" cy="143252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O único computador registrado está no espaço de trabalho da equipe. Nenhum equipamento semelhante aparece nas salas.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368" y="1298415"/>
            <a:ext cx="3559974" cy="264559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boratório (Figura 25)"/>
          <p:cNvPicPr>
            <a:picLocks noChangeAspect="1"/>
          </p:cNvPicPr>
          <p:nvPr/>
        </p:nvPicPr>
        <p:blipFill>
          <a:blip r:embed="rId5"/>
          <a:srcRect l="2273" r="2273"/>
          <a:stretch>
            <a:fillRect/>
          </a:stretch>
        </p:blipFill>
        <p:spPr>
          <a:xfrm>
            <a:off x="8046518" y="1371565"/>
            <a:ext cx="3413674" cy="20116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518" y="3395387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Laboratório (Figura 25)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3368" y="3962300"/>
            <a:ext cx="3559974" cy="1493482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518" y="3992780"/>
            <a:ext cx="3413674" cy="143252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Equipamentos desligados no momento do registro. Montado pela Prefeitura em 2022, com recursos próprios (preliminar).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26" y="5577700"/>
            <a:ext cx="11094442" cy="761980"/>
          </a:xfrm>
          <a:prstGeom prst="roundRect">
            <a:avLst>
              <a:gd name="adj" fmla="val 25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01" y="5577700"/>
            <a:ext cx="10728691" cy="76198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5000"/>
              </a:lnSpc>
            </a:pPr>
            <a:r>
              <a:rPr sz="1266" b="1">
                <a:solidFill>
                  <a:srgbClr val="1A1A1A"/>
                </a:solidFill>
                <a:latin typeface="Arial"/>
              </a:rPr>
              <a:t>A conexão chegou ao prédio; os dispositivos não chegaram às salas.</a:t>
            </a:r>
          </a:p>
          <a:p>
            <a:pPr algn="ctr">
              <a:lnSpc>
                <a:spcPct val="10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PIEC: um repasse anual para conexão e equipamentos; um kit multimídia para toda a escola (preliminares).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Ball, Maguire e Braun (2016): dimensão material; Brasil (2017; 2021): PIEC. Fonte: acervo da pesquisa (2026).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333" b="1">
                <a:solidFill>
                  <a:srgbClr val="FFFFFF"/>
                </a:solidFill>
                <a:latin typeface="Arial"/>
              </a:rPr>
              <a:t>AS SALAS: TUDO IMPRESSO OU FEITO À MÃO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76" y="1328894"/>
            <a:ext cx="2950390" cy="243224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mbiente alfabetizador (Figura 32)"/>
          <p:cNvPicPr>
            <a:picLocks noChangeAspect="1"/>
          </p:cNvPicPr>
          <p:nvPr/>
        </p:nvPicPr>
        <p:blipFill>
          <a:blip r:embed="rId3"/>
          <a:srcRect l="6144" r="6144"/>
          <a:stretch>
            <a:fillRect/>
          </a:stretch>
        </p:blipFill>
        <p:spPr>
          <a:xfrm>
            <a:off x="548626" y="1402044"/>
            <a:ext cx="2804089" cy="1798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26" y="3212511"/>
            <a:ext cx="2804089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Ambiente alfabetizador (Figura 32)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3399" y="1328894"/>
            <a:ext cx="2950390" cy="243224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sposição semicircular (Figura 34)"/>
          <p:cNvPicPr>
            <a:picLocks noChangeAspect="1"/>
          </p:cNvPicPr>
          <p:nvPr/>
        </p:nvPicPr>
        <p:blipFill>
          <a:blip r:embed="rId4"/>
          <a:srcRect l="6144" r="6144"/>
          <a:stretch>
            <a:fillRect/>
          </a:stretch>
        </p:blipFill>
        <p:spPr>
          <a:xfrm>
            <a:off x="3596550" y="1402044"/>
            <a:ext cx="2804089" cy="17982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6550" y="3212511"/>
            <a:ext cx="2804089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Disposição semicircular (Figura 34)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76" y="3767233"/>
            <a:ext cx="2950390" cy="243224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inel numérico (Figura 36)"/>
          <p:cNvPicPr>
            <a:picLocks noChangeAspect="1"/>
          </p:cNvPicPr>
          <p:nvPr/>
        </p:nvPicPr>
        <p:blipFill>
          <a:blip r:embed="rId5"/>
          <a:srcRect l="6144" r="6144"/>
          <a:stretch>
            <a:fillRect/>
          </a:stretch>
        </p:blipFill>
        <p:spPr>
          <a:xfrm>
            <a:off x="548626" y="3840383"/>
            <a:ext cx="2804089" cy="17982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26" y="5650850"/>
            <a:ext cx="2804089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Painel numérico (Figura 36)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3399" y="3767233"/>
            <a:ext cx="2950390" cy="243224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lfabeto móvel (Figura 37)"/>
          <p:cNvPicPr>
            <a:picLocks noChangeAspect="1"/>
          </p:cNvPicPr>
          <p:nvPr/>
        </p:nvPicPr>
        <p:blipFill>
          <a:blip r:embed="rId6"/>
          <a:srcRect l="6144" r="6144"/>
          <a:stretch>
            <a:fillRect/>
          </a:stretch>
        </p:blipFill>
        <p:spPr>
          <a:xfrm>
            <a:off x="3596550" y="3840383"/>
            <a:ext cx="2804089" cy="17982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96550" y="5650850"/>
            <a:ext cx="2804089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Alfabeto móvel (Figura 37)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4953" y="1328894"/>
            <a:ext cx="4968115" cy="4937636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7828" y="1402044"/>
            <a:ext cx="4632844" cy="481571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466" b="1">
                <a:solidFill>
                  <a:srgbClr val="1A1A1A"/>
                </a:solidFill>
                <a:latin typeface="Arial"/>
              </a:rPr>
              <a:t>Salas fotografadas: </a:t>
            </a:r>
            <a:r>
              <a:rPr sz="1466" b="0">
                <a:solidFill>
                  <a:srgbClr val="1A1A1A"/>
                </a:solidFill>
                <a:latin typeface="Arial"/>
              </a:rPr>
              <a:t>carteiras, ventiladores, murais e produções das crianças; nenhum computador, tela ou dispositivo digital.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466" b="1">
                <a:solidFill>
                  <a:srgbClr val="1A1A1A"/>
                </a:solidFill>
                <a:latin typeface="Arial"/>
              </a:rPr>
              <a:t>Pensamento computacional: </a:t>
            </a:r>
            <a:r>
              <a:rPr sz="1466" b="0">
                <a:solidFill>
                  <a:srgbClr val="1A1A1A"/>
                </a:solidFill>
                <a:latin typeface="Arial"/>
              </a:rPr>
              <a:t>o painel remete a sequência e correspondência (art. 3º, I); a foto registra o painel, sem mostrar seu uso.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466" b="1">
                <a:solidFill>
                  <a:srgbClr val="1A1A1A"/>
                </a:solidFill>
                <a:latin typeface="Arial"/>
              </a:rPr>
              <a:t>Com Soares (2020, p. 13): </a:t>
            </a:r>
            <a:r>
              <a:rPr sz="1466" b="0">
                <a:solidFill>
                  <a:srgbClr val="1A1A1A"/>
                </a:solidFill>
                <a:latin typeface="Arial"/>
              </a:rPr>
              <a:t>jogos e artefatos feitos com as crianças substituem tecnologias “com vantagem”.</a:t>
            </a:r>
          </a:p>
          <a:p>
            <a:pPr algn="l">
              <a:lnSpc>
                <a:spcPct val="115000"/>
              </a:lnSpc>
            </a:pPr>
            <a:r>
              <a:rPr sz="1466" b="1">
                <a:solidFill>
                  <a:srgbClr val="1A1A1A"/>
                </a:solidFill>
                <a:latin typeface="Arial"/>
              </a:rPr>
              <a:t>Cautela da tese: </a:t>
            </a:r>
            <a:r>
              <a:rPr sz="1466" b="0">
                <a:solidFill>
                  <a:srgbClr val="1A1A1A"/>
                </a:solidFill>
                <a:latin typeface="Arial"/>
              </a:rPr>
              <a:t>alguém os produziu, e em algum tempo. A que custo, só as narrativas dirão.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Valente (1999); Soares (2020); Brasil (2023). Fonte: acervo da pesquisa (2026).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066" b="1">
                <a:solidFill>
                  <a:srgbClr val="FFFFFF"/>
                </a:solidFill>
                <a:latin typeface="Arial"/>
              </a:rPr>
              <a:t>RUGOSIDADE TECNOLÓGICA: PERDA OU AUSÊNCIA?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26" y="1188690"/>
            <a:ext cx="11094442" cy="731501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399" b="0">
                <a:solidFill>
                  <a:srgbClr val="FFFFFF"/>
                </a:solidFill>
                <a:latin typeface="Arial"/>
              </a:rPr>
              <a:t>“As rugosidades – formas remanescentes dos períodos anteriores – devem ser levadas em conta quando uma sociedade procura impor novas funções” (SANTOS, 2012, p. 75).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76" y="2029917"/>
            <a:ext cx="2828473" cy="246272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 cruzeiro (Figura 10)"/>
          <p:cNvPicPr>
            <a:picLocks noChangeAspect="1"/>
          </p:cNvPicPr>
          <p:nvPr/>
        </p:nvPicPr>
        <p:blipFill>
          <a:blip r:embed="rId3"/>
          <a:srcRect l="1213" r="1213"/>
          <a:stretch>
            <a:fillRect/>
          </a:stretch>
        </p:blipFill>
        <p:spPr>
          <a:xfrm>
            <a:off x="548626" y="2103067"/>
            <a:ext cx="2682172" cy="18287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26" y="3944013"/>
            <a:ext cx="2682172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O cruzeiro (Figura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633" y="2029917"/>
            <a:ext cx="2499297" cy="2407859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6550" y="2103067"/>
            <a:ext cx="2255463" cy="228594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399" b="1">
                <a:solidFill>
                  <a:srgbClr val="6C4FD8"/>
                </a:solidFill>
                <a:latin typeface="Arial"/>
              </a:rPr>
              <a:t>Por perda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A forma sobrevive a uma função que existiu e cessou. Pede atualizar ou substituir.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5572" y="2029917"/>
            <a:ext cx="2828473" cy="246272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 laboratório (Figura 25)"/>
          <p:cNvPicPr>
            <a:picLocks noChangeAspect="1"/>
          </p:cNvPicPr>
          <p:nvPr/>
        </p:nvPicPr>
        <p:blipFill>
          <a:blip r:embed="rId4"/>
          <a:srcRect l="8750" r="8750"/>
          <a:stretch>
            <a:fillRect/>
          </a:stretch>
        </p:blipFill>
        <p:spPr>
          <a:xfrm>
            <a:off x="6278723" y="2103067"/>
            <a:ext cx="2682172" cy="18287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78723" y="3944013"/>
            <a:ext cx="2682172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O laboratório (Figura 25)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04729" y="2029917"/>
            <a:ext cx="2438339" cy="2407859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646" y="2103067"/>
            <a:ext cx="2194505" cy="228594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399" b="1">
                <a:solidFill>
                  <a:srgbClr val="6C4FD8"/>
                </a:solidFill>
                <a:latin typeface="Arial"/>
              </a:rPr>
              <a:t>Por ausência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A forma é instalada sem o sistema de ações que lhe daria função. Pede formação, suporte e tempo.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26" y="4724281"/>
            <a:ext cx="11094442" cy="1554441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60" y="4754761"/>
            <a:ext cx="10606774" cy="149348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O laboratório de 2022 </a:t>
            </a:r>
            <a:r>
              <a:rPr sz="1533" b="0">
                <a:solidFill>
                  <a:srgbClr val="1A1A1A"/>
                </a:solidFill>
                <a:latin typeface="Arial"/>
              </a:rPr>
              <a:t>é anterior à PNED e sem relação com programas federais extintos (preliminar).</a:t>
            </a:r>
          </a:p>
          <a:p>
            <a:pPr algn="l">
              <a:lnSpc>
                <a:spcPct val="115000"/>
              </a:lnSpc>
            </a:pPr>
            <a:r>
              <a:rPr sz="1533" b="1">
                <a:solidFill>
                  <a:srgbClr val="1A1A1A"/>
                </a:solidFill>
                <a:latin typeface="Arial"/>
              </a:rPr>
              <a:t>Se o Censo o registra </a:t>
            </a:r>
            <a:r>
              <a:rPr sz="1533" b="0">
                <a:solidFill>
                  <a:srgbClr val="1A1A1A"/>
                </a:solidFill>
                <a:latin typeface="Arial"/>
              </a:rPr>
              <a:t>e os cadernos de uso não, a forma conta nos números mesmo quando a função não se constituiu.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Santos (2006; 2012); rugosidade tecnológica como formulação própria da tese.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333" b="1">
                <a:solidFill>
                  <a:srgbClr val="FFFFFF"/>
                </a:solidFill>
                <a:latin typeface="Arial"/>
              </a:rPr>
              <a:t>TERRITÓRIO DOCUMENTADO E PRESCRITO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341086"/>
            <a:ext cx="2072588" cy="380990"/>
          </a:xfrm>
          <a:prstGeom prst="roundRect">
            <a:avLst>
              <a:gd name="adj" fmla="val 8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26" y="1341086"/>
            <a:ext cx="2072588" cy="38099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Dimensão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7789" y="1341086"/>
            <a:ext cx="4632844" cy="380990"/>
          </a:xfrm>
          <a:prstGeom prst="roundRect">
            <a:avLst>
              <a:gd name="adj" fmla="val 8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7789" y="1341086"/>
            <a:ext cx="4632844" cy="38099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Condições documentadas no território e na escola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7208" y="1341086"/>
            <a:ext cx="4267093" cy="380990"/>
          </a:xfrm>
          <a:prstGeom prst="roundRect">
            <a:avLst>
              <a:gd name="adj" fmla="val 8000"/>
            </a:avLst>
          </a:prstGeom>
          <a:solidFill>
            <a:srgbClr val="6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27208" y="1341086"/>
            <a:ext cx="4267093" cy="38099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FFFFFF"/>
                </a:solidFill>
                <a:latin typeface="Arial"/>
              </a:rPr>
              <a:t>O que a BNCC e a PNED orientam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1758652"/>
            <a:ext cx="2072588" cy="615680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26" y="1758652"/>
            <a:ext cx="2072588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1A1A1A"/>
                </a:solidFill>
                <a:latin typeface="Arial"/>
              </a:rPr>
              <a:t>Acesso e conectividade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7789" y="1758652"/>
            <a:ext cx="4632844" cy="61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7789" y="1758652"/>
            <a:ext cx="4632844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Tecnologias ligadas ao turismo e ao consumo; na escola, conexões com finalidades distintas (preliminar)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7208" y="1758652"/>
            <a:ext cx="4267093" cy="61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7208" y="1758652"/>
            <a:ext cx="4267093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Ampliar o acesso à conectividade, aos dispositivos e aos recursos digitais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26" y="2410907"/>
            <a:ext cx="2072588" cy="850370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26" y="2410907"/>
            <a:ext cx="2072588" cy="85037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1A1A1A"/>
                </a:solidFill>
                <a:latin typeface="Arial"/>
              </a:rPr>
              <a:t>Cultura digital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7789" y="2410907"/>
            <a:ext cx="4632844" cy="850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7789" y="2410907"/>
            <a:ext cx="4632844" cy="85037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Práticas digitais intensas no turismo, no comércio e nas famílias; nas salas, nenhum recurso visível para trabalhá-las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7208" y="2410907"/>
            <a:ext cx="4267093" cy="850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27208" y="2410907"/>
            <a:ext cx="4267093" cy="85037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Conhecimentos, competências e práticas de cultura digital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26" y="3297853"/>
            <a:ext cx="2072588" cy="615680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26" y="3297853"/>
            <a:ext cx="2072588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1A1A1A"/>
                </a:solidFill>
                <a:latin typeface="Arial"/>
              </a:rPr>
              <a:t>Linguagens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57789" y="3297853"/>
            <a:ext cx="4632844" cy="61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7789" y="3297853"/>
            <a:ext cx="4632844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Linguagens diversas ligadas ao turismo e à circulação no território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7208" y="3297853"/>
            <a:ext cx="4267093" cy="61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27208" y="3297853"/>
            <a:ext cx="4267093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Integrar as tecnologias e as competências dos referenciais curriculares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26" y="3950109"/>
            <a:ext cx="2072588" cy="615680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26" y="3950109"/>
            <a:ext cx="2072588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1A1A1A"/>
                </a:solidFill>
                <a:latin typeface="Arial"/>
              </a:rPr>
              <a:t>Mediação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57789" y="3950109"/>
            <a:ext cx="4632844" cy="61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7789" y="3950109"/>
            <a:ext cx="4632844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Não identificável pelos registros materiais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27208" y="3950109"/>
            <a:ext cx="4267093" cy="61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27208" y="3950109"/>
            <a:ext cx="4267093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Apropriação crítica, ética e responsável das tecnologias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26" y="4602364"/>
            <a:ext cx="2072588" cy="615680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26" y="4602364"/>
            <a:ext cx="2072588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1">
                <a:solidFill>
                  <a:srgbClr val="1A1A1A"/>
                </a:solidFill>
                <a:latin typeface="Arial"/>
              </a:rPr>
              <a:t>Infraestrutura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57789" y="4602364"/>
            <a:ext cx="4632844" cy="61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7789" y="4602364"/>
            <a:ext cx="4632844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Laboratório e equipamentos em espaços específicos; nenhum dispositivo visível nas salas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27208" y="4602364"/>
            <a:ext cx="4267093" cy="61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27208" y="4602364"/>
            <a:ext cx="4267093" cy="615680"/>
          </a:xfrm>
          <a:prstGeom prst="rect">
            <a:avLst/>
          </a:prstGeom>
          <a:noFill/>
        </p:spPr>
        <p:txBody>
          <a:bodyPr wrap="square" lIns="60958" rIns="60958" tIns="60958" bIns="60958" anchor="ctr"/>
          <a:lstStyle/>
          <a:p>
            <a:pPr algn="l">
              <a:lnSpc>
                <a:spcPct val="110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Condições e recursos para integrar as tecnologias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Quadro 18 (Cap. 6), sintetizado. Brasil (2018; 2022; 2023).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DOCUMENTADO E A VERIFICAR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341086"/>
            <a:ext cx="5455783" cy="3748946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402044"/>
            <a:ext cx="5120511" cy="362702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1">
                <a:solidFill>
                  <a:srgbClr val="6C4FD8"/>
                </a:solidFill>
                <a:latin typeface="Arial"/>
              </a:rPr>
              <a:t>DOCUMENTADO PELAS IMAGENS</a:t>
            </a:r>
          </a:p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0">
                <a:solidFill>
                  <a:srgbClr val="1A1A1A"/>
                </a:solidFill>
                <a:latin typeface="Arial"/>
              </a:rPr>
              <a:t>Salas fotografadas sem dispositivo digital</a:t>
            </a:r>
          </a:p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0">
                <a:solidFill>
                  <a:srgbClr val="1A1A1A"/>
                </a:solidFill>
                <a:latin typeface="Arial"/>
              </a:rPr>
              <a:t>Um computador, na sala dos professores</a:t>
            </a:r>
          </a:p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0">
                <a:solidFill>
                  <a:srgbClr val="1A1A1A"/>
                </a:solidFill>
                <a:latin typeface="Arial"/>
              </a:rPr>
              <a:t>Laboratório com equipamentos desligados no registro</a:t>
            </a:r>
          </a:p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0">
                <a:solidFill>
                  <a:srgbClr val="1A1A1A"/>
                </a:solidFill>
                <a:latin typeface="Arial"/>
              </a:rPr>
              <a:t>Climatização nas salas da equipe (Figura 28)</a:t>
            </a:r>
          </a:p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0">
                <a:solidFill>
                  <a:srgbClr val="1A1A1A"/>
                </a:solidFill>
                <a:latin typeface="Arial"/>
              </a:rPr>
              <a:t>Recursos impressos e artesanais nas salas</a:t>
            </a:r>
          </a:p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Acessibilidade, parque na restinga, pátio coletivo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5" y="1341086"/>
            <a:ext cx="5455783" cy="3748946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0160" y="1402044"/>
            <a:ext cx="5120511" cy="362702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1">
                <a:solidFill>
                  <a:srgbClr val="6C4FD8"/>
                </a:solidFill>
                <a:latin typeface="Arial"/>
              </a:rPr>
              <a:t>PRELIMINAR, A VERIFICAR</a:t>
            </a:r>
          </a:p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0">
                <a:solidFill>
                  <a:srgbClr val="1A1A1A"/>
                </a:solidFill>
                <a:latin typeface="Arial"/>
              </a:rPr>
              <a:t>Laboratório de 2022, com recursos da Prefeitura</a:t>
            </a:r>
          </a:p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0">
                <a:solidFill>
                  <a:srgbClr val="1A1A1A"/>
                </a:solidFill>
                <a:latin typeface="Arial"/>
              </a:rPr>
              <a:t>Cadernos sem registro de uso no último ano letivo</a:t>
            </a:r>
          </a:p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0">
                <a:solidFill>
                  <a:srgbClr val="1A1A1A"/>
                </a:solidFill>
                <a:latin typeface="Arial"/>
              </a:rPr>
              <a:t>Um kit multimídia para toda a escola</a:t>
            </a:r>
          </a:p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0">
                <a:solidFill>
                  <a:srgbClr val="1A1A1A"/>
                </a:solidFill>
                <a:latin typeface="Arial"/>
              </a:rPr>
              <a:t>Valor e uso da verba anual do PIEC</a:t>
            </a:r>
          </a:p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533" b="0">
                <a:solidFill>
                  <a:srgbClr val="1A1A1A"/>
                </a:solidFill>
                <a:latin typeface="Arial"/>
              </a:rPr>
              <a:t>Contrato de manutenção e suporte técnico</a:t>
            </a:r>
          </a:p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O que a escola declara ao Censo Escolar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5303387"/>
            <a:ext cx="2529776" cy="731501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26" y="5303387"/>
            <a:ext cx="2529776" cy="731501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1A1A1A"/>
                </a:solidFill>
                <a:latin typeface="Arial"/>
              </a:rPr>
              <a:t>Território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7923" y="5303387"/>
            <a:ext cx="335271" cy="73150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2399" b="1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2716" y="5303387"/>
            <a:ext cx="2529776" cy="731501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2716" y="5303387"/>
            <a:ext cx="2529776" cy="731501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1A1A1A"/>
                </a:solidFill>
                <a:latin typeface="Arial"/>
              </a:rPr>
              <a:t>Condições da escola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013" y="5303387"/>
            <a:ext cx="335271" cy="73150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2399" b="1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6806" y="5303387"/>
            <a:ext cx="2529776" cy="731501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6806" y="5303387"/>
            <a:ext cx="2529776" cy="731501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1A1A1A"/>
                </a:solidFill>
                <a:latin typeface="Arial"/>
              </a:rPr>
              <a:t>Margens do trabalho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6103" y="5303387"/>
            <a:ext cx="335271" cy="73150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2399" b="1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0895" y="5303387"/>
            <a:ext cx="2529776" cy="731501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0895" y="5303387"/>
            <a:ext cx="2529776" cy="731501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1A1A1A"/>
                </a:solidFill>
                <a:latin typeface="Arial"/>
              </a:rPr>
              <a:t>Interpretar, decidir, atuar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" y="6187285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Cadeia de mediações (seção 6.5). As informações preliminares não contam como dado (seção 4.1).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792" y="152396"/>
            <a:ext cx="2804089" cy="365750"/>
          </a:xfrm>
          <a:prstGeom prst="roundRect">
            <a:avLst>
              <a:gd name="adj" fmla="val 4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792" y="152396"/>
            <a:ext cx="2804089" cy="365750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066" b="1">
                <a:solidFill>
                  <a:srgbClr val="1A1A1A"/>
                </a:solidFill>
                <a:latin typeface="Arial"/>
              </a:rPr>
              <a:t>6 · TERRITÓRIO: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O TERRITÓRIO ATRAVESSA A TESE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463003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1584920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33" b="1">
                <a:solidFill>
                  <a:srgbClr val="6C4FD8"/>
                </a:solidFill>
                <a:latin typeface="Arial"/>
              </a:rPr>
              <a:t>Introdução</a:t>
            </a:r>
          </a:p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Questão de pesquisa e ineditismo analítico-espacial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572" y="1463003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447" y="1584920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33" b="1">
                <a:solidFill>
                  <a:srgbClr val="6C4FD8"/>
                </a:solidFill>
                <a:latin typeface="Arial"/>
              </a:rPr>
              <a:t>Cap. 2 · RSL</a:t>
            </a:r>
          </a:p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Só contraste entre países; nenhuma rede pequena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518" y="1463003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394" y="1584920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33" b="1">
                <a:solidFill>
                  <a:srgbClr val="6C4FD8"/>
                </a:solidFill>
                <a:latin typeface="Arial"/>
              </a:rPr>
              <a:t>Cap. 4 · Método</a:t>
            </a:r>
          </a:p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Dimensão situacional, registro iconográfico, Bloco 3 e Eixo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3779425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01" y="3901342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33" b="1">
                <a:solidFill>
                  <a:srgbClr val="6C4FD8"/>
                </a:solidFill>
                <a:latin typeface="Arial"/>
              </a:rPr>
              <a:t>Cap. 5 · Agenda e PNED</a:t>
            </a:r>
          </a:p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Prioridade aos vulneráveis e meios por conta de cada 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572" y="3779425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FCE32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447" y="3901342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Cap. 6 · Território</a:t>
            </a:r>
          </a:p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Condições documentadas, habitar o digital, rugosidade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518" y="3779425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FCE32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394" y="3901342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Cap. 7 · Narrativas</a:t>
            </a:r>
          </a:p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Os quatro objetivos lidos em relação ao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26" y="6156806"/>
            <a:ext cx="11094442" cy="48766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399" b="0">
                <a:solidFill>
                  <a:srgbClr val="FFFFFF"/>
                </a:solidFill>
                <a:latin typeface="Arial"/>
              </a:rPr>
              <a:t>Pipa é parte constitutiva do contexto da prática, da pergunta às considerações finais (Quadro 19).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733" b="1">
                <a:solidFill>
                  <a:srgbClr val="FFFFFF"/>
                </a:solidFill>
                <a:latin typeface="Arial"/>
              </a:rPr>
              <a:t>ONDE ESTAMOS E O QUE FALTA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460" y="1523961"/>
            <a:ext cx="4754761" cy="457188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1">
                <a:solidFill>
                  <a:srgbClr val="1A1A1A"/>
                </a:solidFill>
                <a:latin typeface="Arial"/>
              </a:rPr>
              <a:t>FEITO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0">
                <a:solidFill>
                  <a:srgbClr val="1A1A1A"/>
                </a:solidFill>
                <a:latin typeface="Arial"/>
              </a:rPr>
              <a:t>Projeto reformulado e capítulos 1, 2, 4, 5 e 6 alinhados a ele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0">
                <a:solidFill>
                  <a:srgbClr val="1A1A1A"/>
                </a:solidFill>
                <a:latin typeface="Arial"/>
              </a:rPr>
              <a:t>Revisão sistemática concluída (9 estudos)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0">
                <a:solidFill>
                  <a:srgbClr val="1A1A1A"/>
                </a:solidFill>
                <a:latin typeface="Arial"/>
              </a:rPr>
              <a:t>Registro iconográfico e acervo histórico (Cap. 6)</a:t>
            </a:r>
          </a:p>
          <a:p>
            <a:pPr algn="l">
              <a:lnSpc>
                <a:spcPct val="115000"/>
              </a:lnSpc>
            </a:pPr>
            <a:r>
              <a:rPr sz="1866" b="0">
                <a:solidFill>
                  <a:srgbClr val="1A1A1A"/>
                </a:solidFill>
                <a:latin typeface="Arial"/>
              </a:rPr>
              <a:t>Capítulo 3 em construção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639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4473" y="1523961"/>
            <a:ext cx="4754761" cy="457188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1">
                <a:solidFill>
                  <a:srgbClr val="6C4FD8"/>
                </a:solidFill>
                <a:latin typeface="Arial"/>
              </a:rPr>
              <a:t>ANTES DO CAMPO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Emenda ao CEP com questionário e roteiro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Critérios de leitura datados antes da 1ª entrevista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Análise documental: aquisição, PIEC, Censo, formação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Receita e gasto em educação do município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Testes de velocidade da conexão nas salas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Número de turmas e de crianças do 1º ao 5º 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Yin (2001); Resoluções CNS nº 466/2012 e 510/2016.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REFERÊNCIAS PRINCIPAIS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341086"/>
            <a:ext cx="11094442" cy="5242428"/>
          </a:xfrm>
          <a:prstGeom prst="roundRect">
            <a:avLst>
              <a:gd name="adj" fmla="val 3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463003"/>
            <a:ext cx="5364345" cy="5059553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BALL, S. J. Reformar escolas/reformar professores e os terrores da performatividade. Revista Portuguesa de Educação, v. 15, n. 2, p. 3-23, 2002.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BALL, S. J.; MAGUIRE, M.; BRAUN, A. Como as escolas fazem as políticas. Ponta Grossa: UEPG, 2016.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BOWE, R.; BALL, S. J.; GOLD, A. Reforming education and changing schools. London: Routledge, 1992.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BRASIL. Lei nº 14.533, de 11 de janeiro de 2023. Institui a Política Nacional de Educação Digital. Brasília, DF, 2023.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BRAUN, V.; CLARKE, V. Using thematic analysis in psychology. Qualitative Research in Psychology, v. 3, n. 2, p. 77-101, 2006.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CASTELLS, M. A galáxia da internet. Rio de Janeiro: Zahar, 2003.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CGI.BR. TIC Educação 2024. São Paulo: Comitê Gestor da Internet no Brasil, 2025.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DI FELICE, M. Paisagens pós-urbanas. São Paulo: Annablume, 2009.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DORNELLES, L. V. Infâncias que nos escapam. Petrópolis: Vozes, 2005.</a:t>
            </a:r>
          </a:p>
          <a:p>
            <a:pPr algn="l">
              <a:lnSpc>
                <a:spcPct val="105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HARGREAVES, A. Profesorado, cultura y postmodernidad. 5. ed. Madrid: Morata, 2005.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56806" y="1463003"/>
            <a:ext cx="5364345" cy="5059553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MAINARDES, J. Abordagem do ciclo de políticas. Educação &amp; Sociedade, v. 27, n. 94, p. 47-69, 2006.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MASSEY, D. Pelo espaço: uma nova política da espacialidade. Rio de Janeiro: Bertrand Brasil, 2008.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MINAYO, M. C. S. (org.). Pesquisa social: teoria, método e criatividade. 28. ed. Petrópolis: Vozes, 2009.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ONU. Comitê dos Direitos da Criança. Comentário Geral nº 25 (2021). Genebra: ONU, 2021.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SANTOS, M. O território e o saber local. Cadernos IPPUR, ano 13, n. 2, p. 15-26, 1999.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SANTOS, M. A natureza do espaço. 4. ed. São Paulo: Edusp, 2006.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SANTOS, M. Espaço e método. 5. ed. São Paulo: Edusp, 2012.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SCHLEMMER, E. et al. (org.). O habitar do ensinar e do aprender OnLIFE. São Leopoldo: Casa Leiria, 2021.</a:t>
            </a:r>
          </a:p>
          <a:p>
            <a:pPr algn="l">
              <a:lnSpc>
                <a:spcPct val="105000"/>
              </a:lnSpc>
              <a:spcAft>
                <a:spcPts val="599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VALENTE, J. A. (org.). O computador na sociedade do conhecimento. Campinas: Unicamp/NIED, 1999.</a:t>
            </a:r>
          </a:p>
          <a:p>
            <a:pPr algn="l">
              <a:lnSpc>
                <a:spcPct val="105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YIN, R. K. Estudo de caso: planejamento e métodos. 2. ed. Porto Alegre: Bookman, 2001.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0" y="304792"/>
            <a:ext cx="1950671" cy="2060168"/>
          </a:xfrm>
          <a:prstGeom prst="rect">
            <a:avLst/>
          </a:prstGeom>
        </p:spPr>
      </p:pic>
      <p:pic>
        <p:nvPicPr>
          <p:cNvPr id="4" name="Picture 3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1982" y="4023259"/>
            <a:ext cx="1584920" cy="2163610"/>
          </a:xfrm>
          <a:prstGeom prst="rect">
            <a:avLst/>
          </a:prstGeom>
        </p:spPr>
      </p:pic>
      <p:pic>
        <p:nvPicPr>
          <p:cNvPr id="5" name="Picture 4" descr="Ilustração decorati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901342"/>
            <a:ext cx="2072588" cy="24556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38339" y="487667"/>
            <a:ext cx="7315017" cy="1463003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5599" b="1">
                <a:solidFill>
                  <a:srgbClr val="FFFFFF"/>
                </a:solidFill>
                <a:latin typeface="Arial"/>
              </a:rPr>
              <a:t>MUITO OBRIGADA!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255" y="2194505"/>
            <a:ext cx="7071183" cy="280408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2316422"/>
            <a:ext cx="6583515" cy="256025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A questão que fica aberta para o campo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Quando a política não faz chegar o equipamento nem a formação, quem paga, no cotidiano da escola, o preço dessa ausência? E o que isso significa para os direitos que a lei prometeu às crianças?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8339" y="5303387"/>
            <a:ext cx="7315017" cy="97533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ctr">
              <a:lnSpc>
                <a:spcPct val="115000"/>
              </a:lnSpc>
              <a:spcAft>
                <a:spcPts val="266"/>
              </a:spcAft>
            </a:pPr>
            <a:r>
              <a:rPr sz="1466" b="1">
                <a:solidFill>
                  <a:srgbClr val="FFFFFF"/>
                </a:solidFill>
                <a:latin typeface="Arial"/>
              </a:rPr>
              <a:t>Yzynya Silva Rezende Machado</a:t>
            </a:r>
          </a:p>
          <a:p>
            <a:pPr algn="ctr">
              <a:lnSpc>
                <a:spcPct val="115000"/>
              </a:lnSpc>
            </a:pPr>
            <a:r>
              <a:rPr sz="1466" b="0">
                <a:solidFill>
                  <a:srgbClr val="FFFFFF"/>
                </a:solidFill>
                <a:latin typeface="Arial"/>
              </a:rPr>
              <a:t>Orientadora: Profa. Dra. Maria Cristina Leandro de Paiva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