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 a todas e a todos. Agradeço à banca pela leitura e à minha orientadora, professora Maria Cristina, pelo acompanhamento. Apresento hoje a tese A encenação da Política Nacional de Educação Digital em Pipa, que investiga como uma política nacional ganha forma numa escola situada, a partir de quem trabalha nela, das condições que ela tem e do território em que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apresentação segue cinco momentos. Começo pela proposta da tese: problema, objeto, questão, objetivos, referencial e tese de partida. Depois mostro o que a revisão sistemática encontrou, como a política será escutada no campo, o que o texto da lei revela e, por fim, o território, a escola e 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Parto de um lugar que precisa ser dito. Convivo com Pipa há quase duas décadas e trabalho há dezoito anos na rede municipal de Tibau do Sul. No mestrado, nesta mesma escola, acompanhei o ensino remoto, quando setenta por cento das crianças da turma dividiam o celular com adultos. A tese, porém, tem objeto, pergunta e desenho próprios. Minha trajetória orienta o olhar e não entra como dado; por isso ela é registrada e examinada ao longo da análise.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problema nasce de uma distância. A lei fez da educação digital um direito, um dever do Estado e um componente curricular, com implementação obrigatória a partir de 2026. Na sala, porém, encontramos turmas dos anos iniciais sem tela, um laboratório cujo uso ainda precisa ser verificado e uma formação que a lei prevê apenas como promoção. É nessa distância que os profissionais precisam encenar a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objeto é a encenação da PNED, em seu eixo Educação Digital Escolar, pelos profissionais da educação do primeiro ao quinto ano da Escola Municipal Domitila Castelo. Escuto docentes, coordenação, direção e demais profissionais, porque todos constroem a política. A questão foi formulada para manter o resultado em aberto: queremos saber como encenam e recontextualizam a PNED e como culturas profissionais, condições da escola e território atravessam esse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objetivo geral é analisar essa encenação considerando a política, as culturas profissionais, as condições materiais e institucionais e o território. Os quatro objetivos específicos seguem o caminho da própria política até as crianças: como ela é lida, como é traduzida nas condições da escola e do lugar, que formas de atuação os profissionais produzem e que implicações isso tem para a provisão, a proteção e a participação das crianças no ambiente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referencial foi composto para acompanhar esse caminho. A Abordagem do Ciclo de Políticas mostra que a política é recriada no contexto da prática. A teoria da atuação de Ball, Maguire e Braun traz as dimensões do contexto. Hargreaves ajuda a ler as culturas profissionais; Ball, a performatividade. Santos e Massey permitem inscrever o território na análise, e o Comentário Geral número 25 organiza a leitura dos direitos das crianças. Todas essas noções funcionam como lentes de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Habitar o digital é uma formulação desta tese. Ela parte do habitar como experiência relacional, em Schlemmer e colaboradores, passa pelo habitar atópico de Di Felice e encontra a distribuição desigual dos objetos técnicos, em Santos, e o lugar como encontro de trajetórias, em Massey. Em Pipa, a expressão nomeia a convivência de alta densidade tecnológica nos circuitos do turismo com poucas telas nos espaços pedagógicos da escola.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ineditismo tem três dimensões. A empírico-temporal: a pesquisa acompanha a PNED no momento em que o componente se torna obrigatório, e nenhum estudo da revisão trata dela ou de rede municipal de pequeno porte. A analítico-espacial: Pipa entra como parte do contexto da prática. A teórico-conceitual: a articulação entre teoria da atuação, culturas profissionais, dimensão material e território, com a noção de habitar o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tese de partida é que a PNED chega à escola como orientação a ser lida e interpretada, e que a forma que ela assume no cotidiano resulta da relação entre o que prescreve e as condições em que os profissionais atuam. Nenhuma forma de atuação é pressuposta. A pergunta que move a pesquisa é o que acontece com uma política de educação digital quando encontra uma escola, seus profissionais, suas condições e um território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revisão sistemática seguiu o PRISMA 2020 em sete bases. Dos 176 registros, chegamos a nove estudos. Eles mostram que a política depende da articulação entre recursos, condições institucionais e trabalho interpretativo dos profissionais. Mostram também as lacunas: nenhum examina a PNED, apenas um delimita o ciclo de alfabetização, nenhum trata de rede municipal pequena, e o território aparece só como contraste entre países.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desenho é um estudo de caso único, qualitativo. Os dados serão construídos em cinco movimentos: a análise documental, o registro iconográfico, já realizado, o questionário de perfil e percepções, as entrevistas semiestruturadas e a análise temática reflexiva com triangulação e devolutiva à escola. Um técnico da Secretaria Municipal de Educação será ouvido como fonte complementar sobre o contexto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formas de atuação que podem aparecer vão da adesão à resistência, passando por acomodação, adaptação, omissão seletiva, negociação e ressignificação. Nenhuma é pressuposta. Para que uma forma vire achado, ela precisa aparecer de modo recorrente e sem indução pela pergunta. Quando não há alternativa, o que se vê é custo transferido ao trabalhador, e assim será nomeado. As categorias não serão ditas aos participantes.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leitura da lei mostra o que chamamos de vazio material. A PNED se define como instância de articulação, condiciona a inclusão digital aos limites orçamentários de cada ente, não cria fundo próprio nem repasse obrigatório aos municípios e trata a formação como promoção. Para a tese, esse texto delimita o espaço de interpretação, as condições que podem faltar, as situações em que surgem formas de atuação e as promessas feitas às crianças.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contexto de influência aparece nos documentos internacionais. A UNESCO lembra que uma em cada quatro escolas primárias do mundo não tem eletricidade e que a tecnologia deve complementar a interação com os professores. A OCDE mostra efeitos no máximo mistos dos computadores sobre o desempenho, e o Banco Mundial pergunta qual é o problema educacional antes de escolher a tecnologia. Os três deslocam o foco da presença dos recursos para as condições, os usos e as finalidades.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perspectiva comparada percorreu dezenove experiências na Europa e nas Américas, além do Brasil. O mapa mostra, pela cor, a categoria que cada experiência mais informa: governança, formação, infraestrutura, continuidade institucional e cultura digital. A comparação não busca modelos para importar; mostra como referências parecidas mudam de forma quando encontram outros sistemas e outros territórios.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Dessas experiências saem cinco categorias que orientam o olhar do campo. Cada uma leva uma pergunta para Pipa: o que chega da União e do estado à rede, que formação chegou à escola, com que equipamentos se trabalha, que continuidade a rede teve e o que se faz com crianças de seis a dez anos. Nenhuma experiência descreve Pipa, e fica a pergunta que nenhum caso responde: o que acontece quando parte das condições não chega?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registro iconográfico começa pela antiga Pipa. As imagens do Museu Digital mostram trabalho, moradia e mar articulados: a construção artesanal de embarcações, os barcos na enseada, o mutirão do curral de pesca e o cruzeiro na falésia. Com Santos, lemos a paisagem como registro dos meios de trabalho de cada tempo; com Massey, evitamos congelar a vila num passado idealizado.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partir dos anos 1990, o turismo ligado ao surfe, os investimentos imobiliários, a chegada de trabalhadores para o setor de serviços e, mais recentemente, o trabalho remoto transformaram o distrito. A Pipa de hoje resulta da sobreposição dessas trajetórias, e os novos usos dividem o território com os antigos.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Pipa de hoje, as pousadas ocupam as falésias, os passeios cruzam a baía e o pescador segue descarregando o pescado na enseada. O digital atravessa o turismo, das reservas aos pagamentos, enquanto a pesca segue no mesmo mar. É nesse território que a política desembarca.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escola não se resume ao que falta. O registro mostra acessibilidade, com piso tátil e circulação coberta, um parque dentro da restinga, onde as crianças brincam e convivem, e espaços coletivos usados nas festas da escola. São condições materiais que também fazem parte do contexto em que a política chega.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escola, o registro iconográfico documentou um laboratório que, segundo informações ainda preliminares, foi montado pela Prefeitura em 2022, salas de primeiro e segundo ano sem nenhum dispositivo digital e recursos impressos e artesanais, como o alfabeto móvel feito à mão. As fotografias mostram condições materiais; o que os profissionais fazem com elas, somente as narrativas poderão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noção de rugosidade, de Milton Santos, ajuda a ler o laboratório. Uma rugosidade pode resultar de perda, quando a forma sobrevive a uma função que existiu, ou de ausência, quando a forma é instalada sem o sistema de ações que lhe daria função. Cada caso pede respostas diferentes de política. Qual é o caso do laboratório de 2022, só as narrativas e os documentos poderão dizer.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território atravessa toda a tese. Está na questão e no ineditismo, aparece como lacuna na revisão, entra no método como dimensão situacional, aparece pelo avesso na lei, que deixa os meios por conta de cada ente, é documentado no capítulo seis e será lido em relação aos quatro objetivos no capítulo sete.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Até aqui, o projeto foi reformulado e os capítulos um, dois, quatro, cinco e seis foram alinhados a ele; a revisão sistemática e o registro iconográfico estão concluídos, e o capítulo três está em construção. Antes do campo, falta aprovar a emenda no Comitê de Ética, datar os critérios de leitura, fazer a análise documental, reunir os dados fiscais do município e realizar os testes de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são as referências principais mobilizadas na apresentação. A lista completa está nos capítulos.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Encerro com a pergunta que fica aberta para o campo: quando a política não faz chegar o equipamento nem a formação, quem paga, no cotidiano da escola, o preço dessa ausência? E o que isso significa para os direitos prometidos às crianças? Agradeço a atenção e fico à disposição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image" Target="../media/image11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2" y="243833"/>
            <a:ext cx="2194505" cy="1996999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50" y="4389010"/>
            <a:ext cx="1828754" cy="2355597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148" y="304792"/>
            <a:ext cx="1828754" cy="1931407"/>
          </a:xfrm>
          <a:prstGeom prst="rect">
            <a:avLst/>
          </a:prstGeom>
        </p:spPr>
      </p:pic>
      <p:pic>
        <p:nvPicPr>
          <p:cNvPr id="6" name="Picture 5" descr="Ilustração decorativ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231" y="3901342"/>
            <a:ext cx="2072588" cy="23134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05" y="914377"/>
            <a:ext cx="7802684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FFFFFF"/>
                </a:solidFill>
                <a:latin typeface="Arial"/>
              </a:rPr>
              <a:t>A ENCENAÇÃO DA POLÍTICA NACIONAL DE EDUCAÇÃO DIGITAL EM PIPA/RN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8339" y="3627029"/>
            <a:ext cx="7315017" cy="822939"/>
          </a:xfrm>
          <a:prstGeom prst="roundRect">
            <a:avLst>
              <a:gd name="adj" fmla="val 25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8339" y="3627029"/>
            <a:ext cx="7315017" cy="82293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Culturas profissionais, território e resistências no contexto da prática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546" y="4724281"/>
            <a:ext cx="7924601" cy="146300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  <a:p>
            <a:pPr algn="ctr">
              <a:lnSpc>
                <a:spcPct val="110000"/>
              </a:lnSpc>
            </a:pPr>
            <a:r>
              <a:rPr sz="1599" b="0">
                <a:solidFill>
                  <a:srgbClr val="FFFFFF"/>
                </a:solidFill>
                <a:latin typeface="Arial"/>
              </a:rPr>
              <a:t>Qualificação de doutorado · PPGEd/UFRN · Natal,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65750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PERCURSO DA APRESENTAÇÃO</a:t>
            </a:r>
          </a:p>
        </p:txBody>
      </p:sp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243833"/>
            <a:ext cx="853418" cy="1383698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1567" y="182875"/>
            <a:ext cx="975335" cy="10882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2460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5335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A proposta da tese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447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que a literatura mostra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8435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311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311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Como a política será escutada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214" y="4023259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4145176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89" y="4693802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texto da política e a agenda internacional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9681" y="4023259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2556" y="4145176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2556" y="4693802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território, a escola e os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7667" y="335271"/>
            <a:ext cx="6705432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DE ONDE PARTO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67" y="1402044"/>
            <a:ext cx="6705432" cy="469380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584920"/>
            <a:ext cx="6217764" cy="438901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466"/>
              </a:spcAft>
            </a:pPr>
            <a:r>
              <a:rPr sz="1999" b="1">
                <a:solidFill>
                  <a:srgbClr val="1A1A1A"/>
                </a:solidFill>
                <a:latin typeface="Arial"/>
              </a:rPr>
              <a:t>Território e rede. </a:t>
            </a:r>
            <a:r>
              <a:rPr sz="1999" b="0">
                <a:solidFill>
                  <a:srgbClr val="1A1A1A"/>
                </a:solidFill>
                <a:latin typeface="Arial"/>
              </a:rPr>
              <a:t>Quase duas décadas de convivência com Pipa e dezoito anos de trabalho na rede municipal de Tibau do Sul.</a:t>
            </a:r>
          </a:p>
          <a:p>
            <a:pPr algn="l">
              <a:lnSpc>
                <a:spcPct val="115000"/>
              </a:lnSpc>
              <a:spcAft>
                <a:spcPts val="1466"/>
              </a:spcAft>
            </a:pPr>
            <a:r>
              <a:rPr sz="1999" b="1">
                <a:solidFill>
                  <a:srgbClr val="1A1A1A"/>
                </a:solidFill>
                <a:latin typeface="Arial"/>
              </a:rPr>
              <a:t>Mestrado na mesma escola. </a:t>
            </a:r>
            <a:r>
              <a:rPr sz="1999" b="0">
                <a:solidFill>
                  <a:srgbClr val="1A1A1A"/>
                </a:solidFill>
                <a:latin typeface="Arial"/>
              </a:rPr>
              <a:t>Pesquisa-ação no ensino remoto: 70% das crianças da turma dividiam o celular com adultos (MACHADO, 2021).</a:t>
            </a:r>
          </a:p>
          <a:p>
            <a:pPr algn="l">
              <a:lnSpc>
                <a:spcPct val="115000"/>
              </a:lnSpc>
            </a:pPr>
            <a:r>
              <a:rPr sz="1999" b="1">
                <a:solidFill>
                  <a:srgbClr val="1A1A1A"/>
                </a:solidFill>
                <a:latin typeface="Arial"/>
              </a:rPr>
              <a:t>Uma tese nova. </a:t>
            </a:r>
            <a:r>
              <a:rPr sz="1999" b="0">
                <a:solidFill>
                  <a:srgbClr val="1A1A1A"/>
                </a:solidFill>
                <a:latin typeface="Arial"/>
              </a:rPr>
              <a:t>Objeto, pergunta e desenho próprios. A trajetória orienta o olhar e não conta como dado; o diário de campo registra o percurso.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73368" y="536434"/>
            <a:ext cx="3438058" cy="578495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scola Municipal Domitila Castelo, Pipa (RN). Acervo da pesquisa (2026)."/>
          <p:cNvPicPr>
            <a:picLocks noChangeAspect="1"/>
          </p:cNvPicPr>
          <p:nvPr/>
        </p:nvPicPr>
        <p:blipFill>
          <a:blip r:embed="rId3"/>
          <a:srcRect t="5990" b="5990"/>
          <a:stretch>
            <a:fillRect/>
          </a:stretch>
        </p:blipFill>
        <p:spPr>
          <a:xfrm>
            <a:off x="8046518" y="609584"/>
            <a:ext cx="3291757" cy="51509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518" y="5772767"/>
            <a:ext cx="329175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Escola Municipal Domitila Castelo, Pipa (RN). Acervo da pesquisa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67" y="6431119"/>
            <a:ext cx="7010224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Freire (2019); Braun e Clarke (2019): reflexividade.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DIREITO CHEGA ANTES DOS MEIOS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84920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LEI PROMETE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Educação digital como direito, dever do Estado e componente curricular, com implementação obrigatória a partir de 2026 (Lei nº 14.533/2023; Resolução CNE/CEB nº 2/2025).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1885" y="3901342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719" y="4023259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SALA RECEBE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Salas dos anos iniciais sem tela, um laboratório com uso a verificar, formação prevista como simples promoção e meios que dependem de cada ente federado.</a:t>
            </a:r>
          </a:p>
        </p:txBody>
      </p:sp>
      <p:pic>
        <p:nvPicPr>
          <p:cNvPr id="8" name="Picture 7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352" y="1402044"/>
            <a:ext cx="2194505" cy="19842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51" y="3950109"/>
            <a:ext cx="3438058" cy="197505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lfabeto móvel feito à mão numa sala dos anos iniciais"/>
          <p:cNvPicPr>
            <a:picLocks noChangeAspect="1"/>
          </p:cNvPicPr>
          <p:nvPr/>
        </p:nvPicPr>
        <p:blipFill>
          <a:blip r:embed="rId4"/>
          <a:srcRect t="617" b="617"/>
          <a:stretch>
            <a:fillRect/>
          </a:stretch>
        </p:blipFill>
        <p:spPr>
          <a:xfrm>
            <a:off x="731501" y="4023259"/>
            <a:ext cx="3291757" cy="18287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Lei nº 14.533/2023; Mainardes (2006); Ball, Maguire e Braun (2016).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OBJETO E QUESTÃO DE PESQUISA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1">
                <a:solidFill>
                  <a:srgbClr val="1A1A1A"/>
                </a:solidFill>
                <a:latin typeface="Arial"/>
              </a:rPr>
              <a:t>OBJETO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0">
                <a:solidFill>
                  <a:srgbClr val="1A1A1A"/>
                </a:solidFill>
                <a:latin typeface="Arial"/>
              </a:rPr>
              <a:t>A encenação da PNED, em seu eixo Educação Digital Escolar, pelos profissionais da educação do 1º ao 5º ano da Escola Municipal Domitila Castelo, em Pipa, Tibau do Sul (RN).</a:t>
            </a:r>
          </a:p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Todos constroem a política: docentes, coordenação, direção e demais profissionais ligados ao trabalho pedagógico.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73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QUESTÃO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Como os profissionais da educação encenam e recontextualizam a PNED no contexto da prática da Escola Municipal Domitila Castelo,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</a:p>
        </p:txBody>
      </p:sp>
      <p:pic>
        <p:nvPicPr>
          <p:cNvPr id="8" name="Picture 7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401" y="243833"/>
            <a:ext cx="792460" cy="10818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243833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97252"/>
            <a:ext cx="10972525" cy="103629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533" b="1">
                <a:solidFill>
                  <a:srgbClr val="FFFFFF"/>
                </a:solidFill>
                <a:latin typeface="Arial"/>
              </a:rPr>
              <a:t>Geral: </a:t>
            </a:r>
            <a:r>
              <a:rPr sz="1533" b="0">
                <a:solidFill>
                  <a:srgbClr val="FFFFFF"/>
                </a:solidFill>
                <a:latin typeface="Arial"/>
              </a:rPr>
              <a:t>analisar como os profissionais da educação encenam e recontextualizam a PNED no contexto da prática da escola, considerando as relações entre a política, as culturas profissionais, as condições materiais e institucionais e o território.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22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2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Compreender como os profissionais interpretam a PNED a partir de experiências, crenças, valores e formas de organizar o trabalho.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07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304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304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Analisar como as condições materiais e institucionais da escola e o território atravessam a tradução da política.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189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85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85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Identificar formas de atuação: adesão, acomodação, adaptação, omissão seletiva, negociação, ressignificação ou resistência.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471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9867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9867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Discutir as implicações para as crianças: provisão, proteção e participação no ambiente digital.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Hargreaves (2005); Ball, Maguire e Braun (2016); ONU (2021).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REFERENCIAL TEÓRICO-METODOLÓGICO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Ciclo de Políticas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Bowe, Ball e Gold (1992); Mainardes (2006). A política é recriada no contexto da prática.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572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447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Teoria da atuação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Ball, Maguire e Braun (2016). Dimensões situacional, profissional, material e externa.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518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394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Culturas profissionais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Hargreaves (2005). Conteúdo e forma das culturas do trabalho docente.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Performatividade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 (2002; 2004). Metas, registros e fabricações que acompanham a política.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572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447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Território e lugar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Santos (1999; 2006); Massey (2008). Território usado, rugosidade, encontro de trajetórias.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518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4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Direitos da criança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ONU (2021). Provisão, proteção e participação no ambiente digital.</a:t>
            </a:r>
          </a:p>
        </p:txBody>
      </p:sp>
      <p:pic>
        <p:nvPicPr>
          <p:cNvPr id="16" name="Picture 15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442" y="213354"/>
            <a:ext cx="853418" cy="9522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26" y="6278723"/>
            <a:ext cx="11094442" cy="36575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199" b="0">
                <a:solidFill>
                  <a:srgbClr val="FFFFFF"/>
                </a:solidFill>
                <a:latin typeface="Arial"/>
              </a:rPr>
              <a:t>As noções funcionam como lentes de leitura, abertas ao que o campo trouxer.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HABITAR O DIGITAL: UMA FORMULAÇÃO DA 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1022" y="1450811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Schlemmer et al. (2021)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Habitar como experiência relacional entre sujeitos, ambientes, tecnologias e redes.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2529776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2578543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Di Felice (2009)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habitar transformado pelas redes digitais: o habitar atópico.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3657508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022" y="3706275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Santos (2006)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Objetos técnicos distribuídos de modo desigual, com idades e funções diferentes.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4785240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22" y="4834007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Massey (2008)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lugar como encontro de trajetórias.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943451"/>
            <a:ext cx="5730096" cy="701022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5943451"/>
            <a:ext cx="5486262" cy="70102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Maneiras desiguais de acesso, participação e apropriação do digital num território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2282" y="1389853"/>
            <a:ext cx="5022978" cy="416955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ista contemporânea de Pipa (Figura 15). Acervo da pesquisa (2026)."/>
          <p:cNvPicPr>
            <a:picLocks noChangeAspect="1"/>
          </p:cNvPicPr>
          <p:nvPr/>
        </p:nvPicPr>
        <p:blipFill>
          <a:blip r:embed="rId3"/>
          <a:srcRect t="847" b="847"/>
          <a:stretch>
            <a:fillRect/>
          </a:stretch>
        </p:blipFill>
        <p:spPr>
          <a:xfrm>
            <a:off x="6705432" y="1463003"/>
            <a:ext cx="4876678" cy="35355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05432" y="5010786"/>
            <a:ext cx="4876678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Vista contemporânea de Pipa (Figura 15). Acervo da pesquisa (2026).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432" y="5699617"/>
            <a:ext cx="4876678" cy="91437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Em Pipa: densidade tecnológica nos circuitos do turismo e poucas telas nos espaços pedagógicos da escola.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INEDITISMO EM TRÊS DIMENSÕES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EMPÍRICO-TEMPORAL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01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A PNED chega à escola quando o componente se torna obrigatório, em 2026. Nenhum dos 9 estudos da RSL trata dela nem de rede municipal de pequeno porte.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572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447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ANALÍTICO-ESPACIAL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447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Pipa como dimensão constitutiva do contexto da prática, que atravessa toda a tese (SANTOS, 1999; MASSEY, 2008).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TEÓRICO-CONCEITUAL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Teoria da atuação, culturas profissionais, dimensão material e território articulados, com a noção de habitar o digital.</a:t>
            </a:r>
          </a:p>
        </p:txBody>
      </p:sp>
      <p:pic>
        <p:nvPicPr>
          <p:cNvPr id="13" name="Picture 1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33" y="182875"/>
            <a:ext cx="914377" cy="978714"/>
          </a:xfrm>
          <a:prstGeom prst="rect">
            <a:avLst/>
          </a:prstGeom>
        </p:spPr>
      </p:pic>
      <p:pic>
        <p:nvPicPr>
          <p:cNvPr id="14" name="Picture 1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42" y="182875"/>
            <a:ext cx="853418" cy="9522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Revisão sistemática (Cap. 2); Ball, Maguire e Braun (2016); Hargreaves (2005).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7" y="1341086"/>
            <a:ext cx="4023259" cy="52333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98595" y="335271"/>
            <a:ext cx="6705432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TESE DE PARTIDA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98595" y="1402044"/>
            <a:ext cx="6644473" cy="304792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42428" y="1523961"/>
            <a:ext cx="6156806" cy="280408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A PNED chega à escola como orientação a ser lida e interpretada. A forma que assume no cotidiano resulta da relação entre o que prescreve e as condições em que os profissionais precisam atuar, atravessadas pelas culturas profissionais e pelo território. Nenhuma forma de atuação é pressuposta.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8595" y="4632844"/>
            <a:ext cx="6644473" cy="158492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599" b="1">
                <a:solidFill>
                  <a:srgbClr val="FFFFFF"/>
                </a:solidFill>
                <a:latin typeface="Arial"/>
              </a:rPr>
              <a:t>Pergunta de fundo: </a:t>
            </a:r>
            <a:r>
              <a:rPr sz="1599" b="0">
                <a:solidFill>
                  <a:srgbClr val="FFFFFF"/>
                </a:solidFill>
                <a:latin typeface="Arial"/>
              </a:rPr>
              <a:t>o que acontece com uma política de educação digital quando encontra uma escola, seus profissionais, suas condições materiais e um território específico?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8595" y="6431119"/>
            <a:ext cx="6644473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O QUE A LITERATURA MOSTRA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1280127"/>
            <a:ext cx="11094442" cy="48766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Revisão sistemática (PRISMA 2020), 7 bases, de 2019 a setembro de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176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26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registros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4089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4089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171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4089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sem duplicatas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9553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9553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553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buscados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017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017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017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lidos na íntegra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0480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70480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1A1A1A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0480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estudos incluídos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26" y="3718467"/>
            <a:ext cx="11094442" cy="256025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460" y="3840383"/>
            <a:ext cx="10606774" cy="237738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Lacunas: </a:t>
            </a:r>
            <a:r>
              <a:rPr sz="1533" b="0">
                <a:solidFill>
                  <a:srgbClr val="1A1A1A"/>
                </a:solidFill>
                <a:latin typeface="Arial"/>
              </a:rPr>
              <a:t>nenhum estudo examina a PNED; só um delimita o ciclo de alfabetização; nenhum trata de rede municipal de pequeno porte.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O que falta ao corpus: </a:t>
            </a:r>
            <a:r>
              <a:rPr sz="1533" b="0">
                <a:solidFill>
                  <a:srgbClr val="1A1A1A"/>
                </a:solidFill>
                <a:latin typeface="Arial"/>
              </a:rPr>
              <a:t>culturas profissionais, pressão por resultados e o território, que aparece só como contraste entre países.</a:t>
            </a:r>
          </a:p>
          <a:p>
            <a:pPr algn="l">
              <a:lnSpc>
                <a:spcPct val="115000"/>
              </a:lnSpc>
            </a:pPr>
            <a:r>
              <a:rPr sz="1533" b="1">
                <a:solidFill>
                  <a:srgbClr val="1A1A1A"/>
                </a:solidFill>
                <a:latin typeface="Arial"/>
              </a:rPr>
              <a:t>O que o corpus sustenta: </a:t>
            </a:r>
            <a:r>
              <a:rPr sz="1533" b="0">
                <a:solidFill>
                  <a:srgbClr val="1A1A1A"/>
                </a:solidFill>
                <a:latin typeface="Arial"/>
              </a:rPr>
              <a:t>a política depende da articulação entre recursos, condições institucionais e trabalho interpretativo dos profissionais.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COMO A POLÍTICA SERÁ ESCUTADA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1188690"/>
            <a:ext cx="11094442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Estudo de caso único, qualitativo (MINAYO, 2009; YIN, 2001), com os profissionais do 1º ao 5º ano e um técnico da Secretaria como fonte complementar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43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Análise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Lei, Resolução CNE/CEB nº 2/2025, PPP, planos, atas, aquisição e PIEC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4089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06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06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Registro iconográfico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06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38 figuras lidas com Santos e Massey; já realizado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9553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1470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1470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Questionário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1470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Perfil e percepções, em cinco blocos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017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36934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6934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Entrevistas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6934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Seis eixos, de 60 a 90 minutos, sem nomear as categorias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70480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397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397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Análise e devolutiva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397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Análise temática reflexiva, triangulação e retorno à escola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Braun e Clarke (2006; 2019): análise temática reflexiva; Resoluções CNS nº 466/2012 e 510/2016.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FORMAS DE ATUAÇÃO E COMO SERÃO LIDAS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26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Adesão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8403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8403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Acomodação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26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Adaptação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8403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403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Omissão seletiva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26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Negociação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78403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8403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Ressignificação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26" y="466332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26" y="466332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Resistência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26" y="5730096"/>
            <a:ext cx="4876678" cy="60958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FFFFFF"/>
                </a:solidFill>
                <a:latin typeface="Arial"/>
              </a:rPr>
              <a:t>Nenhuma forma é pressuposta; outras podem surgir do material.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013" y="1463003"/>
            <a:ext cx="5791055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7" y="1584920"/>
            <a:ext cx="5303387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Recorrência. </a:t>
            </a:r>
            <a:r>
              <a:rPr sz="1733" b="0">
                <a:solidFill>
                  <a:srgbClr val="1A1A1A"/>
                </a:solidFill>
                <a:latin typeface="Arial"/>
              </a:rPr>
              <a:t>Uma forma só vira achado quando aparece de modo recorrente e sem indução pela pergunta.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Posição. </a:t>
            </a:r>
            <a:r>
              <a:rPr sz="1733" b="0">
                <a:solidFill>
                  <a:srgbClr val="1A1A1A"/>
                </a:solidFill>
                <a:latin typeface="Arial"/>
              </a:rPr>
              <a:t>As formas podem variar entre docência, coordenação, direção, apoio e Secretaria.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Nome justo. </a:t>
            </a:r>
            <a:r>
              <a:rPr sz="1733" b="0">
                <a:solidFill>
                  <a:srgbClr val="1A1A1A"/>
                </a:solidFill>
                <a:latin typeface="Arial"/>
              </a:rPr>
              <a:t>Quando não há alternativa, o que se vê é custo transferido ao trabalhador, e assim será nomeado.</a:t>
            </a:r>
          </a:p>
          <a:p>
            <a:pPr algn="l">
              <a:lnSpc>
                <a:spcPct val="115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Sem antecipar. </a:t>
            </a:r>
            <a:r>
              <a:rPr sz="1733" b="0">
                <a:solidFill>
                  <a:srgbClr val="1A1A1A"/>
                </a:solidFill>
                <a:latin typeface="Arial"/>
              </a:rPr>
              <a:t>As categorias não são ditas aos participantes; os critérios são datados antes da 1ª entrevista.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 (2002; 2004); Hargreaves (2005); Ball, Maguire e Braun (2016).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 TEXTO DA POLÍTICA: O VAZIO MATERIAL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1º, § 3º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PNED se define como “instância de articulação” e não substitui as políticas de infraestrutura e conectividade.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680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68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2º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inclusão digital, onde está a conectividade das escolas, segue “dentro dos limites orçamentários” de cada 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0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11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Dotações dos entes, doações, FUST e Funttel: nenhum fundo próprio, nenhum repasse obrigatório aos municípios.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680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968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3º, § 1º, IX e X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formação de professores aparece como promoção, sem responsáveis, prazos, carga horária ou custeio.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242428"/>
            <a:ext cx="11033484" cy="106677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5242428"/>
            <a:ext cx="10545816" cy="106677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Para a tese: </a:t>
            </a:r>
            <a:r>
              <a:rPr sz="1466" b="0">
                <a:solidFill>
                  <a:srgbClr val="1A1A1A"/>
                </a:solidFill>
                <a:latin typeface="Arial"/>
              </a:rPr>
              <a:t>o texto delimita o espaço de interpretação (a), as condições que podem faltar (b), as situações em que surgem formas de atuação (c) e as promessas às crianças (d).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Brasil (2023); Brasil (2025); Mainardes (2006); Ball (2004).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A AGENDA INTERNACIONAL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UNESCO (2023)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Relatório de Monitoramento Global da Educação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“Uma em cada quatro escolas primárias do mundo não dispõe de eletricidade” (p. 126, tradução nossa). A tecnologia deve complementar a interação com os professores.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572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447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OCDE (2015)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Students, Computers and Learning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Mesmo onde os computadores são usados em sala, seu impacto sobre o desempenho é, “na melhor das hipóteses, misto” (p. 3, tradução nossa).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518" y="1402044"/>
            <a:ext cx="3566070" cy="365750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394" y="1523961"/>
            <a:ext cx="3200319" cy="341367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6C4FD8"/>
                </a:solidFill>
                <a:latin typeface="Arial"/>
              </a:rPr>
              <a:t>Banco Mundial (2020)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Reimagining Human Connections</a:t>
            </a:r>
          </a:p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“Se a tecnologia é a resposta, qual é a pergunta?” Primeiro se define o problema educacional; depois se escolhe a tecnologia.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5272908"/>
            <a:ext cx="11094442" cy="97533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460" y="5272908"/>
            <a:ext cx="10606774" cy="97533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Ponto em comum: </a:t>
            </a:r>
            <a:r>
              <a:rPr sz="1466" b="0">
                <a:solidFill>
                  <a:srgbClr val="1A1A1A"/>
                </a:solidFill>
                <a:latin typeface="Arial"/>
              </a:rPr>
              <a:t>os três documentos tiram o foco da simples presença dos recursos e o colocam nas condições, nos usos e nas finalidades. Sem condições materiais, o uso não acontece.</a:t>
            </a:r>
          </a:p>
        </p:txBody>
      </p:sp>
      <p:pic>
        <p:nvPicPr>
          <p:cNvPr id="12" name="Picture 11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401" y="213354"/>
            <a:ext cx="792460" cy="102075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Mainardes (2006): contexto de influência; Ball (2004): performatividade.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 QUE OUTROS TERRITÓRIOS NOS ENSINAM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6973649" cy="426099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a das políticas de educação digital nas Américas e na Euro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26" y="1402044"/>
            <a:ext cx="6827349" cy="40110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5638659"/>
            <a:ext cx="6827349" cy="36575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999" b="0">
                <a:solidFill>
                  <a:srgbClr val="FFFFFF"/>
                </a:solidFill>
                <a:latin typeface="Arial"/>
              </a:rPr>
              <a:t>Fonte: elaborado a partir dos quadros do Capítulo 5; base cartográfica Natural Earth.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767" y="1328894"/>
            <a:ext cx="3962300" cy="4876678"/>
          </a:xfrm>
          <a:prstGeom prst="roundRect">
            <a:avLst>
              <a:gd name="adj" fmla="val 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643" y="1402044"/>
            <a:ext cx="3657508" cy="36575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0000"/>
              </a:lnSpc>
            </a:pPr>
            <a:r>
              <a:rPr sz="1133" b="1">
                <a:solidFill>
                  <a:srgbClr val="1A1A1A"/>
                </a:solidFill>
                <a:latin typeface="Arial"/>
              </a:rPr>
              <a:t>A cor indica a categoria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94122" y="1901904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2A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435" y="1859233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Governança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94122" y="2206696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C9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8435" y="2164025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Formação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94122" y="2511489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4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8435" y="2468818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Infraestrutura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94122" y="2816281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8A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8435" y="2773610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Continuidade institucional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4122" y="3121073"/>
            <a:ext cx="195067" cy="195067"/>
          </a:xfrm>
          <a:prstGeom prst="roundRect">
            <a:avLst>
              <a:gd name="adj" fmla="val 50000"/>
            </a:avLst>
          </a:prstGeom>
          <a:solidFill>
            <a:srgbClr val="D96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435" y="3078403"/>
            <a:ext cx="3352716" cy="280408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1133" b="0">
                <a:solidFill>
                  <a:srgbClr val="1A1A1A"/>
                </a:solidFill>
                <a:latin typeface="Arial"/>
              </a:rPr>
              <a:t>Cultura digital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643" y="3444153"/>
            <a:ext cx="3657508" cy="274313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066" b="1">
                <a:solidFill>
                  <a:srgbClr val="6C4FD8"/>
                </a:solidFill>
                <a:latin typeface="Arial"/>
              </a:rPr>
              <a:t>Américas: </a:t>
            </a:r>
            <a:r>
              <a:rPr sz="1066" b="0">
                <a:solidFill>
                  <a:srgbClr val="1A1A1A"/>
                </a:solidFill>
                <a:latin typeface="Arial"/>
              </a:rPr>
              <a:t>1 EUA · Ed. Technology Plan · 2 Canadá · Digital Literacy (BC) · 3 México · @prende 2.0 · 4 Costa Rica · PRONIE · 5 Colômbia · Computadores para Educar · 6 Peru · Una Laptop por Niño · 7 Chile · Red Enlaces · 8 Argentina · Conectar Igualdad · 9 Uruguai · Plan Ceibal · Brasil · PNED (2023)</a:t>
            </a:r>
          </a:p>
          <a:p>
            <a:pPr algn="l">
              <a:lnSpc>
                <a:spcPct val="105000"/>
              </a:lnSpc>
            </a:pPr>
            <a:r>
              <a:rPr sz="1066" b="1">
                <a:solidFill>
                  <a:srgbClr val="6C4FD8"/>
                </a:solidFill>
                <a:latin typeface="Arial"/>
              </a:rPr>
              <a:t>Europa: </a:t>
            </a:r>
            <a:r>
              <a:rPr sz="1066" b="0">
                <a:solidFill>
                  <a:srgbClr val="1A1A1A"/>
                </a:solidFill>
                <a:latin typeface="Arial"/>
              </a:rPr>
              <a:t>10 União Europeia · DigComp · 11 Portugal · PTE e INCoDe · 12 Espanha · Comp. Digital Docente · 13 Irlanda · Digital Strategy · 14 Reino Unido · 15 França · Stratégie du numérique · 16 Países Baixos · 17 Alemanha · DigitalPakt · 18 Itália · PNSD · 19 Finlândia · Currículo (2014)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Mainardes (2006): contexto de influência.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O QUE ESSAS EXPERIÊNCIAS TRAZEM PARA A 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0543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2A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43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Governança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Coordenar escalas faz parte da política (Alemanha, Finlândia, UE).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O que chega da União e do estado à rede, e o que a Secretaria repassa à escola?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4089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06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C9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06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Formação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06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A mediação dos profissionais é condição do uso; tempo e apoio contam.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06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Que formação chegou à escola, e quando?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59553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81470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4F7C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1470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Infraestrutura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470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Equalizar equipamentos não equalizou usos (Itália, Peru).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1470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Com que equipamentos se trabalha?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017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36934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8A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6934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Continuidade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36934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O Ceibal atravessou governos; a Argentina teve três reversões em quinze anos.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6934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Que continuidade a rede municipal teve?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70480" y="1402044"/>
            <a:ext cx="2072588" cy="4206134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397" y="1523961"/>
            <a:ext cx="1828754" cy="487667"/>
          </a:xfrm>
          <a:prstGeom prst="roundRect">
            <a:avLst>
              <a:gd name="adj" fmla="val 30000"/>
            </a:avLst>
          </a:prstGeom>
          <a:solidFill>
            <a:srgbClr val="D96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397" y="1523961"/>
            <a:ext cx="1828754" cy="487667"/>
          </a:xfrm>
          <a:prstGeom prst="rect">
            <a:avLst/>
          </a:prstGeom>
          <a:noFill/>
        </p:spPr>
        <p:txBody>
          <a:bodyPr wrap="square" lIns="30479" rIns="30479" tIns="30479" bIns="30479" anchor="ctr"/>
          <a:lstStyle/>
          <a:p>
            <a:pPr algn="ctr">
              <a:lnSpc>
                <a:spcPct val="100000"/>
              </a:lnSpc>
            </a:pPr>
            <a:r>
              <a:rPr sz="1266" b="1">
                <a:solidFill>
                  <a:srgbClr val="FFFFFF"/>
                </a:solidFill>
                <a:latin typeface="Arial"/>
              </a:rPr>
              <a:t>Cultura digital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397" y="2133546"/>
            <a:ext cx="1828754" cy="1828754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1A1A1A"/>
                </a:solidFill>
                <a:latin typeface="Arial"/>
              </a:rPr>
              <a:t>Educação digital ligada à cidadania e à proteção das crianças (França, BIK+).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397" y="3992780"/>
            <a:ext cx="1828754" cy="1523961"/>
          </a:xfrm>
          <a:prstGeom prst="rect">
            <a:avLst/>
          </a:prstGeom>
          <a:noFill/>
        </p:spPr>
        <p:txBody>
          <a:bodyPr wrap="square" lIns="12191" rIns="12191" tIns="12191" bIns="12191" anchor="t"/>
          <a:lstStyle/>
          <a:p>
            <a:pPr algn="l">
              <a:lnSpc>
                <a:spcPct val="115000"/>
              </a:lnSpc>
            </a:pPr>
            <a:r>
              <a:rPr sz="1199" b="1">
                <a:solidFill>
                  <a:srgbClr val="6C4FD8"/>
                </a:solidFill>
                <a:latin typeface="Arial"/>
              </a:rPr>
              <a:t>No campo: </a:t>
            </a:r>
            <a:r>
              <a:rPr sz="1199" b="0">
                <a:solidFill>
                  <a:srgbClr val="1A1A1A"/>
                </a:solidFill>
                <a:latin typeface="Arial"/>
              </a:rPr>
              <a:t>O que se faz com crianças de seis a dez anos?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26" y="5760575"/>
            <a:ext cx="11094442" cy="6095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01" y="5760575"/>
            <a:ext cx="10728691" cy="60958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Nenhuma experiência descreve Pipa. Fica a pergunta que nenhum caso responde: o que acontece quando parte das condições não chega?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A ANTIGA PIPA: TRABALHO, MORADIA E 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strução artesanal de embarcação (Figura 3)"/>
          <p:cNvPicPr>
            <a:picLocks noChangeAspect="1"/>
          </p:cNvPicPr>
          <p:nvPr/>
        </p:nvPicPr>
        <p:blipFill>
          <a:blip r:embed="rId3"/>
          <a:srcRect t="11896" b="11896"/>
          <a:stretch>
            <a:fillRect/>
          </a:stretch>
        </p:blipFill>
        <p:spPr>
          <a:xfrm>
            <a:off x="548626" y="1402044"/>
            <a:ext cx="3413674" cy="1889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3303949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Construção artesanal de embarcação (Figura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32984" y="1328894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mbarcações de pesca na enseada (Figura 7)"/>
          <p:cNvPicPr>
            <a:picLocks noChangeAspect="1"/>
          </p:cNvPicPr>
          <p:nvPr/>
        </p:nvPicPr>
        <p:blipFill>
          <a:blip r:embed="rId4"/>
          <a:srcRect t="8532" b="8532"/>
          <a:stretch>
            <a:fillRect/>
          </a:stretch>
        </p:blipFill>
        <p:spPr>
          <a:xfrm>
            <a:off x="4206134" y="1402044"/>
            <a:ext cx="3413674" cy="18897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134" y="3303949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Embarcações de pesca na enseada (Figura 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76" y="3858671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utirão para curral de pesca (Figura 9)"/>
          <p:cNvPicPr>
            <a:picLocks noChangeAspect="1"/>
          </p:cNvPicPr>
          <p:nvPr/>
        </p:nvPicPr>
        <p:blipFill>
          <a:blip r:embed="rId5"/>
          <a:srcRect t="15617" b="15617"/>
          <a:stretch>
            <a:fillRect/>
          </a:stretch>
        </p:blipFill>
        <p:spPr>
          <a:xfrm>
            <a:off x="548626" y="3931821"/>
            <a:ext cx="3413674" cy="1889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26" y="5833726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Mutirão para curral de pesca (Figura 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2984" y="3858671"/>
            <a:ext cx="3559974" cy="2523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 cruzeiro na falésia (Figura 10)"/>
          <p:cNvPicPr>
            <a:picLocks noChangeAspect="1"/>
          </p:cNvPicPr>
          <p:nvPr/>
        </p:nvPicPr>
        <p:blipFill>
          <a:blip r:embed="rId6"/>
          <a:srcRect t="8482" b="8482"/>
          <a:stretch>
            <a:fillRect/>
          </a:stretch>
        </p:blipFill>
        <p:spPr>
          <a:xfrm>
            <a:off x="4206134" y="3931821"/>
            <a:ext cx="3413674" cy="18897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134" y="5833726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O cruzeiro na falésia (Figura 10)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643" y="1328894"/>
            <a:ext cx="3779425" cy="490715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518" y="1432524"/>
            <a:ext cx="3413674" cy="469380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O que as imagens registram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Trabalho, moradia e atividade marítima articulados no mesmo território.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Um saber aprendido no próprio fazer, em trabalho coletivo, como no mutirão.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399" b="0">
                <a:solidFill>
                  <a:srgbClr val="1A1A1A"/>
                </a:solidFill>
                <a:latin typeface="Arial"/>
              </a:rPr>
              <a:t>Com Santos, a paisagem guarda as marcas dos meios de trabalho de cada tempo.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Com Massey, evitamos congelar a vila de pescadores num passado idealizado.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(2006); Massey (2008). Fonte das imagens: Museu Digital de Pipa / acervo da pesquisa (2026).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AS TRANSFORMAÇÕES: DE VILA A POLO TURÍSTICO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rbanização da orla (Figura 11)"/>
          <p:cNvPicPr>
            <a:picLocks noChangeAspect="1"/>
          </p:cNvPicPr>
          <p:nvPr/>
        </p:nvPicPr>
        <p:blipFill>
          <a:blip r:embed="rId3"/>
          <a:srcRect t="3192" b="3192"/>
          <a:stretch>
            <a:fillRect/>
          </a:stretch>
        </p:blipFill>
        <p:spPr>
          <a:xfrm>
            <a:off x="548626" y="1402044"/>
            <a:ext cx="3413674" cy="21945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Urbanização da orla (Figura 11)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4422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rfistas e pranchas, abril de 1991 (Figura 12)"/>
          <p:cNvPicPr>
            <a:picLocks noChangeAspect="1"/>
          </p:cNvPicPr>
          <p:nvPr/>
        </p:nvPicPr>
        <p:blipFill>
          <a:blip r:embed="rId4"/>
          <a:srcRect t="9420" b="9420"/>
          <a:stretch>
            <a:fillRect/>
          </a:stretch>
        </p:blipFill>
        <p:spPr>
          <a:xfrm>
            <a:off x="4297572" y="1402044"/>
            <a:ext cx="3413674" cy="21945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572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Surfistas e pranchas, abril de 1991 (Figura 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368" y="132889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ércio e transporte na vila (Figura 13)"/>
          <p:cNvPicPr>
            <a:picLocks noChangeAspect="1"/>
          </p:cNvPicPr>
          <p:nvPr/>
        </p:nvPicPr>
        <p:blipFill>
          <a:blip r:embed="rId5"/>
          <a:srcRect t="1678" b="1678"/>
          <a:stretch>
            <a:fillRect/>
          </a:stretch>
        </p:blipFill>
        <p:spPr>
          <a:xfrm>
            <a:off x="8046518" y="1402044"/>
            <a:ext cx="3413674" cy="21945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46518" y="360874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Comércio e transporte na vila (Figura 13)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2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4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a) </a:t>
            </a:r>
            <a:r>
              <a:rPr sz="1266" b="0">
                <a:solidFill>
                  <a:srgbClr val="1A1A1A"/>
                </a:solidFill>
                <a:latin typeface="Arial"/>
              </a:rPr>
              <a:t>turismo associado ao surfe, a partir dos anos 1990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271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63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b) </a:t>
            </a:r>
            <a:r>
              <a:rPr sz="1266" b="0">
                <a:solidFill>
                  <a:srgbClr val="1A1A1A"/>
                </a:solidFill>
                <a:latin typeface="Arial"/>
              </a:rPr>
              <a:t>investimentos imobiliários nacionais e estrangeiros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6806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3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c) </a:t>
            </a:r>
            <a:r>
              <a:rPr sz="1266" b="0">
                <a:solidFill>
                  <a:srgbClr val="1A1A1A"/>
                </a:solidFill>
                <a:latin typeface="Arial"/>
              </a:rPr>
              <a:t>migração de trabalhadores para o setor de serviços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0895" y="4297572"/>
            <a:ext cx="2621214" cy="1066773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2812" y="4328051"/>
            <a:ext cx="2377380" cy="100581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266" b="1">
                <a:solidFill>
                  <a:srgbClr val="6C4FD8"/>
                </a:solidFill>
                <a:latin typeface="Arial"/>
              </a:rPr>
              <a:t>d) </a:t>
            </a:r>
            <a:r>
              <a:rPr sz="1266" b="0">
                <a:solidFill>
                  <a:srgbClr val="1A1A1A"/>
                </a:solidFill>
                <a:latin typeface="Arial"/>
              </a:rPr>
              <a:t>mais recentemente, o trabalho remoto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26" y="5455783"/>
            <a:ext cx="11094442" cy="731501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A Pipa contemporânea resulta da sobreposição de trajetórias: os novos usos dividem o território com os antigos, sem apagá-los.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Castells (2013); Bauman (1999); Massey (2008). Fonte: Museu Digital de Pipa / acervo da pesquisa (2026).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066" b="1">
                <a:solidFill>
                  <a:srgbClr val="FFFFFF"/>
                </a:solidFill>
                <a:latin typeface="Arial"/>
              </a:rPr>
              <a:t>A PIPA DE HOJE: O ANTIGO E O CONECTADO JUNTOS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2523680" cy="42914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usadas junto às falésias (Figura 19)"/>
          <p:cNvPicPr>
            <a:picLocks noChangeAspect="1"/>
          </p:cNvPicPr>
          <p:nvPr/>
        </p:nvPicPr>
        <p:blipFill>
          <a:blip r:embed="rId3"/>
          <a:srcRect t="6622" b="6622"/>
          <a:stretch>
            <a:fillRect/>
          </a:stretch>
        </p:blipFill>
        <p:spPr>
          <a:xfrm>
            <a:off x="548626" y="1402044"/>
            <a:ext cx="2377380" cy="36575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5071745"/>
            <a:ext cx="2377380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Pousadas junto às falésias (Figura 19)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7649" y="1328894"/>
            <a:ext cx="4413393" cy="42914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sseios na baía (Figura 20)"/>
          <p:cNvPicPr>
            <a:picLocks noChangeAspect="1"/>
          </p:cNvPicPr>
          <p:nvPr/>
        </p:nvPicPr>
        <p:blipFill>
          <a:blip r:embed="rId4"/>
          <a:srcRect l="6977" r="6977"/>
          <a:stretch>
            <a:fillRect/>
          </a:stretch>
        </p:blipFill>
        <p:spPr>
          <a:xfrm>
            <a:off x="3230799" y="1402044"/>
            <a:ext cx="4267093" cy="3657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30799" y="5071745"/>
            <a:ext cx="4267093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Passeios na baía (Figura 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9534" y="1328894"/>
            <a:ext cx="1975054" cy="42914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escador em Pipa (Figura 21)"/>
          <p:cNvPicPr>
            <a:picLocks noChangeAspect="1"/>
          </p:cNvPicPr>
          <p:nvPr/>
        </p:nvPicPr>
        <p:blipFill>
          <a:blip r:embed="rId5"/>
          <a:srcRect l="6263" r="6263"/>
          <a:stretch>
            <a:fillRect/>
          </a:stretch>
        </p:blipFill>
        <p:spPr>
          <a:xfrm>
            <a:off x="7802684" y="1402044"/>
            <a:ext cx="1828754" cy="36575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2684" y="5071745"/>
            <a:ext cx="182875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Pescador em Pipa (Figura 21)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36231" y="1328894"/>
            <a:ext cx="1706837" cy="426099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27669" y="1402044"/>
            <a:ext cx="1523961" cy="41146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O digital atravessa o turismo, de reservas a pagamentos, enquanto a pesca segue no mesmo mar.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" y="5943451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(1999): território usado; Massey (2008): lugar como encontro de trajetórias. Fonte: acervo da pesquisa (2026).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A ESCOLA NÃO SE RESUME AO QUE FALTA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3559974" cy="27675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chada da escola (Figura 22)"/>
          <p:cNvPicPr>
            <a:picLocks noChangeAspect="1"/>
          </p:cNvPicPr>
          <p:nvPr/>
        </p:nvPicPr>
        <p:blipFill>
          <a:blip r:embed="rId3"/>
          <a:srcRect l="5000" r="5000"/>
          <a:stretch>
            <a:fillRect/>
          </a:stretch>
        </p:blipFill>
        <p:spPr>
          <a:xfrm>
            <a:off x="548626" y="1402044"/>
            <a:ext cx="3413674" cy="21335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3547783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Fachada da escola (Figura 22)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76" y="4206134"/>
            <a:ext cx="3559974" cy="201162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584" y="4267093"/>
            <a:ext cx="3291757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Acessibilidade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Piso tátil na entrada e nos percursos, com circulação coberta até as salas.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422" y="1328894"/>
            <a:ext cx="3559974" cy="27675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rque infantil (Figura 24)"/>
          <p:cNvPicPr>
            <a:picLocks noChangeAspect="1"/>
          </p:cNvPicPr>
          <p:nvPr/>
        </p:nvPicPr>
        <p:blipFill>
          <a:blip r:embed="rId4"/>
          <a:srcRect t="32422" b="32422"/>
          <a:stretch>
            <a:fillRect/>
          </a:stretch>
        </p:blipFill>
        <p:spPr>
          <a:xfrm>
            <a:off x="4297572" y="1402044"/>
            <a:ext cx="3413674" cy="21335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572" y="3547783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Parque infantil (Figura 24)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422" y="4206134"/>
            <a:ext cx="3559974" cy="201162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531" y="4267093"/>
            <a:ext cx="3291757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A mata como espaço das crianças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O parque fica dentro da restinga: convivência e brincadeira que não dependem de tecnologia.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368" y="1328894"/>
            <a:ext cx="3559974" cy="27675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 restinga dentro da escola (Figura 26)"/>
          <p:cNvPicPr>
            <a:picLocks noChangeAspect="1"/>
          </p:cNvPicPr>
          <p:nvPr/>
        </p:nvPicPr>
        <p:blipFill>
          <a:blip r:embed="rId5"/>
          <a:srcRect l="4921" r="4921"/>
          <a:stretch>
            <a:fillRect/>
          </a:stretch>
        </p:blipFill>
        <p:spPr>
          <a:xfrm>
            <a:off x="8046518" y="1402044"/>
            <a:ext cx="3413674" cy="213354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518" y="3547783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A restinga dentro da escola (Figura 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368" y="4206134"/>
            <a:ext cx="3559974" cy="201162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7477" y="4267093"/>
            <a:ext cx="3291757" cy="1889712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399" b="1">
                <a:solidFill>
                  <a:srgbClr val="1A1A1A"/>
                </a:solidFill>
                <a:latin typeface="Arial"/>
              </a:rPr>
              <a:t>Espaços coletivos</a:t>
            </a:r>
          </a:p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Pátio e refeitório usados em festas como a junina; coleta seletiva no corredor.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Massey (2008): lugar; Santos (2006): sistemas de objetos e de ações. Fonte: acervo da pesquisa (2026).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A ESCOLA E A EDUCAÇÃO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boratório de informática (Figura 25)"/>
          <p:cNvPicPr>
            <a:picLocks noChangeAspect="1"/>
          </p:cNvPicPr>
          <p:nvPr/>
        </p:nvPicPr>
        <p:blipFill>
          <a:blip r:embed="rId3"/>
          <a:srcRect l="6250" r="6250"/>
          <a:stretch>
            <a:fillRect/>
          </a:stretch>
        </p:blipFill>
        <p:spPr>
          <a:xfrm>
            <a:off x="548626" y="1432524"/>
            <a:ext cx="3413674" cy="21945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Laboratório de informática (Figura 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76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584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Montado pela Prefeitura em 2022 e com uso pedagógico a verificar nos documentos (informação preliminar).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422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la dos anos iniciais (Figura 34)"/>
          <p:cNvPicPr>
            <a:picLocks noChangeAspect="1"/>
          </p:cNvPicPr>
          <p:nvPr/>
        </p:nvPicPr>
        <p:blipFill>
          <a:blip r:embed="rId4"/>
          <a:srcRect l="6250" r="6250"/>
          <a:stretch>
            <a:fillRect/>
          </a:stretch>
        </p:blipFill>
        <p:spPr>
          <a:xfrm>
            <a:off x="4297572" y="1432524"/>
            <a:ext cx="3413674" cy="21945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572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Sala dos anos iniciais (Figura 34)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422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531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Nas salas de 1º e 2º anos registradas, nenhum dispositivo digital.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368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lfabeto móvel feito à mão (Figura 37)"/>
          <p:cNvPicPr>
            <a:picLocks noChangeAspect="1"/>
          </p:cNvPicPr>
          <p:nvPr/>
        </p:nvPicPr>
        <p:blipFill>
          <a:blip r:embed="rId5"/>
          <a:srcRect l="6250" r="6250"/>
          <a:stretch>
            <a:fillRect/>
          </a:stretch>
        </p:blipFill>
        <p:spPr>
          <a:xfrm>
            <a:off x="8046518" y="1432524"/>
            <a:ext cx="3413674" cy="219450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518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Alfabeto móvel feito à mão (Figura 37)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368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7477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Predominam recursos impressos e artesanais.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Ball, Maguire e Braun (2016): dimensão material; Santos (2012): rugosidade.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RUGOSIDADE: PERDA OU AUSÊNCIA?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1249648"/>
            <a:ext cx="11094442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“As rugosidades – formas remanescentes dos períodos anteriores – devem ser levadas em conta quando uma sociedade procura impor novas funções” </a:t>
            </a:r>
            <a:r>
              <a:rPr sz="1466" b="1">
                <a:solidFill>
                  <a:srgbClr val="FFFFFF"/>
                </a:solidFill>
                <a:latin typeface="Arial"/>
              </a:rPr>
              <a:t>(SANTOS, 2012, p. 75).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255463"/>
            <a:ext cx="3535591" cy="280408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2377380"/>
            <a:ext cx="3169840" cy="256025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Rugosidade por perda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A forma sobrevive a uma função que existiu e depois cessou.</a:t>
            </a:r>
          </a:p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Pede atualizar ou substituir o equipamento.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051" y="2255463"/>
            <a:ext cx="3535591" cy="2804089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0927" y="2377380"/>
            <a:ext cx="3169840" cy="256025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1">
                <a:solidFill>
                  <a:srgbClr val="6C4FD8"/>
                </a:solidFill>
                <a:latin typeface="Arial"/>
              </a:rPr>
              <a:t>Rugosidade por ausência</a:t>
            </a:r>
          </a:p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466" b="0">
                <a:solidFill>
                  <a:srgbClr val="1A1A1A"/>
                </a:solidFill>
                <a:latin typeface="Arial"/>
              </a:rPr>
              <a:t>A forma é instalada sem o sistema de ações que lhe daria função.</a:t>
            </a:r>
          </a:p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Pede formação, suporte técnico e tempo de planejamento.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285" y="2182313"/>
            <a:ext cx="3620933" cy="295039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boratório de informática (Figura 25)"/>
          <p:cNvPicPr>
            <a:picLocks noChangeAspect="1"/>
          </p:cNvPicPr>
          <p:nvPr/>
        </p:nvPicPr>
        <p:blipFill>
          <a:blip r:embed="rId3"/>
          <a:srcRect l="7812" r="7812"/>
          <a:stretch>
            <a:fillRect/>
          </a:stretch>
        </p:blipFill>
        <p:spPr>
          <a:xfrm>
            <a:off x="8168435" y="2255463"/>
            <a:ext cx="3474633" cy="23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68435" y="4584077"/>
            <a:ext cx="3474633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Laboratório de informática (Figura 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333866"/>
            <a:ext cx="11094442" cy="883897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5333866"/>
            <a:ext cx="10606774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0">
                <a:solidFill>
                  <a:srgbClr val="1A1A1A"/>
                </a:solidFill>
                <a:latin typeface="Arial"/>
              </a:rPr>
              <a:t>Qual das duas é o laboratório montado em 2022 (informação preliminar)? Se faltar manutenção, terá sido perda em pouco tempo. As narrativas dirão.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" y="640063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(2012): rugosidades; Santos (2006): sistemas de objetos e de ações.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TERRITÓRIO ATRAVESSA A 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Introdução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Na questão e no ineditismo analítico-espacial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572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447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2 · RSL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Só contraste entre países; nenhuma rede pequena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518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394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4 · Método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Dimensão situacional, registro iconográfico, entrevistas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5 · Lei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Prioridade aos vulneráveis e meios por conta de cada 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572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447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1A1A1A"/>
                </a:solidFill>
                <a:latin typeface="Arial"/>
              </a:rPr>
              <a:t>Cap. 6 · Território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Condições documentadas, habitar o digital, rugosidade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518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4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1A1A1A"/>
                </a:solidFill>
                <a:latin typeface="Arial"/>
              </a:rPr>
              <a:t>Cap. 7 · Narrativas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Os quatro objetivos lidos em relação ao lugar</a:t>
            </a:r>
          </a:p>
        </p:txBody>
      </p:sp>
      <p:pic>
        <p:nvPicPr>
          <p:cNvPr id="16" name="Picture 15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484" y="182875"/>
            <a:ext cx="914377" cy="117779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26" y="6156806"/>
            <a:ext cx="11094442" cy="48766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Pipa é parte constitutiva do contexto da prática, da pergunta às considerações finais.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ONDE ESTAMOS E O QUE FALTA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1">
                <a:solidFill>
                  <a:srgbClr val="1A1A1A"/>
                </a:solidFill>
                <a:latin typeface="Arial"/>
              </a:rPr>
              <a:t>FEITO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Projeto reformulado e capítulos 1, 2, 4, 5 e 6 alinhados a ele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Revisão sistemática concluída (9 estudos)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Registro iconográfico e acervo histórico (Cap. 6)</a:t>
            </a:r>
          </a:p>
          <a:p>
            <a:pPr algn="l">
              <a:lnSpc>
                <a:spcPct val="115000"/>
              </a:lnSpc>
            </a:pPr>
            <a:r>
              <a:rPr sz="1866" b="0">
                <a:solidFill>
                  <a:srgbClr val="1A1A1A"/>
                </a:solidFill>
                <a:latin typeface="Arial"/>
              </a:rPr>
              <a:t>Capítulo 3 em construção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73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6C4FD8"/>
                </a:solidFill>
                <a:latin typeface="Arial"/>
              </a:rPr>
              <a:t>ANTES DO CAMPO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Emenda ao CEP com questionário e roteiro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Critérios de leitura datados antes da 1ª entrevista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Análise documental: aquisição, PIEC, Censo, formação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Receita e gasto em educação do município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Testes de velocidade da conexão nas salas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Número de turmas e de crianças do 1º ao 5º 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Yin (2001); Resoluções CNS nº 466/2012 e 510/2016.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REFERÊNCIAS PRINCIPAIS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341086"/>
            <a:ext cx="11094442" cy="5242428"/>
          </a:xfrm>
          <a:prstGeom prst="roundRect">
            <a:avLst>
              <a:gd name="adj" fmla="val 3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 Reformar escolas/reformar professores e os terrores da performatividade. Revista Portuguesa de Educação, v. 15, n. 2, p. 3-23, 2002.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 Performatividade, privatização e o pós-Estado do bem-estar. Educação &amp; Sociedade, v. 25, n. 89, p. 1105-1126, 2004.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J.; MAGUIRE, M.; BRAUN, A. Como as escolas fazem as políticas: atuação em escolas secundárias. Ponta Grossa: UEPG, 2016.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BOWE, R.; BALL, S. J.; GOLD, A. Reforming education and changing schools. London: Routledge, 1992.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BRASIL. Lei nº 14.533, de 11 de janeiro de 2023. Institui a Política Nacional de Educação Digital. Brasília, DF, 2023.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BRAUN, V.; CLARKE, V. Using thematic analysis in psychology. Qualitative Research in Psychology, v. 3, n. 2, p. 77-101,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DI FELICE, M. Paisagens pós-urbanas: o fim da experiência urbana e as formas comunicativas do habitar. São Paulo: Annablume, 2009.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HARGREAVES, A. Profesorado, cultura y postmodernidad. 5. ed. Madrid: Morata, 2005.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6806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MAINARDES, J. Abordagem do ciclo de políticas. Educação &amp; Sociedade, v. 27, n. 94, p. 47-69,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MASSEY, D. Pelo espaço: uma nova política da espacialidade. Rio de Janeiro: Bertrand Brasil, 2008.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MINAYO, M. C. S. (org.). Pesquisa social: teoria, método e criatividade. 28. ed. Petrópolis: Vozes, 2009.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ONU. Comitê dos Direitos da Criança. Comentário Geral nº 25 (2021). Genebra: ONU, 2021.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O território e o saber local: algumas categorias de análise. Cadernos IPPUR, ano 13, n. 2, p. 15-26, 1999.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A natureza do espaço: técnica e tempo, razão e emoção. 4. ed. São Paulo: Edusp,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SCHLEMMER, E. et al. (org.). O habitar do ensinar e do aprender OnLIFE. São Leopoldo: Casa Leiria, 2021.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YIN, R. K. Estudo de caso: planejamento e métodos. 2. ed. Porto Alegre: Bookman, 2001.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304792"/>
            <a:ext cx="1950671" cy="2060168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1982" y="4023259"/>
            <a:ext cx="1584920" cy="2163610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901342"/>
            <a:ext cx="2072588" cy="24556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38339" y="487667"/>
            <a:ext cx="7315017" cy="146300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5599" b="1">
                <a:solidFill>
                  <a:srgbClr val="FFFFFF"/>
                </a:solidFill>
                <a:latin typeface="Arial"/>
              </a:rPr>
              <a:t>MUITO OBRIGADA!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255" y="2194505"/>
            <a:ext cx="7071183" cy="280408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2316422"/>
            <a:ext cx="6583515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questão que fica aberta para o campo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Quando a política não faz chegar o equipamento nem a formação, quem paga, no cotidiano da escola, o preço dessa ausência? E o que isso significa para os direitos que a lei prometeu às crianças?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8339" y="5303387"/>
            <a:ext cx="7315017" cy="97533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5000"/>
              </a:lnSpc>
              <a:spcAft>
                <a:spcPts val="266"/>
              </a:spcAft>
            </a:pPr>
            <a:r>
              <a:rPr sz="1466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