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78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Boa tarde a todas e a todos. Agradeço à banca pela leitura e à minha orientadora, professora Maria Cristina, pelo acompanhamento. Apresento hoje a tese A encenação da Política Nacional de Educação Digital em Pipa, que investiga como uma política nacional ganha forma numa escola situada, a partir de quem trabalha nela, das condições que ela tem e do território em que está.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apresentação segue cinco momentos. Começo pela proposta da tese: problema, objeto, questão, objetivos, referencial e tese de partida. Depois mostro o que a revisão sistemática encontrou, como a política será escutada no campo, o que o texto da lei revela e, por fim, o território, a escola e os próximos passos.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Parto de um lugar que precisa ser dito. Convivo com Pipa há quase duas décadas e trabalho há dezoito anos na rede municipal de Tibau do Sul. No mestrado, nesta mesma escola, acompanhei o ensino remoto, quando setenta por cento das crianças da turma dividiam o celular com adultos. A tese, porém, tem objeto, pergunta e desenho próprios. Minha trajetória orienta o olhar e não entra como dado; por isso ela é registrada e examinada ao longo da análise.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problema nasce de uma distância. A lei fez da educação digital um direito, um dever do Estado e um componente curricular, com implementação obrigatória a partir de 2026. Na sala, porém, encontramos turmas dos anos iniciais sem tela, um laboratório cujo uso ainda precisa ser verificado e uma formação que a lei prevê apenas como promoção. É nessa distância que os profissionais precisam encenar a política.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objeto é a encenação da PNED, em seu eixo Educação Digital Escolar, pelos profissionais da educação do primeiro ao quinto ano da Escola Municipal Domitila Castelo. Escuto docentes, coordenação, direção e demais profissionais, porque todos constroem a política. A questão foi formulada para manter o resultado em aberto: queremos saber como encenam e recontextualizam a PNED e como culturas profissionais, condições da escola e território atravessam esse processo.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objetivo geral é analisar essa encenação considerando a política, as culturas profissionais, as condições materiais e institucionais e o território. Os quatro objetivos específicos seguem o caminho da própria política até as crianças: como ela é lida, como é traduzida nas condições da escola e do lugar, que formas de atuação os profissionais produzem e que implicações isso tem para a provisão, a proteção e a participação das crianças no ambiente digital.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referencial foi composto para acompanhar esse caminho. A Abordagem do Ciclo de Políticas mostra que a política é recriada no contexto da prática. A teoria da atuação de Ball, Maguire e Braun traz as dimensões do contexto. Hargreaves ajuda a ler as culturas profissionais; Ball, a performatividade. Santos e Massey permitem inscrever o território na análise, e o Comentário Geral número 25 organiza a leitura dos direitos das crianças. Todas essas noções funcionam como lentes de leitura.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Habitar o digital é uma formulação desta tese. Ela parte do habitar como experiência relacional, em Schlemmer e colaboradores, passa pelo habitar atópico de Di Felice e encontra a distribuição desigual dos objetos técnicos, em Santos, e o lugar como encontro de trajetórias, em Massey. Em Pipa, a expressão nomeia a convivência de alta densidade tecnológica nos circuitos do turismo com poucas telas nos espaços pedagógicos da escola.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ineditismo tem três dimensões. A empírico-temporal: a pesquisa acompanha a PNED no momento em que o componente se torna obrigatório, e nenhum estudo da revisão trata dela ou de rede municipal de pequeno porte. A analítico-espacial: Pipa entra como parte do contexto da prática. A teórico-conceitual: a articulação entre teoria da atuação, culturas profissionais, dimensão material e território, com a noção de habitar o digital.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tese de partida é que a PNED chega à escola como orientação a ser lida e interpretada, e que a forma que ela assume no cotidiano resulta da relação entre o que prescreve e as condições em que os profissionais atuam. Nenhuma forma de atuação é pressuposta. A pergunta que move a pesquisa é o que acontece com uma política de educação digital quando encontra uma escola, seus profissionais, suas condições e um território específico.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revisão sistemática seguiu o PRISMA 2020 em sete bases. Dos 176 registros, chegamos a nove estudos. Eles mostram que a política depende da articulação entre recursos, condições institucionais e trabalho interpretativo dos profissionais. Mostram também as lacunas: nenhum examina a PNED, apenas um delimita o ciclo de alfabetização, nenhum trata de rede municipal pequena, e o território aparece só como contraste entre países.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desenho é um estudo de caso único, qualitativo. Os dados serão construídos em cinco movimentos: a análise documental, o registro iconográfico, já realizado, o questionário de perfil e percepções, as entrevistas semiestruturadas e a análise temática reflexiva com triangulação e devolutiva à escola. Um técnico da Secretaria Municipal de Educação será ouvido como fonte complementar sobre o contexto externo.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 formas de atuação que podem aparecer vão da adesão à resistência, passando por acomodação, adaptação, omissão seletiva, negociação e ressignificação. Nenhuma é pressuposta. Para que uma forma vire achado, ela precisa aparecer de modo recorrente e sem indução pela pergunta. Quando não há alternativa, o que se vê é custo transferido ao trabalhador, e assim será nomeado. As categorias não serão ditas aos participantes.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leitura da lei mostra o que chamamos de vazio material. A PNED se define como instância de articulação, condiciona a inclusão digital aos limites orçamentários de cada ente, não cria fundo próprio nem repasse obrigatório aos municípios e trata a formação como promoção. Para a tese, esse texto delimita o espaço de interpretação, as condições que podem faltar, as situações em que surgem formas de atuação e as promessas feitas às crianças.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Pipa foi vila de pescadores e se tornou destino turístico internacional. Hoje o digital atravessa o turismo, das reservas aos pagamentos, enquanto a pesca segue no mesmo mar. As imagens mostram a convivência de tempos e usos diferentes no mesmo território, que é o lugar onde a política desembarca.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 escola, o registro iconográfico documentou um laboratório que, segundo informações ainda preliminares, foi montado pela Prefeitura em 2022, salas de primeiro e segundo ano sem nenhum dispositivo digital e recursos impressos e artesanais, como o alfabeto móvel feito à mão. As fotografias mostram condições materiais; o que os profissionais fazem com elas, somente as narrativas poderão mostrar.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território atravessa toda a tese. Está na questão e no ineditismo, aparece como lacuna na revisão, entra no método como dimensão situacional, aparece pelo avesso na lei, que deixa os meios por conta de cada ente, é documentado no capítulo seis e será lido em relação aos quatro objetivos no capítulo sete.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Até aqui, o projeto foi reformulado e os capítulos um, dois, quatro, cinco e seis foram alinhados a ele; a revisão sistemática e o registro iconográfico estão concluídos, e o capítulo três está em construção. Antes do campo, falta aprovar a emenda no Comitê de Ética, datar os critérios de leitura, fazer a análise documental, reunir os dados fiscais do município e realizar os testes de conexão.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Estas são as referências principais mobilizadas na apresentação. A lista completa está nos capítulos.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Encerro com a pergunta que fica aberta para o campo: quando a política não faz chegar o equipamento nem a formação, quem paga, no cotidiano da escola, o preço dessa ausência? E o que isso significa para os direitos prometidos às crianças? Agradeço a atenção e fico à disposição da banca.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jp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Relationship Id="rId4" Type="http://schemas.openxmlformats.org/officeDocument/2006/relationships/image" Target="../media/image10.jp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jp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6.jp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8.jpg"/><Relationship Id="rId4" Type="http://schemas.openxmlformats.org/officeDocument/2006/relationships/image" Target="../media/image19.jpg"/><Relationship Id="rId5" Type="http://schemas.openxmlformats.org/officeDocument/2006/relationships/image" Target="../media/image10.jpg"/><Relationship Id="rId6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0.png"/><Relationship Id="rId4" Type="http://schemas.openxmlformats.org/officeDocument/2006/relationships/image" Target="../media/image11.png"/><Relationship Id="rId5" Type="http://schemas.openxmlformats.org/officeDocument/2006/relationships/image" Target="../media/image21.png"/><Relationship Id="rId6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Ilustração decorativ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792" y="243833"/>
            <a:ext cx="2194505" cy="1996999"/>
          </a:xfrm>
          <a:prstGeom prst="rect">
            <a:avLst/>
          </a:prstGeom>
        </p:spPr>
      </p:pic>
      <p:pic>
        <p:nvPicPr>
          <p:cNvPr id="4" name="Picture 3" descr="Ilustração decorativa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50" y="4389010"/>
            <a:ext cx="1828754" cy="2355597"/>
          </a:xfrm>
          <a:prstGeom prst="rect">
            <a:avLst/>
          </a:prstGeom>
        </p:spPr>
      </p:pic>
      <p:pic>
        <p:nvPicPr>
          <p:cNvPr id="5" name="Picture 4" descr="Ilustração decorativa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148" y="304792"/>
            <a:ext cx="1828754" cy="1931407"/>
          </a:xfrm>
          <a:prstGeom prst="rect">
            <a:avLst/>
          </a:prstGeom>
        </p:spPr>
      </p:pic>
      <p:pic>
        <p:nvPicPr>
          <p:cNvPr id="6" name="Picture 5" descr="Ilustração decorativa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36231" y="3901342"/>
            <a:ext cx="2072588" cy="231348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194505" y="914377"/>
            <a:ext cx="7802684" cy="2560255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866" b="1">
                <a:solidFill>
                  <a:srgbClr val="FFFFFF"/>
                </a:solidFill>
                <a:latin typeface="Arial"/>
              </a:rPr>
              <a:t>A ENCENAÇÃO DA POLÍTICA NACIONAL DE EDUCAÇÃO DIGITAL EM PIPA/RN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38339" y="3627029"/>
            <a:ext cx="7315017" cy="822939"/>
          </a:xfrm>
          <a:prstGeom prst="roundRect">
            <a:avLst>
              <a:gd name="adj" fmla="val 25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38339" y="3627029"/>
            <a:ext cx="7315017" cy="822939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1866" b="1">
                <a:solidFill>
                  <a:srgbClr val="1A1A1A"/>
                </a:solidFill>
                <a:latin typeface="Arial"/>
              </a:rPr>
              <a:t>Culturas profissionais, território e resistências no contexto da prática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33546" y="4724281"/>
            <a:ext cx="7924601" cy="1463003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ctr">
              <a:lnSpc>
                <a:spcPct val="110000"/>
              </a:lnSpc>
              <a:spcAft>
                <a:spcPts val="266"/>
              </a:spcAft>
            </a:pPr>
            <a:r>
              <a:rPr sz="1599" b="1">
                <a:solidFill>
                  <a:srgbClr val="FFFFFF"/>
                </a:solidFill>
                <a:latin typeface="Arial"/>
              </a:rPr>
              <a:t>Yzynya Silva Rezende Machado</a:t>
            </a:r>
          </a:p>
          <a:p>
            <a:pPr algn="ctr">
              <a:lnSpc>
                <a:spcPct val="110000"/>
              </a:lnSpc>
              <a:spcAft>
                <a:spcPts val="266"/>
              </a:spcAft>
            </a:pPr>
            <a:r>
              <a:rPr sz="1599" b="0">
                <a:solidFill>
                  <a:srgbClr val="FFFFFF"/>
                </a:solidFill>
                <a:latin typeface="Arial"/>
              </a:rPr>
              <a:t>Orientadora: Profa. Dra. Maria Cristina Leandro de Paiva</a:t>
            </a:r>
          </a:p>
          <a:p>
            <a:pPr algn="ctr">
              <a:lnSpc>
                <a:spcPct val="110000"/>
              </a:lnSpc>
            </a:pPr>
            <a:r>
              <a:rPr sz="1599" b="0">
                <a:solidFill>
                  <a:srgbClr val="FFFFFF"/>
                </a:solidFill>
                <a:latin typeface="Arial"/>
              </a:rPr>
              <a:t>Qualificação de doutorado · PPGEd/UFRN · Natal,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584" y="365750"/>
            <a:ext cx="10972525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999" b="1">
                <a:solidFill>
                  <a:srgbClr val="FFFFFF"/>
                </a:solidFill>
                <a:latin typeface="Arial"/>
              </a:rPr>
              <a:t>PERCURSO DA APRESENTAÇÃO</a:t>
            </a:r>
          </a:p>
        </p:txBody>
      </p:sp>
      <p:pic>
        <p:nvPicPr>
          <p:cNvPr id="4" name="Picture 3" descr="Ilustração decorativ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50" y="243833"/>
            <a:ext cx="853418" cy="1383698"/>
          </a:xfrm>
          <a:prstGeom prst="rect">
            <a:avLst/>
          </a:prstGeom>
        </p:spPr>
      </p:pic>
      <p:pic>
        <p:nvPicPr>
          <p:cNvPr id="5" name="Picture 4" descr="Ilustração decorativ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11567" y="182875"/>
            <a:ext cx="975335" cy="108829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92460" y="1828754"/>
            <a:ext cx="3230799" cy="1645878"/>
          </a:xfrm>
          <a:prstGeom prst="roundRect">
            <a:avLst>
              <a:gd name="adj" fmla="val 10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5335" y="1950671"/>
            <a:ext cx="609584" cy="6095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733" b="1">
                <a:solidFill>
                  <a:srgbClr val="6C4FD8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5335" y="2499297"/>
            <a:ext cx="2865048" cy="91437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1933" b="1">
                <a:solidFill>
                  <a:srgbClr val="1A1A1A"/>
                </a:solidFill>
                <a:latin typeface="Arial"/>
              </a:rPr>
              <a:t>A proposta da tese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447" y="1828754"/>
            <a:ext cx="3230799" cy="1645878"/>
          </a:xfrm>
          <a:prstGeom prst="roundRect">
            <a:avLst>
              <a:gd name="adj" fmla="val 10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323" y="1950671"/>
            <a:ext cx="609584" cy="6095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733" b="1">
                <a:solidFill>
                  <a:srgbClr val="6C4FD8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323" y="2499297"/>
            <a:ext cx="2865048" cy="91437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1933" b="1">
                <a:solidFill>
                  <a:srgbClr val="1A1A1A"/>
                </a:solidFill>
                <a:latin typeface="Arial"/>
              </a:rPr>
              <a:t>O que a literatura mostra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68435" y="1828754"/>
            <a:ext cx="3230799" cy="1645878"/>
          </a:xfrm>
          <a:prstGeom prst="roundRect">
            <a:avLst>
              <a:gd name="adj" fmla="val 10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51311" y="1950671"/>
            <a:ext cx="609584" cy="6095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733" b="1">
                <a:solidFill>
                  <a:srgbClr val="6C4FD8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1311" y="2499297"/>
            <a:ext cx="2865048" cy="91437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1933" b="1">
                <a:solidFill>
                  <a:srgbClr val="1A1A1A"/>
                </a:solidFill>
                <a:latin typeface="Arial"/>
              </a:rPr>
              <a:t>Como a política será escutada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21214" y="4023259"/>
            <a:ext cx="3230799" cy="1645878"/>
          </a:xfrm>
          <a:prstGeom prst="roundRect">
            <a:avLst>
              <a:gd name="adj" fmla="val 10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04089" y="4145176"/>
            <a:ext cx="609584" cy="6095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733" b="1">
                <a:solidFill>
                  <a:srgbClr val="6C4FD8"/>
                </a:solidFill>
                <a:latin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04089" y="4693802"/>
            <a:ext cx="2865048" cy="91437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1933" b="1">
                <a:solidFill>
                  <a:srgbClr val="1A1A1A"/>
                </a:solidFill>
                <a:latin typeface="Arial"/>
              </a:rPr>
              <a:t>O texto da política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39681" y="4023259"/>
            <a:ext cx="3230799" cy="1645878"/>
          </a:xfrm>
          <a:prstGeom prst="roundRect">
            <a:avLst>
              <a:gd name="adj" fmla="val 10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22556" y="4145176"/>
            <a:ext cx="609584" cy="6095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733" b="1">
                <a:solidFill>
                  <a:srgbClr val="6C4FD8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22556" y="4693802"/>
            <a:ext cx="2865048" cy="91437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</a:pPr>
            <a:r>
              <a:rPr sz="1933" b="1">
                <a:solidFill>
                  <a:srgbClr val="1A1A1A"/>
                </a:solidFill>
                <a:latin typeface="Arial"/>
              </a:rPr>
              <a:t>O território, a escola e os próximos passos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87667" y="335271"/>
            <a:ext cx="6705432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3999" b="1">
                <a:solidFill>
                  <a:srgbClr val="FFFFFF"/>
                </a:solidFill>
                <a:latin typeface="Arial"/>
              </a:rPr>
              <a:t>DE ONDE PARTO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87667" y="1402044"/>
            <a:ext cx="6705432" cy="4693802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01" y="1584920"/>
            <a:ext cx="6217764" cy="4389010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1466"/>
              </a:spcAft>
            </a:pPr>
            <a:r>
              <a:rPr sz="1999" b="1">
                <a:solidFill>
                  <a:srgbClr val="1A1A1A"/>
                </a:solidFill>
                <a:latin typeface="Arial"/>
              </a:rPr>
              <a:t>Território e rede. </a:t>
            </a:r>
            <a:r>
              <a:rPr sz="1999" b="0">
                <a:solidFill>
                  <a:srgbClr val="1A1A1A"/>
                </a:solidFill>
                <a:latin typeface="Arial"/>
              </a:rPr>
              <a:t>Quase duas décadas de convivência com Pipa e dezoito anos de trabalho na rede municipal de Tibau do Sul.</a:t>
            </a:r>
          </a:p>
          <a:p>
            <a:pPr algn="l">
              <a:lnSpc>
                <a:spcPct val="115000"/>
              </a:lnSpc>
              <a:spcAft>
                <a:spcPts val="1466"/>
              </a:spcAft>
            </a:pPr>
            <a:r>
              <a:rPr sz="1999" b="1">
                <a:solidFill>
                  <a:srgbClr val="1A1A1A"/>
                </a:solidFill>
                <a:latin typeface="Arial"/>
              </a:rPr>
              <a:t>Mestrado na mesma escola. </a:t>
            </a:r>
            <a:r>
              <a:rPr sz="1999" b="0">
                <a:solidFill>
                  <a:srgbClr val="1A1A1A"/>
                </a:solidFill>
                <a:latin typeface="Arial"/>
              </a:rPr>
              <a:t>Pesquisa-ação no ensino remoto: 70% das crianças da turma dividiam o celular com adultos (MACHADO, 2021).</a:t>
            </a:r>
          </a:p>
          <a:p>
            <a:pPr algn="l">
              <a:lnSpc>
                <a:spcPct val="115000"/>
              </a:lnSpc>
            </a:pPr>
            <a:r>
              <a:rPr sz="1999" b="1">
                <a:solidFill>
                  <a:srgbClr val="1A1A1A"/>
                </a:solidFill>
                <a:latin typeface="Arial"/>
              </a:rPr>
              <a:t>Uma tese nova. </a:t>
            </a:r>
            <a:r>
              <a:rPr sz="1999" b="0">
                <a:solidFill>
                  <a:srgbClr val="1A1A1A"/>
                </a:solidFill>
                <a:latin typeface="Arial"/>
              </a:rPr>
              <a:t>Objeto, pergunta e desenho próprios. A trajetória orienta o olhar e não conta como dado; o diário de campo registra o percurso.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73368" y="536434"/>
            <a:ext cx="3438058" cy="5784959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scola Municipal Domitila Castelo, Pipa (RN). Acervo da pesquisa (2026)."/>
          <p:cNvPicPr>
            <a:picLocks noChangeAspect="1"/>
          </p:cNvPicPr>
          <p:nvPr/>
        </p:nvPicPr>
        <p:blipFill>
          <a:blip r:embed="rId3"/>
          <a:srcRect t="5990" b="5990"/>
          <a:stretch>
            <a:fillRect/>
          </a:stretch>
        </p:blipFill>
        <p:spPr>
          <a:xfrm>
            <a:off x="8046518" y="609584"/>
            <a:ext cx="3291757" cy="515099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046518" y="5772767"/>
            <a:ext cx="3291757" cy="487667"/>
          </a:xfrm>
          <a:prstGeom prst="rect">
            <a:avLst/>
          </a:prstGeom>
          <a:noFill/>
        </p:spPr>
        <p:txBody>
          <a:bodyPr wrap="square" lIns="12191" rIns="12191" tIns="12191" bIns="12191" anchor="ctr"/>
          <a:lstStyle/>
          <a:p>
            <a:pPr algn="l">
              <a:lnSpc>
                <a:spcPct val="100000"/>
              </a:lnSpc>
            </a:pPr>
            <a:r>
              <a:rPr sz="999" b="0">
                <a:solidFill>
                  <a:srgbClr val="1A1A1A"/>
                </a:solidFill>
                <a:latin typeface="Arial"/>
              </a:rPr>
              <a:t>Escola Municipal Domitila Castelo, Pipa (RN). Acervo da pesquisa (2026).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7667" y="6431119"/>
            <a:ext cx="7010224" cy="304792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999" b="1">
                <a:solidFill>
                  <a:srgbClr val="FFFFFF"/>
                </a:solidFill>
                <a:latin typeface="Arial"/>
              </a:rPr>
              <a:t>Fundamentos: </a:t>
            </a:r>
            <a:r>
              <a:rPr sz="999" b="0">
                <a:solidFill>
                  <a:srgbClr val="FFFFFF"/>
                </a:solidFill>
                <a:latin typeface="Arial"/>
              </a:rPr>
              <a:t>Freire (2019); Braun e Clarke (2019): reflexividade.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584" y="335271"/>
            <a:ext cx="10972525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599" b="1">
                <a:solidFill>
                  <a:srgbClr val="FFFFFF"/>
                </a:solidFill>
                <a:latin typeface="Arial"/>
              </a:rPr>
              <a:t>O DIREITO CHEGA ANTES DOS MEIOS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26" y="1463003"/>
            <a:ext cx="7071183" cy="2194505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460" y="1584920"/>
            <a:ext cx="6644473" cy="2011629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666"/>
              </a:spcAft>
            </a:pPr>
            <a:r>
              <a:rPr sz="1666" b="1">
                <a:solidFill>
                  <a:srgbClr val="1A1A1A"/>
                </a:solidFill>
                <a:latin typeface="Arial"/>
              </a:rPr>
              <a:t>A LEI PROMETE</a:t>
            </a:r>
          </a:p>
          <a:p>
            <a:pPr algn="l">
              <a:lnSpc>
                <a:spcPct val="115000"/>
              </a:lnSpc>
            </a:pPr>
            <a:r>
              <a:rPr sz="1666" b="0">
                <a:solidFill>
                  <a:srgbClr val="1A1A1A"/>
                </a:solidFill>
                <a:latin typeface="Arial"/>
              </a:rPr>
              <a:t>Educação digital como direito, dever do Estado e componente curricular, com implementação obrigatória a partir de 2026 (Lei nº 14.533/2023; Resolução CNE/CEB nº 2/2025).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1885" y="3901342"/>
            <a:ext cx="7071183" cy="2194505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15719" y="4023259"/>
            <a:ext cx="6644473" cy="2011629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666"/>
              </a:spcAft>
            </a:pPr>
            <a:r>
              <a:rPr sz="1666" b="1">
                <a:solidFill>
                  <a:srgbClr val="1A1A1A"/>
                </a:solidFill>
                <a:latin typeface="Arial"/>
              </a:rPr>
              <a:t>A SALA RECEBE</a:t>
            </a:r>
          </a:p>
          <a:p>
            <a:pPr algn="l">
              <a:lnSpc>
                <a:spcPct val="115000"/>
              </a:lnSpc>
            </a:pPr>
            <a:r>
              <a:rPr sz="1666" b="0">
                <a:solidFill>
                  <a:srgbClr val="1A1A1A"/>
                </a:solidFill>
                <a:latin typeface="Arial"/>
              </a:rPr>
              <a:t>Salas dos anos iniciais sem tela, um laboratório com uso a verificar, formação prevista como simples promoção e meios que dependem de cada ente federado.</a:t>
            </a:r>
          </a:p>
        </p:txBody>
      </p:sp>
      <p:pic>
        <p:nvPicPr>
          <p:cNvPr id="8" name="Picture 7" descr="Ilustração decorativ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0352" y="1402044"/>
            <a:ext cx="2194505" cy="19842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8351" y="3950109"/>
            <a:ext cx="3438058" cy="197505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Alfabeto móvel feito à mão numa sala dos anos iniciais"/>
          <p:cNvPicPr>
            <a:picLocks noChangeAspect="1"/>
          </p:cNvPicPr>
          <p:nvPr/>
        </p:nvPicPr>
        <p:blipFill>
          <a:blip r:embed="rId4"/>
          <a:srcRect t="617" b="617"/>
          <a:stretch>
            <a:fillRect/>
          </a:stretch>
        </p:blipFill>
        <p:spPr>
          <a:xfrm>
            <a:off x="731501" y="4023259"/>
            <a:ext cx="3291757" cy="182875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9584" y="6431119"/>
            <a:ext cx="10972525" cy="304792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999" b="1">
                <a:solidFill>
                  <a:srgbClr val="FFFFFF"/>
                </a:solidFill>
                <a:latin typeface="Arial"/>
              </a:rPr>
              <a:t>Fundamentos: </a:t>
            </a:r>
            <a:r>
              <a:rPr sz="999" b="0">
                <a:solidFill>
                  <a:srgbClr val="FFFFFF"/>
                </a:solidFill>
                <a:latin typeface="Arial"/>
              </a:rPr>
              <a:t>Lei nº 14.533/2023; Mainardes (2006); Ball, Maguire e Braun (2016).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584" y="335271"/>
            <a:ext cx="10972525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599" b="1">
                <a:solidFill>
                  <a:srgbClr val="FFFFFF"/>
                </a:solidFill>
                <a:latin typeface="Arial"/>
              </a:rPr>
              <a:t>OBJETO E QUESTÃO DE PESQUISA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26" y="1402044"/>
            <a:ext cx="5242428" cy="4815719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460" y="1584920"/>
            <a:ext cx="4754761" cy="4510927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1066"/>
              </a:spcAft>
            </a:pPr>
            <a:r>
              <a:rPr sz="1933" b="1">
                <a:solidFill>
                  <a:srgbClr val="1A1A1A"/>
                </a:solidFill>
                <a:latin typeface="Arial"/>
              </a:rPr>
              <a:t>OBJETO</a:t>
            </a:r>
          </a:p>
          <a:p>
            <a:pPr algn="l">
              <a:lnSpc>
                <a:spcPct val="115000"/>
              </a:lnSpc>
              <a:spcAft>
                <a:spcPts val="1066"/>
              </a:spcAft>
            </a:pPr>
            <a:r>
              <a:rPr sz="1933" b="0">
                <a:solidFill>
                  <a:srgbClr val="1A1A1A"/>
                </a:solidFill>
                <a:latin typeface="Arial"/>
              </a:rPr>
              <a:t>A encenação da PNED, em seu eixo Educação Digital Escolar, pelos profissionais da educação do 1º ao 5º ano da Escola Municipal Domitila Castelo, em Pipa, Tibau do Sul (RN).</a:t>
            </a:r>
          </a:p>
          <a:p>
            <a:pPr algn="l">
              <a:lnSpc>
                <a:spcPct val="115000"/>
              </a:lnSpc>
            </a:pPr>
            <a:r>
              <a:rPr sz="1933" b="0">
                <a:solidFill>
                  <a:srgbClr val="1A1A1A"/>
                </a:solidFill>
                <a:latin typeface="Arial"/>
              </a:rPr>
              <a:t>Todos constroem a política: docentes, coordenação, direção e demais profissionais ligados ao trabalho pedagógico.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639" y="1402044"/>
            <a:ext cx="5242428" cy="4815719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44473" y="1584920"/>
            <a:ext cx="4754761" cy="4510927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933"/>
              </a:spcAft>
            </a:pPr>
            <a:r>
              <a:rPr sz="1733" b="1">
                <a:solidFill>
                  <a:srgbClr val="1A1A1A"/>
                </a:solidFill>
                <a:latin typeface="Arial"/>
              </a:rPr>
              <a:t>QUESTÃO</a:t>
            </a:r>
          </a:p>
          <a:p>
            <a:pPr algn="l">
              <a:lnSpc>
                <a:spcPct val="115000"/>
              </a:lnSpc>
            </a:pPr>
            <a:r>
              <a:rPr sz="1733" b="0">
                <a:solidFill>
                  <a:srgbClr val="1A1A1A"/>
                </a:solidFill>
                <a:latin typeface="Arial"/>
              </a:rPr>
              <a:t>Como os profissionais da educação encenam e recontextualizam a PNED no contexto da prática da Escola Municipal Domitila Castelo, em Pipa (RN), e como as culturas profissionais, as condições materiais e institucionais da escola e as especificidades socioespaciais do território atravessam esse processo, produzindo diferentes formas de atuação, entre as quais podem emergir acomodações, negociações, ressignificações e resistências?</a:t>
            </a:r>
          </a:p>
        </p:txBody>
      </p:sp>
      <p:pic>
        <p:nvPicPr>
          <p:cNvPr id="8" name="Picture 7" descr="Ilustração decorativ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401" y="243833"/>
            <a:ext cx="792460" cy="108180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9584" y="6431119"/>
            <a:ext cx="10972525" cy="304792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999" b="1">
                <a:solidFill>
                  <a:srgbClr val="FFFFFF"/>
                </a:solidFill>
                <a:latin typeface="Arial"/>
              </a:rPr>
              <a:t>Fundamentos: </a:t>
            </a:r>
            <a:r>
              <a:rPr sz="999" b="0">
                <a:solidFill>
                  <a:srgbClr val="FFFFFF"/>
                </a:solidFill>
                <a:latin typeface="Arial"/>
              </a:rPr>
              <a:t>Bowe, Ball e Gold (1992); Mainardes (2006); Ball, Maguire e Braun (2016).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584" y="243833"/>
            <a:ext cx="10972525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999" b="1">
                <a:solidFill>
                  <a:srgbClr val="FFFFFF"/>
                </a:solidFill>
                <a:latin typeface="Arial"/>
              </a:rPr>
              <a:t>OBJETIVOS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" y="1097252"/>
            <a:ext cx="10972525" cy="1036294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15000"/>
              </a:lnSpc>
            </a:pPr>
            <a:r>
              <a:rPr sz="1533" b="1">
                <a:solidFill>
                  <a:srgbClr val="FFFFFF"/>
                </a:solidFill>
                <a:latin typeface="Arial"/>
              </a:rPr>
              <a:t>Geral: </a:t>
            </a:r>
            <a:r>
              <a:rPr sz="1533" b="0">
                <a:solidFill>
                  <a:srgbClr val="FFFFFF"/>
                </a:solidFill>
                <a:latin typeface="Arial"/>
              </a:rPr>
              <a:t>analisar como os profissionais da educação encenam e recontextualizam a PNED no contexto da prática da escola, considerando as relações entre a política, as culturas profissionais, as condições materiais e institucionais e o território.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26" y="2285942"/>
            <a:ext cx="2633406" cy="3901342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1022" y="2377380"/>
            <a:ext cx="731501" cy="67054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599" b="1">
                <a:solidFill>
                  <a:srgbClr val="6C4FD8"/>
                </a:solidFill>
                <a:latin typeface="Arial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1022" y="3108882"/>
            <a:ext cx="2346901" cy="292600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733" b="0">
                <a:solidFill>
                  <a:srgbClr val="1A1A1A"/>
                </a:solidFill>
                <a:latin typeface="Arial"/>
              </a:rPr>
              <a:t>Compreender como os profissionais interpretam a PNED a partir de experiências, crenças, valores e formas de organizar o trabalho.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64907" y="2285942"/>
            <a:ext cx="2633406" cy="3901342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17304" y="2377380"/>
            <a:ext cx="731501" cy="67054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599" b="1">
                <a:solidFill>
                  <a:srgbClr val="6C4FD8"/>
                </a:solidFill>
                <a:latin typeface="Arial"/>
              </a:rPr>
              <a:t>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7304" y="3108882"/>
            <a:ext cx="2346901" cy="292600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733" b="0">
                <a:solidFill>
                  <a:srgbClr val="1A1A1A"/>
                </a:solidFill>
                <a:latin typeface="Arial"/>
              </a:rPr>
              <a:t>Analisar como as condições materiais e institucionais da escola e o território atravessam a tradução da política.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189" y="2285942"/>
            <a:ext cx="2633406" cy="3901342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33585" y="2377380"/>
            <a:ext cx="731501" cy="67054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599" b="1">
                <a:solidFill>
                  <a:srgbClr val="6C4FD8"/>
                </a:solidFill>
                <a:latin typeface="Arial"/>
              </a:rPr>
              <a:t>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33585" y="3108882"/>
            <a:ext cx="2346901" cy="292600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733" b="0">
                <a:solidFill>
                  <a:srgbClr val="1A1A1A"/>
                </a:solidFill>
                <a:latin typeface="Arial"/>
              </a:rPr>
              <a:t>Identificar formas de atuação: adesão, acomodação, adaptação, omissão seletiva, negociação, ressignificação ou resistência.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97471" y="2285942"/>
            <a:ext cx="2633406" cy="3901342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9867" y="2377380"/>
            <a:ext cx="731501" cy="67054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599" b="1">
                <a:solidFill>
                  <a:srgbClr val="6C4FD8"/>
                </a:solidFill>
                <a:latin typeface="Arial"/>
              </a:rPr>
              <a:t>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9867" y="3108882"/>
            <a:ext cx="2346901" cy="292600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733" b="0">
                <a:solidFill>
                  <a:srgbClr val="1A1A1A"/>
                </a:solidFill>
                <a:latin typeface="Arial"/>
              </a:rPr>
              <a:t>Discutir as implicações para as crianças: provisão, proteção e participação no ambiente digital.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584" y="6431119"/>
            <a:ext cx="10972525" cy="304792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999" b="1">
                <a:solidFill>
                  <a:srgbClr val="FFFFFF"/>
                </a:solidFill>
                <a:latin typeface="Arial"/>
              </a:rPr>
              <a:t>Fundamentos: </a:t>
            </a:r>
            <a:r>
              <a:rPr sz="999" b="0">
                <a:solidFill>
                  <a:srgbClr val="FFFFFF"/>
                </a:solidFill>
                <a:latin typeface="Arial"/>
              </a:rPr>
              <a:t>Hargreaves (2005); Ball, Maguire e Braun (2016); ONU (2021).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584" y="335271"/>
            <a:ext cx="10972525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466" b="1">
                <a:solidFill>
                  <a:srgbClr val="FFFFFF"/>
                </a:solidFill>
                <a:latin typeface="Arial"/>
              </a:rPr>
              <a:t>REFERENCIAL TEÓRICO-METODOLÓGICO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26" y="1463003"/>
            <a:ext cx="3566070" cy="2224984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01" y="1615399"/>
            <a:ext cx="3200319" cy="1950671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533"/>
              </a:spcAft>
            </a:pPr>
            <a:r>
              <a:rPr sz="1666" b="1">
                <a:solidFill>
                  <a:srgbClr val="1A1A1A"/>
                </a:solidFill>
                <a:latin typeface="Arial"/>
              </a:rPr>
              <a:t>Ciclo de Políticas</a:t>
            </a:r>
          </a:p>
          <a:p>
            <a:pPr algn="l">
              <a:lnSpc>
                <a:spcPct val="115000"/>
              </a:lnSpc>
            </a:pPr>
            <a:r>
              <a:rPr sz="1666" b="0">
                <a:solidFill>
                  <a:srgbClr val="1A1A1A"/>
                </a:solidFill>
                <a:latin typeface="Arial"/>
              </a:rPr>
              <a:t>Bowe, Ball e Gold (1992); Mainardes (2006). A política é recriada no contexto da prática.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572" y="1463003"/>
            <a:ext cx="3566070" cy="2224984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80447" y="1615399"/>
            <a:ext cx="3200319" cy="1950671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533"/>
              </a:spcAft>
            </a:pPr>
            <a:r>
              <a:rPr sz="1666" b="1">
                <a:solidFill>
                  <a:srgbClr val="1A1A1A"/>
                </a:solidFill>
                <a:latin typeface="Arial"/>
              </a:rPr>
              <a:t>Teoria da atuação</a:t>
            </a:r>
          </a:p>
          <a:p>
            <a:pPr algn="l">
              <a:lnSpc>
                <a:spcPct val="115000"/>
              </a:lnSpc>
            </a:pPr>
            <a:r>
              <a:rPr sz="1666" b="0">
                <a:solidFill>
                  <a:srgbClr val="1A1A1A"/>
                </a:solidFill>
                <a:latin typeface="Arial"/>
              </a:rPr>
              <a:t>Ball, Maguire e Braun (2016). Dimensões situacional, profissional, material e externa.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518" y="1463003"/>
            <a:ext cx="3566070" cy="2224984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394" y="1615399"/>
            <a:ext cx="3200319" cy="1950671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533"/>
              </a:spcAft>
            </a:pPr>
            <a:r>
              <a:rPr sz="1666" b="1">
                <a:solidFill>
                  <a:srgbClr val="1A1A1A"/>
                </a:solidFill>
                <a:latin typeface="Arial"/>
              </a:rPr>
              <a:t>Culturas profissionais</a:t>
            </a:r>
          </a:p>
          <a:p>
            <a:pPr algn="l">
              <a:lnSpc>
                <a:spcPct val="115000"/>
              </a:lnSpc>
            </a:pPr>
            <a:r>
              <a:rPr sz="1666" b="0">
                <a:solidFill>
                  <a:srgbClr val="1A1A1A"/>
                </a:solidFill>
                <a:latin typeface="Arial"/>
              </a:rPr>
              <a:t>Hargreaves (2005). Conteúdo e forma das culturas do trabalho docente.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26" y="3870863"/>
            <a:ext cx="3566070" cy="2224984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01" y="4023259"/>
            <a:ext cx="3200319" cy="1950671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533"/>
              </a:spcAft>
            </a:pPr>
            <a:r>
              <a:rPr sz="1666" b="1">
                <a:solidFill>
                  <a:srgbClr val="1A1A1A"/>
                </a:solidFill>
                <a:latin typeface="Arial"/>
              </a:rPr>
              <a:t>Performatividade</a:t>
            </a:r>
          </a:p>
          <a:p>
            <a:pPr algn="l">
              <a:lnSpc>
                <a:spcPct val="115000"/>
              </a:lnSpc>
            </a:pPr>
            <a:r>
              <a:rPr sz="1666" b="0">
                <a:solidFill>
                  <a:srgbClr val="1A1A1A"/>
                </a:solidFill>
                <a:latin typeface="Arial"/>
              </a:rPr>
              <a:t>Ball (2002; 2004). Metas, registros e fabricações que acompanham a política.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572" y="3870863"/>
            <a:ext cx="3566070" cy="2224984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447" y="4023259"/>
            <a:ext cx="3200319" cy="1950671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533"/>
              </a:spcAft>
            </a:pPr>
            <a:r>
              <a:rPr sz="1666" b="1">
                <a:solidFill>
                  <a:srgbClr val="1A1A1A"/>
                </a:solidFill>
                <a:latin typeface="Arial"/>
              </a:rPr>
              <a:t>Território e lugar</a:t>
            </a:r>
          </a:p>
          <a:p>
            <a:pPr algn="l">
              <a:lnSpc>
                <a:spcPct val="115000"/>
              </a:lnSpc>
            </a:pPr>
            <a:r>
              <a:rPr sz="1666" b="0">
                <a:solidFill>
                  <a:srgbClr val="1A1A1A"/>
                </a:solidFill>
                <a:latin typeface="Arial"/>
              </a:rPr>
              <a:t>Santos (1999; 2006); Massey (2008). Território usado, rugosidade, encontro de trajetórias.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518" y="3870863"/>
            <a:ext cx="3566070" cy="2224984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394" y="4023259"/>
            <a:ext cx="3200319" cy="1950671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533"/>
              </a:spcAft>
            </a:pPr>
            <a:r>
              <a:rPr sz="1666" b="1">
                <a:solidFill>
                  <a:srgbClr val="1A1A1A"/>
                </a:solidFill>
                <a:latin typeface="Arial"/>
              </a:rPr>
              <a:t>Direitos da criança</a:t>
            </a:r>
          </a:p>
          <a:p>
            <a:pPr algn="l">
              <a:lnSpc>
                <a:spcPct val="115000"/>
              </a:lnSpc>
            </a:pPr>
            <a:r>
              <a:rPr sz="1666" b="0">
                <a:solidFill>
                  <a:srgbClr val="1A1A1A"/>
                </a:solidFill>
                <a:latin typeface="Arial"/>
              </a:rPr>
              <a:t>ONU (2021). Provisão, proteção e participação no ambiente digital.</a:t>
            </a:r>
          </a:p>
        </p:txBody>
      </p:sp>
      <p:pic>
        <p:nvPicPr>
          <p:cNvPr id="16" name="Picture 15" descr="Ilustração decorativ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442" y="213354"/>
            <a:ext cx="853418" cy="95225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48626" y="6278723"/>
            <a:ext cx="11094442" cy="365750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15000"/>
              </a:lnSpc>
            </a:pPr>
            <a:r>
              <a:rPr sz="1199" b="0">
                <a:solidFill>
                  <a:srgbClr val="FFFFFF"/>
                </a:solidFill>
                <a:latin typeface="Arial"/>
              </a:rPr>
              <a:t>As noções funcionam como lentes de leitura, abertas ao que o campo trouxer.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584" y="335271"/>
            <a:ext cx="10972525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199" b="1">
                <a:solidFill>
                  <a:srgbClr val="FFFFFF"/>
                </a:solidFill>
                <a:latin typeface="Arial"/>
              </a:rPr>
              <a:t>HABITAR O DIGITAL: UMA FORMULAÇÃO DA TESE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26" y="1402044"/>
            <a:ext cx="5730096" cy="975335"/>
          </a:xfrm>
          <a:prstGeom prst="roundRect">
            <a:avLst>
              <a:gd name="adj" fmla="val 15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1022" y="1450811"/>
            <a:ext cx="5486262" cy="88389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5000"/>
              </a:lnSpc>
            </a:pPr>
            <a:r>
              <a:rPr sz="1333" b="1">
                <a:solidFill>
                  <a:srgbClr val="6C4FD8"/>
                </a:solidFill>
                <a:latin typeface="Arial"/>
              </a:rPr>
              <a:t>Schlemmer et al. (2021)</a:t>
            </a:r>
          </a:p>
          <a:p>
            <a:pPr algn="l">
              <a:lnSpc>
                <a:spcPct val="105000"/>
              </a:lnSpc>
            </a:pPr>
            <a:r>
              <a:rPr sz="1333" b="0">
                <a:solidFill>
                  <a:srgbClr val="1A1A1A"/>
                </a:solidFill>
                <a:latin typeface="Arial"/>
              </a:rPr>
              <a:t>Habitar como experiência relacional entre sujeitos, ambientes, tecnologias e redes.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26" y="2529776"/>
            <a:ext cx="5730096" cy="975335"/>
          </a:xfrm>
          <a:prstGeom prst="roundRect">
            <a:avLst>
              <a:gd name="adj" fmla="val 15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1022" y="2578543"/>
            <a:ext cx="5486262" cy="88389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5000"/>
              </a:lnSpc>
            </a:pPr>
            <a:r>
              <a:rPr sz="1333" b="1">
                <a:solidFill>
                  <a:srgbClr val="6C4FD8"/>
                </a:solidFill>
                <a:latin typeface="Arial"/>
              </a:rPr>
              <a:t>Di Felice (2009)</a:t>
            </a:r>
          </a:p>
          <a:p>
            <a:pPr algn="l">
              <a:lnSpc>
                <a:spcPct val="105000"/>
              </a:lnSpc>
            </a:pPr>
            <a:r>
              <a:rPr sz="1333" b="0">
                <a:solidFill>
                  <a:srgbClr val="1A1A1A"/>
                </a:solidFill>
                <a:latin typeface="Arial"/>
              </a:rPr>
              <a:t>O habitar transformado pelas redes digitais: o habitar atópico.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26" y="3657508"/>
            <a:ext cx="5730096" cy="975335"/>
          </a:xfrm>
          <a:prstGeom prst="roundRect">
            <a:avLst>
              <a:gd name="adj" fmla="val 15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1022" y="3706275"/>
            <a:ext cx="5486262" cy="88389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5000"/>
              </a:lnSpc>
            </a:pPr>
            <a:r>
              <a:rPr sz="1333" b="1">
                <a:solidFill>
                  <a:srgbClr val="6C4FD8"/>
                </a:solidFill>
                <a:latin typeface="Arial"/>
              </a:rPr>
              <a:t>Santos (2006)</a:t>
            </a:r>
          </a:p>
          <a:p>
            <a:pPr algn="l">
              <a:lnSpc>
                <a:spcPct val="105000"/>
              </a:lnSpc>
            </a:pPr>
            <a:r>
              <a:rPr sz="1333" b="0">
                <a:solidFill>
                  <a:srgbClr val="1A1A1A"/>
                </a:solidFill>
                <a:latin typeface="Arial"/>
              </a:rPr>
              <a:t>Objetos técnicos distribuídos de modo desigual, com idades e funções diferentes.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26" y="4785240"/>
            <a:ext cx="5730096" cy="975335"/>
          </a:xfrm>
          <a:prstGeom prst="roundRect">
            <a:avLst>
              <a:gd name="adj" fmla="val 15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1022" y="4834007"/>
            <a:ext cx="5486262" cy="88389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5000"/>
              </a:lnSpc>
            </a:pPr>
            <a:r>
              <a:rPr sz="1333" b="1">
                <a:solidFill>
                  <a:srgbClr val="6C4FD8"/>
                </a:solidFill>
                <a:latin typeface="Arial"/>
              </a:rPr>
              <a:t>Massey (2008)</a:t>
            </a:r>
          </a:p>
          <a:p>
            <a:pPr algn="l">
              <a:lnSpc>
                <a:spcPct val="105000"/>
              </a:lnSpc>
            </a:pPr>
            <a:r>
              <a:rPr sz="1333" b="0">
                <a:solidFill>
                  <a:srgbClr val="1A1A1A"/>
                </a:solidFill>
                <a:latin typeface="Arial"/>
              </a:rPr>
              <a:t>O lugar como encontro de trajetórias.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26" y="5943451"/>
            <a:ext cx="5730096" cy="701022"/>
          </a:xfrm>
          <a:prstGeom prst="roundRect">
            <a:avLst>
              <a:gd name="adj" fmla="val 20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0543" y="5943451"/>
            <a:ext cx="5486262" cy="701022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1266" b="1">
                <a:solidFill>
                  <a:srgbClr val="1A1A1A"/>
                </a:solidFill>
                <a:latin typeface="Arial"/>
              </a:rPr>
              <a:t>Maneiras desiguais de acesso, participação e apropriação do digital num território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32282" y="1389853"/>
            <a:ext cx="5022978" cy="4169559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Vista contemporânea de Pipa (Figura 15). Acervo da pesquisa (2026)."/>
          <p:cNvPicPr>
            <a:picLocks noChangeAspect="1"/>
          </p:cNvPicPr>
          <p:nvPr/>
        </p:nvPicPr>
        <p:blipFill>
          <a:blip r:embed="rId3"/>
          <a:srcRect t="847" b="847"/>
          <a:stretch>
            <a:fillRect/>
          </a:stretch>
        </p:blipFill>
        <p:spPr>
          <a:xfrm>
            <a:off x="6705432" y="1463003"/>
            <a:ext cx="4876678" cy="353559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05432" y="5010786"/>
            <a:ext cx="4876678" cy="487667"/>
          </a:xfrm>
          <a:prstGeom prst="rect">
            <a:avLst/>
          </a:prstGeom>
          <a:noFill/>
        </p:spPr>
        <p:txBody>
          <a:bodyPr wrap="square" lIns="12191" rIns="12191" tIns="12191" bIns="12191" anchor="ctr"/>
          <a:lstStyle/>
          <a:p>
            <a:pPr algn="l">
              <a:lnSpc>
                <a:spcPct val="100000"/>
              </a:lnSpc>
            </a:pPr>
            <a:r>
              <a:rPr sz="999" b="0">
                <a:solidFill>
                  <a:srgbClr val="1A1A1A"/>
                </a:solidFill>
                <a:latin typeface="Arial"/>
              </a:rPr>
              <a:t>Vista contemporânea de Pipa (Figura 15). Acervo da pesquisa (2026).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05432" y="5699617"/>
            <a:ext cx="4876678" cy="914377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</a:pPr>
            <a:r>
              <a:rPr sz="1399" b="0">
                <a:solidFill>
                  <a:srgbClr val="FFFFFF"/>
                </a:solidFill>
                <a:latin typeface="Arial"/>
              </a:rPr>
              <a:t>Em Pipa: densidade tecnológica nos circuitos do turismo e poucas telas nos espaços pedagógicos da escola.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584" y="335271"/>
            <a:ext cx="10972525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599" b="1">
                <a:solidFill>
                  <a:srgbClr val="FFFFFF"/>
                </a:solidFill>
                <a:latin typeface="Arial"/>
              </a:rPr>
              <a:t>INEDITISMO EM TRÊS DIMENSÕES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26" y="1584920"/>
            <a:ext cx="3566070" cy="4389010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01" y="1737316"/>
            <a:ext cx="3200319" cy="792460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1799" b="1">
                <a:solidFill>
                  <a:srgbClr val="6C4FD8"/>
                </a:solidFill>
                <a:latin typeface="Arial"/>
              </a:rPr>
              <a:t>EMPÍRICO-TEMPORAL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01" y="2621214"/>
            <a:ext cx="3200319" cy="3230799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</a:pPr>
            <a:r>
              <a:rPr sz="1933" b="0">
                <a:solidFill>
                  <a:srgbClr val="1A1A1A"/>
                </a:solidFill>
                <a:latin typeface="Arial"/>
              </a:rPr>
              <a:t>A PNED chega à escola quando o componente se torna obrigatório, em 2026. Nenhum dos 9 estudos da RSL trata dela nem de rede municipal de pequeno porte.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572" y="1584920"/>
            <a:ext cx="3566070" cy="4389010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447" y="1737316"/>
            <a:ext cx="3200319" cy="792460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1799" b="1">
                <a:solidFill>
                  <a:srgbClr val="6C4FD8"/>
                </a:solidFill>
                <a:latin typeface="Arial"/>
              </a:rPr>
              <a:t>ANALÍTICO-ESPACIAL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447" y="2621214"/>
            <a:ext cx="3200319" cy="3230799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</a:pPr>
            <a:r>
              <a:rPr sz="1933" b="0">
                <a:solidFill>
                  <a:srgbClr val="1A1A1A"/>
                </a:solidFill>
                <a:latin typeface="Arial"/>
              </a:rPr>
              <a:t>Pipa como dimensão constitutiva do contexto da prática, que atravessa toda a tese (SANTOS, 1999; MASSEY, 2008).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518" y="1584920"/>
            <a:ext cx="3566070" cy="4389010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394" y="1737316"/>
            <a:ext cx="3200319" cy="792460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1799" b="1">
                <a:solidFill>
                  <a:srgbClr val="6C4FD8"/>
                </a:solidFill>
                <a:latin typeface="Arial"/>
              </a:rPr>
              <a:t>TEÓRICO-CONCEITUAL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394" y="2621214"/>
            <a:ext cx="3200319" cy="3230799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</a:pPr>
            <a:r>
              <a:rPr sz="1933" b="0">
                <a:solidFill>
                  <a:srgbClr val="1A1A1A"/>
                </a:solidFill>
                <a:latin typeface="Arial"/>
              </a:rPr>
              <a:t>Teoria da atuação, culturas profissionais, dimensão material e território articulados, com a noção de habitar o digital.</a:t>
            </a:r>
          </a:p>
        </p:txBody>
      </p:sp>
      <p:pic>
        <p:nvPicPr>
          <p:cNvPr id="13" name="Picture 12" descr="Ilustração decorativ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833" y="182875"/>
            <a:ext cx="914377" cy="978714"/>
          </a:xfrm>
          <a:prstGeom prst="rect">
            <a:avLst/>
          </a:prstGeom>
        </p:spPr>
      </p:pic>
      <p:pic>
        <p:nvPicPr>
          <p:cNvPr id="14" name="Picture 13" descr="Ilustração decorativ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4442" y="182875"/>
            <a:ext cx="853418" cy="95225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9584" y="6431119"/>
            <a:ext cx="10972525" cy="304792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999" b="1">
                <a:solidFill>
                  <a:srgbClr val="FFFFFF"/>
                </a:solidFill>
                <a:latin typeface="Arial"/>
              </a:rPr>
              <a:t>Fundamentos: </a:t>
            </a:r>
            <a:r>
              <a:rPr sz="999" b="0">
                <a:solidFill>
                  <a:srgbClr val="FFFFFF"/>
                </a:solidFill>
                <a:latin typeface="Arial"/>
              </a:rPr>
              <a:t>Revisão sistemática (Cap. 2); Ball, Maguire e Braun (2016); Hargreaves (2005).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Ilustração decorativ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67" y="1341086"/>
            <a:ext cx="4023259" cy="52333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998595" y="335271"/>
            <a:ext cx="6705432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3999" b="1">
                <a:solidFill>
                  <a:srgbClr val="FFFFFF"/>
                </a:solidFill>
                <a:latin typeface="Arial"/>
              </a:rPr>
              <a:t>TESE DE PARTIDA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998595" y="1402044"/>
            <a:ext cx="6644473" cy="3047923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42428" y="1523961"/>
            <a:ext cx="6156806" cy="2804089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15000"/>
              </a:lnSpc>
            </a:pPr>
            <a:r>
              <a:rPr sz="1666" b="0">
                <a:solidFill>
                  <a:srgbClr val="1A1A1A"/>
                </a:solidFill>
                <a:latin typeface="Arial"/>
              </a:rPr>
              <a:t>A PNED chega à escola como orientação a ser lida e interpretada. A forma que assume no cotidiano resulta da relação entre o que prescreve e as condições em que os profissionais precisam atuar, atravessadas pelas culturas profissionais e pelo território. Nenhuma forma de atuação é pressuposta.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98595" y="4632844"/>
            <a:ext cx="6644473" cy="1584920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</a:pPr>
            <a:r>
              <a:rPr sz="1599" b="1">
                <a:solidFill>
                  <a:srgbClr val="FFFFFF"/>
                </a:solidFill>
                <a:latin typeface="Arial"/>
              </a:rPr>
              <a:t>Pergunta de fundo: </a:t>
            </a:r>
            <a:r>
              <a:rPr sz="1599" b="0">
                <a:solidFill>
                  <a:srgbClr val="FFFFFF"/>
                </a:solidFill>
                <a:latin typeface="Arial"/>
              </a:rPr>
              <a:t>o que acontece com uma política de educação digital quando encontra uma escola, seus profissionais, suas condições materiais e um território específico?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98595" y="6431119"/>
            <a:ext cx="6644473" cy="304792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999" b="1">
                <a:solidFill>
                  <a:srgbClr val="FFFFFF"/>
                </a:solidFill>
                <a:latin typeface="Arial"/>
              </a:rPr>
              <a:t>Fundamentos: </a:t>
            </a:r>
            <a:r>
              <a:rPr sz="999" b="0">
                <a:solidFill>
                  <a:srgbClr val="FFFFFF"/>
                </a:solidFill>
                <a:latin typeface="Arial"/>
              </a:rPr>
              <a:t>Bowe, Ball e Gold (1992); Mainardes (2006); Ball, Maguire e Braun (2016).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584" y="335271"/>
            <a:ext cx="10972525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733" b="1">
                <a:solidFill>
                  <a:srgbClr val="FFFFFF"/>
                </a:solidFill>
                <a:latin typeface="Arial"/>
              </a:rPr>
              <a:t>O QUE A LITERATURA MOSTRA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26" y="1280127"/>
            <a:ext cx="11094442" cy="48766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15000"/>
              </a:lnSpc>
            </a:pPr>
            <a:r>
              <a:rPr sz="1466" b="0">
                <a:solidFill>
                  <a:srgbClr val="FFFFFF"/>
                </a:solidFill>
                <a:latin typeface="Arial"/>
              </a:rPr>
              <a:t>Revisão sistemática (PRISMA 2020), 7 bases, de 2019 a setembro de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26" y="1889712"/>
            <a:ext cx="2011629" cy="1523961"/>
          </a:xfrm>
          <a:prstGeom prst="roundRect">
            <a:avLst>
              <a:gd name="adj" fmla="val 12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26" y="1950671"/>
            <a:ext cx="2011629" cy="853418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866" b="1">
                <a:solidFill>
                  <a:srgbClr val="6C4FD8"/>
                </a:solidFill>
                <a:latin typeface="Arial"/>
              </a:rPr>
              <a:t>176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26" y="2804089"/>
            <a:ext cx="2011629" cy="548626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1333" b="0">
                <a:solidFill>
                  <a:srgbClr val="1A1A1A"/>
                </a:solidFill>
                <a:latin typeface="Arial"/>
              </a:rPr>
              <a:t>registros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04089" y="1889712"/>
            <a:ext cx="2011629" cy="1523961"/>
          </a:xfrm>
          <a:prstGeom prst="roundRect">
            <a:avLst>
              <a:gd name="adj" fmla="val 12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04089" y="1950671"/>
            <a:ext cx="2011629" cy="853418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866" b="1">
                <a:solidFill>
                  <a:srgbClr val="6C4FD8"/>
                </a:solidFill>
                <a:latin typeface="Arial"/>
              </a:rPr>
              <a:t>171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04089" y="2804089"/>
            <a:ext cx="2011629" cy="548626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1333" b="0">
                <a:solidFill>
                  <a:srgbClr val="1A1A1A"/>
                </a:solidFill>
                <a:latin typeface="Arial"/>
              </a:rPr>
              <a:t>sem duplicatas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59553" y="1889712"/>
            <a:ext cx="2011629" cy="1523961"/>
          </a:xfrm>
          <a:prstGeom prst="roundRect">
            <a:avLst>
              <a:gd name="adj" fmla="val 12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59553" y="1950671"/>
            <a:ext cx="2011629" cy="853418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866" b="1">
                <a:solidFill>
                  <a:srgbClr val="6C4FD8"/>
                </a:solidFill>
                <a:latin typeface="Arial"/>
              </a:rPr>
              <a:t>39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59553" y="2804089"/>
            <a:ext cx="2011629" cy="548626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1333" b="0">
                <a:solidFill>
                  <a:srgbClr val="1A1A1A"/>
                </a:solidFill>
                <a:latin typeface="Arial"/>
              </a:rPr>
              <a:t>buscados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017" y="1889712"/>
            <a:ext cx="2011629" cy="1523961"/>
          </a:xfrm>
          <a:prstGeom prst="roundRect">
            <a:avLst>
              <a:gd name="adj" fmla="val 12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017" y="1950671"/>
            <a:ext cx="2011629" cy="853418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866" b="1">
                <a:solidFill>
                  <a:srgbClr val="6C4FD8"/>
                </a:solidFill>
                <a:latin typeface="Arial"/>
              </a:rPr>
              <a:t>35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017" y="2804089"/>
            <a:ext cx="2011629" cy="548626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1333" b="0">
                <a:solidFill>
                  <a:srgbClr val="1A1A1A"/>
                </a:solidFill>
                <a:latin typeface="Arial"/>
              </a:rPr>
              <a:t>lidos na íntegra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70480" y="1889712"/>
            <a:ext cx="2011629" cy="1523961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70480" y="1950671"/>
            <a:ext cx="2011629" cy="853418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866" b="1">
                <a:solidFill>
                  <a:srgbClr val="1A1A1A"/>
                </a:solidFill>
                <a:latin typeface="Arial"/>
              </a:rPr>
              <a:t>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70480" y="2804089"/>
            <a:ext cx="2011629" cy="548626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1333" b="0">
                <a:solidFill>
                  <a:srgbClr val="1A1A1A"/>
                </a:solidFill>
                <a:latin typeface="Arial"/>
              </a:rPr>
              <a:t>estudos incluídos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26" y="3718467"/>
            <a:ext cx="11094442" cy="2560255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2460" y="3840383"/>
            <a:ext cx="10606774" cy="2377380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666"/>
              </a:spcAft>
            </a:pPr>
            <a:r>
              <a:rPr sz="1533" b="1">
                <a:solidFill>
                  <a:srgbClr val="1A1A1A"/>
                </a:solidFill>
                <a:latin typeface="Arial"/>
              </a:rPr>
              <a:t>Lacunas: </a:t>
            </a:r>
            <a:r>
              <a:rPr sz="1533" b="0">
                <a:solidFill>
                  <a:srgbClr val="1A1A1A"/>
                </a:solidFill>
                <a:latin typeface="Arial"/>
              </a:rPr>
              <a:t>nenhum estudo examina a PNED; só um delimita o ciclo de alfabetização; nenhum trata de rede municipal de pequeno porte.</a:t>
            </a:r>
          </a:p>
          <a:p>
            <a:pPr algn="l">
              <a:lnSpc>
                <a:spcPct val="115000"/>
              </a:lnSpc>
              <a:spcAft>
                <a:spcPts val="666"/>
              </a:spcAft>
            </a:pPr>
            <a:r>
              <a:rPr sz="1533" b="1">
                <a:solidFill>
                  <a:srgbClr val="1A1A1A"/>
                </a:solidFill>
                <a:latin typeface="Arial"/>
              </a:rPr>
              <a:t>O que falta ao corpus: </a:t>
            </a:r>
            <a:r>
              <a:rPr sz="1533" b="0">
                <a:solidFill>
                  <a:srgbClr val="1A1A1A"/>
                </a:solidFill>
                <a:latin typeface="Arial"/>
              </a:rPr>
              <a:t>culturas profissionais, pressão por resultados e o território, que aparece só como contraste entre países.</a:t>
            </a:r>
          </a:p>
          <a:p>
            <a:pPr algn="l">
              <a:lnSpc>
                <a:spcPct val="115000"/>
              </a:lnSpc>
            </a:pPr>
            <a:r>
              <a:rPr sz="1533" b="1">
                <a:solidFill>
                  <a:srgbClr val="1A1A1A"/>
                </a:solidFill>
                <a:latin typeface="Arial"/>
              </a:rPr>
              <a:t>O que o corpus sustenta: </a:t>
            </a:r>
            <a:r>
              <a:rPr sz="1533" b="0">
                <a:solidFill>
                  <a:srgbClr val="1A1A1A"/>
                </a:solidFill>
                <a:latin typeface="Arial"/>
              </a:rPr>
              <a:t>a política depende da articulação entre recursos, condições institucionais e trabalho interpretativo dos profissionais.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584" y="335271"/>
            <a:ext cx="10972525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599" b="1">
                <a:solidFill>
                  <a:srgbClr val="FFFFFF"/>
                </a:solidFill>
                <a:latin typeface="Arial"/>
              </a:rPr>
              <a:t>COMO A POLÍTICA SERÁ ESCUTADA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26" y="1188690"/>
            <a:ext cx="11094442" cy="792460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15000"/>
              </a:lnSpc>
            </a:pPr>
            <a:r>
              <a:rPr sz="1466" b="0">
                <a:solidFill>
                  <a:srgbClr val="FFFFFF"/>
                </a:solidFill>
                <a:latin typeface="Arial"/>
              </a:rPr>
              <a:t>Estudo de caso único, qualitativo (MINAYO, 2009; YIN, 2001), com os profissionais do 1º ao 5º ano e um técnico da Secretaria como fonte complementar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26" y="2072588"/>
            <a:ext cx="2072588" cy="3962300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0543" y="2164025"/>
            <a:ext cx="1828754" cy="6095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333" b="1">
                <a:solidFill>
                  <a:srgbClr val="6C4FD8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0543" y="2804089"/>
            <a:ext cx="1828754" cy="85341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733" b="1">
                <a:solidFill>
                  <a:srgbClr val="1A1A1A"/>
                </a:solidFill>
                <a:latin typeface="Arial"/>
              </a:rPr>
              <a:t>Análise documental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0543" y="3718467"/>
            <a:ext cx="1828754" cy="219450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533" b="0">
                <a:solidFill>
                  <a:srgbClr val="1A1A1A"/>
                </a:solidFill>
                <a:latin typeface="Arial"/>
              </a:rPr>
              <a:t>Lei, Resolução CNE/CEB nº 2/2025, PPP, planos, atas, aquisição e PIEC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04089" y="2072588"/>
            <a:ext cx="2072588" cy="3962300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06" y="2164025"/>
            <a:ext cx="1828754" cy="6095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333" b="1">
                <a:solidFill>
                  <a:srgbClr val="6C4FD8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06" y="2804089"/>
            <a:ext cx="1828754" cy="85341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733" b="1">
                <a:solidFill>
                  <a:srgbClr val="1A1A1A"/>
                </a:solidFill>
                <a:latin typeface="Arial"/>
              </a:rPr>
              <a:t>Registro iconográfico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06" y="3718467"/>
            <a:ext cx="1828754" cy="219450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533" b="0">
                <a:solidFill>
                  <a:srgbClr val="1A1A1A"/>
                </a:solidFill>
                <a:latin typeface="Arial"/>
              </a:rPr>
              <a:t>38 figuras lidas com Santos e Massey; já realizado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59553" y="2072588"/>
            <a:ext cx="2072588" cy="3962300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81470" y="2164025"/>
            <a:ext cx="1828754" cy="6095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333" b="1">
                <a:solidFill>
                  <a:srgbClr val="6C4FD8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81470" y="2804089"/>
            <a:ext cx="1828754" cy="85341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733" b="1">
                <a:solidFill>
                  <a:srgbClr val="1A1A1A"/>
                </a:solidFill>
                <a:latin typeface="Arial"/>
              </a:rPr>
              <a:t>Questionário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81470" y="3718467"/>
            <a:ext cx="1828754" cy="219450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533" b="0">
                <a:solidFill>
                  <a:srgbClr val="1A1A1A"/>
                </a:solidFill>
                <a:latin typeface="Arial"/>
              </a:rPr>
              <a:t>Perfil e percepções, em cinco blocos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017" y="2072588"/>
            <a:ext cx="2072588" cy="3962300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36934" y="2164025"/>
            <a:ext cx="1828754" cy="6095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333" b="1">
                <a:solidFill>
                  <a:srgbClr val="6C4FD8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36934" y="2804089"/>
            <a:ext cx="1828754" cy="85341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733" b="1">
                <a:solidFill>
                  <a:srgbClr val="1A1A1A"/>
                </a:solidFill>
                <a:latin typeface="Arial"/>
              </a:rPr>
              <a:t>Entrevistas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36934" y="3718467"/>
            <a:ext cx="1828754" cy="219450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533" b="0">
                <a:solidFill>
                  <a:srgbClr val="1A1A1A"/>
                </a:solidFill>
                <a:latin typeface="Arial"/>
              </a:rPr>
              <a:t>Seis eixos, de 60 a 90 minutos, sem nomear as categorias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70480" y="2072588"/>
            <a:ext cx="2072588" cy="3962300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397" y="2164025"/>
            <a:ext cx="1828754" cy="6095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333" b="1">
                <a:solidFill>
                  <a:srgbClr val="6C4FD8"/>
                </a:solidFill>
                <a:latin typeface="Arial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397" y="2804089"/>
            <a:ext cx="1828754" cy="85341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733" b="1">
                <a:solidFill>
                  <a:srgbClr val="1A1A1A"/>
                </a:solidFill>
                <a:latin typeface="Arial"/>
              </a:rPr>
              <a:t>Análise e devolutiva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397" y="3718467"/>
            <a:ext cx="1828754" cy="219450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533" b="0">
                <a:solidFill>
                  <a:srgbClr val="1A1A1A"/>
                </a:solidFill>
                <a:latin typeface="Arial"/>
              </a:rPr>
              <a:t>Análise temática reflexiva, triangulação e retorno à escola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584" y="6431119"/>
            <a:ext cx="10972525" cy="304792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999" b="1">
                <a:solidFill>
                  <a:srgbClr val="FFFFFF"/>
                </a:solidFill>
                <a:latin typeface="Arial"/>
              </a:rPr>
              <a:t>Fundamentos: </a:t>
            </a:r>
            <a:r>
              <a:rPr sz="999" b="0">
                <a:solidFill>
                  <a:srgbClr val="FFFFFF"/>
                </a:solidFill>
                <a:latin typeface="Arial"/>
              </a:rPr>
              <a:t>Braun e Clarke (2006; 2019): análise temática reflexiva; Resoluções CNS nº 466/2012 e 510/2016.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584" y="335271"/>
            <a:ext cx="10972525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333" b="1">
                <a:solidFill>
                  <a:srgbClr val="FFFFFF"/>
                </a:solidFill>
                <a:latin typeface="Arial"/>
              </a:rPr>
              <a:t>FORMAS DE ATUAÇÃO E COMO SERÃO LIDAS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26" y="1463003"/>
            <a:ext cx="2377380" cy="883897"/>
          </a:xfrm>
          <a:prstGeom prst="roundRect">
            <a:avLst>
              <a:gd name="adj" fmla="val 30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26" y="1463003"/>
            <a:ext cx="2377380" cy="88389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1599" b="1">
                <a:solidFill>
                  <a:srgbClr val="1A1A1A"/>
                </a:solidFill>
                <a:latin typeface="Arial"/>
              </a:rPr>
              <a:t>Adesão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78403" y="1463003"/>
            <a:ext cx="2377380" cy="883897"/>
          </a:xfrm>
          <a:prstGeom prst="roundRect">
            <a:avLst>
              <a:gd name="adj" fmla="val 30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78403" y="1463003"/>
            <a:ext cx="2377380" cy="88389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1599" b="1">
                <a:solidFill>
                  <a:srgbClr val="1A1A1A"/>
                </a:solidFill>
                <a:latin typeface="Arial"/>
              </a:rPr>
              <a:t>Acomodação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26" y="2529776"/>
            <a:ext cx="2377380" cy="883897"/>
          </a:xfrm>
          <a:prstGeom prst="roundRect">
            <a:avLst>
              <a:gd name="adj" fmla="val 30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26" y="2529776"/>
            <a:ext cx="2377380" cy="88389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1599" b="1">
                <a:solidFill>
                  <a:srgbClr val="1A1A1A"/>
                </a:solidFill>
                <a:latin typeface="Arial"/>
              </a:rPr>
              <a:t>Adaptação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78403" y="2529776"/>
            <a:ext cx="2377380" cy="883897"/>
          </a:xfrm>
          <a:prstGeom prst="roundRect">
            <a:avLst>
              <a:gd name="adj" fmla="val 30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78403" y="2529776"/>
            <a:ext cx="2377380" cy="88389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1599" b="1">
                <a:solidFill>
                  <a:srgbClr val="1A1A1A"/>
                </a:solidFill>
                <a:latin typeface="Arial"/>
              </a:rPr>
              <a:t>Omissão seletiva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26" y="3596550"/>
            <a:ext cx="2377380" cy="883897"/>
          </a:xfrm>
          <a:prstGeom prst="roundRect">
            <a:avLst>
              <a:gd name="adj" fmla="val 30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26" y="3596550"/>
            <a:ext cx="2377380" cy="88389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1599" b="1">
                <a:solidFill>
                  <a:srgbClr val="1A1A1A"/>
                </a:solidFill>
                <a:latin typeface="Arial"/>
              </a:rPr>
              <a:t>Negociação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78403" y="3596550"/>
            <a:ext cx="2377380" cy="883897"/>
          </a:xfrm>
          <a:prstGeom prst="roundRect">
            <a:avLst>
              <a:gd name="adj" fmla="val 30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78403" y="3596550"/>
            <a:ext cx="2377380" cy="88389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1599" b="1">
                <a:solidFill>
                  <a:srgbClr val="1A1A1A"/>
                </a:solidFill>
                <a:latin typeface="Arial"/>
              </a:rPr>
              <a:t>Ressignificação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26" y="4663323"/>
            <a:ext cx="2377380" cy="883897"/>
          </a:xfrm>
          <a:prstGeom prst="roundRect">
            <a:avLst>
              <a:gd name="adj" fmla="val 30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26" y="4663323"/>
            <a:ext cx="2377380" cy="88389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1599" b="1">
                <a:solidFill>
                  <a:srgbClr val="1A1A1A"/>
                </a:solidFill>
                <a:latin typeface="Arial"/>
              </a:rPr>
              <a:t>Resistência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26" y="5730096"/>
            <a:ext cx="4876678" cy="609584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</a:pPr>
            <a:r>
              <a:rPr sz="1266" b="0">
                <a:solidFill>
                  <a:srgbClr val="FFFFFF"/>
                </a:solidFill>
                <a:latin typeface="Arial"/>
              </a:rPr>
              <a:t>Nenhuma forma é pressuposta; outras podem surgir do material.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52013" y="1463003"/>
            <a:ext cx="5791055" cy="4815719"/>
          </a:xfrm>
          <a:prstGeom prst="roundRect">
            <a:avLst>
              <a:gd name="adj" fmla="val 6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5847" y="1584920"/>
            <a:ext cx="5303387" cy="4571885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1066"/>
              </a:spcAft>
            </a:pPr>
            <a:r>
              <a:rPr sz="1733" b="1">
                <a:solidFill>
                  <a:srgbClr val="1A1A1A"/>
                </a:solidFill>
                <a:latin typeface="Arial"/>
              </a:rPr>
              <a:t>Recorrência. </a:t>
            </a:r>
            <a:r>
              <a:rPr sz="1733" b="0">
                <a:solidFill>
                  <a:srgbClr val="1A1A1A"/>
                </a:solidFill>
                <a:latin typeface="Arial"/>
              </a:rPr>
              <a:t>Uma forma só vira achado quando aparece de modo recorrente e sem indução pela pergunta.</a:t>
            </a:r>
          </a:p>
          <a:p>
            <a:pPr algn="l">
              <a:lnSpc>
                <a:spcPct val="115000"/>
              </a:lnSpc>
              <a:spcAft>
                <a:spcPts val="1066"/>
              </a:spcAft>
            </a:pPr>
            <a:r>
              <a:rPr sz="1733" b="1">
                <a:solidFill>
                  <a:srgbClr val="1A1A1A"/>
                </a:solidFill>
                <a:latin typeface="Arial"/>
              </a:rPr>
              <a:t>Posição. </a:t>
            </a:r>
            <a:r>
              <a:rPr sz="1733" b="0">
                <a:solidFill>
                  <a:srgbClr val="1A1A1A"/>
                </a:solidFill>
                <a:latin typeface="Arial"/>
              </a:rPr>
              <a:t>As formas podem variar entre docência, coordenação, direção, apoio e Secretaria.</a:t>
            </a:r>
          </a:p>
          <a:p>
            <a:pPr algn="l">
              <a:lnSpc>
                <a:spcPct val="115000"/>
              </a:lnSpc>
              <a:spcAft>
                <a:spcPts val="1066"/>
              </a:spcAft>
            </a:pPr>
            <a:r>
              <a:rPr sz="1733" b="1">
                <a:solidFill>
                  <a:srgbClr val="1A1A1A"/>
                </a:solidFill>
                <a:latin typeface="Arial"/>
              </a:rPr>
              <a:t>Nome justo. </a:t>
            </a:r>
            <a:r>
              <a:rPr sz="1733" b="0">
                <a:solidFill>
                  <a:srgbClr val="1A1A1A"/>
                </a:solidFill>
                <a:latin typeface="Arial"/>
              </a:rPr>
              <a:t>Quando não há alternativa, o que se vê é custo transferido ao trabalhador, e assim será nomeado.</a:t>
            </a:r>
          </a:p>
          <a:p>
            <a:pPr algn="l">
              <a:lnSpc>
                <a:spcPct val="115000"/>
              </a:lnSpc>
            </a:pPr>
            <a:r>
              <a:rPr sz="1733" b="1">
                <a:solidFill>
                  <a:srgbClr val="1A1A1A"/>
                </a:solidFill>
                <a:latin typeface="Arial"/>
              </a:rPr>
              <a:t>Sem antecipar. </a:t>
            </a:r>
            <a:r>
              <a:rPr sz="1733" b="0">
                <a:solidFill>
                  <a:srgbClr val="1A1A1A"/>
                </a:solidFill>
                <a:latin typeface="Arial"/>
              </a:rPr>
              <a:t>As categorias não são ditas aos participantes; os critérios são datados antes da 1ª entrevista.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584" y="6431119"/>
            <a:ext cx="10972525" cy="304792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999" b="1">
                <a:solidFill>
                  <a:srgbClr val="FFFFFF"/>
                </a:solidFill>
                <a:latin typeface="Arial"/>
              </a:rPr>
              <a:t>Fundamentos: </a:t>
            </a:r>
            <a:r>
              <a:rPr sz="999" b="0">
                <a:solidFill>
                  <a:srgbClr val="FFFFFF"/>
                </a:solidFill>
                <a:latin typeface="Arial"/>
              </a:rPr>
              <a:t>Ball (2002; 2004); Hargreaves (2005); Ball, Maguire e Braun (2016).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584" y="335271"/>
            <a:ext cx="10972525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466" b="1">
                <a:solidFill>
                  <a:srgbClr val="FFFFFF"/>
                </a:solidFill>
                <a:latin typeface="Arial"/>
              </a:rPr>
              <a:t>O TEXTO DA POLÍTICA: O VAZIO MATERIAL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26" y="1402044"/>
            <a:ext cx="5425304" cy="1706837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01" y="1493482"/>
            <a:ext cx="5059553" cy="1523961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266"/>
              </a:spcAft>
            </a:pPr>
            <a:r>
              <a:rPr sz="1599" b="1">
                <a:solidFill>
                  <a:srgbClr val="6C4FD8"/>
                </a:solidFill>
                <a:latin typeface="Arial"/>
              </a:rPr>
              <a:t>Art. 1º, § 3º</a:t>
            </a:r>
          </a:p>
          <a:p>
            <a:pPr algn="l">
              <a:lnSpc>
                <a:spcPct val="115000"/>
              </a:lnSpc>
            </a:pPr>
            <a:r>
              <a:rPr sz="1599" b="0">
                <a:solidFill>
                  <a:srgbClr val="1A1A1A"/>
                </a:solidFill>
                <a:latin typeface="Arial"/>
              </a:rPr>
              <a:t>A PNED se define como “instância de articulação” e não substitui as políticas de infraestrutura e conectividade.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56806" y="1402044"/>
            <a:ext cx="5425304" cy="1706837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39681" y="1493482"/>
            <a:ext cx="5059553" cy="1523961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266"/>
              </a:spcAft>
            </a:pPr>
            <a:r>
              <a:rPr sz="1599" b="1">
                <a:solidFill>
                  <a:srgbClr val="6C4FD8"/>
                </a:solidFill>
                <a:latin typeface="Arial"/>
              </a:rPr>
              <a:t>Art. 2º</a:t>
            </a:r>
          </a:p>
          <a:p>
            <a:pPr algn="l">
              <a:lnSpc>
                <a:spcPct val="115000"/>
              </a:lnSpc>
            </a:pPr>
            <a:r>
              <a:rPr sz="1599" b="0">
                <a:solidFill>
                  <a:srgbClr val="1A1A1A"/>
                </a:solidFill>
                <a:latin typeface="Arial"/>
              </a:rPr>
              <a:t>A inclusão digital, onde está a conectividade das escolas, segue “dentro dos limites orçamentários” de cada ente.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26" y="3291757"/>
            <a:ext cx="5425304" cy="1706837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01" y="3383195"/>
            <a:ext cx="5059553" cy="1523961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266"/>
              </a:spcAft>
            </a:pPr>
            <a:r>
              <a:rPr sz="1599" b="1">
                <a:solidFill>
                  <a:srgbClr val="6C4FD8"/>
                </a:solidFill>
                <a:latin typeface="Arial"/>
              </a:rPr>
              <a:t>Art. 11</a:t>
            </a:r>
          </a:p>
          <a:p>
            <a:pPr algn="l">
              <a:lnSpc>
                <a:spcPct val="115000"/>
              </a:lnSpc>
            </a:pPr>
            <a:r>
              <a:rPr sz="1599" b="0">
                <a:solidFill>
                  <a:srgbClr val="1A1A1A"/>
                </a:solidFill>
                <a:latin typeface="Arial"/>
              </a:rPr>
              <a:t>Dotações dos entes, doações, FUST e Funttel: nenhum fundo próprio, nenhum repasse obrigatório aos municípios.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56806" y="3291757"/>
            <a:ext cx="5425304" cy="1706837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39681" y="3383195"/>
            <a:ext cx="5059553" cy="1523961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266"/>
              </a:spcAft>
            </a:pPr>
            <a:r>
              <a:rPr sz="1599" b="1">
                <a:solidFill>
                  <a:srgbClr val="6C4FD8"/>
                </a:solidFill>
                <a:latin typeface="Arial"/>
              </a:rPr>
              <a:t>Art. 3º, § 1º, IX e X</a:t>
            </a:r>
          </a:p>
          <a:p>
            <a:pPr algn="l">
              <a:lnSpc>
                <a:spcPct val="115000"/>
              </a:lnSpc>
            </a:pPr>
            <a:r>
              <a:rPr sz="1599" b="0">
                <a:solidFill>
                  <a:srgbClr val="1A1A1A"/>
                </a:solidFill>
                <a:latin typeface="Arial"/>
              </a:rPr>
              <a:t>A formação de professores aparece como promoção, sem responsáveis, prazos, carga horária ou custeio.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26" y="5242428"/>
            <a:ext cx="11033484" cy="1066773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460" y="5242428"/>
            <a:ext cx="10545816" cy="1066773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15000"/>
              </a:lnSpc>
            </a:pPr>
            <a:r>
              <a:rPr sz="1466" b="1">
                <a:solidFill>
                  <a:srgbClr val="1A1A1A"/>
                </a:solidFill>
                <a:latin typeface="Arial"/>
              </a:rPr>
              <a:t>Para a tese: </a:t>
            </a:r>
            <a:r>
              <a:rPr sz="1466" b="0">
                <a:solidFill>
                  <a:srgbClr val="1A1A1A"/>
                </a:solidFill>
                <a:latin typeface="Arial"/>
              </a:rPr>
              <a:t>o texto delimita o espaço de interpretação (a), as condições que podem faltar (b), as situações em que surgem formas de atuação (c) e as promessas às crianças (d).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584" y="6431119"/>
            <a:ext cx="10972525" cy="304792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999" b="1">
                <a:solidFill>
                  <a:srgbClr val="FFFFFF"/>
                </a:solidFill>
                <a:latin typeface="Arial"/>
              </a:rPr>
              <a:t>Fundamentos: </a:t>
            </a:r>
            <a:r>
              <a:rPr sz="999" b="0">
                <a:solidFill>
                  <a:srgbClr val="FFFFFF"/>
                </a:solidFill>
                <a:latin typeface="Arial"/>
              </a:rPr>
              <a:t>Brasil (2023); Brasil (2025); Mainardes (2006); Ball (2004).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584" y="335271"/>
            <a:ext cx="10972525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333" b="1">
                <a:solidFill>
                  <a:srgbClr val="FFFFFF"/>
                </a:solidFill>
                <a:latin typeface="Arial"/>
              </a:rPr>
              <a:t>PIPA: O ANTIGO E O CONECTADO JUNTOS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76" y="1328894"/>
            <a:ext cx="5388729" cy="423051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asseios na baía (Figura 20). Acervo da pesquisa (2026)."/>
          <p:cNvPicPr>
            <a:picLocks noChangeAspect="1"/>
          </p:cNvPicPr>
          <p:nvPr/>
        </p:nvPicPr>
        <p:blipFill>
          <a:blip r:embed="rId3"/>
          <a:srcRect t="3491" b="3491"/>
          <a:stretch>
            <a:fillRect/>
          </a:stretch>
        </p:blipFill>
        <p:spPr>
          <a:xfrm>
            <a:off x="548626" y="1402044"/>
            <a:ext cx="5242428" cy="35965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26" y="5010786"/>
            <a:ext cx="5242428" cy="487667"/>
          </a:xfrm>
          <a:prstGeom prst="rect">
            <a:avLst/>
          </a:prstGeom>
          <a:noFill/>
        </p:spPr>
        <p:txBody>
          <a:bodyPr wrap="square" lIns="12191" rIns="12191" tIns="12191" bIns="12191" anchor="ctr"/>
          <a:lstStyle/>
          <a:p>
            <a:pPr algn="l">
              <a:lnSpc>
                <a:spcPct val="100000"/>
              </a:lnSpc>
            </a:pPr>
            <a:r>
              <a:rPr sz="999" b="0">
                <a:solidFill>
                  <a:srgbClr val="1A1A1A"/>
                </a:solidFill>
                <a:latin typeface="Arial"/>
              </a:rPr>
              <a:t>Passeios na baía (Figura 20). Acervo da pesquisa (2026).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05572" y="1328894"/>
            <a:ext cx="2584639" cy="423051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escador em Pipa (Figura 21)."/>
          <p:cNvPicPr>
            <a:picLocks noChangeAspect="1"/>
          </p:cNvPicPr>
          <p:nvPr/>
        </p:nvPicPr>
        <p:blipFill>
          <a:blip r:embed="rId4"/>
          <a:srcRect t="7845" b="7845"/>
          <a:stretch>
            <a:fillRect/>
          </a:stretch>
        </p:blipFill>
        <p:spPr>
          <a:xfrm>
            <a:off x="6278723" y="1402044"/>
            <a:ext cx="2438339" cy="35965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78723" y="5010786"/>
            <a:ext cx="2438339" cy="487667"/>
          </a:xfrm>
          <a:prstGeom prst="rect">
            <a:avLst/>
          </a:prstGeom>
          <a:noFill/>
        </p:spPr>
        <p:txBody>
          <a:bodyPr wrap="square" lIns="12191" rIns="12191" tIns="12191" bIns="12191" anchor="ctr"/>
          <a:lstStyle/>
          <a:p>
            <a:pPr algn="l">
              <a:lnSpc>
                <a:spcPct val="100000"/>
              </a:lnSpc>
            </a:pPr>
            <a:r>
              <a:rPr sz="999" b="0">
                <a:solidFill>
                  <a:srgbClr val="1A1A1A"/>
                </a:solidFill>
                <a:latin typeface="Arial"/>
              </a:rPr>
              <a:t>Pescador em Pipa (Figura 21).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04729" y="1328894"/>
            <a:ext cx="2438339" cy="4078122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57126" y="1432524"/>
            <a:ext cx="2133546" cy="3901342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15000"/>
              </a:lnSpc>
            </a:pPr>
            <a:r>
              <a:rPr sz="1666" b="0">
                <a:solidFill>
                  <a:srgbClr val="1A1A1A"/>
                </a:solidFill>
                <a:latin typeface="Arial"/>
              </a:rPr>
              <a:t>O digital atravessa o turismo, de reservas a pagamentos, enquanto a pesca segue no mesmo mar. A tecnologia está em quase todo o distrito, menos nas salas das crianças.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584" y="5791055"/>
            <a:ext cx="10972525" cy="304792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999" b="1">
                <a:solidFill>
                  <a:srgbClr val="FFFFFF"/>
                </a:solidFill>
                <a:latin typeface="Arial"/>
              </a:rPr>
              <a:t>Fundamentos: </a:t>
            </a:r>
            <a:r>
              <a:rPr sz="999" b="0">
                <a:solidFill>
                  <a:srgbClr val="FFFFFF"/>
                </a:solidFill>
                <a:latin typeface="Arial"/>
              </a:rPr>
              <a:t>Santos (1999): território usado; Massey (2008): lugar como encontro de trajetórias.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584" y="335271"/>
            <a:ext cx="10972525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599" b="1">
                <a:solidFill>
                  <a:srgbClr val="FFFFFF"/>
                </a:solidFill>
                <a:latin typeface="Arial"/>
              </a:rPr>
              <a:t>A ESCOLA E A EDUCAÇÃO DIGITAL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76" y="1359374"/>
            <a:ext cx="3559974" cy="282847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aboratório de informática (Figura 25)"/>
          <p:cNvPicPr>
            <a:picLocks noChangeAspect="1"/>
          </p:cNvPicPr>
          <p:nvPr/>
        </p:nvPicPr>
        <p:blipFill>
          <a:blip r:embed="rId3"/>
          <a:srcRect l="6250" r="6250"/>
          <a:stretch>
            <a:fillRect/>
          </a:stretch>
        </p:blipFill>
        <p:spPr>
          <a:xfrm>
            <a:off x="548626" y="1432524"/>
            <a:ext cx="3413674" cy="219450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26" y="3639221"/>
            <a:ext cx="3413674" cy="487667"/>
          </a:xfrm>
          <a:prstGeom prst="rect">
            <a:avLst/>
          </a:prstGeom>
          <a:noFill/>
        </p:spPr>
        <p:txBody>
          <a:bodyPr wrap="square" lIns="12191" rIns="12191" tIns="12191" bIns="12191" anchor="ctr"/>
          <a:lstStyle/>
          <a:p>
            <a:pPr algn="l">
              <a:lnSpc>
                <a:spcPct val="100000"/>
              </a:lnSpc>
            </a:pPr>
            <a:r>
              <a:rPr sz="999" b="0">
                <a:solidFill>
                  <a:srgbClr val="1A1A1A"/>
                </a:solidFill>
                <a:latin typeface="Arial"/>
              </a:rPr>
              <a:t>Laboratório de informática (Figura 25)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76" y="4267093"/>
            <a:ext cx="3559974" cy="1767795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584" y="4328051"/>
            <a:ext cx="3291757" cy="1645878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15000"/>
              </a:lnSpc>
            </a:pPr>
            <a:r>
              <a:rPr sz="1399" b="0">
                <a:solidFill>
                  <a:srgbClr val="1A1A1A"/>
                </a:solidFill>
                <a:latin typeface="Arial"/>
              </a:rPr>
              <a:t>Montado pela Prefeitura em 2022 e com uso pedagógico a verificar nos documentos (informação preliminar).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24422" y="1359374"/>
            <a:ext cx="3559974" cy="282847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ala dos anos iniciais (Figura 34)"/>
          <p:cNvPicPr>
            <a:picLocks noChangeAspect="1"/>
          </p:cNvPicPr>
          <p:nvPr/>
        </p:nvPicPr>
        <p:blipFill>
          <a:blip r:embed="rId4"/>
          <a:srcRect l="6250" r="6250"/>
          <a:stretch>
            <a:fillRect/>
          </a:stretch>
        </p:blipFill>
        <p:spPr>
          <a:xfrm>
            <a:off x="4297572" y="1432524"/>
            <a:ext cx="3413674" cy="219450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297572" y="3639221"/>
            <a:ext cx="3413674" cy="487667"/>
          </a:xfrm>
          <a:prstGeom prst="rect">
            <a:avLst/>
          </a:prstGeom>
          <a:noFill/>
        </p:spPr>
        <p:txBody>
          <a:bodyPr wrap="square" lIns="12191" rIns="12191" tIns="12191" bIns="12191" anchor="ctr"/>
          <a:lstStyle/>
          <a:p>
            <a:pPr algn="l">
              <a:lnSpc>
                <a:spcPct val="100000"/>
              </a:lnSpc>
            </a:pPr>
            <a:r>
              <a:rPr sz="999" b="0">
                <a:solidFill>
                  <a:srgbClr val="1A1A1A"/>
                </a:solidFill>
                <a:latin typeface="Arial"/>
              </a:rPr>
              <a:t>Sala dos anos iniciais (Figura 34)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24422" y="4267093"/>
            <a:ext cx="3559974" cy="1767795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58531" y="4328051"/>
            <a:ext cx="3291757" cy="1645878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15000"/>
              </a:lnSpc>
            </a:pPr>
            <a:r>
              <a:rPr sz="1399" b="0">
                <a:solidFill>
                  <a:srgbClr val="1A1A1A"/>
                </a:solidFill>
                <a:latin typeface="Arial"/>
              </a:rPr>
              <a:t>Nas salas de 1º e 2º anos registradas, nenhum dispositivo digital.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73368" y="1359374"/>
            <a:ext cx="3559974" cy="282847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Alfabeto móvel feito à mão (Figura 37)"/>
          <p:cNvPicPr>
            <a:picLocks noChangeAspect="1"/>
          </p:cNvPicPr>
          <p:nvPr/>
        </p:nvPicPr>
        <p:blipFill>
          <a:blip r:embed="rId5"/>
          <a:srcRect l="6250" r="6250"/>
          <a:stretch>
            <a:fillRect/>
          </a:stretch>
        </p:blipFill>
        <p:spPr>
          <a:xfrm>
            <a:off x="8046518" y="1432524"/>
            <a:ext cx="3413674" cy="219450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046518" y="3639221"/>
            <a:ext cx="3413674" cy="487667"/>
          </a:xfrm>
          <a:prstGeom prst="rect">
            <a:avLst/>
          </a:prstGeom>
          <a:noFill/>
        </p:spPr>
        <p:txBody>
          <a:bodyPr wrap="square" lIns="12191" rIns="12191" tIns="12191" bIns="12191" anchor="ctr"/>
          <a:lstStyle/>
          <a:p>
            <a:pPr algn="l">
              <a:lnSpc>
                <a:spcPct val="100000"/>
              </a:lnSpc>
            </a:pPr>
            <a:r>
              <a:rPr sz="999" b="0">
                <a:solidFill>
                  <a:srgbClr val="1A1A1A"/>
                </a:solidFill>
                <a:latin typeface="Arial"/>
              </a:rPr>
              <a:t>Alfabeto móvel feito à mão (Figura 37)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73368" y="4267093"/>
            <a:ext cx="3559974" cy="1767795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07477" y="4328051"/>
            <a:ext cx="3291757" cy="1645878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15000"/>
              </a:lnSpc>
            </a:pPr>
            <a:r>
              <a:rPr sz="1399" b="0">
                <a:solidFill>
                  <a:srgbClr val="1A1A1A"/>
                </a:solidFill>
                <a:latin typeface="Arial"/>
              </a:rPr>
              <a:t>Predominam recursos impressos e artesanais.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584" y="6431119"/>
            <a:ext cx="10972525" cy="304792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999" b="1">
                <a:solidFill>
                  <a:srgbClr val="FFFFFF"/>
                </a:solidFill>
                <a:latin typeface="Arial"/>
              </a:rPr>
              <a:t>Fundamentos: </a:t>
            </a:r>
            <a:r>
              <a:rPr sz="999" b="0">
                <a:solidFill>
                  <a:srgbClr val="FFFFFF"/>
                </a:solidFill>
                <a:latin typeface="Arial"/>
              </a:rPr>
              <a:t>Ball, Maguire e Braun (2016): dimensão material; Santos (2012): rugosidade.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584" y="335271"/>
            <a:ext cx="10972525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599" b="1">
                <a:solidFill>
                  <a:srgbClr val="FFFFFF"/>
                </a:solidFill>
                <a:latin typeface="Arial"/>
              </a:rPr>
              <a:t>O TERRITÓRIO ATRAVESSA A TESE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26" y="1463003"/>
            <a:ext cx="3566070" cy="2072588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01" y="1584920"/>
            <a:ext cx="3200319" cy="1828754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666"/>
              </a:spcAft>
            </a:pPr>
            <a:r>
              <a:rPr sz="1799" b="1">
                <a:solidFill>
                  <a:srgbClr val="6C4FD8"/>
                </a:solidFill>
                <a:latin typeface="Arial"/>
              </a:rPr>
              <a:t>Introdução</a:t>
            </a:r>
          </a:p>
          <a:p>
            <a:pPr algn="l">
              <a:lnSpc>
                <a:spcPct val="115000"/>
              </a:lnSpc>
            </a:pPr>
            <a:r>
              <a:rPr sz="1799" b="0">
                <a:solidFill>
                  <a:srgbClr val="1A1A1A"/>
                </a:solidFill>
                <a:latin typeface="Arial"/>
              </a:rPr>
              <a:t>Na questão e no ineditismo analítico-espacial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572" y="1463003"/>
            <a:ext cx="3566070" cy="2072588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80447" y="1584920"/>
            <a:ext cx="3200319" cy="1828754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666"/>
              </a:spcAft>
            </a:pPr>
            <a:r>
              <a:rPr sz="1799" b="1">
                <a:solidFill>
                  <a:srgbClr val="6C4FD8"/>
                </a:solidFill>
                <a:latin typeface="Arial"/>
              </a:rPr>
              <a:t>Cap. 2 · RSL</a:t>
            </a:r>
          </a:p>
          <a:p>
            <a:pPr algn="l">
              <a:lnSpc>
                <a:spcPct val="115000"/>
              </a:lnSpc>
            </a:pPr>
            <a:r>
              <a:rPr sz="1799" b="0">
                <a:solidFill>
                  <a:srgbClr val="1A1A1A"/>
                </a:solidFill>
                <a:latin typeface="Arial"/>
              </a:rPr>
              <a:t>Só contraste entre países; nenhuma rede pequena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518" y="1463003"/>
            <a:ext cx="3566070" cy="2072588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394" y="1584920"/>
            <a:ext cx="3200319" cy="1828754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666"/>
              </a:spcAft>
            </a:pPr>
            <a:r>
              <a:rPr sz="1799" b="1">
                <a:solidFill>
                  <a:srgbClr val="6C4FD8"/>
                </a:solidFill>
                <a:latin typeface="Arial"/>
              </a:rPr>
              <a:t>Cap. 4 · Método</a:t>
            </a:r>
          </a:p>
          <a:p>
            <a:pPr algn="l">
              <a:lnSpc>
                <a:spcPct val="115000"/>
              </a:lnSpc>
            </a:pPr>
            <a:r>
              <a:rPr sz="1799" b="0">
                <a:solidFill>
                  <a:srgbClr val="1A1A1A"/>
                </a:solidFill>
                <a:latin typeface="Arial"/>
              </a:rPr>
              <a:t>Dimensão situacional, registro iconográfico, entrevistas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26" y="3779425"/>
            <a:ext cx="3566070" cy="2072588"/>
          </a:xfrm>
          <a:prstGeom prst="roundRect">
            <a:avLst>
              <a:gd name="adj" fmla="val 8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01" y="3901342"/>
            <a:ext cx="3200319" cy="1828754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666"/>
              </a:spcAft>
            </a:pPr>
            <a:r>
              <a:rPr sz="1799" b="1">
                <a:solidFill>
                  <a:srgbClr val="6C4FD8"/>
                </a:solidFill>
                <a:latin typeface="Arial"/>
              </a:rPr>
              <a:t>Cap. 5 · Lei</a:t>
            </a:r>
          </a:p>
          <a:p>
            <a:pPr algn="l">
              <a:lnSpc>
                <a:spcPct val="115000"/>
              </a:lnSpc>
            </a:pPr>
            <a:r>
              <a:rPr sz="1799" b="0">
                <a:solidFill>
                  <a:srgbClr val="1A1A1A"/>
                </a:solidFill>
                <a:latin typeface="Arial"/>
              </a:rPr>
              <a:t>Prioridade aos vulneráveis e meios por conta de cada ente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572" y="3779425"/>
            <a:ext cx="3566070" cy="2072588"/>
          </a:xfrm>
          <a:prstGeom prst="roundRect">
            <a:avLst>
              <a:gd name="adj" fmla="val 8000"/>
            </a:avLst>
          </a:prstGeom>
          <a:solidFill>
            <a:srgbClr val="FFCE32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447" y="3901342"/>
            <a:ext cx="3200319" cy="1828754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666"/>
              </a:spcAft>
            </a:pPr>
            <a:r>
              <a:rPr sz="1799" b="1">
                <a:solidFill>
                  <a:srgbClr val="1A1A1A"/>
                </a:solidFill>
                <a:latin typeface="Arial"/>
              </a:rPr>
              <a:t>Cap. 6 · Território</a:t>
            </a:r>
          </a:p>
          <a:p>
            <a:pPr algn="l">
              <a:lnSpc>
                <a:spcPct val="115000"/>
              </a:lnSpc>
            </a:pPr>
            <a:r>
              <a:rPr sz="1799" b="0">
                <a:solidFill>
                  <a:srgbClr val="1A1A1A"/>
                </a:solidFill>
                <a:latin typeface="Arial"/>
              </a:rPr>
              <a:t>Condições documentadas, habitar o digital, rugosidade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518" y="3779425"/>
            <a:ext cx="3566070" cy="2072588"/>
          </a:xfrm>
          <a:prstGeom prst="roundRect">
            <a:avLst>
              <a:gd name="adj" fmla="val 8000"/>
            </a:avLst>
          </a:prstGeom>
          <a:solidFill>
            <a:srgbClr val="FFCE32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394" y="3901342"/>
            <a:ext cx="3200319" cy="1828754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666"/>
              </a:spcAft>
            </a:pPr>
            <a:r>
              <a:rPr sz="1799" b="1">
                <a:solidFill>
                  <a:srgbClr val="1A1A1A"/>
                </a:solidFill>
                <a:latin typeface="Arial"/>
              </a:rPr>
              <a:t>Cap. 7 · Narrativas</a:t>
            </a:r>
          </a:p>
          <a:p>
            <a:pPr algn="l">
              <a:lnSpc>
                <a:spcPct val="115000"/>
              </a:lnSpc>
            </a:pPr>
            <a:r>
              <a:rPr sz="1799" b="0">
                <a:solidFill>
                  <a:srgbClr val="1A1A1A"/>
                </a:solidFill>
                <a:latin typeface="Arial"/>
              </a:rPr>
              <a:t>Os quatro objetivos lidos em relação ao lugar</a:t>
            </a:r>
          </a:p>
        </p:txBody>
      </p:sp>
      <p:pic>
        <p:nvPicPr>
          <p:cNvPr id="16" name="Picture 15" descr="Ilustração decorativ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33484" y="182875"/>
            <a:ext cx="914377" cy="117779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48626" y="6156806"/>
            <a:ext cx="11094442" cy="48766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15000"/>
              </a:lnSpc>
            </a:pPr>
            <a:r>
              <a:rPr sz="1399" b="0">
                <a:solidFill>
                  <a:srgbClr val="FFFFFF"/>
                </a:solidFill>
                <a:latin typeface="Arial"/>
              </a:rPr>
              <a:t>Pipa é parte constitutiva do contexto da prática, da pergunta às considerações finais.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584" y="335271"/>
            <a:ext cx="10972525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733" b="1">
                <a:solidFill>
                  <a:srgbClr val="FFFFFF"/>
                </a:solidFill>
                <a:latin typeface="Arial"/>
              </a:rPr>
              <a:t>ONDE ESTAMOS E O QUE FALTA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26" y="1402044"/>
            <a:ext cx="5242428" cy="4815719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460" y="1523961"/>
            <a:ext cx="4754761" cy="4571885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1066"/>
              </a:spcAft>
            </a:pPr>
            <a:r>
              <a:rPr sz="1866" b="1">
                <a:solidFill>
                  <a:srgbClr val="1A1A1A"/>
                </a:solidFill>
                <a:latin typeface="Arial"/>
              </a:rPr>
              <a:t>FEITO</a:t>
            </a:r>
          </a:p>
          <a:p>
            <a:pPr algn="l">
              <a:lnSpc>
                <a:spcPct val="115000"/>
              </a:lnSpc>
              <a:spcAft>
                <a:spcPts val="1066"/>
              </a:spcAft>
            </a:pPr>
            <a:r>
              <a:rPr sz="1866" b="0">
                <a:solidFill>
                  <a:srgbClr val="1A1A1A"/>
                </a:solidFill>
                <a:latin typeface="Arial"/>
              </a:rPr>
              <a:t>Projeto reformulado e capítulos 1, 2, 4, 5 e 6 alinhados a ele</a:t>
            </a:r>
          </a:p>
          <a:p>
            <a:pPr algn="l">
              <a:lnSpc>
                <a:spcPct val="115000"/>
              </a:lnSpc>
              <a:spcAft>
                <a:spcPts val="1066"/>
              </a:spcAft>
            </a:pPr>
            <a:r>
              <a:rPr sz="1866" b="0">
                <a:solidFill>
                  <a:srgbClr val="1A1A1A"/>
                </a:solidFill>
                <a:latin typeface="Arial"/>
              </a:rPr>
              <a:t>Revisão sistemática concluída (9 estudos)</a:t>
            </a:r>
          </a:p>
          <a:p>
            <a:pPr algn="l">
              <a:lnSpc>
                <a:spcPct val="115000"/>
              </a:lnSpc>
              <a:spcAft>
                <a:spcPts val="1066"/>
              </a:spcAft>
            </a:pPr>
            <a:r>
              <a:rPr sz="1866" b="0">
                <a:solidFill>
                  <a:srgbClr val="1A1A1A"/>
                </a:solidFill>
                <a:latin typeface="Arial"/>
              </a:rPr>
              <a:t>Registro iconográfico e acervo histórico (Cap. 6)</a:t>
            </a:r>
          </a:p>
          <a:p>
            <a:pPr algn="l">
              <a:lnSpc>
                <a:spcPct val="115000"/>
              </a:lnSpc>
            </a:pPr>
            <a:r>
              <a:rPr sz="1866" b="0">
                <a:solidFill>
                  <a:srgbClr val="1A1A1A"/>
                </a:solidFill>
                <a:latin typeface="Arial"/>
              </a:rPr>
              <a:t>Capítulo 3 em construção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639" y="1402044"/>
            <a:ext cx="5242428" cy="4815719"/>
          </a:xfrm>
          <a:prstGeom prst="roundRect">
            <a:avLst>
              <a:gd name="adj" fmla="val 6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44473" y="1523961"/>
            <a:ext cx="4754761" cy="4571885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15000"/>
              </a:lnSpc>
              <a:spcAft>
                <a:spcPts val="666"/>
              </a:spcAft>
            </a:pPr>
            <a:r>
              <a:rPr sz="1666" b="1">
                <a:solidFill>
                  <a:srgbClr val="6C4FD8"/>
                </a:solidFill>
                <a:latin typeface="Arial"/>
              </a:rPr>
              <a:t>ANTES DO CAMPO</a:t>
            </a:r>
          </a:p>
          <a:p>
            <a:pPr algn="l">
              <a:lnSpc>
                <a:spcPct val="115000"/>
              </a:lnSpc>
              <a:spcAft>
                <a:spcPts val="666"/>
              </a:spcAft>
            </a:pPr>
            <a:r>
              <a:rPr sz="1666" b="0">
                <a:solidFill>
                  <a:srgbClr val="1A1A1A"/>
                </a:solidFill>
                <a:latin typeface="Arial"/>
              </a:rPr>
              <a:t>Emenda ao CEP com questionário e roteiro</a:t>
            </a:r>
          </a:p>
          <a:p>
            <a:pPr algn="l">
              <a:lnSpc>
                <a:spcPct val="115000"/>
              </a:lnSpc>
              <a:spcAft>
                <a:spcPts val="666"/>
              </a:spcAft>
            </a:pPr>
            <a:r>
              <a:rPr sz="1666" b="0">
                <a:solidFill>
                  <a:srgbClr val="1A1A1A"/>
                </a:solidFill>
                <a:latin typeface="Arial"/>
              </a:rPr>
              <a:t>Critérios de leitura datados antes da 1ª entrevista</a:t>
            </a:r>
          </a:p>
          <a:p>
            <a:pPr algn="l">
              <a:lnSpc>
                <a:spcPct val="115000"/>
              </a:lnSpc>
              <a:spcAft>
                <a:spcPts val="666"/>
              </a:spcAft>
            </a:pPr>
            <a:r>
              <a:rPr sz="1666" b="0">
                <a:solidFill>
                  <a:srgbClr val="1A1A1A"/>
                </a:solidFill>
                <a:latin typeface="Arial"/>
              </a:rPr>
              <a:t>Análise documental: aquisição, PIEC, Censo, formação</a:t>
            </a:r>
          </a:p>
          <a:p>
            <a:pPr algn="l">
              <a:lnSpc>
                <a:spcPct val="115000"/>
              </a:lnSpc>
              <a:spcAft>
                <a:spcPts val="666"/>
              </a:spcAft>
            </a:pPr>
            <a:r>
              <a:rPr sz="1666" b="0">
                <a:solidFill>
                  <a:srgbClr val="1A1A1A"/>
                </a:solidFill>
                <a:latin typeface="Arial"/>
              </a:rPr>
              <a:t>Receita e gasto em educação do município</a:t>
            </a:r>
          </a:p>
          <a:p>
            <a:pPr algn="l">
              <a:lnSpc>
                <a:spcPct val="115000"/>
              </a:lnSpc>
              <a:spcAft>
                <a:spcPts val="666"/>
              </a:spcAft>
            </a:pPr>
            <a:r>
              <a:rPr sz="1666" b="0">
                <a:solidFill>
                  <a:srgbClr val="1A1A1A"/>
                </a:solidFill>
                <a:latin typeface="Arial"/>
              </a:rPr>
              <a:t>Testes de velocidade da conexão nas salas</a:t>
            </a:r>
          </a:p>
          <a:p>
            <a:pPr algn="l">
              <a:lnSpc>
                <a:spcPct val="115000"/>
              </a:lnSpc>
            </a:pPr>
            <a:r>
              <a:rPr sz="1666" b="0">
                <a:solidFill>
                  <a:srgbClr val="1A1A1A"/>
                </a:solidFill>
                <a:latin typeface="Arial"/>
              </a:rPr>
              <a:t>Número de turmas e de crianças do 1º ao 5º ano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584" y="6431119"/>
            <a:ext cx="10972525" cy="304792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00000"/>
              </a:lnSpc>
            </a:pPr>
            <a:r>
              <a:rPr sz="999" b="1">
                <a:solidFill>
                  <a:srgbClr val="FFFFFF"/>
                </a:solidFill>
                <a:latin typeface="Arial"/>
              </a:rPr>
              <a:t>Fundamentos: </a:t>
            </a:r>
            <a:r>
              <a:rPr sz="999" b="0">
                <a:solidFill>
                  <a:srgbClr val="FFFFFF"/>
                </a:solidFill>
                <a:latin typeface="Arial"/>
              </a:rPr>
              <a:t>Yin (2001); Resoluções CNS nº 466/2012 e 510/2016.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584" y="335271"/>
            <a:ext cx="10972525" cy="914377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3599" b="1">
                <a:solidFill>
                  <a:srgbClr val="FFFFFF"/>
                </a:solidFill>
                <a:latin typeface="Arial"/>
              </a:rPr>
              <a:t>REFERÊNCIAS PRINCIPAIS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26" y="1341086"/>
            <a:ext cx="11094442" cy="5242428"/>
          </a:xfrm>
          <a:prstGeom prst="roundRect">
            <a:avLst>
              <a:gd name="adj" fmla="val 3000"/>
            </a:avLst>
          </a:prstGeom>
          <a:solidFill>
            <a:srgbClr val="F1E7D9"/>
          </a:solidFill>
          <a:ln w="25399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01" y="1463003"/>
            <a:ext cx="5364345" cy="5059553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05000"/>
              </a:lnSpc>
              <a:spcAft>
                <a:spcPts val="666"/>
              </a:spcAft>
            </a:pPr>
            <a:r>
              <a:rPr sz="1199" b="0">
                <a:solidFill>
                  <a:srgbClr val="1A1A1A"/>
                </a:solidFill>
                <a:latin typeface="Arial"/>
              </a:rPr>
              <a:t>BALL, S. J. Reformar escolas/reformar professores e os terrores da performatividade. Revista Portuguesa de Educação, v. 15, n. 2, p. 3-23, 2002.</a:t>
            </a:r>
          </a:p>
          <a:p>
            <a:pPr algn="l">
              <a:lnSpc>
                <a:spcPct val="105000"/>
              </a:lnSpc>
              <a:spcAft>
                <a:spcPts val="666"/>
              </a:spcAft>
            </a:pPr>
            <a:r>
              <a:rPr sz="1199" b="0">
                <a:solidFill>
                  <a:srgbClr val="1A1A1A"/>
                </a:solidFill>
                <a:latin typeface="Arial"/>
              </a:rPr>
              <a:t>BALL, S. J. Performatividade, privatização e o pós-Estado do bem-estar. Educação &amp; Sociedade, v. 25, n. 89, p. 1105-1126, 2004.</a:t>
            </a:r>
          </a:p>
          <a:p>
            <a:pPr algn="l">
              <a:lnSpc>
                <a:spcPct val="105000"/>
              </a:lnSpc>
              <a:spcAft>
                <a:spcPts val="666"/>
              </a:spcAft>
            </a:pPr>
            <a:r>
              <a:rPr sz="1199" b="0">
                <a:solidFill>
                  <a:srgbClr val="1A1A1A"/>
                </a:solidFill>
                <a:latin typeface="Arial"/>
              </a:rPr>
              <a:t>BALL, S. J.; MAGUIRE, M.; BRAUN, A. Como as escolas fazem as políticas: atuação em escolas secundárias. Ponta Grossa: UEPG, 2016.</a:t>
            </a:r>
          </a:p>
          <a:p>
            <a:pPr algn="l">
              <a:lnSpc>
                <a:spcPct val="105000"/>
              </a:lnSpc>
              <a:spcAft>
                <a:spcPts val="666"/>
              </a:spcAft>
            </a:pPr>
            <a:r>
              <a:rPr sz="1199" b="0">
                <a:solidFill>
                  <a:srgbClr val="1A1A1A"/>
                </a:solidFill>
                <a:latin typeface="Arial"/>
              </a:rPr>
              <a:t>BOWE, R.; BALL, S. J.; GOLD, A. Reforming education and changing schools. London: Routledge, 1992.</a:t>
            </a:r>
          </a:p>
          <a:p>
            <a:pPr algn="l">
              <a:lnSpc>
                <a:spcPct val="105000"/>
              </a:lnSpc>
              <a:spcAft>
                <a:spcPts val="666"/>
              </a:spcAft>
            </a:pPr>
            <a:r>
              <a:rPr sz="1199" b="0">
                <a:solidFill>
                  <a:srgbClr val="1A1A1A"/>
                </a:solidFill>
                <a:latin typeface="Arial"/>
              </a:rPr>
              <a:t>BRASIL. Lei nº 14.533, de 11 de janeiro de 2023. Institui a Política Nacional de Educação Digital. Brasília, DF, 2023.</a:t>
            </a:r>
          </a:p>
          <a:p>
            <a:pPr algn="l">
              <a:lnSpc>
                <a:spcPct val="105000"/>
              </a:lnSpc>
              <a:spcAft>
                <a:spcPts val="666"/>
              </a:spcAft>
            </a:pPr>
            <a:r>
              <a:rPr sz="1199" b="0">
                <a:solidFill>
                  <a:srgbClr val="1A1A1A"/>
                </a:solidFill>
                <a:latin typeface="Arial"/>
              </a:rPr>
              <a:t>BRAUN, V.; CLARKE, V. Using thematic analysis in psychology. Qualitative Research in Psychology, v. 3, n. 2, p. 77-101, 2006.</a:t>
            </a:r>
          </a:p>
          <a:p>
            <a:pPr algn="l">
              <a:lnSpc>
                <a:spcPct val="105000"/>
              </a:lnSpc>
              <a:spcAft>
                <a:spcPts val="666"/>
              </a:spcAft>
            </a:pPr>
            <a:r>
              <a:rPr sz="1199" b="0">
                <a:solidFill>
                  <a:srgbClr val="1A1A1A"/>
                </a:solidFill>
                <a:latin typeface="Arial"/>
              </a:rPr>
              <a:t>DI FELICE, M. Paisagens pós-urbanas: o fim da experiência urbana e as formas comunicativas do habitar. São Paulo: Annablume, 2009.</a:t>
            </a:r>
          </a:p>
          <a:p>
            <a:pPr algn="l">
              <a:lnSpc>
                <a:spcPct val="105000"/>
              </a:lnSpc>
            </a:pPr>
            <a:r>
              <a:rPr sz="1199" b="0">
                <a:solidFill>
                  <a:srgbClr val="1A1A1A"/>
                </a:solidFill>
                <a:latin typeface="Arial"/>
              </a:rPr>
              <a:t>HARGREAVES, A. Profesorado, cultura y postmodernidad. 5. ed. Madrid: Morata, 2005.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56806" y="1463003"/>
            <a:ext cx="5364345" cy="5059553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l">
              <a:lnSpc>
                <a:spcPct val="105000"/>
              </a:lnSpc>
              <a:spcAft>
                <a:spcPts val="666"/>
              </a:spcAft>
            </a:pPr>
            <a:r>
              <a:rPr sz="1199" b="0">
                <a:solidFill>
                  <a:srgbClr val="1A1A1A"/>
                </a:solidFill>
                <a:latin typeface="Arial"/>
              </a:rPr>
              <a:t>MAINARDES, J. Abordagem do ciclo de políticas. Educação &amp; Sociedade, v. 27, n. 94, p. 47-69, 2006.</a:t>
            </a:r>
          </a:p>
          <a:p>
            <a:pPr algn="l">
              <a:lnSpc>
                <a:spcPct val="105000"/>
              </a:lnSpc>
              <a:spcAft>
                <a:spcPts val="666"/>
              </a:spcAft>
            </a:pPr>
            <a:r>
              <a:rPr sz="1199" b="0">
                <a:solidFill>
                  <a:srgbClr val="1A1A1A"/>
                </a:solidFill>
                <a:latin typeface="Arial"/>
              </a:rPr>
              <a:t>MASSEY, D. Pelo espaço: uma nova política da espacialidade. Rio de Janeiro: Bertrand Brasil, 2008.</a:t>
            </a:r>
          </a:p>
          <a:p>
            <a:pPr algn="l">
              <a:lnSpc>
                <a:spcPct val="105000"/>
              </a:lnSpc>
              <a:spcAft>
                <a:spcPts val="666"/>
              </a:spcAft>
            </a:pPr>
            <a:r>
              <a:rPr sz="1199" b="0">
                <a:solidFill>
                  <a:srgbClr val="1A1A1A"/>
                </a:solidFill>
                <a:latin typeface="Arial"/>
              </a:rPr>
              <a:t>MINAYO, M. C. S. (org.). Pesquisa social: teoria, método e criatividade. 28. ed. Petrópolis: Vozes, 2009.</a:t>
            </a:r>
          </a:p>
          <a:p>
            <a:pPr algn="l">
              <a:lnSpc>
                <a:spcPct val="105000"/>
              </a:lnSpc>
              <a:spcAft>
                <a:spcPts val="666"/>
              </a:spcAft>
            </a:pPr>
            <a:r>
              <a:rPr sz="1199" b="0">
                <a:solidFill>
                  <a:srgbClr val="1A1A1A"/>
                </a:solidFill>
                <a:latin typeface="Arial"/>
              </a:rPr>
              <a:t>ONU. Comitê dos Direitos da Criança. Comentário Geral nº 25 (2021). Genebra: ONU, 2021.</a:t>
            </a:r>
          </a:p>
          <a:p>
            <a:pPr algn="l">
              <a:lnSpc>
                <a:spcPct val="105000"/>
              </a:lnSpc>
              <a:spcAft>
                <a:spcPts val="666"/>
              </a:spcAft>
            </a:pPr>
            <a:r>
              <a:rPr sz="1199" b="0">
                <a:solidFill>
                  <a:srgbClr val="1A1A1A"/>
                </a:solidFill>
                <a:latin typeface="Arial"/>
              </a:rPr>
              <a:t>SANTOS, M. O território e o saber local: algumas categorias de análise. Cadernos IPPUR, ano 13, n. 2, p. 15-26, 1999.</a:t>
            </a:r>
          </a:p>
          <a:p>
            <a:pPr algn="l">
              <a:lnSpc>
                <a:spcPct val="105000"/>
              </a:lnSpc>
              <a:spcAft>
                <a:spcPts val="666"/>
              </a:spcAft>
            </a:pPr>
            <a:r>
              <a:rPr sz="1199" b="0">
                <a:solidFill>
                  <a:srgbClr val="1A1A1A"/>
                </a:solidFill>
                <a:latin typeface="Arial"/>
              </a:rPr>
              <a:t>SANTOS, M. A natureza do espaço: técnica e tempo, razão e emoção. 4. ed. São Paulo: Edusp, 2006.</a:t>
            </a:r>
          </a:p>
          <a:p>
            <a:pPr algn="l">
              <a:lnSpc>
                <a:spcPct val="105000"/>
              </a:lnSpc>
              <a:spcAft>
                <a:spcPts val="666"/>
              </a:spcAft>
            </a:pPr>
            <a:r>
              <a:rPr sz="1199" b="0">
                <a:solidFill>
                  <a:srgbClr val="1A1A1A"/>
                </a:solidFill>
                <a:latin typeface="Arial"/>
              </a:rPr>
              <a:t>SCHLEMMER, E. et al. (org.). O habitar do ensinar e do aprender OnLIFE. São Leopoldo: Casa Leiria, 2021.</a:t>
            </a:r>
          </a:p>
          <a:p>
            <a:pPr algn="l">
              <a:lnSpc>
                <a:spcPct val="105000"/>
              </a:lnSpc>
            </a:pPr>
            <a:r>
              <a:rPr sz="1199" b="0">
                <a:solidFill>
                  <a:srgbClr val="1A1A1A"/>
                </a:solidFill>
                <a:latin typeface="Arial"/>
              </a:rPr>
              <a:t>YIN, R. K. Estudo de caso: planejamento e métodos. 2. ed. Porto Alegre: Bookman, 2001.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Ilustração decorativ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50" y="304792"/>
            <a:ext cx="1950671" cy="2060168"/>
          </a:xfrm>
          <a:prstGeom prst="rect">
            <a:avLst/>
          </a:prstGeom>
        </p:spPr>
      </p:pic>
      <p:pic>
        <p:nvPicPr>
          <p:cNvPr id="4" name="Picture 3" descr="Ilustração decorativ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01982" y="4023259"/>
            <a:ext cx="1584920" cy="2163610"/>
          </a:xfrm>
          <a:prstGeom prst="rect">
            <a:avLst/>
          </a:prstGeom>
        </p:spPr>
      </p:pic>
      <p:pic>
        <p:nvPicPr>
          <p:cNvPr id="5" name="Picture 4" descr="Ilustração decorativa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3901342"/>
            <a:ext cx="2072588" cy="24556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438339" y="487667"/>
            <a:ext cx="7315017" cy="1463003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ctr">
              <a:lnSpc>
                <a:spcPct val="100000"/>
              </a:lnSpc>
            </a:pPr>
            <a:r>
              <a:rPr sz="5599" b="1">
                <a:solidFill>
                  <a:srgbClr val="FFFFFF"/>
                </a:solidFill>
                <a:latin typeface="Arial"/>
              </a:rPr>
              <a:t>MUITO OBRIGADA!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60255" y="2194505"/>
            <a:ext cx="7071183" cy="2804089"/>
          </a:xfrm>
          <a:prstGeom prst="roundRect">
            <a:avLst>
              <a:gd name="adj" fmla="val 6000"/>
            </a:avLst>
          </a:prstGeom>
          <a:solidFill>
            <a:srgbClr val="FFC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04089" y="2316422"/>
            <a:ext cx="6583515" cy="2560255"/>
          </a:xfrm>
          <a:prstGeom prst="rect">
            <a:avLst/>
          </a:prstGeom>
          <a:noFill/>
        </p:spPr>
        <p:txBody>
          <a:bodyPr wrap="square" lIns="73150" rIns="73150" tIns="73150" bIns="73150" anchor="ctr"/>
          <a:lstStyle/>
          <a:p>
            <a:pPr algn="l">
              <a:lnSpc>
                <a:spcPct val="115000"/>
              </a:lnSpc>
              <a:spcAft>
                <a:spcPts val="799"/>
              </a:spcAft>
            </a:pPr>
            <a:r>
              <a:rPr sz="1666" b="1">
                <a:solidFill>
                  <a:srgbClr val="1A1A1A"/>
                </a:solidFill>
                <a:latin typeface="Arial"/>
              </a:rPr>
              <a:t>A questão que fica aberta para o campo</a:t>
            </a:r>
          </a:p>
          <a:p>
            <a:pPr algn="l">
              <a:lnSpc>
                <a:spcPct val="115000"/>
              </a:lnSpc>
            </a:pPr>
            <a:r>
              <a:rPr sz="1666" b="0">
                <a:solidFill>
                  <a:srgbClr val="1A1A1A"/>
                </a:solidFill>
                <a:latin typeface="Arial"/>
              </a:rPr>
              <a:t>Quando a política não faz chegar o equipamento nem a formação, quem paga, no cotidiano da escola, o preço dessa ausência? E o que isso significa para os direitos que a lei prometeu às crianças?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8339" y="5303387"/>
            <a:ext cx="7315017" cy="975335"/>
          </a:xfrm>
          <a:prstGeom prst="rect">
            <a:avLst/>
          </a:prstGeom>
          <a:noFill/>
        </p:spPr>
        <p:txBody>
          <a:bodyPr wrap="square" lIns="73150" rIns="73150" tIns="73150" bIns="73150" anchor="t"/>
          <a:lstStyle/>
          <a:p>
            <a:pPr algn="ctr">
              <a:lnSpc>
                <a:spcPct val="115000"/>
              </a:lnSpc>
              <a:spcAft>
                <a:spcPts val="266"/>
              </a:spcAft>
            </a:pPr>
            <a:r>
              <a:rPr sz="1466" b="1">
                <a:solidFill>
                  <a:srgbClr val="FFFFFF"/>
                </a:solidFill>
                <a:latin typeface="Arial"/>
              </a:rPr>
              <a:t>Yzynya Silva Rezende Machado</a:t>
            </a:r>
          </a:p>
          <a:p>
            <a:pPr algn="ctr">
              <a:lnSpc>
                <a:spcPct val="115000"/>
              </a:lnSpc>
            </a:pPr>
            <a:r>
              <a:rPr sz="1466" b="0">
                <a:solidFill>
                  <a:srgbClr val="FFFFFF"/>
                </a:solidFill>
                <a:latin typeface="Arial"/>
              </a:rPr>
              <a:t>Orientadora: Profa. Dra. Maria Cristina Leandro de Paiva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