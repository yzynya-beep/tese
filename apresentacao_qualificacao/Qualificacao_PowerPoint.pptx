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</p:sldIdLst>
  <p:sldSz cx="12191695" cy="6857828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Boa tarde a todas e a todos. Agradeço à banca pela leitura e à minha orientadora, professora Maria Cristina, pelo acompanhamento. Apresento hoje a tese A encenação da Política Nacional de Educação Digital em Pipa, que investiga como uma política nacional ganha forma numa escola situada, a partir de quem trabalha nela, das condições que ela tem e do território em que está.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apresentação tem seis partes. Começo pela proposta, com o problema, o objeto, os objetivos, as relevâncias e o ineditismo. Depois mostro o que a revisão sistemática responde, os fundamentos teóricos e metodológicos, os cinco movimentos da pesquisa e a agenda territorial da política. Termino com o capítulo do território, que já traz resultados.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 problema nasce de uma distância. A lei fez da educação digital um direito, um dever do Estado e um componente curricular, com implementação obrigatória a partir de 2026. Na sala, encontramos turmas dos anos iniciais sem tela, um laboratório cujo uso ainda precisa ser verificado e uma formação que a lei prevê apenas como promoção. É nessa distância que os profissionais precisam encenar a política.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 objeto é a encenação da PNED, em seu eixo Educação Digital Escolar, pelos profissionais da educação do primeiro ao quinto ano da Escola Municipal Domitila Castelo. Escuto docentes, coordenação, direção e demais profissionais, porque todos constroem a política. A questão foi formulada para manter o resultado em aberto: queremos saber como encenam e recontextualizam a PNED e como culturas profissionais, condições da escola e território atravessam esse processo.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 objetivo geral é analisar essa encenação considerando a política, as culturas profissionais, as condições materiais e institucionais e o território. Os quatro objetivos específicos seguem o caminho da própria política até as crianças: como ela é lida, como é traduzida nas condições da escola e do lugar, que formas de atuação os profissionais produzem e que implicações isso tem para a provisão, a proteção e a participação das crianças no ambiente digital.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pesquisa tem quatro relevâncias. A primeira está no que o eixo promete às crianças: participação consciente e democrática e proteção de dados, e, nos anos iniciais, a escola é para muitas delas o primeiro espaço público para conversar sobre o digital com alguém que ensina. A segunda está em quem faz a política acontecer, os profissionais, cada um de uma posição. A terceira está no território: o distrito que vende pousadas e passeios pela internet é o mesmo de onde as crianças saem para salas sem tela. A quarta está no debate sobre desigualdade. Pela TIC Educação 2024, a conexão chegou a quase todas as escolas, enquanto os computadores para os alunos ficaram estáveis no total e caíram nas escolas rurais. Castells lembra que ser excluído dessas redes é uma das formas mais danosas de exclusão.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 ineditismo tem três dimensões. A empírico-temporal: a pesquisa acompanha a PNED no momento em que o componente se torna obrigatório, e nenhum estudo da revisão trata dela ou de rede municipal de pequeno porte. A analítico-espacial: Pipa entra como parte do contexto da prática. A teórico-conceitual: a articulação entre teoria da atuação, culturas profissionais, dimensão material e território, com a noção de habitar o digital.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tese de partida é que a PNED chega à escola como orientação a ser lida e interpretada, e que a forma que ela assume no cotidiano resulta da relação entre o que prescreve e as condições em que os profissionais atuam. Nenhuma forma de atuação é pressuposta. A pergunta que move a pesquisa é o que acontece com uma política de educação digital quando encontra uma escola, seus profissionais, suas condições e um território específico.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revisão sistemática partiu de uma questão: o que a produção científica evidencia sobre a implementação de políticas de educação digital nos anos iniciais. Seguimos o PRISMA 2020 em sete bases. Dos 176 registros, 39 foram buscados para leitura integral, 35 foram lidos e 9 compõem o corpus, publicado entre 2021 e 2024. A resposta é que a atuação dessas políticas depende da articulação entre recursos, condições institucionais e trabalho interpretativo dos profissionais. O corpus responde com mais consistência às condições e ao papel dos profissionais e tem apoio mais restrito quanto à formação dirigida às crianças.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resposta se compõe de três subperguntas. Sobre os condicionantes, o corpus converge: além de equipamentos e conexão, pesam a formação continuada, a estabilidade das equipes, o tempo de trabalho e a própria norma, que pode restringir práticas. O território aparece só como contraste entre países. Sobre o papel dos profissionais, a convergência é ainda maior: eles interpretam e decidem, embora as razões desse trabalho sejam pouco examinadas. Sobre cultura digital e cidadania, o apoio é frágil. Daí as lacunas que a tese assume: a PNED, o ciclo de alfabetização, o funcionamento ordinário da escola, a rede municipal de pequeno porte e o que os profissionais fazem quando a formação não chega.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Os fundamentos teóricos acompanham o caminho da política. A Abordagem do Ciclo de Políticas mostra que a política é recriada no contexto da prática. A teoria da atuação de Ball, Maguire e Braun traz as dimensões do contexto. Hargreaves ajuda a ler as culturas profissionais; Ball, a performatividade e as fabricações. Santos e Massey inscrevem o território na análise, e o Comentário Geral número 25 organiza a leitura dos direitos das crianças. Da ACP com a teoria da atuação construímos a categoria integradora da tese, a recontextualização.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Habitar o digital é uma formulação desta tese. Ela parte do habitar como experiência relacional, em Schlemmer e colaboradores, passa pelo habitar atópico de Di Felice e encontra a distribuição desigual dos objetos técnicos, em Santos, e o lugar como encontro de trajetórias, em Massey. Em Pipa, a expressão nomeia a assimetria entre a alta densidade tecnológica dos circuitos do turismo e a disponibilidade restrita de tecnologia nos espaços pedagógicos da escola.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Os fundamentos metodológicos são seis. A abordagem é qualitativa, porque a tese trabalha com significados, motivos e valores, como em Minayo e em Bogdan e Biklen. A estratégia é o estudo de caso único, no sentido de Yin, com a advertência de André contra o estudo apenas pontual. A ACP é operacionalizada com as questões analíticas de Mainardes, e a recontextualização integra a leitura. Os participantes são escolhidos de forma intencional, pela posição que ocupam no arranjo da política, e a análise segue a abordagem temática reflexiva de Braun e Clarke, com triangulação.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Os dados são construídos em cinco movimentos. A análise documental acompanha todo o percurso. O registro iconográfico já foi realizado e sustenta o capítulo seis. O questionário situa os participantes antes das entrevistas, que são o principal momento de escuta. O quinto movimento é a análise, com triangulação e devolutiva à escola e à Secretaria.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No primeiro movimento, os documentos formam dois conjuntos. O pedagógico reúne o PPP, os planos, as atas e os cadernos de uso do laboratório e do kit multimídia. O administrativo reúne a contratação da conexão, os termos de doação e tombamento, a execução do PIEC, os contratos de manutenção e o Censo. No segundo movimento, o registro iconográfico reúne trinta e oito figuras e duas peças cartográficas, lidas em duas etapas: primeiro o que está no enquadramento, depois a interpretação. Não fotografamos rostos de crianças e não observamos aulas.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 questionário tem cinco blocos, do perfil profissional às concepções sobre os direitos da criança, e serve para situar as pessoas e ajustar as conversas. As entrevistas têm seis eixos, da trajetória ao habitar o digital, com perguntas abertas antes das diretas. A análise passa pela familiarização, pela codificação com oito dimensões sensibilizadoras e pela interpretação com triangulação, em diálogo com as cinco categorias da perspectiva comparada, e termina com a devolutiva.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As formas de atuação que podem aparecer vão da adesão à resistência, passando por acomodação, adaptação, omissão seletiva, negociação e ressignificação. Nenhuma é pressuposta. Para que uma forma vire achado, ela precisa aparecer de modo recorrente e sem indução pela pergunta. Quando não há alternativa, o que se vê é custo transferido ao trabalhador, e assim será nomeado. As categorias não serão ditas aos participantes.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agenda territorial começa no contexto de influência. A UNESCO lembra que uma em cada quatro escolas primárias do mundo não tem eletricidade e que a tecnologia deve complementar a interação com os professores. A OCDE mostra efeitos no máximo mistos dos computadores sobre o desempenho, e o Banco Mundial pergunta qual é o problema educacional antes de escolher a tecnologia. Os três deslocam o foco da presença dos recursos para as condições, os usos e as finalidades.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perspectiva comparada percorreu dezenove experiências na Europa e nas Américas, além do Brasil. O mapa mostra, pela cor, a categoria que cada experiência mais informa: governança, formação, infraestrutura, continuidade institucional e cultura digital. A comparação mostra como referências parecidas mudam de forma quando encontram outros sistemas e outros territórios.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Dessas experiências saem cinco categorias que orientam o olhar do campo. Cada uma leva uma pergunta para Pipa: o que chega da União e do estado à rede, que formação chegou à escola, com que equipamentos se trabalha, que continuidade a rede teve e o que se faz com crianças de seis a dez anos. Nenhuma experiência descreve Pipa, e fica a pergunta que nenhum caso responde: o que acontece quando parte das condições não chega?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Na escala nacional, a leitura da lei mostra o que chamamos de vazio material. A PNED se define como instância de articulação, condiciona a inclusão digital aos limites orçamentários de cada ente, não cria fundo próprio nem repasse obrigatório aos municípios e trata a formação como promoção. Na escala do território, isso significa que a chegada dos meios à escola depende da capacidade de um município de pequeno porte.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Chego ao capítulo do território, que já traz resultados. Ali, o território funciona como categoria de análise em quatro dimensões: histórica, socioeconômica, tecnológica e institucional. Cada uma documenta algo e leva uma pergunta ao campo. A formação, quinta categoria da perspectiva comparada, fica para o capítulo sete, porque o registro iconográfico não a alcança.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 capítulo começa com dois mapas do mesmo lugar. O institucional situa Tibau do Sul e Pipa por referências político-administrativas, e é por essa estrutura que a política chega à escola. O turístico organiza o distrito pela circulação do visitante. Os dois desenhos introduzem Pipa como território usado, no sentido de Milton Santos.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 registro iconográfico segue pela antiga Pipa. As imagens do Museu Digital mostram trabalho, moradia e mar articulados: a construção artesanal de embarcações, os barcos na enseada, o mutirão do curral de pesca e o cruzeiro em sua localização original. Com Santos, lemos a paisagem como registro dos meios de trabalho de cada tempo; com Massey, evitamos congelar a vila num passado idealizado.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partir dos anos 1990, o turismo ligado ao surfe, os investimentos imobiliários, a chegada de trabalhadores para o setor de serviços e, mais recentemente, o trabalho remoto transformaram o distrito. A Pipa de hoje resulta da sobreposição dessas trajetórias, e os novos usos dividem o território com os antigos.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Na Pipa de hoje, a rua turística se enche à noite, as pousadas ocupam as falésias, os passeios cruzam a baía e o pescador segue descarregando o pescado na enseada. Hotelaria, reservas e pagamentos dependem da conexão. Dessa presença das tecnologias no território, porém, não se presume que a escola tenha condições equivalentes para o uso pedagógico.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Este quadro sintetiza a comparação entre a Pipa histórica e a contemporânea em seis dimensões e diz o que cada uma traz para a escola. A coluna da direita é a que interessa à tese: temporalidades diferentes, trabalhos diferentes, repertórios diferentes, tecnologia presente no território sem uso pedagógico equivalente e infâncias com condições desiguais de acesso. Esse é o ponto de partida da Educação Digital na escola.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Na escola, as imagens mostram mais do que faltas. Há piso tátil na entrada e nos percursos, corredor coberto com coleta seletiva, um parque dentro da restinga, onde as crianças brincam e convivem, e um pátio usado nas festas. Com Dornelles, lembramos que as infâncias são plurais. A pergunta passa a ser como as condições materiais estão distribuídas.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distribuição é o achado mais forte do capítulo. No corredor administrativo, o ar-condicionado aparece nas salas da equipe e nos demais ambientes do enquadramento não aparece; as razões, a fotografia não diz. O único computador registrado está na sala dos professores, e o laboratório, segundo informações preliminares montado pela Prefeitura em 2022, tinha os equipamentos desligados no momento do registro. A escola recebe pelo PIEC uma verba anual para conexão e equipamentos e teria um único kit multimídia; ambos os dados são preliminares e serão verificados. A síntese é esta: a conexão chegou ao prédio; os dispositivos não chegaram às salas.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Nas salas fotografadas, tudo é impresso ou feito à mão: carteiras, ventiladores, murais, produções das crianças, o painel numérico e o alfabeto móvel. Nenhum computador, tela ou dispositivo. O painel remete a sequência e correspondência, operações próximas do pensamento computacional que a lei define, mas a foto não mostra seu uso. Soares valoriza os artefatos feitos com as crianças; a tese guarda uma cautela: alguém os produziu, em algum tempo, e o custo disso só as narrativas vão mostrar.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noção de rugosidade, de Milton Santos, ajuda a ler o laboratório. Proponho distinguir a rugosidade por perda, quando a forma sobrevive a uma função que existiu, como seria o caso do cruzeiro, da rugosidade por ausência, quando a forma é instalada sem o sistema de ações que lhe daria função. Cada caso pede uma resposta de política diferente. O laboratório é anterior à PNED, e, se o Censo o registra enquanto os cadernos não registram uso, a forma conta nos números mesmo sem função constituída.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Este quadro põe lado a lado o território documentado e o território prescrito pela BNCC e pela PNED. Em cada dimensão, a política orienta acesso, cultura digital, linguagens, mediação crítica e infraestrutura; o território mostra tecnologia intensa nos circuitos econômicos e, nas salas, nenhum recurso visível. A mediação pedagógica não aparece nas imagens, e por isso depende das narrativas.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Para ser rigorosa com o que afirmo, separo o que as imagens documentam do que ainda é preliminar. Está documentado: salas sem dispositivo digital, um computador na sala dos professores, o laboratório desligado no registro, a climatização nas salas da equipe e os recursos artesanais. Está por verificar: a data e a origem do laboratório, os cadernos de uso, o kit multimídia, a verba do PIEC, a manutenção e o Censo. O capítulo fecha com uma cadeia de mediações: o território participa das condições da escola, que delimitam as margens do trabalho, dentro das quais os profissionais interpretam, decidem e atuam.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Por isso o território atravessa toda a tese. Está na questão e no ineditismo, aparece como lacuna na revisão, entra no método como dimensão situacional, aparece pelo avesso na lei, que deixa os meios por conta de cada ente, é documentado no capítulo seis e será lido em relação aos quatro objetivos no capítulo sete.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Até aqui, o projeto foi reformulado e os capítulos um, dois, quatro, cinco e seis foram alinhados a ele; a revisão sistemática e o registro iconográfico estão concluídos, os dados de matrícula de 2026 já foram levantados, com quinze turmas e 351 crianças do primeiro ao quinto ano, e o capítulo três está em construção. Antes do campo, falta aprovar a emenda no Comitê de Ética, datar os critérios de leitura, fazer a análise documental, reunir os dados fiscais do município e realizar os testes de conexão.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Estas são as referências principais mobilizadas na apresentação. A lista completa está nos capítulos.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Encerro com a pergunta que fica aberta para o campo: quando a política não faz chegar o equipamento nem a formação, quem paga, no cotidiano da escola, o preço dessa ausência? E o que isso significa para os direitos prometidos às crianças? Agradeço a atenção e fico à disposição da banca.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8.png"/><Relationship Id="rId4" Type="http://schemas.openxmlformats.org/officeDocument/2006/relationships/image" Target="../media/image9.jpg"/><Relationship Id="rId5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10.png"/><Relationship Id="rId4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11.png"/><Relationship Id="rId4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12.png"/><Relationship Id="rId4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13.jpg"/><Relationship Id="rId4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14.png"/><Relationship Id="rId4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15.jpg"/><Relationship Id="rId4" Type="http://schemas.openxmlformats.org/officeDocument/2006/relationships/image" Target="../media/image16.jpg"/><Relationship Id="rId5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17.jpg"/><Relationship Id="rId4" Type="http://schemas.openxmlformats.org/officeDocument/2006/relationships/image" Target="../media/image18.jpg"/><Relationship Id="rId5" Type="http://schemas.openxmlformats.org/officeDocument/2006/relationships/image" Target="../media/image19.jpg"/><Relationship Id="rId6" Type="http://schemas.openxmlformats.org/officeDocument/2006/relationships/image" Target="../media/image20.jpg"/><Relationship Id="rId7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1.jpg"/><Relationship Id="rId4" Type="http://schemas.openxmlformats.org/officeDocument/2006/relationships/image" Target="../media/image22.jpg"/><Relationship Id="rId5" Type="http://schemas.openxmlformats.org/officeDocument/2006/relationships/image" Target="../media/image23.jpg"/><Relationship Id="rId6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4.jpg"/><Relationship Id="rId4" Type="http://schemas.openxmlformats.org/officeDocument/2006/relationships/image" Target="../media/image25.jpg"/><Relationship Id="rId5" Type="http://schemas.openxmlformats.org/officeDocument/2006/relationships/image" Target="../media/image26.png"/><Relationship Id="rId6" Type="http://schemas.openxmlformats.org/officeDocument/2006/relationships/image" Target="../media/image27.jpg"/><Relationship Id="rId7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8.jpg"/><Relationship Id="rId4" Type="http://schemas.openxmlformats.org/officeDocument/2006/relationships/image" Target="../media/image29.png"/><Relationship Id="rId5" Type="http://schemas.openxmlformats.org/officeDocument/2006/relationships/image" Target="../media/image30.jpg"/><Relationship Id="rId6" Type="http://schemas.openxmlformats.org/officeDocument/2006/relationships/image" Target="../media/image31.jpg"/><Relationship Id="rId7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32.jpg"/><Relationship Id="rId4" Type="http://schemas.openxmlformats.org/officeDocument/2006/relationships/image" Target="../media/image33.jpg"/><Relationship Id="rId5" Type="http://schemas.openxmlformats.org/officeDocument/2006/relationships/image" Target="../media/image34.jpg"/><Relationship Id="rId6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35.jpg"/><Relationship Id="rId4" Type="http://schemas.openxmlformats.org/officeDocument/2006/relationships/image" Target="../media/image36.jpg"/><Relationship Id="rId5" Type="http://schemas.openxmlformats.org/officeDocument/2006/relationships/image" Target="../media/image37.jpg"/><Relationship Id="rId6" Type="http://schemas.openxmlformats.org/officeDocument/2006/relationships/image" Target="../media/image9.jpg"/><Relationship Id="rId7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0.jpg"/><Relationship Id="rId4" Type="http://schemas.openxmlformats.org/officeDocument/2006/relationships/image" Target="../media/image34.jpg"/><Relationship Id="rId5" Type="http://schemas.openxmlformats.org/officeDocument/2006/relationships/notesSlide" Target="../notesSlides/notesSlide3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3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33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34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35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36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38.png"/><Relationship Id="rId4" Type="http://schemas.openxmlformats.org/officeDocument/2006/relationships/image" Target="../media/image10.png"/><Relationship Id="rId5" Type="http://schemas.openxmlformats.org/officeDocument/2006/relationships/image" Target="../media/image39.png"/><Relationship Id="rId6" Type="http://schemas.openxmlformats.org/officeDocument/2006/relationships/notesSlide" Target="../notesSlides/notesSlide3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7828"/>
          </a:xfrm>
          <a:prstGeom prst="rect">
            <a:avLst/>
          </a:prstGeom>
        </p:spPr>
      </p:pic>
      <p:pic>
        <p:nvPicPr>
          <p:cNvPr id="3" name="Picture 2" descr="Ilustração decorativa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4792" y="243833"/>
            <a:ext cx="2194505" cy="1996999"/>
          </a:xfrm>
          <a:prstGeom prst="rect">
            <a:avLst/>
          </a:prstGeom>
        </p:spPr>
      </p:pic>
      <p:pic>
        <p:nvPicPr>
          <p:cNvPr id="4" name="Picture 3" descr="Ilustração decorativa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5750" y="4389010"/>
            <a:ext cx="1828754" cy="2355597"/>
          </a:xfrm>
          <a:prstGeom prst="rect">
            <a:avLst/>
          </a:prstGeom>
        </p:spPr>
      </p:pic>
      <p:pic>
        <p:nvPicPr>
          <p:cNvPr id="5" name="Picture 4" descr="Ilustração decorativa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58148" y="304792"/>
            <a:ext cx="1828754" cy="1931407"/>
          </a:xfrm>
          <a:prstGeom prst="rect">
            <a:avLst/>
          </a:prstGeom>
        </p:spPr>
      </p:pic>
      <p:pic>
        <p:nvPicPr>
          <p:cNvPr id="6" name="Picture 5" descr="Ilustração decorativa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936231" y="3901342"/>
            <a:ext cx="2072588" cy="2313481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2194505" y="914377"/>
            <a:ext cx="7802684" cy="2560255"/>
          </a:xfrm>
          <a:prstGeom prst="rect">
            <a:avLst/>
          </a:prstGeom>
          <a:noFill/>
        </p:spPr>
        <p:txBody>
          <a:bodyPr wrap="square" lIns="73150" rIns="73150" tIns="73150" bIns="73150" anchor="ctr"/>
          <a:lstStyle/>
          <a:p>
            <a:pPr algn="ctr">
              <a:lnSpc>
                <a:spcPct val="100000"/>
              </a:lnSpc>
            </a:pPr>
            <a:r>
              <a:rPr sz="3866" b="1">
                <a:solidFill>
                  <a:srgbClr val="FFFFFF"/>
                </a:solidFill>
                <a:latin typeface="Arial"/>
              </a:rPr>
              <a:t>A ENCENAÇÃO DA POLÍTICA NACIONAL DE EDUCAÇÃO DIGITAL EM PIPA/RN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438339" y="3627029"/>
            <a:ext cx="7315017" cy="822939"/>
          </a:xfrm>
          <a:prstGeom prst="roundRect">
            <a:avLst>
              <a:gd name="adj" fmla="val 25000"/>
            </a:avLst>
          </a:prstGeom>
          <a:solidFill>
            <a:srgbClr val="FFCE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438339" y="3627029"/>
            <a:ext cx="7315017" cy="822939"/>
          </a:xfrm>
          <a:prstGeom prst="rect">
            <a:avLst/>
          </a:prstGeom>
          <a:noFill/>
        </p:spPr>
        <p:txBody>
          <a:bodyPr wrap="square" lIns="73150" rIns="73150" tIns="73150" bIns="73150" anchor="ctr"/>
          <a:lstStyle/>
          <a:p>
            <a:pPr algn="ctr">
              <a:lnSpc>
                <a:spcPct val="100000"/>
              </a:lnSpc>
            </a:pPr>
            <a:r>
              <a:rPr sz="1866" b="1">
                <a:solidFill>
                  <a:srgbClr val="1A1A1A"/>
                </a:solidFill>
                <a:latin typeface="Arial"/>
              </a:rPr>
              <a:t>Culturas profissionais, território e resistências no contexto da prática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133546" y="4724281"/>
            <a:ext cx="7924601" cy="1463003"/>
          </a:xfrm>
          <a:prstGeom prst="rect">
            <a:avLst/>
          </a:prstGeom>
          <a:noFill/>
        </p:spPr>
        <p:txBody>
          <a:bodyPr wrap="square" lIns="73150" rIns="73150" tIns="73150" bIns="73150" anchor="t"/>
          <a:lstStyle/>
          <a:p>
            <a:pPr algn="ctr">
              <a:lnSpc>
                <a:spcPct val="110000"/>
              </a:lnSpc>
              <a:spcAft>
                <a:spcPts val="266"/>
              </a:spcAft>
            </a:pPr>
            <a:r>
              <a:rPr sz="1599" b="1">
                <a:solidFill>
                  <a:srgbClr val="FFFFFF"/>
                </a:solidFill>
                <a:latin typeface="Arial"/>
              </a:rPr>
              <a:t>Yzynya Silva Rezende Machado</a:t>
            </a:r>
          </a:p>
          <a:p>
            <a:pPr algn="ctr">
              <a:lnSpc>
                <a:spcPct val="110000"/>
              </a:lnSpc>
              <a:spcAft>
                <a:spcPts val="266"/>
              </a:spcAft>
            </a:pPr>
            <a:r>
              <a:rPr sz="1599" b="0">
                <a:solidFill>
                  <a:srgbClr val="FFFFFF"/>
                </a:solidFill>
                <a:latin typeface="Arial"/>
              </a:rPr>
              <a:t>Orientadora: Profa. Dra. Maria Cristina Leandro de Paiva</a:t>
            </a:r>
          </a:p>
          <a:p>
            <a:pPr algn="ctr">
              <a:lnSpc>
                <a:spcPct val="110000"/>
              </a:lnSpc>
            </a:pPr>
            <a:r>
              <a:rPr sz="1599" b="0">
                <a:solidFill>
                  <a:srgbClr val="FFFFFF"/>
                </a:solidFill>
                <a:latin typeface="Arial"/>
              </a:rPr>
              <a:t>Qualificação de doutorado · PPGEd/UFRN · Natal,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782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09584" y="365750"/>
            <a:ext cx="10972525" cy="914377"/>
          </a:xfrm>
          <a:prstGeom prst="rect">
            <a:avLst/>
          </a:prstGeom>
          <a:noFill/>
        </p:spPr>
        <p:txBody>
          <a:bodyPr wrap="square" lIns="73150" rIns="73150" tIns="73150" bIns="73150" anchor="ctr"/>
          <a:lstStyle/>
          <a:p>
            <a:pPr algn="ctr">
              <a:lnSpc>
                <a:spcPct val="100000"/>
              </a:lnSpc>
            </a:pPr>
            <a:r>
              <a:rPr sz="3999" b="1">
                <a:solidFill>
                  <a:srgbClr val="FFFFFF"/>
                </a:solidFill>
                <a:latin typeface="Arial"/>
              </a:rPr>
              <a:t>PERCURSO DA APRESENTAÇÃO</a:t>
            </a:r>
          </a:p>
        </p:txBody>
      </p:sp>
      <p:pic>
        <p:nvPicPr>
          <p:cNvPr id="4" name="Picture 3" descr="Ilustração decorativa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50" y="243833"/>
            <a:ext cx="853418" cy="1383698"/>
          </a:xfrm>
          <a:prstGeom prst="rect">
            <a:avLst/>
          </a:prstGeom>
        </p:spPr>
      </p:pic>
      <p:pic>
        <p:nvPicPr>
          <p:cNvPr id="5" name="Picture 4" descr="Ilustração decorativa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11567" y="182875"/>
            <a:ext cx="975335" cy="1088292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548626" y="1523961"/>
            <a:ext cx="3566070" cy="2164025"/>
          </a:xfrm>
          <a:prstGeom prst="roundRect">
            <a:avLst>
              <a:gd name="adj" fmla="val 10000"/>
            </a:avLst>
          </a:prstGeom>
          <a:solidFill>
            <a:srgbClr val="F1E7D9"/>
          </a:solidFill>
          <a:ln w="25399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01" y="1645878"/>
            <a:ext cx="609584" cy="60958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</a:pPr>
            <a:r>
              <a:rPr sz="3733" b="1">
                <a:solidFill>
                  <a:srgbClr val="6C4FD8"/>
                </a:solidFill>
                <a:latin typeface="Arial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01" y="2255463"/>
            <a:ext cx="3200319" cy="134108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5000"/>
              </a:lnSpc>
            </a:pPr>
            <a:r>
              <a:rPr sz="1866" b="1">
                <a:solidFill>
                  <a:srgbClr val="1A1A1A"/>
                </a:solidFill>
                <a:latin typeface="Arial"/>
              </a:rPr>
              <a:t>A proposta: problema, objetivos, relevâncias e ineditismo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97572" y="1523961"/>
            <a:ext cx="3566070" cy="2164025"/>
          </a:xfrm>
          <a:prstGeom prst="roundRect">
            <a:avLst>
              <a:gd name="adj" fmla="val 10000"/>
            </a:avLst>
          </a:prstGeom>
          <a:solidFill>
            <a:srgbClr val="F1E7D9"/>
          </a:solidFill>
          <a:ln w="25399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80447" y="1645878"/>
            <a:ext cx="609584" cy="60958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</a:pPr>
            <a:r>
              <a:rPr sz="3733" b="1">
                <a:solidFill>
                  <a:srgbClr val="6C4FD8"/>
                </a:solidFill>
                <a:latin typeface="Arial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80447" y="2255463"/>
            <a:ext cx="3200319" cy="134108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5000"/>
              </a:lnSpc>
            </a:pPr>
            <a:r>
              <a:rPr sz="1866" b="1">
                <a:solidFill>
                  <a:srgbClr val="1A1A1A"/>
                </a:solidFill>
                <a:latin typeface="Arial"/>
              </a:rPr>
              <a:t>O que a revisão sistemática responde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518" y="1523961"/>
            <a:ext cx="3566070" cy="2164025"/>
          </a:xfrm>
          <a:prstGeom prst="roundRect">
            <a:avLst>
              <a:gd name="adj" fmla="val 10000"/>
            </a:avLst>
          </a:prstGeom>
          <a:solidFill>
            <a:srgbClr val="F1E7D9"/>
          </a:solidFill>
          <a:ln w="25399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394" y="1645878"/>
            <a:ext cx="609584" cy="60958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</a:pPr>
            <a:r>
              <a:rPr sz="3733" b="1">
                <a:solidFill>
                  <a:srgbClr val="6C4FD8"/>
                </a:solidFill>
                <a:latin typeface="Arial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394" y="2255463"/>
            <a:ext cx="3200319" cy="134108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5000"/>
              </a:lnSpc>
            </a:pPr>
            <a:r>
              <a:rPr sz="1866" b="1">
                <a:solidFill>
                  <a:srgbClr val="1A1A1A"/>
                </a:solidFill>
                <a:latin typeface="Arial"/>
              </a:rPr>
              <a:t>Fundamentos teóricos e metodológicos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26" y="3931821"/>
            <a:ext cx="3566070" cy="2164025"/>
          </a:xfrm>
          <a:prstGeom prst="roundRect">
            <a:avLst>
              <a:gd name="adj" fmla="val 10000"/>
            </a:avLst>
          </a:prstGeom>
          <a:solidFill>
            <a:srgbClr val="F1E7D9"/>
          </a:solidFill>
          <a:ln w="25399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01" y="4053738"/>
            <a:ext cx="609584" cy="60958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</a:pPr>
            <a:r>
              <a:rPr sz="3733" b="1">
                <a:solidFill>
                  <a:srgbClr val="6C4FD8"/>
                </a:solidFill>
                <a:latin typeface="Arial"/>
              </a:rP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01" y="4663323"/>
            <a:ext cx="3200319" cy="134108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5000"/>
              </a:lnSpc>
            </a:pPr>
            <a:r>
              <a:rPr sz="1866" b="1">
                <a:solidFill>
                  <a:srgbClr val="1A1A1A"/>
                </a:solidFill>
                <a:latin typeface="Arial"/>
              </a:rPr>
              <a:t>Os cinco movimentos da pesquisa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297572" y="3931821"/>
            <a:ext cx="3566070" cy="2164025"/>
          </a:xfrm>
          <a:prstGeom prst="roundRect">
            <a:avLst>
              <a:gd name="adj" fmla="val 10000"/>
            </a:avLst>
          </a:prstGeom>
          <a:solidFill>
            <a:srgbClr val="F1E7D9"/>
          </a:solidFill>
          <a:ln w="25399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480447" y="4053738"/>
            <a:ext cx="609584" cy="60958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</a:pPr>
            <a:r>
              <a:rPr sz="3733" b="1">
                <a:solidFill>
                  <a:srgbClr val="6C4FD8"/>
                </a:solidFill>
                <a:latin typeface="Arial"/>
              </a:rPr>
              <a:t>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80447" y="4663323"/>
            <a:ext cx="3200319" cy="134108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5000"/>
              </a:lnSpc>
            </a:pPr>
            <a:r>
              <a:rPr sz="1866" b="1">
                <a:solidFill>
                  <a:srgbClr val="1A1A1A"/>
                </a:solidFill>
                <a:latin typeface="Arial"/>
              </a:rPr>
              <a:t>A agenda territorial da política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046518" y="3931821"/>
            <a:ext cx="3566070" cy="2164025"/>
          </a:xfrm>
          <a:prstGeom prst="roundRect">
            <a:avLst>
              <a:gd name="adj" fmla="val 10000"/>
            </a:avLst>
          </a:prstGeom>
          <a:solidFill>
            <a:srgbClr val="F1E7D9"/>
          </a:solidFill>
          <a:ln w="25399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9394" y="4053738"/>
            <a:ext cx="609584" cy="60958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</a:pPr>
            <a:r>
              <a:rPr sz="3733" b="1">
                <a:solidFill>
                  <a:srgbClr val="6C4FD8"/>
                </a:solidFill>
                <a:latin typeface="Arial"/>
              </a:rPr>
              <a:t>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394" y="4663323"/>
            <a:ext cx="3200319" cy="134108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5000"/>
              </a:lnSpc>
            </a:pPr>
            <a:r>
              <a:rPr sz="1866" b="1">
                <a:solidFill>
                  <a:srgbClr val="1A1A1A"/>
                </a:solidFill>
                <a:latin typeface="Arial"/>
              </a:rPr>
              <a:t>O território de Pipa: primeiros resultados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7828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304792" y="152396"/>
            <a:ext cx="2804089" cy="365750"/>
          </a:xfrm>
          <a:prstGeom prst="roundRect">
            <a:avLst>
              <a:gd name="adj" fmla="val 40000"/>
            </a:avLst>
          </a:prstGeom>
          <a:solidFill>
            <a:srgbClr val="FFCE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04792" y="152396"/>
            <a:ext cx="2804089" cy="365750"/>
          </a:xfrm>
          <a:prstGeom prst="rect">
            <a:avLst/>
          </a:prstGeom>
          <a:noFill/>
        </p:spPr>
        <p:txBody>
          <a:bodyPr wrap="square" lIns="30479" rIns="30479" tIns="30479" bIns="30479" anchor="ctr"/>
          <a:lstStyle/>
          <a:p>
            <a:pPr algn="ctr">
              <a:lnSpc>
                <a:spcPct val="100000"/>
              </a:lnSpc>
            </a:pPr>
            <a:r>
              <a:rPr sz="1066" b="1">
                <a:solidFill>
                  <a:srgbClr val="1A1A1A"/>
                </a:solidFill>
                <a:latin typeface="Arial"/>
              </a:rPr>
              <a:t>1 · A PROPOSTA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584" y="335271"/>
            <a:ext cx="10972525" cy="914377"/>
          </a:xfrm>
          <a:prstGeom prst="rect">
            <a:avLst/>
          </a:prstGeom>
          <a:noFill/>
        </p:spPr>
        <p:txBody>
          <a:bodyPr wrap="square" lIns="73150" rIns="73150" tIns="73150" bIns="73150" anchor="ctr"/>
          <a:lstStyle/>
          <a:p>
            <a:pPr algn="ctr">
              <a:lnSpc>
                <a:spcPct val="100000"/>
              </a:lnSpc>
            </a:pPr>
            <a:r>
              <a:rPr sz="3599" b="1">
                <a:solidFill>
                  <a:srgbClr val="FFFFFF"/>
                </a:solidFill>
                <a:latin typeface="Arial"/>
              </a:rPr>
              <a:t>O DIREITO CHEGA ANTES DOS MEIOS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26" y="1463003"/>
            <a:ext cx="7071183" cy="2194505"/>
          </a:xfrm>
          <a:prstGeom prst="roundRect">
            <a:avLst>
              <a:gd name="adj" fmla="val 6000"/>
            </a:avLst>
          </a:prstGeom>
          <a:solidFill>
            <a:srgbClr val="FFCE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92460" y="1584920"/>
            <a:ext cx="6644473" cy="2011629"/>
          </a:xfrm>
          <a:prstGeom prst="rect">
            <a:avLst/>
          </a:prstGeom>
          <a:noFill/>
        </p:spPr>
        <p:txBody>
          <a:bodyPr wrap="square" lIns="73150" rIns="73150" tIns="73150" bIns="73150" anchor="t"/>
          <a:lstStyle/>
          <a:p>
            <a:pPr algn="l">
              <a:lnSpc>
                <a:spcPct val="115000"/>
              </a:lnSpc>
              <a:spcAft>
                <a:spcPts val="666"/>
              </a:spcAft>
            </a:pPr>
            <a:r>
              <a:rPr sz="1666" b="1">
                <a:solidFill>
                  <a:srgbClr val="1A1A1A"/>
                </a:solidFill>
                <a:latin typeface="Arial"/>
              </a:rPr>
              <a:t>A LEI PROMETE</a:t>
            </a:r>
          </a:p>
          <a:p>
            <a:pPr algn="l">
              <a:lnSpc>
                <a:spcPct val="115000"/>
              </a:lnSpc>
            </a:pPr>
            <a:r>
              <a:rPr sz="1666" b="0">
                <a:solidFill>
                  <a:srgbClr val="1A1A1A"/>
                </a:solidFill>
                <a:latin typeface="Arial"/>
              </a:rPr>
              <a:t>Educação digital como direito, dever do Estado e componente curricular, com implementação obrigatória a partir de 2026 (Lei nº 14.533/2023; Resolução CNE/CEB nº 2/2025).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1885" y="3901342"/>
            <a:ext cx="7071183" cy="2194505"/>
          </a:xfrm>
          <a:prstGeom prst="roundRect">
            <a:avLst>
              <a:gd name="adj" fmla="val 6000"/>
            </a:avLst>
          </a:prstGeom>
          <a:solidFill>
            <a:srgbClr val="FFCE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815719" y="4023259"/>
            <a:ext cx="6644473" cy="2011629"/>
          </a:xfrm>
          <a:prstGeom prst="rect">
            <a:avLst/>
          </a:prstGeom>
          <a:noFill/>
        </p:spPr>
        <p:txBody>
          <a:bodyPr wrap="square" lIns="73150" rIns="73150" tIns="73150" bIns="73150" anchor="t"/>
          <a:lstStyle/>
          <a:p>
            <a:pPr algn="l">
              <a:lnSpc>
                <a:spcPct val="115000"/>
              </a:lnSpc>
              <a:spcAft>
                <a:spcPts val="666"/>
              </a:spcAft>
            </a:pPr>
            <a:r>
              <a:rPr sz="1666" b="1">
                <a:solidFill>
                  <a:srgbClr val="1A1A1A"/>
                </a:solidFill>
                <a:latin typeface="Arial"/>
              </a:rPr>
              <a:t>A SALA RECEBE</a:t>
            </a:r>
          </a:p>
          <a:p>
            <a:pPr algn="l">
              <a:lnSpc>
                <a:spcPct val="115000"/>
              </a:lnSpc>
            </a:pPr>
            <a:r>
              <a:rPr sz="1666" b="0">
                <a:solidFill>
                  <a:srgbClr val="1A1A1A"/>
                </a:solidFill>
                <a:latin typeface="Arial"/>
              </a:rPr>
              <a:t>Salas dos anos iniciais sem tela, um laboratório com uso a verificar, formação prevista como simples promoção e meios que dependem de cada ente federado.</a:t>
            </a:r>
          </a:p>
        </p:txBody>
      </p:sp>
      <p:pic>
        <p:nvPicPr>
          <p:cNvPr id="10" name="Picture 9" descr="Ilustração decorativa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90352" y="1402044"/>
            <a:ext cx="2194505" cy="1984253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658351" y="3950109"/>
            <a:ext cx="3438058" cy="1975054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Alfabeto móvel feito à mão numa sala dos anos iniciais (Figura 37)"/>
          <p:cNvPicPr>
            <a:picLocks noChangeAspect="1"/>
          </p:cNvPicPr>
          <p:nvPr/>
        </p:nvPicPr>
        <p:blipFill>
          <a:blip r:embed="rId4"/>
          <a:srcRect t="617" b="617"/>
          <a:stretch>
            <a:fillRect/>
          </a:stretch>
        </p:blipFill>
        <p:spPr>
          <a:xfrm>
            <a:off x="731501" y="4023259"/>
            <a:ext cx="3291757" cy="1828754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09584" y="6431119"/>
            <a:ext cx="10972525" cy="304792"/>
          </a:xfrm>
          <a:prstGeom prst="rect">
            <a:avLst/>
          </a:prstGeom>
          <a:noFill/>
        </p:spPr>
        <p:txBody>
          <a:bodyPr wrap="square" lIns="73150" rIns="73150" tIns="73150" bIns="73150" anchor="ctr"/>
          <a:lstStyle/>
          <a:p>
            <a:pPr algn="l">
              <a:lnSpc>
                <a:spcPct val="100000"/>
              </a:lnSpc>
            </a:pPr>
            <a:r>
              <a:rPr sz="999" b="1">
                <a:solidFill>
                  <a:srgbClr val="FFFFFF"/>
                </a:solidFill>
                <a:latin typeface="Arial"/>
              </a:rPr>
              <a:t>Fundamentos: </a:t>
            </a:r>
            <a:r>
              <a:rPr sz="999" b="0">
                <a:solidFill>
                  <a:srgbClr val="FFFFFF"/>
                </a:solidFill>
                <a:latin typeface="Arial"/>
              </a:rPr>
              <a:t>Lei nº 14.533/2023; Mainardes (2006); Ball, Maguire e Braun (2016).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7828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304792" y="152396"/>
            <a:ext cx="2804089" cy="365750"/>
          </a:xfrm>
          <a:prstGeom prst="roundRect">
            <a:avLst>
              <a:gd name="adj" fmla="val 40000"/>
            </a:avLst>
          </a:prstGeom>
          <a:solidFill>
            <a:srgbClr val="FFCE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04792" y="152396"/>
            <a:ext cx="2804089" cy="365750"/>
          </a:xfrm>
          <a:prstGeom prst="rect">
            <a:avLst/>
          </a:prstGeom>
          <a:noFill/>
        </p:spPr>
        <p:txBody>
          <a:bodyPr wrap="square" lIns="30479" rIns="30479" tIns="30479" bIns="30479" anchor="ctr"/>
          <a:lstStyle/>
          <a:p>
            <a:pPr algn="ctr">
              <a:lnSpc>
                <a:spcPct val="100000"/>
              </a:lnSpc>
            </a:pPr>
            <a:r>
              <a:rPr sz="1066" b="1">
                <a:solidFill>
                  <a:srgbClr val="1A1A1A"/>
                </a:solidFill>
                <a:latin typeface="Arial"/>
              </a:rPr>
              <a:t>1 · A PROPOSTA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584" y="335271"/>
            <a:ext cx="10972525" cy="914377"/>
          </a:xfrm>
          <a:prstGeom prst="rect">
            <a:avLst/>
          </a:prstGeom>
          <a:noFill/>
        </p:spPr>
        <p:txBody>
          <a:bodyPr wrap="square" lIns="73150" rIns="73150" tIns="73150" bIns="73150" anchor="ctr"/>
          <a:lstStyle/>
          <a:p>
            <a:pPr algn="ctr">
              <a:lnSpc>
                <a:spcPct val="100000"/>
              </a:lnSpc>
            </a:pPr>
            <a:r>
              <a:rPr sz="3599" b="1">
                <a:solidFill>
                  <a:srgbClr val="FFFFFF"/>
                </a:solidFill>
                <a:latin typeface="Arial"/>
              </a:rPr>
              <a:t>OBJETO E QUESTÃO DE PESQUISA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26" y="1402044"/>
            <a:ext cx="5242428" cy="4815719"/>
          </a:xfrm>
          <a:prstGeom prst="roundRect">
            <a:avLst>
              <a:gd name="adj" fmla="val 6000"/>
            </a:avLst>
          </a:prstGeom>
          <a:solidFill>
            <a:srgbClr val="FFCE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92460" y="1584920"/>
            <a:ext cx="4754761" cy="4510927"/>
          </a:xfrm>
          <a:prstGeom prst="rect">
            <a:avLst/>
          </a:prstGeom>
          <a:noFill/>
        </p:spPr>
        <p:txBody>
          <a:bodyPr wrap="square" lIns="73150" rIns="73150" tIns="73150" bIns="73150" anchor="t"/>
          <a:lstStyle/>
          <a:p>
            <a:pPr algn="l">
              <a:lnSpc>
                <a:spcPct val="115000"/>
              </a:lnSpc>
              <a:spcAft>
                <a:spcPts val="1066"/>
              </a:spcAft>
            </a:pPr>
            <a:r>
              <a:rPr sz="1933" b="1">
                <a:solidFill>
                  <a:srgbClr val="1A1A1A"/>
                </a:solidFill>
                <a:latin typeface="Arial"/>
              </a:rPr>
              <a:t>OBJETO</a:t>
            </a:r>
          </a:p>
          <a:p>
            <a:pPr algn="l">
              <a:lnSpc>
                <a:spcPct val="115000"/>
              </a:lnSpc>
              <a:spcAft>
                <a:spcPts val="1066"/>
              </a:spcAft>
            </a:pPr>
            <a:r>
              <a:rPr sz="1933" b="0">
                <a:solidFill>
                  <a:srgbClr val="1A1A1A"/>
                </a:solidFill>
                <a:latin typeface="Arial"/>
              </a:rPr>
              <a:t>A encenação da PNED, em seu eixo Educação Digital Escolar, pelos profissionais da educação do 1º ao 5º ano da Escola Municipal Domitila Castelo, em Pipa, Tibau do Sul (RN).</a:t>
            </a:r>
          </a:p>
          <a:p>
            <a:pPr algn="l">
              <a:lnSpc>
                <a:spcPct val="115000"/>
              </a:lnSpc>
            </a:pPr>
            <a:r>
              <a:rPr sz="1933" b="0">
                <a:solidFill>
                  <a:srgbClr val="1A1A1A"/>
                </a:solidFill>
                <a:latin typeface="Arial"/>
              </a:rPr>
              <a:t>Todos constroem a política: docentes, coordenação, direção e demais profissionais ligados ao trabalho pedagógico.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639" y="1402044"/>
            <a:ext cx="5242428" cy="4815719"/>
          </a:xfrm>
          <a:prstGeom prst="roundRect">
            <a:avLst>
              <a:gd name="adj" fmla="val 6000"/>
            </a:avLst>
          </a:prstGeom>
          <a:solidFill>
            <a:srgbClr val="FFCE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44473" y="1584920"/>
            <a:ext cx="4754761" cy="4510927"/>
          </a:xfrm>
          <a:prstGeom prst="rect">
            <a:avLst/>
          </a:prstGeom>
          <a:noFill/>
        </p:spPr>
        <p:txBody>
          <a:bodyPr wrap="square" lIns="73150" rIns="73150" tIns="73150" bIns="73150" anchor="t"/>
          <a:lstStyle/>
          <a:p>
            <a:pPr algn="l">
              <a:lnSpc>
                <a:spcPct val="115000"/>
              </a:lnSpc>
              <a:spcAft>
                <a:spcPts val="933"/>
              </a:spcAft>
            </a:pPr>
            <a:r>
              <a:rPr sz="1733" b="1">
                <a:solidFill>
                  <a:srgbClr val="1A1A1A"/>
                </a:solidFill>
                <a:latin typeface="Arial"/>
              </a:rPr>
              <a:t>QUESTÃO</a:t>
            </a:r>
          </a:p>
          <a:p>
            <a:pPr algn="l">
              <a:lnSpc>
                <a:spcPct val="115000"/>
              </a:lnSpc>
            </a:pPr>
            <a:r>
              <a:rPr sz="1733" b="0">
                <a:solidFill>
                  <a:srgbClr val="1A1A1A"/>
                </a:solidFill>
                <a:latin typeface="Arial"/>
              </a:rPr>
              <a:t>Como os profissionais da educação encenam e recontextualizam a PNED no contexto da prática da Escola Municipal Domitila Castelo, em Pipa (RN), e como as culturas profissionais, as condições materiais e institucionais da escola e as especificidades socioespaciais do território atravessam esse processo, produzindo diferentes formas de atuação, entre as quais podem emergir acomodações, negociações, ressignificações e resistências?</a:t>
            </a:r>
          </a:p>
        </p:txBody>
      </p:sp>
      <p:pic>
        <p:nvPicPr>
          <p:cNvPr id="10" name="Picture 9" descr="Ilustração decorativa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55401" y="243833"/>
            <a:ext cx="792460" cy="1081805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09584" y="6431119"/>
            <a:ext cx="10972525" cy="304792"/>
          </a:xfrm>
          <a:prstGeom prst="rect">
            <a:avLst/>
          </a:prstGeom>
          <a:noFill/>
        </p:spPr>
        <p:txBody>
          <a:bodyPr wrap="square" lIns="73150" rIns="73150" tIns="73150" bIns="73150" anchor="ctr"/>
          <a:lstStyle/>
          <a:p>
            <a:pPr algn="l">
              <a:lnSpc>
                <a:spcPct val="100000"/>
              </a:lnSpc>
            </a:pPr>
            <a:r>
              <a:rPr sz="999" b="1">
                <a:solidFill>
                  <a:srgbClr val="FFFFFF"/>
                </a:solidFill>
                <a:latin typeface="Arial"/>
              </a:rPr>
              <a:t>Fundamentos: </a:t>
            </a:r>
            <a:r>
              <a:rPr sz="999" b="0">
                <a:solidFill>
                  <a:srgbClr val="FFFFFF"/>
                </a:solidFill>
                <a:latin typeface="Arial"/>
              </a:rPr>
              <a:t>Bowe, Ball e Gold (1992); Mainardes (2006); Ball, Maguire e Braun (2016).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7828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304792" y="152396"/>
            <a:ext cx="2804089" cy="365750"/>
          </a:xfrm>
          <a:prstGeom prst="roundRect">
            <a:avLst>
              <a:gd name="adj" fmla="val 40000"/>
            </a:avLst>
          </a:prstGeom>
          <a:solidFill>
            <a:srgbClr val="FFCE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04792" y="152396"/>
            <a:ext cx="2804089" cy="365750"/>
          </a:xfrm>
          <a:prstGeom prst="rect">
            <a:avLst/>
          </a:prstGeom>
          <a:noFill/>
        </p:spPr>
        <p:txBody>
          <a:bodyPr wrap="square" lIns="30479" rIns="30479" tIns="30479" bIns="30479" anchor="ctr"/>
          <a:lstStyle/>
          <a:p>
            <a:pPr algn="ctr">
              <a:lnSpc>
                <a:spcPct val="100000"/>
              </a:lnSpc>
            </a:pPr>
            <a:r>
              <a:rPr sz="1066" b="1">
                <a:solidFill>
                  <a:srgbClr val="1A1A1A"/>
                </a:solidFill>
                <a:latin typeface="Arial"/>
              </a:rPr>
              <a:t>1 · A PROPOSTA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584" y="243833"/>
            <a:ext cx="10972525" cy="914377"/>
          </a:xfrm>
          <a:prstGeom prst="rect">
            <a:avLst/>
          </a:prstGeom>
          <a:noFill/>
        </p:spPr>
        <p:txBody>
          <a:bodyPr wrap="square" lIns="73150" rIns="73150" tIns="73150" bIns="73150" anchor="ctr"/>
          <a:lstStyle/>
          <a:p>
            <a:pPr algn="ctr">
              <a:lnSpc>
                <a:spcPct val="100000"/>
              </a:lnSpc>
            </a:pPr>
            <a:r>
              <a:rPr sz="3999" b="1">
                <a:solidFill>
                  <a:srgbClr val="FFFFFF"/>
                </a:solidFill>
                <a:latin typeface="Arial"/>
              </a:rPr>
              <a:t>OBJETIVOS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584" y="1097252"/>
            <a:ext cx="10972525" cy="1036294"/>
          </a:xfrm>
          <a:prstGeom prst="rect">
            <a:avLst/>
          </a:prstGeom>
          <a:noFill/>
        </p:spPr>
        <p:txBody>
          <a:bodyPr wrap="square" lIns="73150" rIns="73150" tIns="73150" bIns="73150" anchor="ctr"/>
          <a:lstStyle/>
          <a:p>
            <a:pPr algn="ctr">
              <a:lnSpc>
                <a:spcPct val="115000"/>
              </a:lnSpc>
            </a:pPr>
            <a:r>
              <a:rPr sz="1533" b="1">
                <a:solidFill>
                  <a:srgbClr val="FFFFFF"/>
                </a:solidFill>
                <a:latin typeface="Arial"/>
              </a:rPr>
              <a:t>Geral: </a:t>
            </a:r>
            <a:r>
              <a:rPr sz="1533" b="0">
                <a:solidFill>
                  <a:srgbClr val="FFFFFF"/>
                </a:solidFill>
                <a:latin typeface="Arial"/>
              </a:rPr>
              <a:t>analisar como os profissionais da educação encenam e recontextualizam a PNED no contexto da prática da escola, considerando as relações entre a política, as culturas profissionais, as condições materiais e institucionais e o território.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26" y="2285942"/>
            <a:ext cx="2633406" cy="3901342"/>
          </a:xfrm>
          <a:prstGeom prst="roundRect">
            <a:avLst>
              <a:gd name="adj" fmla="val 8000"/>
            </a:avLst>
          </a:prstGeom>
          <a:solidFill>
            <a:srgbClr val="F1E7D9"/>
          </a:solidFill>
          <a:ln w="25399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01022" y="2377380"/>
            <a:ext cx="731501" cy="670543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</a:pPr>
            <a:r>
              <a:rPr sz="3599" b="1">
                <a:solidFill>
                  <a:srgbClr val="6C4FD8"/>
                </a:solidFill>
                <a:latin typeface="Arial"/>
              </a:rPr>
              <a:t>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01022" y="3108882"/>
            <a:ext cx="2346901" cy="292600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5000"/>
              </a:lnSpc>
            </a:pPr>
            <a:r>
              <a:rPr sz="1733" b="0">
                <a:solidFill>
                  <a:srgbClr val="1A1A1A"/>
                </a:solidFill>
                <a:latin typeface="Arial"/>
              </a:rPr>
              <a:t>Compreender como os profissionais interpretam a PNED a partir de experiências, crenças, valores e formas de organizar o trabalho.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64907" y="2285942"/>
            <a:ext cx="2633406" cy="3901342"/>
          </a:xfrm>
          <a:prstGeom prst="roundRect">
            <a:avLst>
              <a:gd name="adj" fmla="val 8000"/>
            </a:avLst>
          </a:prstGeom>
          <a:solidFill>
            <a:srgbClr val="F1E7D9"/>
          </a:solidFill>
          <a:ln w="25399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17304" y="2377380"/>
            <a:ext cx="731501" cy="670543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</a:pPr>
            <a:r>
              <a:rPr sz="3599" b="1">
                <a:solidFill>
                  <a:srgbClr val="6C4FD8"/>
                </a:solidFill>
                <a:latin typeface="Arial"/>
              </a:rPr>
              <a:t>b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17304" y="3108882"/>
            <a:ext cx="2346901" cy="292600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5000"/>
              </a:lnSpc>
            </a:pPr>
            <a:r>
              <a:rPr sz="1733" b="0">
                <a:solidFill>
                  <a:srgbClr val="1A1A1A"/>
                </a:solidFill>
                <a:latin typeface="Arial"/>
              </a:rPr>
              <a:t>Analisar como as condições materiais e institucionais da escola e o território atravessam a tradução da política.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81189" y="2285942"/>
            <a:ext cx="2633406" cy="3901342"/>
          </a:xfrm>
          <a:prstGeom prst="roundRect">
            <a:avLst>
              <a:gd name="adj" fmla="val 8000"/>
            </a:avLst>
          </a:prstGeom>
          <a:solidFill>
            <a:srgbClr val="F1E7D9"/>
          </a:solidFill>
          <a:ln w="25399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33585" y="2377380"/>
            <a:ext cx="731501" cy="670543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</a:pPr>
            <a:r>
              <a:rPr sz="3599" b="1">
                <a:solidFill>
                  <a:srgbClr val="6C4FD8"/>
                </a:solidFill>
                <a:latin typeface="Arial"/>
              </a:rPr>
              <a:t>c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33585" y="3108882"/>
            <a:ext cx="2346901" cy="292600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5000"/>
              </a:lnSpc>
            </a:pPr>
            <a:r>
              <a:rPr sz="1733" b="0">
                <a:solidFill>
                  <a:srgbClr val="1A1A1A"/>
                </a:solidFill>
                <a:latin typeface="Arial"/>
              </a:rPr>
              <a:t>Identificar formas de atuação: adesão, acomodação, adaptação, omissão seletiva, negociação, ressignificação ou resistência.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997471" y="2285942"/>
            <a:ext cx="2633406" cy="3901342"/>
          </a:xfrm>
          <a:prstGeom prst="roundRect">
            <a:avLst>
              <a:gd name="adj" fmla="val 8000"/>
            </a:avLst>
          </a:prstGeom>
          <a:solidFill>
            <a:srgbClr val="F1E7D9"/>
          </a:solidFill>
          <a:ln w="25399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9867" y="2377380"/>
            <a:ext cx="731501" cy="670543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</a:pPr>
            <a:r>
              <a:rPr sz="3599" b="1">
                <a:solidFill>
                  <a:srgbClr val="6C4FD8"/>
                </a:solidFill>
                <a:latin typeface="Arial"/>
              </a:rPr>
              <a:t>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9867" y="3108882"/>
            <a:ext cx="2346901" cy="292600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5000"/>
              </a:lnSpc>
            </a:pPr>
            <a:r>
              <a:rPr sz="1733" b="0">
                <a:solidFill>
                  <a:srgbClr val="1A1A1A"/>
                </a:solidFill>
                <a:latin typeface="Arial"/>
              </a:rPr>
              <a:t>Discutir as implicações para as crianças: provisão, proteção e participação no ambiente digital.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09584" y="6431119"/>
            <a:ext cx="10972525" cy="304792"/>
          </a:xfrm>
          <a:prstGeom prst="rect">
            <a:avLst/>
          </a:prstGeom>
          <a:noFill/>
        </p:spPr>
        <p:txBody>
          <a:bodyPr wrap="square" lIns="73150" rIns="73150" tIns="73150" bIns="73150" anchor="ctr"/>
          <a:lstStyle/>
          <a:p>
            <a:pPr algn="l">
              <a:lnSpc>
                <a:spcPct val="100000"/>
              </a:lnSpc>
            </a:pPr>
            <a:r>
              <a:rPr sz="999" b="1">
                <a:solidFill>
                  <a:srgbClr val="FFFFFF"/>
                </a:solidFill>
                <a:latin typeface="Arial"/>
              </a:rPr>
              <a:t>Fundamentos: </a:t>
            </a:r>
            <a:r>
              <a:rPr sz="999" b="0">
                <a:solidFill>
                  <a:srgbClr val="FFFFFF"/>
                </a:solidFill>
                <a:latin typeface="Arial"/>
              </a:rPr>
              <a:t>Hargreaves (2005); Ball, Maguire e Braun (2016); ONU (2021).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7828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304792" y="152396"/>
            <a:ext cx="2804089" cy="365750"/>
          </a:xfrm>
          <a:prstGeom prst="roundRect">
            <a:avLst>
              <a:gd name="adj" fmla="val 40000"/>
            </a:avLst>
          </a:prstGeom>
          <a:solidFill>
            <a:srgbClr val="FFCE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04792" y="152396"/>
            <a:ext cx="2804089" cy="365750"/>
          </a:xfrm>
          <a:prstGeom prst="rect">
            <a:avLst/>
          </a:prstGeom>
          <a:noFill/>
        </p:spPr>
        <p:txBody>
          <a:bodyPr wrap="square" lIns="30479" rIns="30479" tIns="30479" bIns="30479" anchor="ctr"/>
          <a:lstStyle/>
          <a:p>
            <a:pPr algn="ctr">
              <a:lnSpc>
                <a:spcPct val="100000"/>
              </a:lnSpc>
            </a:pPr>
            <a:r>
              <a:rPr sz="1066" b="1">
                <a:solidFill>
                  <a:srgbClr val="1A1A1A"/>
                </a:solidFill>
                <a:latin typeface="Arial"/>
              </a:rPr>
              <a:t>1 · A PROPOSTA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584" y="335271"/>
            <a:ext cx="10972525" cy="914377"/>
          </a:xfrm>
          <a:prstGeom prst="rect">
            <a:avLst/>
          </a:prstGeom>
          <a:noFill/>
        </p:spPr>
        <p:txBody>
          <a:bodyPr wrap="square" lIns="73150" rIns="73150" tIns="73150" bIns="73150" anchor="ctr"/>
          <a:lstStyle/>
          <a:p>
            <a:pPr algn="ctr">
              <a:lnSpc>
                <a:spcPct val="100000"/>
              </a:lnSpc>
            </a:pPr>
            <a:r>
              <a:rPr sz="3733" b="1">
                <a:solidFill>
                  <a:srgbClr val="FFFFFF"/>
                </a:solidFill>
                <a:latin typeface="Arial"/>
              </a:rPr>
              <a:t>RELEVÂNCIAS DA PESQUISA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26" y="1402044"/>
            <a:ext cx="5425304" cy="2011629"/>
          </a:xfrm>
          <a:prstGeom prst="roundRect">
            <a:avLst>
              <a:gd name="adj" fmla="val 8000"/>
            </a:avLst>
          </a:prstGeom>
          <a:solidFill>
            <a:srgbClr val="F1E7D9"/>
          </a:solidFill>
          <a:ln w="25399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01" y="1493482"/>
            <a:ext cx="5059553" cy="1828754"/>
          </a:xfrm>
          <a:prstGeom prst="rect">
            <a:avLst/>
          </a:prstGeom>
          <a:noFill/>
        </p:spPr>
        <p:txBody>
          <a:bodyPr wrap="square" lIns="73150" rIns="73150" tIns="73150" bIns="73150" anchor="t"/>
          <a:lstStyle/>
          <a:p>
            <a:pPr algn="l">
              <a:lnSpc>
                <a:spcPct val="115000"/>
              </a:lnSpc>
              <a:spcAft>
                <a:spcPts val="399"/>
              </a:spcAft>
            </a:pPr>
            <a:r>
              <a:rPr sz="1399" b="1">
                <a:solidFill>
                  <a:srgbClr val="6C4FD8"/>
                </a:solidFill>
                <a:latin typeface="Arial"/>
              </a:rPr>
              <a:t>Para as crianças</a:t>
            </a:r>
          </a:p>
          <a:p>
            <a:pPr algn="l">
              <a:lnSpc>
                <a:spcPct val="115000"/>
              </a:lnSpc>
            </a:pPr>
            <a:r>
              <a:rPr sz="1399" b="0">
                <a:solidFill>
                  <a:srgbClr val="1A1A1A"/>
                </a:solidFill>
                <a:latin typeface="Arial"/>
              </a:rPr>
              <a:t>O eixo associa a cultura digital à “participação consciente e democrática” e os direitos digitais à proteção dos dados de crianças (art. 3º, III e IV). Nos anos iniciais, a escola é, para muitas, o primeiro espaço público para discutir o digital com quem ensina.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56806" y="1402044"/>
            <a:ext cx="5425304" cy="2011629"/>
          </a:xfrm>
          <a:prstGeom prst="roundRect">
            <a:avLst>
              <a:gd name="adj" fmla="val 8000"/>
            </a:avLst>
          </a:prstGeom>
          <a:solidFill>
            <a:srgbClr val="F1E7D9"/>
          </a:solidFill>
          <a:ln w="25399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39681" y="1493482"/>
            <a:ext cx="5059553" cy="1828754"/>
          </a:xfrm>
          <a:prstGeom prst="rect">
            <a:avLst/>
          </a:prstGeom>
          <a:noFill/>
        </p:spPr>
        <p:txBody>
          <a:bodyPr wrap="square" lIns="73150" rIns="73150" tIns="73150" bIns="73150" anchor="t"/>
          <a:lstStyle/>
          <a:p>
            <a:pPr algn="l">
              <a:lnSpc>
                <a:spcPct val="115000"/>
              </a:lnSpc>
              <a:spcAft>
                <a:spcPts val="399"/>
              </a:spcAft>
            </a:pPr>
            <a:r>
              <a:rPr sz="1399" b="1">
                <a:solidFill>
                  <a:srgbClr val="6C4FD8"/>
                </a:solidFill>
                <a:latin typeface="Arial"/>
              </a:rPr>
              <a:t>Para quem faz a política</a:t>
            </a:r>
          </a:p>
          <a:p>
            <a:pPr algn="l">
              <a:lnSpc>
                <a:spcPct val="115000"/>
              </a:lnSpc>
            </a:pPr>
            <a:r>
              <a:rPr sz="1399" b="0">
                <a:solidFill>
                  <a:srgbClr val="1A1A1A"/>
                </a:solidFill>
                <a:latin typeface="Arial"/>
              </a:rPr>
              <a:t>Docentes, coordenação, direção e demais profissionais encenam a PNED de posições diferentes, com margens de decisão e responsabilidades próprias. A lei prevê sua formação continuada (art. 3º, § 1º, X).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26" y="3566070"/>
            <a:ext cx="5425304" cy="2011629"/>
          </a:xfrm>
          <a:prstGeom prst="roundRect">
            <a:avLst>
              <a:gd name="adj" fmla="val 8000"/>
            </a:avLst>
          </a:prstGeom>
          <a:solidFill>
            <a:srgbClr val="F1E7D9"/>
          </a:solidFill>
          <a:ln w="25399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01" y="3657508"/>
            <a:ext cx="5059553" cy="1828754"/>
          </a:xfrm>
          <a:prstGeom prst="rect">
            <a:avLst/>
          </a:prstGeom>
          <a:noFill/>
        </p:spPr>
        <p:txBody>
          <a:bodyPr wrap="square" lIns="73150" rIns="73150" tIns="73150" bIns="73150" anchor="t"/>
          <a:lstStyle/>
          <a:p>
            <a:pPr algn="l">
              <a:lnSpc>
                <a:spcPct val="115000"/>
              </a:lnSpc>
              <a:spcAft>
                <a:spcPts val="399"/>
              </a:spcAft>
            </a:pPr>
            <a:r>
              <a:rPr sz="1399" b="1">
                <a:solidFill>
                  <a:srgbClr val="6C4FD8"/>
                </a:solidFill>
                <a:latin typeface="Arial"/>
              </a:rPr>
              <a:t>Para o território</a:t>
            </a:r>
          </a:p>
          <a:p>
            <a:pPr algn="l">
              <a:lnSpc>
                <a:spcPct val="115000"/>
              </a:lnSpc>
            </a:pPr>
            <a:r>
              <a:rPr sz="1399" b="0">
                <a:solidFill>
                  <a:srgbClr val="1A1A1A"/>
                </a:solidFill>
                <a:latin typeface="Arial"/>
              </a:rPr>
              <a:t>O distrito onde pousadas, restaurantes e passeios se vendem pela internet é o mesmo de onde as crianças saem para salas com alfabeto móvel feito à mão e nenhuma tela.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56806" y="3566070"/>
            <a:ext cx="5425304" cy="2011629"/>
          </a:xfrm>
          <a:prstGeom prst="roundRect">
            <a:avLst>
              <a:gd name="adj" fmla="val 8000"/>
            </a:avLst>
          </a:prstGeom>
          <a:solidFill>
            <a:srgbClr val="F1E7D9"/>
          </a:solidFill>
          <a:ln w="25399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39681" y="3657508"/>
            <a:ext cx="5059553" cy="1828754"/>
          </a:xfrm>
          <a:prstGeom prst="rect">
            <a:avLst/>
          </a:prstGeom>
          <a:noFill/>
        </p:spPr>
        <p:txBody>
          <a:bodyPr wrap="square" lIns="73150" rIns="73150" tIns="73150" bIns="73150" anchor="t"/>
          <a:lstStyle/>
          <a:p>
            <a:pPr algn="l">
              <a:lnSpc>
                <a:spcPct val="115000"/>
              </a:lnSpc>
              <a:spcAft>
                <a:spcPts val="399"/>
              </a:spcAft>
            </a:pPr>
            <a:r>
              <a:rPr sz="1399" b="1">
                <a:solidFill>
                  <a:srgbClr val="6C4FD8"/>
                </a:solidFill>
                <a:latin typeface="Arial"/>
              </a:rPr>
              <a:t>Para o debate sobre desigualdade</a:t>
            </a:r>
          </a:p>
          <a:p>
            <a:pPr algn="l">
              <a:lnSpc>
                <a:spcPct val="115000"/>
              </a:lnSpc>
            </a:pPr>
            <a:r>
              <a:rPr sz="1399" b="0">
                <a:solidFill>
                  <a:srgbClr val="1A1A1A"/>
                </a:solidFill>
                <a:latin typeface="Arial"/>
              </a:rPr>
              <a:t>TIC Educação 2024: internet em 94% das escolas municipais; computadores para os alunos em 59% das escolas (60% em 2020) e em 28% das rurais (36% em 2020).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26" y="5791055"/>
            <a:ext cx="11094442" cy="579105"/>
          </a:xfrm>
          <a:prstGeom prst="roundRect">
            <a:avLst>
              <a:gd name="adj" fmla="val 6000"/>
            </a:avLst>
          </a:prstGeom>
          <a:solidFill>
            <a:srgbClr val="FFCE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01" y="5791055"/>
            <a:ext cx="10728691" cy="579105"/>
          </a:xfrm>
          <a:prstGeom prst="rect">
            <a:avLst/>
          </a:prstGeom>
          <a:noFill/>
        </p:spPr>
        <p:txBody>
          <a:bodyPr wrap="square" lIns="73150" rIns="73150" tIns="73150" bIns="73150" anchor="ctr"/>
          <a:lstStyle/>
          <a:p>
            <a:pPr algn="l">
              <a:lnSpc>
                <a:spcPct val="100000"/>
              </a:lnSpc>
            </a:pPr>
            <a:r>
              <a:rPr sz="1199" b="0">
                <a:solidFill>
                  <a:srgbClr val="1A1A1A"/>
                </a:solidFill>
                <a:latin typeface="Arial"/>
              </a:rPr>
              <a:t>“Ser excluído dessas redes é sofrer uma das formas mais danosas de exclusão em nossa economia e em nossa cultura” </a:t>
            </a:r>
            <a:r>
              <a:rPr sz="1199" b="1">
                <a:solidFill>
                  <a:srgbClr val="1A1A1A"/>
                </a:solidFill>
                <a:latin typeface="Arial"/>
              </a:rPr>
              <a:t>(CASTELLS, 2003, p. 8).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9584" y="6431119"/>
            <a:ext cx="10972525" cy="304792"/>
          </a:xfrm>
          <a:prstGeom prst="rect">
            <a:avLst/>
          </a:prstGeom>
          <a:noFill/>
        </p:spPr>
        <p:txBody>
          <a:bodyPr wrap="square" lIns="73150" rIns="73150" tIns="73150" bIns="73150" anchor="ctr"/>
          <a:lstStyle/>
          <a:p>
            <a:pPr algn="l">
              <a:lnSpc>
                <a:spcPct val="100000"/>
              </a:lnSpc>
            </a:pPr>
            <a:r>
              <a:rPr sz="999" b="1">
                <a:solidFill>
                  <a:srgbClr val="FFFFFF"/>
                </a:solidFill>
                <a:latin typeface="Arial"/>
              </a:rPr>
              <a:t>Fundamentos: </a:t>
            </a:r>
            <a:r>
              <a:rPr sz="999" b="0">
                <a:solidFill>
                  <a:srgbClr val="FFFFFF"/>
                </a:solidFill>
                <a:latin typeface="Arial"/>
              </a:rPr>
              <a:t>Brasil (2023); ONU (2021); Lei nº 15.211/2025 (ECA Digital); CGI.br (2025a).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7828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304792" y="152396"/>
            <a:ext cx="2804089" cy="365750"/>
          </a:xfrm>
          <a:prstGeom prst="roundRect">
            <a:avLst>
              <a:gd name="adj" fmla="val 40000"/>
            </a:avLst>
          </a:prstGeom>
          <a:solidFill>
            <a:srgbClr val="FFCE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04792" y="152396"/>
            <a:ext cx="2804089" cy="365750"/>
          </a:xfrm>
          <a:prstGeom prst="rect">
            <a:avLst/>
          </a:prstGeom>
          <a:noFill/>
        </p:spPr>
        <p:txBody>
          <a:bodyPr wrap="square" lIns="30479" rIns="30479" tIns="30479" bIns="30479" anchor="ctr"/>
          <a:lstStyle/>
          <a:p>
            <a:pPr algn="ctr">
              <a:lnSpc>
                <a:spcPct val="100000"/>
              </a:lnSpc>
            </a:pPr>
            <a:r>
              <a:rPr sz="1066" b="1">
                <a:solidFill>
                  <a:srgbClr val="1A1A1A"/>
                </a:solidFill>
                <a:latin typeface="Arial"/>
              </a:rPr>
              <a:t>1 · A PROPOSTA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584" y="335271"/>
            <a:ext cx="10972525" cy="914377"/>
          </a:xfrm>
          <a:prstGeom prst="rect">
            <a:avLst/>
          </a:prstGeom>
          <a:noFill/>
        </p:spPr>
        <p:txBody>
          <a:bodyPr wrap="square" lIns="73150" rIns="73150" tIns="73150" bIns="73150" anchor="ctr"/>
          <a:lstStyle/>
          <a:p>
            <a:pPr algn="ctr">
              <a:lnSpc>
                <a:spcPct val="100000"/>
              </a:lnSpc>
            </a:pPr>
            <a:r>
              <a:rPr sz="3599" b="1">
                <a:solidFill>
                  <a:srgbClr val="FFFFFF"/>
                </a:solidFill>
                <a:latin typeface="Arial"/>
              </a:rPr>
              <a:t>INEDITISMO EM TRÊS DIMENSÕES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26" y="1584920"/>
            <a:ext cx="3566070" cy="4389010"/>
          </a:xfrm>
          <a:prstGeom prst="roundRect">
            <a:avLst>
              <a:gd name="adj" fmla="val 8000"/>
            </a:avLst>
          </a:prstGeom>
          <a:solidFill>
            <a:srgbClr val="F1E7D9"/>
          </a:solidFill>
          <a:ln w="25399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01" y="1737316"/>
            <a:ext cx="3200319" cy="792460"/>
          </a:xfrm>
          <a:prstGeom prst="rect">
            <a:avLst/>
          </a:prstGeom>
          <a:noFill/>
        </p:spPr>
        <p:txBody>
          <a:bodyPr wrap="square" lIns="73150" rIns="73150" tIns="73150" bIns="73150" anchor="ctr"/>
          <a:lstStyle/>
          <a:p>
            <a:pPr algn="l">
              <a:lnSpc>
                <a:spcPct val="100000"/>
              </a:lnSpc>
            </a:pPr>
            <a:r>
              <a:rPr sz="1799" b="1">
                <a:solidFill>
                  <a:srgbClr val="6C4FD8"/>
                </a:solidFill>
                <a:latin typeface="Arial"/>
              </a:rPr>
              <a:t>EMPÍRICO-TEMPORAL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01" y="2621214"/>
            <a:ext cx="3200319" cy="3230799"/>
          </a:xfrm>
          <a:prstGeom prst="rect">
            <a:avLst/>
          </a:prstGeom>
          <a:noFill/>
        </p:spPr>
        <p:txBody>
          <a:bodyPr wrap="square" lIns="73150" rIns="73150" tIns="73150" bIns="73150" anchor="t"/>
          <a:lstStyle/>
          <a:p>
            <a:pPr algn="l">
              <a:lnSpc>
                <a:spcPct val="115000"/>
              </a:lnSpc>
            </a:pPr>
            <a:r>
              <a:rPr sz="1933" b="0">
                <a:solidFill>
                  <a:srgbClr val="1A1A1A"/>
                </a:solidFill>
                <a:latin typeface="Arial"/>
              </a:rPr>
              <a:t>A PNED chega à escola quando o componente se torna obrigatório, em 2026. Nenhum dos 9 estudos da RSL trata dela nem de rede municipal de pequeno porte.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97572" y="1584920"/>
            <a:ext cx="3566070" cy="4389010"/>
          </a:xfrm>
          <a:prstGeom prst="roundRect">
            <a:avLst>
              <a:gd name="adj" fmla="val 8000"/>
            </a:avLst>
          </a:prstGeom>
          <a:solidFill>
            <a:srgbClr val="F1E7D9"/>
          </a:solidFill>
          <a:ln w="25399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80447" y="1737316"/>
            <a:ext cx="3200319" cy="792460"/>
          </a:xfrm>
          <a:prstGeom prst="rect">
            <a:avLst/>
          </a:prstGeom>
          <a:noFill/>
        </p:spPr>
        <p:txBody>
          <a:bodyPr wrap="square" lIns="73150" rIns="73150" tIns="73150" bIns="73150" anchor="ctr"/>
          <a:lstStyle/>
          <a:p>
            <a:pPr algn="l">
              <a:lnSpc>
                <a:spcPct val="100000"/>
              </a:lnSpc>
            </a:pPr>
            <a:r>
              <a:rPr sz="1799" b="1">
                <a:solidFill>
                  <a:srgbClr val="6C4FD8"/>
                </a:solidFill>
                <a:latin typeface="Arial"/>
              </a:rPr>
              <a:t>ANALÍTICO-ESPACIAL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80447" y="2621214"/>
            <a:ext cx="3200319" cy="3230799"/>
          </a:xfrm>
          <a:prstGeom prst="rect">
            <a:avLst/>
          </a:prstGeom>
          <a:noFill/>
        </p:spPr>
        <p:txBody>
          <a:bodyPr wrap="square" lIns="73150" rIns="73150" tIns="73150" bIns="73150" anchor="t"/>
          <a:lstStyle/>
          <a:p>
            <a:pPr algn="l">
              <a:lnSpc>
                <a:spcPct val="115000"/>
              </a:lnSpc>
            </a:pPr>
            <a:r>
              <a:rPr sz="1933" b="0">
                <a:solidFill>
                  <a:srgbClr val="1A1A1A"/>
                </a:solidFill>
                <a:latin typeface="Arial"/>
              </a:rPr>
              <a:t>Pipa como dimensão constitutiva do contexto da prática, que atravessa toda a tese (SANTOS, 1999; MASSEY, 2008).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518" y="1584920"/>
            <a:ext cx="3566070" cy="4389010"/>
          </a:xfrm>
          <a:prstGeom prst="roundRect">
            <a:avLst>
              <a:gd name="adj" fmla="val 8000"/>
            </a:avLst>
          </a:prstGeom>
          <a:solidFill>
            <a:srgbClr val="F1E7D9"/>
          </a:solidFill>
          <a:ln w="25399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394" y="1737316"/>
            <a:ext cx="3200319" cy="792460"/>
          </a:xfrm>
          <a:prstGeom prst="rect">
            <a:avLst/>
          </a:prstGeom>
          <a:noFill/>
        </p:spPr>
        <p:txBody>
          <a:bodyPr wrap="square" lIns="73150" rIns="73150" tIns="73150" bIns="73150" anchor="ctr"/>
          <a:lstStyle/>
          <a:p>
            <a:pPr algn="l">
              <a:lnSpc>
                <a:spcPct val="100000"/>
              </a:lnSpc>
            </a:pPr>
            <a:r>
              <a:rPr sz="1799" b="1">
                <a:solidFill>
                  <a:srgbClr val="6C4FD8"/>
                </a:solidFill>
                <a:latin typeface="Arial"/>
              </a:rPr>
              <a:t>TEÓRICO-CONCEITUAL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394" y="2621214"/>
            <a:ext cx="3200319" cy="3230799"/>
          </a:xfrm>
          <a:prstGeom prst="rect">
            <a:avLst/>
          </a:prstGeom>
          <a:noFill/>
        </p:spPr>
        <p:txBody>
          <a:bodyPr wrap="square" lIns="73150" rIns="73150" tIns="73150" bIns="73150" anchor="t"/>
          <a:lstStyle/>
          <a:p>
            <a:pPr algn="l">
              <a:lnSpc>
                <a:spcPct val="115000"/>
              </a:lnSpc>
            </a:pPr>
            <a:r>
              <a:rPr sz="1933" b="0">
                <a:solidFill>
                  <a:srgbClr val="1A1A1A"/>
                </a:solidFill>
                <a:latin typeface="Arial"/>
              </a:rPr>
              <a:t>Teoria da atuação, culturas profissionais, dimensão material e território articulados, com a noção de habitar o digital.</a:t>
            </a:r>
          </a:p>
        </p:txBody>
      </p:sp>
      <p:pic>
        <p:nvPicPr>
          <p:cNvPr id="15" name="Picture 14" descr="Ilustração decorativa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94442" y="182875"/>
            <a:ext cx="853418" cy="952255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609584" y="6431119"/>
            <a:ext cx="10972525" cy="304792"/>
          </a:xfrm>
          <a:prstGeom prst="rect">
            <a:avLst/>
          </a:prstGeom>
          <a:noFill/>
        </p:spPr>
        <p:txBody>
          <a:bodyPr wrap="square" lIns="73150" rIns="73150" tIns="73150" bIns="73150" anchor="ctr"/>
          <a:lstStyle/>
          <a:p>
            <a:pPr algn="l">
              <a:lnSpc>
                <a:spcPct val="100000"/>
              </a:lnSpc>
            </a:pPr>
            <a:r>
              <a:rPr sz="999" b="1">
                <a:solidFill>
                  <a:srgbClr val="FFFFFF"/>
                </a:solidFill>
                <a:latin typeface="Arial"/>
              </a:rPr>
              <a:t>Fundamentos: </a:t>
            </a:r>
            <a:r>
              <a:rPr sz="999" b="0">
                <a:solidFill>
                  <a:srgbClr val="FFFFFF"/>
                </a:solidFill>
                <a:latin typeface="Arial"/>
              </a:rPr>
              <a:t>Revisão sistemática (Cap. 2); Ball, Maguire e Braun (2016); Hargreaves (2005).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7828"/>
          </a:xfrm>
          <a:prstGeom prst="rect">
            <a:avLst/>
          </a:prstGeom>
        </p:spPr>
      </p:pic>
      <p:pic>
        <p:nvPicPr>
          <p:cNvPr id="3" name="Picture 2" descr="Ilustração decorativa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7667" y="1341086"/>
            <a:ext cx="4023259" cy="52333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998595" y="335271"/>
            <a:ext cx="6705432" cy="914377"/>
          </a:xfrm>
          <a:prstGeom prst="rect">
            <a:avLst/>
          </a:prstGeom>
          <a:noFill/>
        </p:spPr>
        <p:txBody>
          <a:bodyPr wrap="square" lIns="73150" rIns="73150" tIns="73150" bIns="73150" anchor="ctr"/>
          <a:lstStyle/>
          <a:p>
            <a:pPr algn="l">
              <a:lnSpc>
                <a:spcPct val="100000"/>
              </a:lnSpc>
            </a:pPr>
            <a:r>
              <a:rPr sz="3999" b="1">
                <a:solidFill>
                  <a:srgbClr val="FFFFFF"/>
                </a:solidFill>
                <a:latin typeface="Arial"/>
              </a:rPr>
              <a:t>TESE DE PARTIDA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998595" y="1402044"/>
            <a:ext cx="6644473" cy="3047923"/>
          </a:xfrm>
          <a:prstGeom prst="roundRect">
            <a:avLst>
              <a:gd name="adj" fmla="val 6000"/>
            </a:avLst>
          </a:prstGeom>
          <a:solidFill>
            <a:srgbClr val="FFCE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242428" y="1523961"/>
            <a:ext cx="6156806" cy="2804089"/>
          </a:xfrm>
          <a:prstGeom prst="rect">
            <a:avLst/>
          </a:prstGeom>
          <a:noFill/>
        </p:spPr>
        <p:txBody>
          <a:bodyPr wrap="square" lIns="73150" rIns="73150" tIns="73150" bIns="73150" anchor="ctr"/>
          <a:lstStyle/>
          <a:p>
            <a:pPr algn="l">
              <a:lnSpc>
                <a:spcPct val="115000"/>
              </a:lnSpc>
            </a:pPr>
            <a:r>
              <a:rPr sz="1666" b="0">
                <a:solidFill>
                  <a:srgbClr val="1A1A1A"/>
                </a:solidFill>
                <a:latin typeface="Arial"/>
              </a:rPr>
              <a:t>A PNED chega à escola como orientação a ser lida e interpretada. A forma que assume no cotidiano resulta da relação entre o que prescreve e as condições em que os profissionais precisam atuar, atravessadas pelas culturas profissionais e pelo território. Nenhuma forma de atuação é pressuposta.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998595" y="4632844"/>
            <a:ext cx="6644473" cy="1584920"/>
          </a:xfrm>
          <a:prstGeom prst="rect">
            <a:avLst/>
          </a:prstGeom>
          <a:noFill/>
        </p:spPr>
        <p:txBody>
          <a:bodyPr wrap="square" lIns="73150" rIns="73150" tIns="73150" bIns="73150" anchor="t"/>
          <a:lstStyle/>
          <a:p>
            <a:pPr algn="l">
              <a:lnSpc>
                <a:spcPct val="115000"/>
              </a:lnSpc>
            </a:pPr>
            <a:r>
              <a:rPr sz="1599" b="1">
                <a:solidFill>
                  <a:srgbClr val="FFFFFF"/>
                </a:solidFill>
                <a:latin typeface="Arial"/>
              </a:rPr>
              <a:t>Pergunta de fundo: </a:t>
            </a:r>
            <a:r>
              <a:rPr sz="1599" b="0">
                <a:solidFill>
                  <a:srgbClr val="FFFFFF"/>
                </a:solidFill>
                <a:latin typeface="Arial"/>
              </a:rPr>
              <a:t>o que acontece com uma política de educação digital quando encontra uma escola, seus profissionais, suas condições materiais e um território específico?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998595" y="6431119"/>
            <a:ext cx="6644473" cy="304792"/>
          </a:xfrm>
          <a:prstGeom prst="rect">
            <a:avLst/>
          </a:prstGeom>
          <a:noFill/>
        </p:spPr>
        <p:txBody>
          <a:bodyPr wrap="square" lIns="73150" rIns="73150" tIns="73150" bIns="73150" anchor="ctr"/>
          <a:lstStyle/>
          <a:p>
            <a:pPr algn="l">
              <a:lnSpc>
                <a:spcPct val="100000"/>
              </a:lnSpc>
            </a:pPr>
            <a:r>
              <a:rPr sz="999" b="1">
                <a:solidFill>
                  <a:srgbClr val="FFFFFF"/>
                </a:solidFill>
                <a:latin typeface="Arial"/>
              </a:rPr>
              <a:t>Fundamentos: </a:t>
            </a:r>
            <a:r>
              <a:rPr sz="999" b="0">
                <a:solidFill>
                  <a:srgbClr val="FFFFFF"/>
                </a:solidFill>
                <a:latin typeface="Arial"/>
              </a:rPr>
              <a:t>Bowe, Ball e Gold (1992); Mainardes (2006); Ball, Maguire e Braun (2016).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7828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304792" y="152396"/>
            <a:ext cx="2804089" cy="365750"/>
          </a:xfrm>
          <a:prstGeom prst="roundRect">
            <a:avLst>
              <a:gd name="adj" fmla="val 40000"/>
            </a:avLst>
          </a:prstGeom>
          <a:solidFill>
            <a:srgbClr val="FFCE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04792" y="152396"/>
            <a:ext cx="2804089" cy="365750"/>
          </a:xfrm>
          <a:prstGeom prst="rect">
            <a:avLst/>
          </a:prstGeom>
          <a:noFill/>
        </p:spPr>
        <p:txBody>
          <a:bodyPr wrap="square" lIns="30479" rIns="30479" tIns="30479" bIns="30479" anchor="ctr"/>
          <a:lstStyle/>
          <a:p>
            <a:pPr algn="ctr">
              <a:lnSpc>
                <a:spcPct val="100000"/>
              </a:lnSpc>
            </a:pPr>
            <a:r>
              <a:rPr sz="1066" b="1">
                <a:solidFill>
                  <a:srgbClr val="1A1A1A"/>
                </a:solidFill>
                <a:latin typeface="Arial"/>
              </a:rPr>
              <a:t>2 · REVISÃO SISTEMÁTICA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584" y="335271"/>
            <a:ext cx="10972525" cy="914377"/>
          </a:xfrm>
          <a:prstGeom prst="rect">
            <a:avLst/>
          </a:prstGeom>
          <a:noFill/>
        </p:spPr>
        <p:txBody>
          <a:bodyPr wrap="square" lIns="73150" rIns="73150" tIns="73150" bIns="73150" anchor="ctr"/>
          <a:lstStyle/>
          <a:p>
            <a:pPr algn="ctr">
              <a:lnSpc>
                <a:spcPct val="100000"/>
              </a:lnSpc>
            </a:pPr>
            <a:r>
              <a:rPr sz="3333" b="1">
                <a:solidFill>
                  <a:srgbClr val="FFFFFF"/>
                </a:solidFill>
                <a:latin typeface="Arial"/>
              </a:rPr>
              <a:t>A RESPOSTA À QUESTÃO NORTEADORA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26" y="1341086"/>
            <a:ext cx="11094442" cy="944856"/>
          </a:xfrm>
          <a:prstGeom prst="roundRect">
            <a:avLst>
              <a:gd name="adj" fmla="val 15000"/>
            </a:avLst>
          </a:prstGeom>
          <a:solidFill>
            <a:srgbClr val="F1E7D9"/>
          </a:solidFill>
          <a:ln w="25399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01" y="1341086"/>
            <a:ext cx="10728691" cy="944856"/>
          </a:xfrm>
          <a:prstGeom prst="rect">
            <a:avLst/>
          </a:prstGeom>
          <a:noFill/>
        </p:spPr>
        <p:txBody>
          <a:bodyPr wrap="square" lIns="73150" rIns="73150" tIns="73150" bIns="73150" anchor="ctr"/>
          <a:lstStyle/>
          <a:p>
            <a:pPr algn="l">
              <a:lnSpc>
                <a:spcPct val="115000"/>
              </a:lnSpc>
            </a:pPr>
            <a:r>
              <a:rPr sz="1399" b="1">
                <a:solidFill>
                  <a:srgbClr val="6C4FD8"/>
                </a:solidFill>
                <a:latin typeface="Arial"/>
              </a:rPr>
              <a:t>Questão: </a:t>
            </a:r>
            <a:r>
              <a:rPr sz="1399" b="0">
                <a:solidFill>
                  <a:srgbClr val="1A1A1A"/>
                </a:solidFill>
                <a:latin typeface="Arial"/>
              </a:rPr>
              <a:t>o que a produção científica nacional e internacional evidencia sobre a implementação de políticas públicas de educação digital nos anos iniciais do Ensino Fundamental?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26" y="2468818"/>
            <a:ext cx="2011629" cy="1066773"/>
          </a:xfrm>
          <a:prstGeom prst="roundRect">
            <a:avLst>
              <a:gd name="adj" fmla="val 12000"/>
            </a:avLst>
          </a:prstGeom>
          <a:solidFill>
            <a:srgbClr val="F1E7D9"/>
          </a:solidFill>
          <a:ln w="25399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26" y="2499297"/>
            <a:ext cx="2011629" cy="609584"/>
          </a:xfrm>
          <a:prstGeom prst="rect">
            <a:avLst/>
          </a:prstGeom>
          <a:noFill/>
        </p:spPr>
        <p:txBody>
          <a:bodyPr wrap="square" lIns="73150" rIns="73150" tIns="73150" bIns="73150" anchor="ctr"/>
          <a:lstStyle/>
          <a:p>
            <a:pPr algn="ctr">
              <a:lnSpc>
                <a:spcPct val="100000"/>
              </a:lnSpc>
            </a:pPr>
            <a:r>
              <a:rPr sz="2933" b="1">
                <a:solidFill>
                  <a:srgbClr val="6C4FD8"/>
                </a:solidFill>
                <a:latin typeface="Arial"/>
              </a:rPr>
              <a:t>176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26" y="3078403"/>
            <a:ext cx="2011629" cy="426709"/>
          </a:xfrm>
          <a:prstGeom prst="rect">
            <a:avLst/>
          </a:prstGeom>
          <a:noFill/>
        </p:spPr>
        <p:txBody>
          <a:bodyPr wrap="square" lIns="73150" rIns="73150" tIns="73150" bIns="73150" anchor="ctr"/>
          <a:lstStyle/>
          <a:p>
            <a:pPr algn="ctr">
              <a:lnSpc>
                <a:spcPct val="100000"/>
              </a:lnSpc>
            </a:pPr>
            <a:r>
              <a:rPr sz="1199" b="0">
                <a:solidFill>
                  <a:srgbClr val="1A1A1A"/>
                </a:solidFill>
                <a:latin typeface="Arial"/>
              </a:rPr>
              <a:t>registros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804089" y="2468818"/>
            <a:ext cx="2011629" cy="1066773"/>
          </a:xfrm>
          <a:prstGeom prst="roundRect">
            <a:avLst>
              <a:gd name="adj" fmla="val 12000"/>
            </a:avLst>
          </a:prstGeom>
          <a:solidFill>
            <a:srgbClr val="F1E7D9"/>
          </a:solidFill>
          <a:ln w="25399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804089" y="2499297"/>
            <a:ext cx="2011629" cy="609584"/>
          </a:xfrm>
          <a:prstGeom prst="rect">
            <a:avLst/>
          </a:prstGeom>
          <a:noFill/>
        </p:spPr>
        <p:txBody>
          <a:bodyPr wrap="square" lIns="73150" rIns="73150" tIns="73150" bIns="73150" anchor="ctr"/>
          <a:lstStyle/>
          <a:p>
            <a:pPr algn="ctr">
              <a:lnSpc>
                <a:spcPct val="100000"/>
              </a:lnSpc>
            </a:pPr>
            <a:r>
              <a:rPr sz="2933" b="1">
                <a:solidFill>
                  <a:srgbClr val="6C4FD8"/>
                </a:solidFill>
                <a:latin typeface="Arial"/>
              </a:rPr>
              <a:t>171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04089" y="3078403"/>
            <a:ext cx="2011629" cy="426709"/>
          </a:xfrm>
          <a:prstGeom prst="rect">
            <a:avLst/>
          </a:prstGeom>
          <a:noFill/>
        </p:spPr>
        <p:txBody>
          <a:bodyPr wrap="square" lIns="73150" rIns="73150" tIns="73150" bIns="73150" anchor="ctr"/>
          <a:lstStyle/>
          <a:p>
            <a:pPr algn="ctr">
              <a:lnSpc>
                <a:spcPct val="100000"/>
              </a:lnSpc>
            </a:pPr>
            <a:r>
              <a:rPr sz="1199" b="0">
                <a:solidFill>
                  <a:srgbClr val="1A1A1A"/>
                </a:solidFill>
                <a:latin typeface="Arial"/>
              </a:rPr>
              <a:t>sem duplicatas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59553" y="2468818"/>
            <a:ext cx="2011629" cy="1066773"/>
          </a:xfrm>
          <a:prstGeom prst="roundRect">
            <a:avLst>
              <a:gd name="adj" fmla="val 12000"/>
            </a:avLst>
          </a:prstGeom>
          <a:solidFill>
            <a:srgbClr val="F1E7D9"/>
          </a:solidFill>
          <a:ln w="25399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59553" y="2499297"/>
            <a:ext cx="2011629" cy="609584"/>
          </a:xfrm>
          <a:prstGeom prst="rect">
            <a:avLst/>
          </a:prstGeom>
          <a:noFill/>
        </p:spPr>
        <p:txBody>
          <a:bodyPr wrap="square" lIns="73150" rIns="73150" tIns="73150" bIns="73150" anchor="ctr"/>
          <a:lstStyle/>
          <a:p>
            <a:pPr algn="ctr">
              <a:lnSpc>
                <a:spcPct val="100000"/>
              </a:lnSpc>
            </a:pPr>
            <a:r>
              <a:rPr sz="2933" b="1">
                <a:solidFill>
                  <a:srgbClr val="6C4FD8"/>
                </a:solidFill>
                <a:latin typeface="Arial"/>
              </a:rPr>
              <a:t>39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59553" y="3078403"/>
            <a:ext cx="2011629" cy="426709"/>
          </a:xfrm>
          <a:prstGeom prst="rect">
            <a:avLst/>
          </a:prstGeom>
          <a:noFill/>
        </p:spPr>
        <p:txBody>
          <a:bodyPr wrap="square" lIns="73150" rIns="73150" tIns="73150" bIns="73150" anchor="ctr"/>
          <a:lstStyle/>
          <a:p>
            <a:pPr algn="ctr">
              <a:lnSpc>
                <a:spcPct val="100000"/>
              </a:lnSpc>
            </a:pPr>
            <a:r>
              <a:rPr sz="1199" b="0">
                <a:solidFill>
                  <a:srgbClr val="1A1A1A"/>
                </a:solidFill>
                <a:latin typeface="Arial"/>
              </a:rPr>
              <a:t>buscados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017" y="2468818"/>
            <a:ext cx="2011629" cy="1066773"/>
          </a:xfrm>
          <a:prstGeom prst="roundRect">
            <a:avLst>
              <a:gd name="adj" fmla="val 12000"/>
            </a:avLst>
          </a:prstGeom>
          <a:solidFill>
            <a:srgbClr val="F1E7D9"/>
          </a:solidFill>
          <a:ln w="25399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017" y="2499297"/>
            <a:ext cx="2011629" cy="609584"/>
          </a:xfrm>
          <a:prstGeom prst="rect">
            <a:avLst/>
          </a:prstGeom>
          <a:noFill/>
        </p:spPr>
        <p:txBody>
          <a:bodyPr wrap="square" lIns="73150" rIns="73150" tIns="73150" bIns="73150" anchor="ctr"/>
          <a:lstStyle/>
          <a:p>
            <a:pPr algn="ctr">
              <a:lnSpc>
                <a:spcPct val="100000"/>
              </a:lnSpc>
            </a:pPr>
            <a:r>
              <a:rPr sz="2933" b="1">
                <a:solidFill>
                  <a:srgbClr val="6C4FD8"/>
                </a:solidFill>
                <a:latin typeface="Arial"/>
              </a:rPr>
              <a:t>35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017" y="3078403"/>
            <a:ext cx="2011629" cy="426709"/>
          </a:xfrm>
          <a:prstGeom prst="rect">
            <a:avLst/>
          </a:prstGeom>
          <a:noFill/>
        </p:spPr>
        <p:txBody>
          <a:bodyPr wrap="square" lIns="73150" rIns="73150" tIns="73150" bIns="73150" anchor="ctr"/>
          <a:lstStyle/>
          <a:p>
            <a:pPr algn="ctr">
              <a:lnSpc>
                <a:spcPct val="100000"/>
              </a:lnSpc>
            </a:pPr>
            <a:r>
              <a:rPr sz="1199" b="0">
                <a:solidFill>
                  <a:srgbClr val="1A1A1A"/>
                </a:solidFill>
                <a:latin typeface="Arial"/>
              </a:rPr>
              <a:t>lidos na íntegra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570480" y="2468818"/>
            <a:ext cx="2011629" cy="1066773"/>
          </a:xfrm>
          <a:prstGeom prst="roundRect">
            <a:avLst>
              <a:gd name="adj" fmla="val 12000"/>
            </a:avLst>
          </a:prstGeom>
          <a:solidFill>
            <a:srgbClr val="FFCE32"/>
          </a:solidFill>
          <a:ln w="25399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570480" y="2499297"/>
            <a:ext cx="2011629" cy="609584"/>
          </a:xfrm>
          <a:prstGeom prst="rect">
            <a:avLst/>
          </a:prstGeom>
          <a:noFill/>
        </p:spPr>
        <p:txBody>
          <a:bodyPr wrap="square" lIns="73150" rIns="73150" tIns="73150" bIns="73150" anchor="ctr"/>
          <a:lstStyle/>
          <a:p>
            <a:pPr algn="ctr">
              <a:lnSpc>
                <a:spcPct val="100000"/>
              </a:lnSpc>
            </a:pPr>
            <a:r>
              <a:rPr sz="2933" b="1">
                <a:solidFill>
                  <a:srgbClr val="1A1A1A"/>
                </a:solidFill>
                <a:latin typeface="Arial"/>
              </a:rPr>
              <a:t>9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570480" y="3078403"/>
            <a:ext cx="2011629" cy="426709"/>
          </a:xfrm>
          <a:prstGeom prst="rect">
            <a:avLst/>
          </a:prstGeom>
          <a:noFill/>
        </p:spPr>
        <p:txBody>
          <a:bodyPr wrap="square" lIns="73150" rIns="73150" tIns="73150" bIns="73150" anchor="ctr"/>
          <a:lstStyle/>
          <a:p>
            <a:pPr algn="ctr">
              <a:lnSpc>
                <a:spcPct val="100000"/>
              </a:lnSpc>
            </a:pPr>
            <a:r>
              <a:rPr sz="1199" b="0">
                <a:solidFill>
                  <a:srgbClr val="1A1A1A"/>
                </a:solidFill>
                <a:latin typeface="Arial"/>
              </a:rPr>
              <a:t>estudos incluídos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26" y="3718467"/>
            <a:ext cx="11094442" cy="1828754"/>
          </a:xfrm>
          <a:prstGeom prst="roundRect">
            <a:avLst>
              <a:gd name="adj" fmla="val 6000"/>
            </a:avLst>
          </a:prstGeom>
          <a:solidFill>
            <a:srgbClr val="FFCE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92460" y="3779425"/>
            <a:ext cx="10606774" cy="1706837"/>
          </a:xfrm>
          <a:prstGeom prst="rect">
            <a:avLst/>
          </a:prstGeom>
          <a:noFill/>
        </p:spPr>
        <p:txBody>
          <a:bodyPr wrap="square" lIns="73150" rIns="73150" tIns="73150" bIns="73150" anchor="ctr"/>
          <a:lstStyle/>
          <a:p>
            <a:pPr algn="l">
              <a:lnSpc>
                <a:spcPct val="115000"/>
              </a:lnSpc>
            </a:pPr>
            <a:r>
              <a:rPr sz="1533" b="1">
                <a:solidFill>
                  <a:srgbClr val="1A1A1A"/>
                </a:solidFill>
                <a:latin typeface="Arial"/>
              </a:rPr>
              <a:t>Resposta: </a:t>
            </a:r>
            <a:r>
              <a:rPr sz="1533" b="0">
                <a:solidFill>
                  <a:srgbClr val="1A1A1A"/>
                </a:solidFill>
                <a:latin typeface="Arial"/>
              </a:rPr>
              <a:t>a atuação dessas políticas depende da articulação entre recursos disponíveis, condições institucionais e trabalho dos profissionais da educação, que participam de sua interpretação diante das condições do cotidiano escolar. O corpus responde com mais consistência às condições e ao papel dos profissionais do que à formação dirigida às crianças.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26" y="5638659"/>
            <a:ext cx="11094442" cy="670543"/>
          </a:xfrm>
          <a:prstGeom prst="rect">
            <a:avLst/>
          </a:prstGeom>
          <a:noFill/>
        </p:spPr>
        <p:txBody>
          <a:bodyPr wrap="square" lIns="73150" rIns="73150" tIns="73150" bIns="73150" anchor="ctr"/>
          <a:lstStyle/>
          <a:p>
            <a:pPr algn="ctr">
              <a:lnSpc>
                <a:spcPct val="115000"/>
              </a:lnSpc>
            </a:pPr>
            <a:r>
              <a:rPr sz="1266" b="0">
                <a:solidFill>
                  <a:srgbClr val="FFFFFF"/>
                </a:solidFill>
                <a:latin typeface="Arial"/>
              </a:rPr>
              <a:t>Corpus de 2021 a 2024: Brasil (Fortaleza, Passo Fundo, Aracaju), México, Turquia, Espanha, Cuba, Luxemburgo e Escócia.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09584" y="6400639"/>
            <a:ext cx="10972525" cy="304792"/>
          </a:xfrm>
          <a:prstGeom prst="rect">
            <a:avLst/>
          </a:prstGeom>
          <a:noFill/>
        </p:spPr>
        <p:txBody>
          <a:bodyPr wrap="square" lIns="73150" rIns="73150" tIns="73150" bIns="73150" anchor="ctr"/>
          <a:lstStyle/>
          <a:p>
            <a:pPr algn="l">
              <a:lnSpc>
                <a:spcPct val="100000"/>
              </a:lnSpc>
            </a:pPr>
            <a:r>
              <a:rPr sz="999" b="1">
                <a:solidFill>
                  <a:srgbClr val="FFFFFF"/>
                </a:solidFill>
                <a:latin typeface="Arial"/>
              </a:rPr>
              <a:t>Fundamentos: </a:t>
            </a:r>
            <a:r>
              <a:rPr sz="999" b="0">
                <a:solidFill>
                  <a:srgbClr val="FFFFFF"/>
                </a:solidFill>
                <a:latin typeface="Arial"/>
              </a:rPr>
              <a:t>PRISMA 2020; sete bases; buscas de 2019 a setembro de 2026; MMAT 2018 e protocolo próprio para estudos documentais.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7828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304792" y="152396"/>
            <a:ext cx="2804089" cy="365750"/>
          </a:xfrm>
          <a:prstGeom prst="roundRect">
            <a:avLst>
              <a:gd name="adj" fmla="val 40000"/>
            </a:avLst>
          </a:prstGeom>
          <a:solidFill>
            <a:srgbClr val="FFCE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04792" y="152396"/>
            <a:ext cx="2804089" cy="365750"/>
          </a:xfrm>
          <a:prstGeom prst="rect">
            <a:avLst/>
          </a:prstGeom>
          <a:noFill/>
        </p:spPr>
        <p:txBody>
          <a:bodyPr wrap="square" lIns="30479" rIns="30479" tIns="30479" bIns="30479" anchor="ctr"/>
          <a:lstStyle/>
          <a:p>
            <a:pPr algn="ctr">
              <a:lnSpc>
                <a:spcPct val="100000"/>
              </a:lnSpc>
            </a:pPr>
            <a:r>
              <a:rPr sz="1066" b="1">
                <a:solidFill>
                  <a:srgbClr val="1A1A1A"/>
                </a:solidFill>
                <a:latin typeface="Arial"/>
              </a:rPr>
              <a:t>2 · REVISÃO SISTEMÁTICA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584" y="335271"/>
            <a:ext cx="10972525" cy="914377"/>
          </a:xfrm>
          <a:prstGeom prst="rect">
            <a:avLst/>
          </a:prstGeom>
          <a:noFill/>
        </p:spPr>
        <p:txBody>
          <a:bodyPr wrap="square" lIns="73150" rIns="73150" tIns="73150" bIns="73150" anchor="ctr"/>
          <a:lstStyle/>
          <a:p>
            <a:pPr algn="ctr">
              <a:lnSpc>
                <a:spcPct val="100000"/>
              </a:lnSpc>
            </a:pPr>
            <a:r>
              <a:rPr sz="3199" b="1">
                <a:solidFill>
                  <a:srgbClr val="FFFFFF"/>
                </a:solidFill>
                <a:latin typeface="Arial"/>
              </a:rPr>
              <a:t>O QUE O CORPUS RESPONDE E O QUE FALTA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26" y="1341086"/>
            <a:ext cx="3566070" cy="3505112"/>
          </a:xfrm>
          <a:prstGeom prst="roundRect">
            <a:avLst>
              <a:gd name="adj" fmla="val 6000"/>
            </a:avLst>
          </a:prstGeom>
          <a:solidFill>
            <a:srgbClr val="F1E7D9"/>
          </a:solidFill>
          <a:ln w="25399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1022" y="1402044"/>
            <a:ext cx="3261278" cy="457188"/>
          </a:xfrm>
          <a:prstGeom prst="rect">
            <a:avLst/>
          </a:prstGeom>
          <a:noFill/>
        </p:spPr>
        <p:txBody>
          <a:bodyPr wrap="square" lIns="73150" rIns="73150" tIns="73150" bIns="73150" anchor="ctr"/>
          <a:lstStyle/>
          <a:p>
            <a:pPr algn="l">
              <a:lnSpc>
                <a:spcPct val="100000"/>
              </a:lnSpc>
            </a:pPr>
            <a:r>
              <a:rPr sz="1466" b="1">
                <a:solidFill>
                  <a:srgbClr val="6C4FD8"/>
                </a:solidFill>
                <a:latin typeface="Arial"/>
              </a:rPr>
              <a:t>a) Condicionantes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01022" y="1889712"/>
            <a:ext cx="2194505" cy="335271"/>
          </a:xfrm>
          <a:prstGeom prst="roundRect">
            <a:avLst>
              <a:gd name="adj" fmla="val 40000"/>
            </a:avLst>
          </a:prstGeom>
          <a:solidFill>
            <a:srgbClr val="FFCE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01022" y="1889712"/>
            <a:ext cx="2194505" cy="335271"/>
          </a:xfrm>
          <a:prstGeom prst="rect">
            <a:avLst/>
          </a:prstGeom>
          <a:noFill/>
        </p:spPr>
        <p:txBody>
          <a:bodyPr wrap="square" lIns="18287" rIns="18287" tIns="18287" bIns="18287" anchor="ctr"/>
          <a:lstStyle/>
          <a:p>
            <a:pPr algn="ctr">
              <a:lnSpc>
                <a:spcPct val="100000"/>
              </a:lnSpc>
            </a:pPr>
            <a:r>
              <a:rPr sz="933" b="1">
                <a:solidFill>
                  <a:srgbClr val="1A1A1A"/>
                </a:solidFill>
                <a:latin typeface="Arial"/>
              </a:rPr>
              <a:t>RESPOSTA CONVERGENTE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01022" y="2285942"/>
            <a:ext cx="3261278" cy="2529776"/>
          </a:xfrm>
          <a:prstGeom prst="rect">
            <a:avLst/>
          </a:prstGeom>
          <a:noFill/>
        </p:spPr>
        <p:txBody>
          <a:bodyPr wrap="square" lIns="73150" rIns="73150" tIns="73150" bIns="73150" anchor="t"/>
          <a:lstStyle/>
          <a:p>
            <a:pPr algn="l">
              <a:lnSpc>
                <a:spcPct val="110000"/>
              </a:lnSpc>
            </a:pPr>
            <a:r>
              <a:rPr sz="1399" b="0">
                <a:solidFill>
                  <a:srgbClr val="1A1A1A"/>
                </a:solidFill>
                <a:latin typeface="Arial"/>
              </a:rPr>
              <a:t>Equipamentos e conectividade, formação continuada e situada, estabilidade das equipes e do suporte, tempo de trabalho e a própria norma como fonte de restrição (Brown et al., 2021). O território aparece só como contraste entre países.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97572" y="1341086"/>
            <a:ext cx="3566070" cy="3505112"/>
          </a:xfrm>
          <a:prstGeom prst="roundRect">
            <a:avLst>
              <a:gd name="adj" fmla="val 6000"/>
            </a:avLst>
          </a:prstGeom>
          <a:solidFill>
            <a:srgbClr val="F1E7D9"/>
          </a:solidFill>
          <a:ln w="25399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49968" y="1402044"/>
            <a:ext cx="3261278" cy="457188"/>
          </a:xfrm>
          <a:prstGeom prst="rect">
            <a:avLst/>
          </a:prstGeom>
          <a:noFill/>
        </p:spPr>
        <p:txBody>
          <a:bodyPr wrap="square" lIns="73150" rIns="73150" tIns="73150" bIns="73150" anchor="ctr"/>
          <a:lstStyle/>
          <a:p>
            <a:pPr algn="l">
              <a:lnSpc>
                <a:spcPct val="100000"/>
              </a:lnSpc>
            </a:pPr>
            <a:r>
              <a:rPr sz="1466" b="1">
                <a:solidFill>
                  <a:srgbClr val="6C4FD8"/>
                </a:solidFill>
                <a:latin typeface="Arial"/>
              </a:rPr>
              <a:t>b) Papel dos profissionais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49968" y="1889712"/>
            <a:ext cx="2194505" cy="335271"/>
          </a:xfrm>
          <a:prstGeom prst="roundRect">
            <a:avLst>
              <a:gd name="adj" fmla="val 40000"/>
            </a:avLst>
          </a:prstGeom>
          <a:solidFill>
            <a:srgbClr val="FFCE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49968" y="1889712"/>
            <a:ext cx="2194505" cy="335271"/>
          </a:xfrm>
          <a:prstGeom prst="rect">
            <a:avLst/>
          </a:prstGeom>
          <a:noFill/>
        </p:spPr>
        <p:txBody>
          <a:bodyPr wrap="square" lIns="18287" rIns="18287" tIns="18287" bIns="18287" anchor="ctr"/>
          <a:lstStyle/>
          <a:p>
            <a:pPr algn="ctr">
              <a:lnSpc>
                <a:spcPct val="100000"/>
              </a:lnSpc>
            </a:pPr>
            <a:r>
              <a:rPr sz="933" b="1">
                <a:solidFill>
                  <a:srgbClr val="1A1A1A"/>
                </a:solidFill>
                <a:latin typeface="Arial"/>
              </a:rPr>
              <a:t>A MAIS CONVERGENTE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49968" y="2285942"/>
            <a:ext cx="3261278" cy="2529776"/>
          </a:xfrm>
          <a:prstGeom prst="rect">
            <a:avLst/>
          </a:prstGeom>
          <a:noFill/>
        </p:spPr>
        <p:txBody>
          <a:bodyPr wrap="square" lIns="73150" rIns="73150" tIns="73150" bIns="73150" anchor="t"/>
          <a:lstStyle/>
          <a:p>
            <a:pPr algn="l">
              <a:lnSpc>
                <a:spcPct val="110000"/>
              </a:lnSpc>
            </a:pPr>
            <a:r>
              <a:rPr sz="1399" b="0">
                <a:solidFill>
                  <a:srgbClr val="1A1A1A"/>
                </a:solidFill>
                <a:latin typeface="Arial"/>
              </a:rPr>
              <a:t>Interpretação e decisões situadas: ACP em Pereira (2022), terceiro espaço em Brown et al. (2021), custo do trabalho em Gómez-Nashiki e Quijada-Lovatón (2021). As razões desse trabalho seguem pouco examinadas.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46518" y="1341086"/>
            <a:ext cx="3566070" cy="3505112"/>
          </a:xfrm>
          <a:prstGeom prst="roundRect">
            <a:avLst>
              <a:gd name="adj" fmla="val 6000"/>
            </a:avLst>
          </a:prstGeom>
          <a:solidFill>
            <a:srgbClr val="F1E7D9"/>
          </a:solidFill>
          <a:ln w="25399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198915" y="1402044"/>
            <a:ext cx="3261278" cy="457188"/>
          </a:xfrm>
          <a:prstGeom prst="rect">
            <a:avLst/>
          </a:prstGeom>
          <a:noFill/>
        </p:spPr>
        <p:txBody>
          <a:bodyPr wrap="square" lIns="73150" rIns="73150" tIns="73150" bIns="73150" anchor="ctr"/>
          <a:lstStyle/>
          <a:p>
            <a:pPr algn="l">
              <a:lnSpc>
                <a:spcPct val="100000"/>
              </a:lnSpc>
            </a:pPr>
            <a:r>
              <a:rPr sz="1466" b="1">
                <a:solidFill>
                  <a:srgbClr val="6C4FD8"/>
                </a:solidFill>
                <a:latin typeface="Arial"/>
              </a:rPr>
              <a:t>c) Cultura digital e cidadania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98915" y="1889712"/>
            <a:ext cx="2194505" cy="335271"/>
          </a:xfrm>
          <a:prstGeom prst="roundRect">
            <a:avLst>
              <a:gd name="adj" fmla="val 40000"/>
            </a:avLst>
          </a:prstGeom>
          <a:solidFill>
            <a:srgbClr val="FFCE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198915" y="1889712"/>
            <a:ext cx="2194505" cy="335271"/>
          </a:xfrm>
          <a:prstGeom prst="rect">
            <a:avLst/>
          </a:prstGeom>
          <a:noFill/>
        </p:spPr>
        <p:txBody>
          <a:bodyPr wrap="square" lIns="18287" rIns="18287" tIns="18287" bIns="18287" anchor="ctr"/>
          <a:lstStyle/>
          <a:p>
            <a:pPr algn="ctr">
              <a:lnSpc>
                <a:spcPct val="100000"/>
              </a:lnSpc>
            </a:pPr>
            <a:r>
              <a:rPr sz="933" b="1">
                <a:solidFill>
                  <a:srgbClr val="1A1A1A"/>
                </a:solidFill>
                <a:latin typeface="Arial"/>
              </a:rPr>
              <a:t>APOIO FRÁGIL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98915" y="2285942"/>
            <a:ext cx="3261278" cy="2529776"/>
          </a:xfrm>
          <a:prstGeom prst="rect">
            <a:avLst/>
          </a:prstGeom>
          <a:noFill/>
        </p:spPr>
        <p:txBody>
          <a:bodyPr wrap="square" lIns="73150" rIns="73150" tIns="73150" bIns="73150" anchor="t"/>
          <a:lstStyle/>
          <a:p>
            <a:pPr algn="l">
              <a:lnSpc>
                <a:spcPct val="110000"/>
              </a:lnSpc>
            </a:pPr>
            <a:r>
              <a:rPr sz="1399" b="0">
                <a:solidFill>
                  <a:srgbClr val="1A1A1A"/>
                </a:solidFill>
                <a:latin typeface="Arial"/>
              </a:rPr>
              <a:t>Williams (2022) trata a cultura digital como conteúdo com progressão própria; Karaferye (2022) sugere sentidos reorganizados pela pandemia. Nenhum estudo examina o que as crianças aprendem a ser.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8626" y="4998595"/>
            <a:ext cx="11094442" cy="1310607"/>
          </a:xfrm>
          <a:prstGeom prst="roundRect">
            <a:avLst>
              <a:gd name="adj" fmla="val 6000"/>
            </a:avLst>
          </a:prstGeom>
          <a:solidFill>
            <a:srgbClr val="FFCE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92460" y="5029074"/>
            <a:ext cx="10606774" cy="1249648"/>
          </a:xfrm>
          <a:prstGeom prst="rect">
            <a:avLst/>
          </a:prstGeom>
          <a:noFill/>
        </p:spPr>
        <p:txBody>
          <a:bodyPr wrap="square" lIns="73150" rIns="73150" tIns="73150" bIns="73150" anchor="ctr"/>
          <a:lstStyle/>
          <a:p>
            <a:pPr algn="l">
              <a:lnSpc>
                <a:spcPct val="115000"/>
              </a:lnSpc>
            </a:pPr>
            <a:r>
              <a:rPr sz="1333" b="1">
                <a:solidFill>
                  <a:srgbClr val="1A1A1A"/>
                </a:solidFill>
                <a:latin typeface="Arial"/>
              </a:rPr>
              <a:t>Lacunas que a tese assume: </a:t>
            </a:r>
            <a:r>
              <a:rPr sz="1333" b="0">
                <a:solidFill>
                  <a:srgbClr val="1A1A1A"/>
                </a:solidFill>
                <a:latin typeface="Arial"/>
              </a:rPr>
              <a:t>nenhum estudo examina a PNED; o ciclo de alfabetização aparece delimitado só em Nunes (2024); predomina o contexto emergencial da pandemia; nenhuma rede municipal de pequeno porte; falta estudo sobre o que os profissionais fazem quando a formação prevista não chega e a exigência curricular permanece.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7828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304792" y="152396"/>
            <a:ext cx="2804089" cy="365750"/>
          </a:xfrm>
          <a:prstGeom prst="roundRect">
            <a:avLst>
              <a:gd name="adj" fmla="val 40000"/>
            </a:avLst>
          </a:prstGeom>
          <a:solidFill>
            <a:srgbClr val="FFCE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04792" y="152396"/>
            <a:ext cx="2804089" cy="365750"/>
          </a:xfrm>
          <a:prstGeom prst="rect">
            <a:avLst/>
          </a:prstGeom>
          <a:noFill/>
        </p:spPr>
        <p:txBody>
          <a:bodyPr wrap="square" lIns="30479" rIns="30479" tIns="30479" bIns="30479" anchor="ctr"/>
          <a:lstStyle/>
          <a:p>
            <a:pPr algn="ctr">
              <a:lnSpc>
                <a:spcPct val="100000"/>
              </a:lnSpc>
            </a:pPr>
            <a:r>
              <a:rPr sz="1066" b="1">
                <a:solidFill>
                  <a:srgbClr val="1A1A1A"/>
                </a:solidFill>
                <a:latin typeface="Arial"/>
              </a:rPr>
              <a:t>3 · FUNDAMENTOS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584" y="335271"/>
            <a:ext cx="10972525" cy="914377"/>
          </a:xfrm>
          <a:prstGeom prst="rect">
            <a:avLst/>
          </a:prstGeom>
          <a:noFill/>
        </p:spPr>
        <p:txBody>
          <a:bodyPr wrap="square" lIns="73150" rIns="73150" tIns="73150" bIns="73150" anchor="ctr"/>
          <a:lstStyle/>
          <a:p>
            <a:pPr algn="ctr">
              <a:lnSpc>
                <a:spcPct val="100000"/>
              </a:lnSpc>
            </a:pPr>
            <a:r>
              <a:rPr sz="3733" b="1">
                <a:solidFill>
                  <a:srgbClr val="FFFFFF"/>
                </a:solidFill>
                <a:latin typeface="Arial"/>
              </a:rPr>
              <a:t>FUNDAMENTOS TEÓRICOS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26" y="1402044"/>
            <a:ext cx="3566070" cy="2133546"/>
          </a:xfrm>
          <a:prstGeom prst="roundRect">
            <a:avLst>
              <a:gd name="adj" fmla="val 6000"/>
            </a:avLst>
          </a:prstGeom>
          <a:solidFill>
            <a:srgbClr val="FFCE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01" y="1523961"/>
            <a:ext cx="3200319" cy="1889712"/>
          </a:xfrm>
          <a:prstGeom prst="rect">
            <a:avLst/>
          </a:prstGeom>
          <a:noFill/>
        </p:spPr>
        <p:txBody>
          <a:bodyPr wrap="square" lIns="73150" rIns="73150" tIns="73150" bIns="73150" anchor="t"/>
          <a:lstStyle/>
          <a:p>
            <a:pPr algn="l">
              <a:lnSpc>
                <a:spcPct val="115000"/>
              </a:lnSpc>
              <a:spcAft>
                <a:spcPts val="533"/>
              </a:spcAft>
            </a:pPr>
            <a:r>
              <a:rPr sz="1666" b="1">
                <a:solidFill>
                  <a:srgbClr val="1A1A1A"/>
                </a:solidFill>
                <a:latin typeface="Arial"/>
              </a:rPr>
              <a:t>Ciclo de Políticas</a:t>
            </a:r>
          </a:p>
          <a:p>
            <a:pPr algn="l">
              <a:lnSpc>
                <a:spcPct val="115000"/>
              </a:lnSpc>
            </a:pPr>
            <a:r>
              <a:rPr sz="1666" b="0">
                <a:solidFill>
                  <a:srgbClr val="1A1A1A"/>
                </a:solidFill>
                <a:latin typeface="Arial"/>
              </a:rPr>
              <a:t>Bowe, Ball e Gold (1992); Mainardes (2006). A política é interpretada e recriada no contexto da prática.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97572" y="1402044"/>
            <a:ext cx="3566070" cy="2133546"/>
          </a:xfrm>
          <a:prstGeom prst="roundRect">
            <a:avLst>
              <a:gd name="adj" fmla="val 6000"/>
            </a:avLst>
          </a:prstGeom>
          <a:solidFill>
            <a:srgbClr val="FFCE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80447" y="1523961"/>
            <a:ext cx="3200319" cy="1889712"/>
          </a:xfrm>
          <a:prstGeom prst="rect">
            <a:avLst/>
          </a:prstGeom>
          <a:noFill/>
        </p:spPr>
        <p:txBody>
          <a:bodyPr wrap="square" lIns="73150" rIns="73150" tIns="73150" bIns="73150" anchor="t"/>
          <a:lstStyle/>
          <a:p>
            <a:pPr algn="l">
              <a:lnSpc>
                <a:spcPct val="115000"/>
              </a:lnSpc>
              <a:spcAft>
                <a:spcPts val="533"/>
              </a:spcAft>
            </a:pPr>
            <a:r>
              <a:rPr sz="1666" b="1">
                <a:solidFill>
                  <a:srgbClr val="1A1A1A"/>
                </a:solidFill>
                <a:latin typeface="Arial"/>
              </a:rPr>
              <a:t>Teoria da atuação</a:t>
            </a:r>
          </a:p>
          <a:p>
            <a:pPr algn="l">
              <a:lnSpc>
                <a:spcPct val="115000"/>
              </a:lnSpc>
            </a:pPr>
            <a:r>
              <a:rPr sz="1666" b="0">
                <a:solidFill>
                  <a:srgbClr val="1A1A1A"/>
                </a:solidFill>
                <a:latin typeface="Arial"/>
              </a:rPr>
              <a:t>Ball, Maguire e Braun (2016). Dimensões situacional, profissional, material e externa do contexto.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518" y="1402044"/>
            <a:ext cx="3566070" cy="2133546"/>
          </a:xfrm>
          <a:prstGeom prst="roundRect">
            <a:avLst>
              <a:gd name="adj" fmla="val 6000"/>
            </a:avLst>
          </a:prstGeom>
          <a:solidFill>
            <a:srgbClr val="FFCE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394" y="1523961"/>
            <a:ext cx="3200319" cy="1889712"/>
          </a:xfrm>
          <a:prstGeom prst="rect">
            <a:avLst/>
          </a:prstGeom>
          <a:noFill/>
        </p:spPr>
        <p:txBody>
          <a:bodyPr wrap="square" lIns="73150" rIns="73150" tIns="73150" bIns="73150" anchor="t"/>
          <a:lstStyle/>
          <a:p>
            <a:pPr algn="l">
              <a:lnSpc>
                <a:spcPct val="115000"/>
              </a:lnSpc>
              <a:spcAft>
                <a:spcPts val="533"/>
              </a:spcAft>
            </a:pPr>
            <a:r>
              <a:rPr sz="1666" b="1">
                <a:solidFill>
                  <a:srgbClr val="1A1A1A"/>
                </a:solidFill>
                <a:latin typeface="Arial"/>
              </a:rPr>
              <a:t>Culturas profissionais</a:t>
            </a:r>
          </a:p>
          <a:p>
            <a:pPr algn="l">
              <a:lnSpc>
                <a:spcPct val="115000"/>
              </a:lnSpc>
            </a:pPr>
            <a:r>
              <a:rPr sz="1666" b="0">
                <a:solidFill>
                  <a:srgbClr val="1A1A1A"/>
                </a:solidFill>
                <a:latin typeface="Arial"/>
              </a:rPr>
              <a:t>Hargreaves (2005). Conteúdo e forma das culturas do trabalho docente.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26" y="3687987"/>
            <a:ext cx="3566070" cy="2133546"/>
          </a:xfrm>
          <a:prstGeom prst="roundRect">
            <a:avLst>
              <a:gd name="adj" fmla="val 6000"/>
            </a:avLst>
          </a:prstGeom>
          <a:solidFill>
            <a:srgbClr val="FFCE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01" y="3809904"/>
            <a:ext cx="3200319" cy="1889712"/>
          </a:xfrm>
          <a:prstGeom prst="rect">
            <a:avLst/>
          </a:prstGeom>
          <a:noFill/>
        </p:spPr>
        <p:txBody>
          <a:bodyPr wrap="square" lIns="73150" rIns="73150" tIns="73150" bIns="73150" anchor="t"/>
          <a:lstStyle/>
          <a:p>
            <a:pPr algn="l">
              <a:lnSpc>
                <a:spcPct val="115000"/>
              </a:lnSpc>
              <a:spcAft>
                <a:spcPts val="533"/>
              </a:spcAft>
            </a:pPr>
            <a:r>
              <a:rPr sz="1666" b="1">
                <a:solidFill>
                  <a:srgbClr val="1A1A1A"/>
                </a:solidFill>
                <a:latin typeface="Arial"/>
              </a:rPr>
              <a:t>Performatividade</a:t>
            </a:r>
          </a:p>
          <a:p>
            <a:pPr algn="l">
              <a:lnSpc>
                <a:spcPct val="115000"/>
              </a:lnSpc>
            </a:pPr>
            <a:r>
              <a:rPr sz="1666" b="0">
                <a:solidFill>
                  <a:srgbClr val="1A1A1A"/>
                </a:solidFill>
                <a:latin typeface="Arial"/>
              </a:rPr>
              <a:t>Ball (2002; 2004). Metas, registros e fabricações que acompanham a política.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97572" y="3687987"/>
            <a:ext cx="3566070" cy="2133546"/>
          </a:xfrm>
          <a:prstGeom prst="roundRect">
            <a:avLst>
              <a:gd name="adj" fmla="val 6000"/>
            </a:avLst>
          </a:prstGeom>
          <a:solidFill>
            <a:srgbClr val="FFCE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80447" y="3809904"/>
            <a:ext cx="3200319" cy="1889712"/>
          </a:xfrm>
          <a:prstGeom prst="rect">
            <a:avLst/>
          </a:prstGeom>
          <a:noFill/>
        </p:spPr>
        <p:txBody>
          <a:bodyPr wrap="square" lIns="73150" rIns="73150" tIns="73150" bIns="73150" anchor="t"/>
          <a:lstStyle/>
          <a:p>
            <a:pPr algn="l">
              <a:lnSpc>
                <a:spcPct val="115000"/>
              </a:lnSpc>
              <a:spcAft>
                <a:spcPts val="533"/>
              </a:spcAft>
            </a:pPr>
            <a:r>
              <a:rPr sz="1666" b="1">
                <a:solidFill>
                  <a:srgbClr val="1A1A1A"/>
                </a:solidFill>
                <a:latin typeface="Arial"/>
              </a:rPr>
              <a:t>Território e lugar</a:t>
            </a:r>
          </a:p>
          <a:p>
            <a:pPr algn="l">
              <a:lnSpc>
                <a:spcPct val="115000"/>
              </a:lnSpc>
            </a:pPr>
            <a:r>
              <a:rPr sz="1666" b="0">
                <a:solidFill>
                  <a:srgbClr val="1A1A1A"/>
                </a:solidFill>
                <a:latin typeface="Arial"/>
              </a:rPr>
              <a:t>Santos (1999; 2006; 2012); Massey (2008). Território usado, rugosidade, encontro de trajetórias.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46518" y="3687987"/>
            <a:ext cx="3566070" cy="2133546"/>
          </a:xfrm>
          <a:prstGeom prst="roundRect">
            <a:avLst>
              <a:gd name="adj" fmla="val 6000"/>
            </a:avLst>
          </a:prstGeom>
          <a:solidFill>
            <a:srgbClr val="FFCE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394" y="3809904"/>
            <a:ext cx="3200319" cy="1889712"/>
          </a:xfrm>
          <a:prstGeom prst="rect">
            <a:avLst/>
          </a:prstGeom>
          <a:noFill/>
        </p:spPr>
        <p:txBody>
          <a:bodyPr wrap="square" lIns="73150" rIns="73150" tIns="73150" bIns="73150" anchor="t"/>
          <a:lstStyle/>
          <a:p>
            <a:pPr algn="l">
              <a:lnSpc>
                <a:spcPct val="115000"/>
              </a:lnSpc>
              <a:spcAft>
                <a:spcPts val="533"/>
              </a:spcAft>
            </a:pPr>
            <a:r>
              <a:rPr sz="1666" b="1">
                <a:solidFill>
                  <a:srgbClr val="1A1A1A"/>
                </a:solidFill>
                <a:latin typeface="Arial"/>
              </a:rPr>
              <a:t>Direitos da criança</a:t>
            </a:r>
          </a:p>
          <a:p>
            <a:pPr algn="l">
              <a:lnSpc>
                <a:spcPct val="115000"/>
              </a:lnSpc>
            </a:pPr>
            <a:r>
              <a:rPr sz="1666" b="0">
                <a:solidFill>
                  <a:srgbClr val="1A1A1A"/>
                </a:solidFill>
                <a:latin typeface="Arial"/>
              </a:rPr>
              <a:t>ONU (2021). Provisão, proteção e participação no ambiente digital.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26" y="6034889"/>
            <a:ext cx="11094442" cy="579105"/>
          </a:xfrm>
          <a:prstGeom prst="roundRect">
            <a:avLst>
              <a:gd name="adj" fmla="val 30000"/>
            </a:avLst>
          </a:prstGeom>
          <a:solidFill>
            <a:srgbClr val="F1E7D9"/>
          </a:solidFill>
          <a:ln w="25399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01" y="6034889"/>
            <a:ext cx="10728691" cy="579105"/>
          </a:xfrm>
          <a:prstGeom prst="rect">
            <a:avLst/>
          </a:prstGeom>
          <a:noFill/>
        </p:spPr>
        <p:txBody>
          <a:bodyPr wrap="square" lIns="73150" rIns="73150" tIns="73150" bIns="73150" anchor="ctr"/>
          <a:lstStyle/>
          <a:p>
            <a:pPr algn="ctr">
              <a:lnSpc>
                <a:spcPct val="100000"/>
              </a:lnSpc>
            </a:pPr>
            <a:r>
              <a:rPr sz="1399" b="1">
                <a:solidFill>
                  <a:srgbClr val="6C4FD8"/>
                </a:solidFill>
                <a:latin typeface="Arial"/>
              </a:rPr>
              <a:t>Categoria integradora: </a:t>
            </a:r>
            <a:r>
              <a:rPr sz="1399" b="0">
                <a:solidFill>
                  <a:srgbClr val="1A1A1A"/>
                </a:solidFill>
                <a:latin typeface="Arial"/>
              </a:rPr>
              <a:t>a recontextualização, que reúne a ACP e a teoria da atuação.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7828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304792" y="152396"/>
            <a:ext cx="2804089" cy="365750"/>
          </a:xfrm>
          <a:prstGeom prst="roundRect">
            <a:avLst>
              <a:gd name="adj" fmla="val 40000"/>
            </a:avLst>
          </a:prstGeom>
          <a:solidFill>
            <a:srgbClr val="FFCE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04792" y="152396"/>
            <a:ext cx="2804089" cy="365750"/>
          </a:xfrm>
          <a:prstGeom prst="rect">
            <a:avLst/>
          </a:prstGeom>
          <a:noFill/>
        </p:spPr>
        <p:txBody>
          <a:bodyPr wrap="square" lIns="30479" rIns="30479" tIns="30479" bIns="30479" anchor="ctr"/>
          <a:lstStyle/>
          <a:p>
            <a:pPr algn="ctr">
              <a:lnSpc>
                <a:spcPct val="100000"/>
              </a:lnSpc>
            </a:pPr>
            <a:r>
              <a:rPr sz="1066" b="1">
                <a:solidFill>
                  <a:srgbClr val="1A1A1A"/>
                </a:solidFill>
                <a:latin typeface="Arial"/>
              </a:rPr>
              <a:t>3 · FUNDAMENTOS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584" y="335271"/>
            <a:ext cx="10972525" cy="914377"/>
          </a:xfrm>
          <a:prstGeom prst="rect">
            <a:avLst/>
          </a:prstGeom>
          <a:noFill/>
        </p:spPr>
        <p:txBody>
          <a:bodyPr wrap="square" lIns="73150" rIns="73150" tIns="73150" bIns="73150" anchor="ctr"/>
          <a:lstStyle/>
          <a:p>
            <a:pPr algn="ctr">
              <a:lnSpc>
                <a:spcPct val="100000"/>
              </a:lnSpc>
            </a:pPr>
            <a:r>
              <a:rPr sz="3066" b="1">
                <a:solidFill>
                  <a:srgbClr val="FFFFFF"/>
                </a:solidFill>
                <a:latin typeface="Arial"/>
              </a:rPr>
              <a:t>HABITAR O DIGITAL: UMA FORMULAÇÃO DA TESE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26" y="1402044"/>
            <a:ext cx="5730096" cy="975335"/>
          </a:xfrm>
          <a:prstGeom prst="roundRect">
            <a:avLst>
              <a:gd name="adj" fmla="val 15000"/>
            </a:avLst>
          </a:prstGeom>
          <a:solidFill>
            <a:srgbClr val="F1E7D9"/>
          </a:solidFill>
          <a:ln w="25399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1022" y="1450811"/>
            <a:ext cx="5486262" cy="883897"/>
          </a:xfrm>
          <a:prstGeom prst="rect">
            <a:avLst/>
          </a:prstGeom>
          <a:noFill/>
        </p:spPr>
        <p:txBody>
          <a:bodyPr wrap="square" lIns="73150" rIns="73150" tIns="73150" bIns="73150" anchor="ctr"/>
          <a:lstStyle/>
          <a:p>
            <a:pPr algn="l">
              <a:lnSpc>
                <a:spcPct val="105000"/>
              </a:lnSpc>
            </a:pPr>
            <a:r>
              <a:rPr sz="1333" b="1">
                <a:solidFill>
                  <a:srgbClr val="6C4FD8"/>
                </a:solidFill>
                <a:latin typeface="Arial"/>
              </a:rPr>
              <a:t>Schlemmer et al. (2021)</a:t>
            </a:r>
          </a:p>
          <a:p>
            <a:pPr algn="l">
              <a:lnSpc>
                <a:spcPct val="105000"/>
              </a:lnSpc>
            </a:pPr>
            <a:r>
              <a:rPr sz="1333" b="0">
                <a:solidFill>
                  <a:srgbClr val="1A1A1A"/>
                </a:solidFill>
                <a:latin typeface="Arial"/>
              </a:rPr>
              <a:t>Habitar como experiência relacional entre sujeitos, ambientes, tecnologias e redes.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26" y="2529776"/>
            <a:ext cx="5730096" cy="975335"/>
          </a:xfrm>
          <a:prstGeom prst="roundRect">
            <a:avLst>
              <a:gd name="adj" fmla="val 15000"/>
            </a:avLst>
          </a:prstGeom>
          <a:solidFill>
            <a:srgbClr val="F1E7D9"/>
          </a:solidFill>
          <a:ln w="25399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01022" y="2578543"/>
            <a:ext cx="5486262" cy="883897"/>
          </a:xfrm>
          <a:prstGeom prst="rect">
            <a:avLst/>
          </a:prstGeom>
          <a:noFill/>
        </p:spPr>
        <p:txBody>
          <a:bodyPr wrap="square" lIns="73150" rIns="73150" tIns="73150" bIns="73150" anchor="ctr"/>
          <a:lstStyle/>
          <a:p>
            <a:pPr algn="l">
              <a:lnSpc>
                <a:spcPct val="105000"/>
              </a:lnSpc>
            </a:pPr>
            <a:r>
              <a:rPr sz="1333" b="1">
                <a:solidFill>
                  <a:srgbClr val="6C4FD8"/>
                </a:solidFill>
                <a:latin typeface="Arial"/>
              </a:rPr>
              <a:t>Di Felice (2009)</a:t>
            </a:r>
          </a:p>
          <a:p>
            <a:pPr algn="l">
              <a:lnSpc>
                <a:spcPct val="105000"/>
              </a:lnSpc>
            </a:pPr>
            <a:r>
              <a:rPr sz="1333" b="0">
                <a:solidFill>
                  <a:srgbClr val="1A1A1A"/>
                </a:solidFill>
                <a:latin typeface="Arial"/>
              </a:rPr>
              <a:t>O habitar transformado pelas redes digitais: o habitar atópico.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26" y="3657508"/>
            <a:ext cx="5730096" cy="975335"/>
          </a:xfrm>
          <a:prstGeom prst="roundRect">
            <a:avLst>
              <a:gd name="adj" fmla="val 15000"/>
            </a:avLst>
          </a:prstGeom>
          <a:solidFill>
            <a:srgbClr val="F1E7D9"/>
          </a:solidFill>
          <a:ln w="25399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1022" y="3706275"/>
            <a:ext cx="5486262" cy="883897"/>
          </a:xfrm>
          <a:prstGeom prst="rect">
            <a:avLst/>
          </a:prstGeom>
          <a:noFill/>
        </p:spPr>
        <p:txBody>
          <a:bodyPr wrap="square" lIns="73150" rIns="73150" tIns="73150" bIns="73150" anchor="ctr"/>
          <a:lstStyle/>
          <a:p>
            <a:pPr algn="l">
              <a:lnSpc>
                <a:spcPct val="105000"/>
              </a:lnSpc>
            </a:pPr>
            <a:r>
              <a:rPr sz="1333" b="1">
                <a:solidFill>
                  <a:srgbClr val="6C4FD8"/>
                </a:solidFill>
                <a:latin typeface="Arial"/>
              </a:rPr>
              <a:t>Santos (2006)</a:t>
            </a:r>
          </a:p>
          <a:p>
            <a:pPr algn="l">
              <a:lnSpc>
                <a:spcPct val="105000"/>
              </a:lnSpc>
            </a:pPr>
            <a:r>
              <a:rPr sz="1333" b="0">
                <a:solidFill>
                  <a:srgbClr val="1A1A1A"/>
                </a:solidFill>
                <a:latin typeface="Arial"/>
              </a:rPr>
              <a:t>Objetos técnicos distribuídos de modo desigual, com idades e funções diferentes.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26" y="4785240"/>
            <a:ext cx="5730096" cy="975335"/>
          </a:xfrm>
          <a:prstGeom prst="roundRect">
            <a:avLst>
              <a:gd name="adj" fmla="val 15000"/>
            </a:avLst>
          </a:prstGeom>
          <a:solidFill>
            <a:srgbClr val="F1E7D9"/>
          </a:solidFill>
          <a:ln w="25399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01022" y="4834007"/>
            <a:ext cx="5486262" cy="883897"/>
          </a:xfrm>
          <a:prstGeom prst="rect">
            <a:avLst/>
          </a:prstGeom>
          <a:noFill/>
        </p:spPr>
        <p:txBody>
          <a:bodyPr wrap="square" lIns="73150" rIns="73150" tIns="73150" bIns="73150" anchor="ctr"/>
          <a:lstStyle/>
          <a:p>
            <a:pPr algn="l">
              <a:lnSpc>
                <a:spcPct val="105000"/>
              </a:lnSpc>
            </a:pPr>
            <a:r>
              <a:rPr sz="1333" b="1">
                <a:solidFill>
                  <a:srgbClr val="6C4FD8"/>
                </a:solidFill>
                <a:latin typeface="Arial"/>
              </a:rPr>
              <a:t>Massey (2008)</a:t>
            </a:r>
          </a:p>
          <a:p>
            <a:pPr algn="l">
              <a:lnSpc>
                <a:spcPct val="105000"/>
              </a:lnSpc>
            </a:pPr>
            <a:r>
              <a:rPr sz="1333" b="0">
                <a:solidFill>
                  <a:srgbClr val="1A1A1A"/>
                </a:solidFill>
                <a:latin typeface="Arial"/>
              </a:rPr>
              <a:t>O lugar como encontro de trajetórias.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26" y="5943451"/>
            <a:ext cx="5730096" cy="701022"/>
          </a:xfrm>
          <a:prstGeom prst="roundRect">
            <a:avLst>
              <a:gd name="adj" fmla="val 20000"/>
            </a:avLst>
          </a:prstGeom>
          <a:solidFill>
            <a:srgbClr val="FFCE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70543" y="5943451"/>
            <a:ext cx="5486262" cy="701022"/>
          </a:xfrm>
          <a:prstGeom prst="rect">
            <a:avLst/>
          </a:prstGeom>
          <a:noFill/>
        </p:spPr>
        <p:txBody>
          <a:bodyPr wrap="square" lIns="73150" rIns="73150" tIns="73150" bIns="73150" anchor="ctr"/>
          <a:lstStyle/>
          <a:p>
            <a:pPr algn="l">
              <a:lnSpc>
                <a:spcPct val="100000"/>
              </a:lnSpc>
            </a:pPr>
            <a:r>
              <a:rPr sz="1266" b="1">
                <a:solidFill>
                  <a:srgbClr val="1A1A1A"/>
                </a:solidFill>
                <a:latin typeface="Arial"/>
              </a:rPr>
              <a:t>Maneiras desiguais de acesso, participação e apropriação do digital num território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632282" y="1389853"/>
            <a:ext cx="5022978" cy="4169559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Vista aérea contemporânea de Pipa (Figura 15). Acervo da pesquisa (2026)."/>
          <p:cNvPicPr>
            <a:picLocks noChangeAspect="1"/>
          </p:cNvPicPr>
          <p:nvPr/>
        </p:nvPicPr>
        <p:blipFill>
          <a:blip r:embed="rId3"/>
          <a:srcRect t="850" b="850"/>
          <a:stretch>
            <a:fillRect/>
          </a:stretch>
        </p:blipFill>
        <p:spPr>
          <a:xfrm>
            <a:off x="6705432" y="1463003"/>
            <a:ext cx="4876678" cy="3535591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6705432" y="5010786"/>
            <a:ext cx="4876678" cy="487667"/>
          </a:xfrm>
          <a:prstGeom prst="rect">
            <a:avLst/>
          </a:prstGeom>
          <a:noFill/>
        </p:spPr>
        <p:txBody>
          <a:bodyPr wrap="square" lIns="12191" rIns="12191" tIns="12191" bIns="12191" anchor="ctr"/>
          <a:lstStyle/>
          <a:p>
            <a:pPr algn="l">
              <a:lnSpc>
                <a:spcPct val="100000"/>
              </a:lnSpc>
            </a:pPr>
            <a:r>
              <a:rPr sz="999" b="0">
                <a:solidFill>
                  <a:srgbClr val="1A1A1A"/>
                </a:solidFill>
                <a:latin typeface="Arial"/>
              </a:rPr>
              <a:t>Vista aérea contemporânea de Pipa (Figura 15). Acervo da pesquisa (2026).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05432" y="5699617"/>
            <a:ext cx="4876678" cy="914377"/>
          </a:xfrm>
          <a:prstGeom prst="rect">
            <a:avLst/>
          </a:prstGeom>
          <a:noFill/>
        </p:spPr>
        <p:txBody>
          <a:bodyPr wrap="square" lIns="73150" rIns="73150" tIns="73150" bIns="73150" anchor="t"/>
          <a:lstStyle/>
          <a:p>
            <a:pPr algn="l">
              <a:lnSpc>
                <a:spcPct val="115000"/>
              </a:lnSpc>
            </a:pPr>
            <a:r>
              <a:rPr sz="1399" b="0">
                <a:solidFill>
                  <a:srgbClr val="FFFFFF"/>
                </a:solidFill>
                <a:latin typeface="Arial"/>
              </a:rPr>
              <a:t>Em Pipa: alta densidade tecnológica nos circuitos do turismo e disponibilidade restrita nos espaços pedagógicos da escola.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7828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304792" y="152396"/>
            <a:ext cx="2804089" cy="365750"/>
          </a:xfrm>
          <a:prstGeom prst="roundRect">
            <a:avLst>
              <a:gd name="adj" fmla="val 40000"/>
            </a:avLst>
          </a:prstGeom>
          <a:solidFill>
            <a:srgbClr val="FFCE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04792" y="152396"/>
            <a:ext cx="2804089" cy="365750"/>
          </a:xfrm>
          <a:prstGeom prst="rect">
            <a:avLst/>
          </a:prstGeom>
          <a:noFill/>
        </p:spPr>
        <p:txBody>
          <a:bodyPr wrap="square" lIns="30479" rIns="30479" tIns="30479" bIns="30479" anchor="ctr"/>
          <a:lstStyle/>
          <a:p>
            <a:pPr algn="ctr">
              <a:lnSpc>
                <a:spcPct val="100000"/>
              </a:lnSpc>
            </a:pPr>
            <a:r>
              <a:rPr sz="1066" b="1">
                <a:solidFill>
                  <a:srgbClr val="1A1A1A"/>
                </a:solidFill>
                <a:latin typeface="Arial"/>
              </a:rPr>
              <a:t>3 · FUNDAMENTOS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584" y="335271"/>
            <a:ext cx="10972525" cy="914377"/>
          </a:xfrm>
          <a:prstGeom prst="rect">
            <a:avLst/>
          </a:prstGeom>
          <a:noFill/>
        </p:spPr>
        <p:txBody>
          <a:bodyPr wrap="square" lIns="73150" rIns="73150" tIns="73150" bIns="73150" anchor="ctr"/>
          <a:lstStyle/>
          <a:p>
            <a:pPr algn="ctr">
              <a:lnSpc>
                <a:spcPct val="100000"/>
              </a:lnSpc>
            </a:pPr>
            <a:r>
              <a:rPr sz="3599" b="1">
                <a:solidFill>
                  <a:srgbClr val="FFFFFF"/>
                </a:solidFill>
                <a:latin typeface="Arial"/>
              </a:rPr>
              <a:t>FUNDAMENTOS METODOLÓGICOS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26" y="1402044"/>
            <a:ext cx="3566070" cy="2255463"/>
          </a:xfrm>
          <a:prstGeom prst="roundRect">
            <a:avLst>
              <a:gd name="adj" fmla="val 8000"/>
            </a:avLst>
          </a:prstGeom>
          <a:solidFill>
            <a:srgbClr val="F1E7D9"/>
          </a:solidFill>
          <a:ln w="25399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01" y="1493482"/>
            <a:ext cx="3200319" cy="2072588"/>
          </a:xfrm>
          <a:prstGeom prst="rect">
            <a:avLst/>
          </a:prstGeom>
          <a:noFill/>
        </p:spPr>
        <p:txBody>
          <a:bodyPr wrap="square" lIns="73150" rIns="73150" tIns="73150" bIns="73150" anchor="t"/>
          <a:lstStyle/>
          <a:p>
            <a:pPr algn="l">
              <a:lnSpc>
                <a:spcPct val="115000"/>
              </a:lnSpc>
              <a:spcAft>
                <a:spcPts val="533"/>
              </a:spcAft>
            </a:pPr>
            <a:r>
              <a:rPr sz="1466" b="1">
                <a:solidFill>
                  <a:srgbClr val="6C4FD8"/>
                </a:solidFill>
                <a:latin typeface="Arial"/>
              </a:rPr>
              <a:t>Abordagem qualitativa</a:t>
            </a:r>
          </a:p>
          <a:p>
            <a:pPr algn="l">
              <a:lnSpc>
                <a:spcPct val="115000"/>
              </a:lnSpc>
            </a:pPr>
            <a:r>
              <a:rPr sz="1466" b="0">
                <a:solidFill>
                  <a:srgbClr val="1A1A1A"/>
                </a:solidFill>
                <a:latin typeface="Arial"/>
              </a:rPr>
              <a:t>O universo dos significados, motivos, crenças e valores (MINAYO, 2009); compreender como as pessoas constroem significados (BOGDAN; BIKLEN, 2007).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97572" y="1402044"/>
            <a:ext cx="3566070" cy="2255463"/>
          </a:xfrm>
          <a:prstGeom prst="roundRect">
            <a:avLst>
              <a:gd name="adj" fmla="val 8000"/>
            </a:avLst>
          </a:prstGeom>
          <a:solidFill>
            <a:srgbClr val="F1E7D9"/>
          </a:solidFill>
          <a:ln w="25399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80447" y="1493482"/>
            <a:ext cx="3200319" cy="2072588"/>
          </a:xfrm>
          <a:prstGeom prst="rect">
            <a:avLst/>
          </a:prstGeom>
          <a:noFill/>
        </p:spPr>
        <p:txBody>
          <a:bodyPr wrap="square" lIns="73150" rIns="73150" tIns="73150" bIns="73150" anchor="t"/>
          <a:lstStyle/>
          <a:p>
            <a:pPr algn="l">
              <a:lnSpc>
                <a:spcPct val="115000"/>
              </a:lnSpc>
              <a:spcAft>
                <a:spcPts val="533"/>
              </a:spcAft>
            </a:pPr>
            <a:r>
              <a:rPr sz="1466" b="1">
                <a:solidFill>
                  <a:srgbClr val="6C4FD8"/>
                </a:solidFill>
                <a:latin typeface="Arial"/>
              </a:rPr>
              <a:t>Estudo de caso único</a:t>
            </a:r>
          </a:p>
          <a:p>
            <a:pPr algn="l">
              <a:lnSpc>
                <a:spcPct val="115000"/>
              </a:lnSpc>
            </a:pPr>
            <a:r>
              <a:rPr sz="1466" b="0">
                <a:solidFill>
                  <a:srgbClr val="1A1A1A"/>
                </a:solidFill>
                <a:latin typeface="Arial"/>
              </a:rPr>
              <a:t>Fenômeno contemporâneo em contexto real, de limites pouco nítidos (YIN, 2001), com a cautela de André (2005) sobre o “estudo de um caso”.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518" y="1402044"/>
            <a:ext cx="3566070" cy="2255463"/>
          </a:xfrm>
          <a:prstGeom prst="roundRect">
            <a:avLst>
              <a:gd name="adj" fmla="val 8000"/>
            </a:avLst>
          </a:prstGeom>
          <a:solidFill>
            <a:srgbClr val="F1E7D9"/>
          </a:solidFill>
          <a:ln w="25399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394" y="1493482"/>
            <a:ext cx="3200319" cy="2072588"/>
          </a:xfrm>
          <a:prstGeom prst="rect">
            <a:avLst/>
          </a:prstGeom>
          <a:noFill/>
        </p:spPr>
        <p:txBody>
          <a:bodyPr wrap="square" lIns="73150" rIns="73150" tIns="73150" bIns="73150" anchor="t"/>
          <a:lstStyle/>
          <a:p>
            <a:pPr algn="l">
              <a:lnSpc>
                <a:spcPct val="115000"/>
              </a:lnSpc>
              <a:spcAft>
                <a:spcPts val="533"/>
              </a:spcAft>
            </a:pPr>
            <a:r>
              <a:rPr sz="1466" b="1">
                <a:solidFill>
                  <a:srgbClr val="6C4FD8"/>
                </a:solidFill>
                <a:latin typeface="Arial"/>
              </a:rPr>
              <a:t>ACP operacionalizada</a:t>
            </a:r>
          </a:p>
          <a:p>
            <a:pPr algn="l">
              <a:lnSpc>
                <a:spcPct val="115000"/>
              </a:lnSpc>
            </a:pPr>
            <a:r>
              <a:rPr sz="1466" b="0">
                <a:solidFill>
                  <a:srgbClr val="1A1A1A"/>
                </a:solidFill>
                <a:latin typeface="Arial"/>
              </a:rPr>
              <a:t>Contextos de influência, de produção do texto e da prática, com as questões analíticas de Mainardes (2006, p. 67-68).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26" y="3809904"/>
            <a:ext cx="3566070" cy="2255463"/>
          </a:xfrm>
          <a:prstGeom prst="roundRect">
            <a:avLst>
              <a:gd name="adj" fmla="val 8000"/>
            </a:avLst>
          </a:prstGeom>
          <a:solidFill>
            <a:srgbClr val="F1E7D9"/>
          </a:solidFill>
          <a:ln w="25399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01" y="3901342"/>
            <a:ext cx="3200319" cy="2072588"/>
          </a:xfrm>
          <a:prstGeom prst="rect">
            <a:avLst/>
          </a:prstGeom>
          <a:noFill/>
        </p:spPr>
        <p:txBody>
          <a:bodyPr wrap="square" lIns="73150" rIns="73150" tIns="73150" bIns="73150" anchor="t"/>
          <a:lstStyle/>
          <a:p>
            <a:pPr algn="l">
              <a:lnSpc>
                <a:spcPct val="115000"/>
              </a:lnSpc>
              <a:spcAft>
                <a:spcPts val="533"/>
              </a:spcAft>
            </a:pPr>
            <a:r>
              <a:rPr sz="1466" b="1">
                <a:solidFill>
                  <a:srgbClr val="6C4FD8"/>
                </a:solidFill>
                <a:latin typeface="Arial"/>
              </a:rPr>
              <a:t>Recontextualização</a:t>
            </a:r>
          </a:p>
          <a:p>
            <a:pPr algn="l">
              <a:lnSpc>
                <a:spcPct val="115000"/>
              </a:lnSpc>
            </a:pPr>
            <a:r>
              <a:rPr sz="1466" b="0">
                <a:solidFill>
                  <a:srgbClr val="1A1A1A"/>
                </a:solidFill>
                <a:latin typeface="Arial"/>
              </a:rPr>
              <a:t>A política ganha sentidos particulares ao encontrar pessoas, instituições, recursos e limites de um lugar.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97572" y="3809904"/>
            <a:ext cx="3566070" cy="2255463"/>
          </a:xfrm>
          <a:prstGeom prst="roundRect">
            <a:avLst>
              <a:gd name="adj" fmla="val 8000"/>
            </a:avLst>
          </a:prstGeom>
          <a:solidFill>
            <a:srgbClr val="F1E7D9"/>
          </a:solidFill>
          <a:ln w="25399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80447" y="3901342"/>
            <a:ext cx="3200319" cy="2072588"/>
          </a:xfrm>
          <a:prstGeom prst="rect">
            <a:avLst/>
          </a:prstGeom>
          <a:noFill/>
        </p:spPr>
        <p:txBody>
          <a:bodyPr wrap="square" lIns="73150" rIns="73150" tIns="73150" bIns="73150" anchor="t"/>
          <a:lstStyle/>
          <a:p>
            <a:pPr algn="l">
              <a:lnSpc>
                <a:spcPct val="115000"/>
              </a:lnSpc>
              <a:spcAft>
                <a:spcPts val="533"/>
              </a:spcAft>
            </a:pPr>
            <a:r>
              <a:rPr sz="1466" b="1">
                <a:solidFill>
                  <a:srgbClr val="6C4FD8"/>
                </a:solidFill>
                <a:latin typeface="Arial"/>
              </a:rPr>
              <a:t>Seleção intencional</a:t>
            </a:r>
          </a:p>
          <a:p>
            <a:pPr algn="l">
              <a:lnSpc>
                <a:spcPct val="115000"/>
              </a:lnSpc>
            </a:pPr>
            <a:r>
              <a:rPr sz="1466" b="0">
                <a:solidFill>
                  <a:srgbClr val="1A1A1A"/>
                </a:solidFill>
                <a:latin typeface="Arial"/>
              </a:rPr>
              <a:t>Profissionais escolhidos pela posição no arranjo da política (MARCONI; LAKATOS, 2007), com um técnico da Secretaria.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46518" y="3809904"/>
            <a:ext cx="3566070" cy="2255463"/>
          </a:xfrm>
          <a:prstGeom prst="roundRect">
            <a:avLst>
              <a:gd name="adj" fmla="val 8000"/>
            </a:avLst>
          </a:prstGeom>
          <a:solidFill>
            <a:srgbClr val="F1E7D9"/>
          </a:solidFill>
          <a:ln w="25399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394" y="3901342"/>
            <a:ext cx="3200319" cy="2072588"/>
          </a:xfrm>
          <a:prstGeom prst="rect">
            <a:avLst/>
          </a:prstGeom>
          <a:noFill/>
        </p:spPr>
        <p:txBody>
          <a:bodyPr wrap="square" lIns="73150" rIns="73150" tIns="73150" bIns="73150" anchor="t"/>
          <a:lstStyle/>
          <a:p>
            <a:pPr algn="l">
              <a:lnSpc>
                <a:spcPct val="115000"/>
              </a:lnSpc>
              <a:spcAft>
                <a:spcPts val="533"/>
              </a:spcAft>
            </a:pPr>
            <a:r>
              <a:rPr sz="1466" b="1">
                <a:solidFill>
                  <a:srgbClr val="6C4FD8"/>
                </a:solidFill>
                <a:latin typeface="Arial"/>
              </a:rPr>
              <a:t>Análise temática reflexiva</a:t>
            </a:r>
          </a:p>
          <a:p>
            <a:pPr algn="l">
              <a:lnSpc>
                <a:spcPct val="115000"/>
              </a:lnSpc>
            </a:pPr>
            <a:r>
              <a:rPr sz="1466" b="0">
                <a:solidFill>
                  <a:srgbClr val="1A1A1A"/>
                </a:solidFill>
                <a:latin typeface="Arial"/>
              </a:rPr>
              <a:t>Temas construídos entre dados, referencial e reflexividade (BRAUN; CLARKE, 2006; 2019), com triangulação no ATLAS.ti.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9584" y="6431119"/>
            <a:ext cx="10972525" cy="304792"/>
          </a:xfrm>
          <a:prstGeom prst="rect">
            <a:avLst/>
          </a:prstGeom>
          <a:noFill/>
        </p:spPr>
        <p:txBody>
          <a:bodyPr wrap="square" lIns="73150" rIns="73150" tIns="73150" bIns="73150" anchor="ctr"/>
          <a:lstStyle/>
          <a:p>
            <a:pPr algn="l">
              <a:lnSpc>
                <a:spcPct val="100000"/>
              </a:lnSpc>
            </a:pPr>
            <a:r>
              <a:rPr sz="999" b="1">
                <a:solidFill>
                  <a:srgbClr val="FFFFFF"/>
                </a:solidFill>
                <a:latin typeface="Arial"/>
              </a:rPr>
              <a:t>Fundamentos: </a:t>
            </a:r>
            <a:r>
              <a:rPr sz="999" b="0">
                <a:solidFill>
                  <a:srgbClr val="FFFFFF"/>
                </a:solidFill>
                <a:latin typeface="Arial"/>
              </a:rPr>
              <a:t>Resoluções CNS nº 466/2012 e 510/2016: compromissos éticos; critérios de leitura datados antes da 1ª entrevista.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7828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304792" y="152396"/>
            <a:ext cx="2804089" cy="365750"/>
          </a:xfrm>
          <a:prstGeom prst="roundRect">
            <a:avLst>
              <a:gd name="adj" fmla="val 40000"/>
            </a:avLst>
          </a:prstGeom>
          <a:solidFill>
            <a:srgbClr val="FFCE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04792" y="152396"/>
            <a:ext cx="2804089" cy="365750"/>
          </a:xfrm>
          <a:prstGeom prst="rect">
            <a:avLst/>
          </a:prstGeom>
          <a:noFill/>
        </p:spPr>
        <p:txBody>
          <a:bodyPr wrap="square" lIns="30479" rIns="30479" tIns="30479" bIns="30479" anchor="ctr"/>
          <a:lstStyle/>
          <a:p>
            <a:pPr algn="ctr">
              <a:lnSpc>
                <a:spcPct val="100000"/>
              </a:lnSpc>
            </a:pPr>
            <a:r>
              <a:rPr sz="1066" b="1">
                <a:solidFill>
                  <a:srgbClr val="1A1A1A"/>
                </a:solidFill>
                <a:latin typeface="Arial"/>
              </a:rPr>
              <a:t>4 · METODOLOGIA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584" y="335271"/>
            <a:ext cx="10972525" cy="914377"/>
          </a:xfrm>
          <a:prstGeom prst="rect">
            <a:avLst/>
          </a:prstGeom>
          <a:noFill/>
        </p:spPr>
        <p:txBody>
          <a:bodyPr wrap="square" lIns="73150" rIns="73150" tIns="73150" bIns="73150" anchor="ctr"/>
          <a:lstStyle/>
          <a:p>
            <a:pPr algn="ctr">
              <a:lnSpc>
                <a:spcPct val="100000"/>
              </a:lnSpc>
            </a:pPr>
            <a:r>
              <a:rPr sz="3466" b="1">
                <a:solidFill>
                  <a:srgbClr val="FFFFFF"/>
                </a:solidFill>
                <a:latin typeface="Arial"/>
              </a:rPr>
              <a:t>OS CINCO MOVIMENTOS DA PESQUISA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26" y="1188690"/>
            <a:ext cx="11094442" cy="670543"/>
          </a:xfrm>
          <a:prstGeom prst="rect">
            <a:avLst/>
          </a:prstGeom>
          <a:noFill/>
        </p:spPr>
        <p:txBody>
          <a:bodyPr wrap="square" lIns="73150" rIns="73150" tIns="73150" bIns="73150" anchor="ctr"/>
          <a:lstStyle/>
          <a:p>
            <a:pPr algn="ctr">
              <a:lnSpc>
                <a:spcPct val="115000"/>
              </a:lnSpc>
            </a:pPr>
            <a:r>
              <a:rPr sz="1466" b="0">
                <a:solidFill>
                  <a:srgbClr val="FFFFFF"/>
                </a:solidFill>
                <a:latin typeface="Arial"/>
              </a:rPr>
              <a:t>Quatro fontes de evidência, organizadas em cinco movimentos e confrontadas por triangulação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26" y="1981150"/>
            <a:ext cx="2072588" cy="4114697"/>
          </a:xfrm>
          <a:prstGeom prst="roundRect">
            <a:avLst>
              <a:gd name="adj" fmla="val 8000"/>
            </a:avLst>
          </a:prstGeom>
          <a:solidFill>
            <a:srgbClr val="F1E7D9"/>
          </a:solidFill>
          <a:ln w="25399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70543" y="2072588"/>
            <a:ext cx="1828754" cy="60958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</a:pPr>
            <a:r>
              <a:rPr sz="3333" b="1">
                <a:solidFill>
                  <a:srgbClr val="6C4FD8"/>
                </a:solidFill>
                <a:latin typeface="Arial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0543" y="2712652"/>
            <a:ext cx="1828754" cy="85341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</a:pPr>
            <a:r>
              <a:rPr sz="1666" b="1">
                <a:solidFill>
                  <a:srgbClr val="1A1A1A"/>
                </a:solidFill>
                <a:latin typeface="Arial"/>
              </a:rPr>
              <a:t>Análise documental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0543" y="3596550"/>
            <a:ext cx="1828754" cy="164587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5000"/>
              </a:lnSpc>
            </a:pPr>
            <a:r>
              <a:rPr sz="1333" b="0">
                <a:solidFill>
                  <a:srgbClr val="1A1A1A"/>
                </a:solidFill>
                <a:latin typeface="Arial"/>
              </a:rPr>
              <a:t>Lei, Resolução CNE/CEB nº 2/2025, PPP, planos, atas, aquisição, PIEC e Censo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63" y="5333866"/>
            <a:ext cx="1889712" cy="609584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63" y="5333866"/>
            <a:ext cx="1889712" cy="609584"/>
          </a:xfrm>
          <a:prstGeom prst="rect">
            <a:avLst/>
          </a:prstGeom>
          <a:noFill/>
        </p:spPr>
        <p:txBody>
          <a:bodyPr wrap="square" lIns="30479" rIns="30479" tIns="30479" bIns="30479" anchor="ctr"/>
          <a:lstStyle/>
          <a:p>
            <a:pPr algn="ctr">
              <a:lnSpc>
                <a:spcPct val="100000"/>
              </a:lnSpc>
            </a:pPr>
            <a:r>
              <a:rPr sz="999" b="1">
                <a:solidFill>
                  <a:srgbClr val="1A1A1A"/>
                </a:solidFill>
                <a:latin typeface="Arial"/>
              </a:rPr>
              <a:t>Da entrada no campo ao fim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804089" y="1981150"/>
            <a:ext cx="2072588" cy="4114697"/>
          </a:xfrm>
          <a:prstGeom prst="roundRect">
            <a:avLst>
              <a:gd name="adj" fmla="val 8000"/>
            </a:avLst>
          </a:prstGeom>
          <a:solidFill>
            <a:srgbClr val="F1E7D9"/>
          </a:solidFill>
          <a:ln w="25399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926006" y="2072588"/>
            <a:ext cx="1828754" cy="60958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</a:pPr>
            <a:r>
              <a:rPr sz="3333" b="1">
                <a:solidFill>
                  <a:srgbClr val="6C4FD8"/>
                </a:solidFill>
                <a:latin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26006" y="2712652"/>
            <a:ext cx="1828754" cy="85341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</a:pPr>
            <a:r>
              <a:rPr sz="1666" b="1">
                <a:solidFill>
                  <a:srgbClr val="1A1A1A"/>
                </a:solidFill>
                <a:latin typeface="Arial"/>
              </a:rPr>
              <a:t>Registro iconográfico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26006" y="3596550"/>
            <a:ext cx="1828754" cy="164587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5000"/>
              </a:lnSpc>
            </a:pPr>
            <a:r>
              <a:rPr sz="1333" b="0">
                <a:solidFill>
                  <a:srgbClr val="1A1A1A"/>
                </a:solidFill>
                <a:latin typeface="Arial"/>
              </a:rPr>
              <a:t>38 figuras e 2 peças cartográficas, lidas com Santos e Massey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895527" y="5333866"/>
            <a:ext cx="1889712" cy="609584"/>
          </a:xfrm>
          <a:prstGeom prst="roundRect">
            <a:avLst>
              <a:gd name="adj" fmla="val 30000"/>
            </a:avLst>
          </a:prstGeom>
          <a:solidFill>
            <a:srgbClr val="FFCE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895527" y="5333866"/>
            <a:ext cx="1889712" cy="609584"/>
          </a:xfrm>
          <a:prstGeom prst="rect">
            <a:avLst/>
          </a:prstGeom>
          <a:noFill/>
        </p:spPr>
        <p:txBody>
          <a:bodyPr wrap="square" lIns="30479" rIns="30479" tIns="30479" bIns="30479" anchor="ctr"/>
          <a:lstStyle/>
          <a:p>
            <a:pPr algn="ctr">
              <a:lnSpc>
                <a:spcPct val="100000"/>
              </a:lnSpc>
            </a:pPr>
            <a:r>
              <a:rPr sz="999" b="1">
                <a:solidFill>
                  <a:srgbClr val="1A1A1A"/>
                </a:solidFill>
                <a:latin typeface="Arial"/>
              </a:rPr>
              <a:t>Realizado · Cap. 6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059553" y="1981150"/>
            <a:ext cx="2072588" cy="4114697"/>
          </a:xfrm>
          <a:prstGeom prst="roundRect">
            <a:avLst>
              <a:gd name="adj" fmla="val 8000"/>
            </a:avLst>
          </a:prstGeom>
          <a:solidFill>
            <a:srgbClr val="F1E7D9"/>
          </a:solidFill>
          <a:ln w="25399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181470" y="2072588"/>
            <a:ext cx="1828754" cy="60958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</a:pPr>
            <a:r>
              <a:rPr sz="3333" b="1">
                <a:solidFill>
                  <a:srgbClr val="6C4FD8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181470" y="2712652"/>
            <a:ext cx="1828754" cy="85341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</a:pPr>
            <a:r>
              <a:rPr sz="1666" b="1">
                <a:solidFill>
                  <a:srgbClr val="1A1A1A"/>
                </a:solidFill>
                <a:latin typeface="Arial"/>
              </a:rPr>
              <a:t>Questionário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81470" y="3596550"/>
            <a:ext cx="1828754" cy="164587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5000"/>
              </a:lnSpc>
            </a:pPr>
            <a:r>
              <a:rPr sz="1333" b="0">
                <a:solidFill>
                  <a:srgbClr val="1A1A1A"/>
                </a:solidFill>
                <a:latin typeface="Arial"/>
              </a:rPr>
              <a:t>Perfil e percepções, em cinco blocos, aplicado presencialmente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150991" y="5333866"/>
            <a:ext cx="1889712" cy="609584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150991" y="5333866"/>
            <a:ext cx="1889712" cy="609584"/>
          </a:xfrm>
          <a:prstGeom prst="rect">
            <a:avLst/>
          </a:prstGeom>
          <a:noFill/>
        </p:spPr>
        <p:txBody>
          <a:bodyPr wrap="square" lIns="30479" rIns="30479" tIns="30479" bIns="30479" anchor="ctr"/>
          <a:lstStyle/>
          <a:p>
            <a:pPr algn="ctr">
              <a:lnSpc>
                <a:spcPct val="100000"/>
              </a:lnSpc>
            </a:pPr>
            <a:r>
              <a:rPr sz="999" b="1">
                <a:solidFill>
                  <a:srgbClr val="1A1A1A"/>
                </a:solidFill>
                <a:latin typeface="Arial"/>
              </a:rPr>
              <a:t>Antes das entrevistas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315017" y="1981150"/>
            <a:ext cx="2072588" cy="4114697"/>
          </a:xfrm>
          <a:prstGeom prst="roundRect">
            <a:avLst>
              <a:gd name="adj" fmla="val 8000"/>
            </a:avLst>
          </a:prstGeom>
          <a:solidFill>
            <a:srgbClr val="F1E7D9"/>
          </a:solidFill>
          <a:ln w="25399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436934" y="2072588"/>
            <a:ext cx="1828754" cy="60958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</a:pPr>
            <a:r>
              <a:rPr sz="3333" b="1">
                <a:solidFill>
                  <a:srgbClr val="6C4FD8"/>
                </a:solidFill>
                <a:latin typeface="Arial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36934" y="2712652"/>
            <a:ext cx="1828754" cy="85341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</a:pPr>
            <a:r>
              <a:rPr sz="1666" b="1">
                <a:solidFill>
                  <a:srgbClr val="1A1A1A"/>
                </a:solidFill>
                <a:latin typeface="Arial"/>
              </a:rPr>
              <a:t>Entrevistas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36934" y="3596550"/>
            <a:ext cx="1828754" cy="164587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5000"/>
              </a:lnSpc>
            </a:pPr>
            <a:r>
              <a:rPr sz="1333" b="0">
                <a:solidFill>
                  <a:srgbClr val="1A1A1A"/>
                </a:solidFill>
                <a:latin typeface="Arial"/>
              </a:rPr>
              <a:t>Individuais, seis eixos, de 60 a 90 minutos; técnico da Secretaria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406454" y="5333866"/>
            <a:ext cx="1889712" cy="609584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406454" y="5333866"/>
            <a:ext cx="1889712" cy="609584"/>
          </a:xfrm>
          <a:prstGeom prst="rect">
            <a:avLst/>
          </a:prstGeom>
          <a:noFill/>
        </p:spPr>
        <p:txBody>
          <a:bodyPr wrap="square" lIns="30479" rIns="30479" tIns="30479" bIns="30479" anchor="ctr"/>
          <a:lstStyle/>
          <a:p>
            <a:pPr algn="ctr">
              <a:lnSpc>
                <a:spcPct val="100000"/>
              </a:lnSpc>
            </a:pPr>
            <a:r>
              <a:rPr sz="999" b="1">
                <a:solidFill>
                  <a:srgbClr val="1A1A1A"/>
                </a:solidFill>
                <a:latin typeface="Arial"/>
              </a:rPr>
              <a:t>Principal escuta · Cap. 7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570480" y="1981150"/>
            <a:ext cx="2072588" cy="4114697"/>
          </a:xfrm>
          <a:prstGeom prst="roundRect">
            <a:avLst>
              <a:gd name="adj" fmla="val 8000"/>
            </a:avLst>
          </a:prstGeom>
          <a:solidFill>
            <a:srgbClr val="F1E7D9"/>
          </a:solidFill>
          <a:ln w="25399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692397" y="2072588"/>
            <a:ext cx="1828754" cy="60958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</a:pPr>
            <a:r>
              <a:rPr sz="3333" b="1">
                <a:solidFill>
                  <a:srgbClr val="6C4FD8"/>
                </a:solidFill>
                <a:latin typeface="Arial"/>
              </a:rPr>
              <a:t>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692397" y="2712652"/>
            <a:ext cx="1828754" cy="85341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</a:pPr>
            <a:r>
              <a:rPr sz="1666" b="1">
                <a:solidFill>
                  <a:srgbClr val="1A1A1A"/>
                </a:solidFill>
                <a:latin typeface="Arial"/>
              </a:rPr>
              <a:t>Análise e devolutiva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692397" y="3596550"/>
            <a:ext cx="1828754" cy="164587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5000"/>
              </a:lnSpc>
            </a:pPr>
            <a:r>
              <a:rPr sz="1333" b="0">
                <a:solidFill>
                  <a:srgbClr val="1A1A1A"/>
                </a:solidFill>
                <a:latin typeface="Arial"/>
              </a:rPr>
              <a:t>Análise temática reflexiva, triangulação e retorno à escola e à Secretaria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9661918" y="5333866"/>
            <a:ext cx="1889712" cy="609584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661918" y="5333866"/>
            <a:ext cx="1889712" cy="609584"/>
          </a:xfrm>
          <a:prstGeom prst="rect">
            <a:avLst/>
          </a:prstGeom>
          <a:noFill/>
        </p:spPr>
        <p:txBody>
          <a:bodyPr wrap="square" lIns="30479" rIns="30479" tIns="30479" bIns="30479" anchor="ctr"/>
          <a:lstStyle/>
          <a:p>
            <a:pPr algn="ctr">
              <a:lnSpc>
                <a:spcPct val="100000"/>
              </a:lnSpc>
            </a:pPr>
            <a:r>
              <a:rPr sz="999" b="1">
                <a:solidFill>
                  <a:srgbClr val="1A1A1A"/>
                </a:solidFill>
                <a:latin typeface="Arial"/>
              </a:rPr>
              <a:t>Após o campo · Caps. 7 e 8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09584" y="6431119"/>
            <a:ext cx="10972525" cy="304792"/>
          </a:xfrm>
          <a:prstGeom prst="rect">
            <a:avLst/>
          </a:prstGeom>
          <a:noFill/>
        </p:spPr>
        <p:txBody>
          <a:bodyPr wrap="square" lIns="73150" rIns="73150" tIns="73150" bIns="73150" anchor="ctr"/>
          <a:lstStyle/>
          <a:p>
            <a:pPr algn="l">
              <a:lnSpc>
                <a:spcPct val="100000"/>
              </a:lnSpc>
            </a:pPr>
            <a:r>
              <a:rPr sz="999" b="1">
                <a:solidFill>
                  <a:srgbClr val="FFFFFF"/>
                </a:solidFill>
                <a:latin typeface="Arial"/>
              </a:rPr>
              <a:t>Fundamentos: </a:t>
            </a:r>
            <a:r>
              <a:rPr sz="999" b="0">
                <a:solidFill>
                  <a:srgbClr val="FFFFFF"/>
                </a:solidFill>
                <a:latin typeface="Arial"/>
              </a:rPr>
              <a:t>Yin (2001); Braun e Clarke (2006; 2019); Resoluções CNS nº 466/2012 e 510/2016.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7828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304792" y="152396"/>
            <a:ext cx="2804089" cy="365750"/>
          </a:xfrm>
          <a:prstGeom prst="roundRect">
            <a:avLst>
              <a:gd name="adj" fmla="val 40000"/>
            </a:avLst>
          </a:prstGeom>
          <a:solidFill>
            <a:srgbClr val="FFCE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04792" y="152396"/>
            <a:ext cx="2804089" cy="365750"/>
          </a:xfrm>
          <a:prstGeom prst="rect">
            <a:avLst/>
          </a:prstGeom>
          <a:noFill/>
        </p:spPr>
        <p:txBody>
          <a:bodyPr wrap="square" lIns="30479" rIns="30479" tIns="30479" bIns="30479" anchor="ctr"/>
          <a:lstStyle/>
          <a:p>
            <a:pPr algn="ctr">
              <a:lnSpc>
                <a:spcPct val="100000"/>
              </a:lnSpc>
            </a:pPr>
            <a:r>
              <a:rPr sz="1066" b="1">
                <a:solidFill>
                  <a:srgbClr val="1A1A1A"/>
                </a:solidFill>
                <a:latin typeface="Arial"/>
              </a:rPr>
              <a:t>4 · METODOLOGIA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584" y="335271"/>
            <a:ext cx="10972525" cy="914377"/>
          </a:xfrm>
          <a:prstGeom prst="rect">
            <a:avLst/>
          </a:prstGeom>
          <a:noFill/>
        </p:spPr>
        <p:txBody>
          <a:bodyPr wrap="square" lIns="73150" rIns="73150" tIns="73150" bIns="73150" anchor="ctr"/>
          <a:lstStyle/>
          <a:p>
            <a:pPr algn="ctr">
              <a:lnSpc>
                <a:spcPct val="100000"/>
              </a:lnSpc>
            </a:pPr>
            <a:r>
              <a:rPr sz="3066" b="1">
                <a:solidFill>
                  <a:srgbClr val="FFFFFF"/>
                </a:solidFill>
                <a:latin typeface="Arial"/>
              </a:rPr>
              <a:t>1º E 2º MOVIMENTOS: DOCUMENTOS E IMAGENS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26" y="1341086"/>
            <a:ext cx="5455783" cy="4937636"/>
          </a:xfrm>
          <a:prstGeom prst="roundRect">
            <a:avLst>
              <a:gd name="adj" fmla="val 5000"/>
            </a:avLst>
          </a:prstGeom>
          <a:solidFill>
            <a:srgbClr val="F1E7D9"/>
          </a:solidFill>
          <a:ln w="25399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01" y="1432524"/>
            <a:ext cx="5120511" cy="4785240"/>
          </a:xfrm>
          <a:prstGeom prst="rect">
            <a:avLst/>
          </a:prstGeom>
          <a:noFill/>
        </p:spPr>
        <p:txBody>
          <a:bodyPr wrap="square" lIns="73150" rIns="73150" tIns="73150" bIns="73150" anchor="t"/>
          <a:lstStyle/>
          <a:p>
            <a:pPr algn="l">
              <a:lnSpc>
                <a:spcPct val="115000"/>
              </a:lnSpc>
              <a:spcAft>
                <a:spcPts val="933"/>
              </a:spcAft>
            </a:pPr>
            <a:r>
              <a:rPr sz="1599" b="1">
                <a:solidFill>
                  <a:srgbClr val="6C4FD8"/>
                </a:solidFill>
                <a:latin typeface="Arial"/>
              </a:rPr>
              <a:t>1 · Análise documental</a:t>
            </a:r>
          </a:p>
          <a:p>
            <a:pPr algn="l">
              <a:lnSpc>
                <a:spcPct val="115000"/>
              </a:lnSpc>
              <a:spcAft>
                <a:spcPts val="933"/>
              </a:spcAft>
            </a:pPr>
            <a:r>
              <a:rPr sz="1599" b="1">
                <a:solidFill>
                  <a:srgbClr val="1A1A1A"/>
                </a:solidFill>
                <a:latin typeface="Arial"/>
              </a:rPr>
              <a:t>Pedagógico e institucional: </a:t>
            </a:r>
            <a:r>
              <a:rPr sz="1599" b="0">
                <a:solidFill>
                  <a:srgbClr val="1A1A1A"/>
                </a:solidFill>
                <a:latin typeface="Arial"/>
              </a:rPr>
              <a:t>PPP, planos de aula do 1º ao 5º ano, atas e cadernos de uso do laboratório e do kit multimídia.</a:t>
            </a:r>
          </a:p>
          <a:p>
            <a:pPr algn="l">
              <a:lnSpc>
                <a:spcPct val="115000"/>
              </a:lnSpc>
              <a:spcAft>
                <a:spcPts val="933"/>
              </a:spcAft>
            </a:pPr>
            <a:r>
              <a:rPr sz="1599" b="1">
                <a:solidFill>
                  <a:srgbClr val="1A1A1A"/>
                </a:solidFill>
                <a:latin typeface="Arial"/>
              </a:rPr>
              <a:t>Administrativo e de aquisição: </a:t>
            </a:r>
            <a:r>
              <a:rPr sz="1599" b="0">
                <a:solidFill>
                  <a:srgbClr val="1A1A1A"/>
                </a:solidFill>
                <a:latin typeface="Arial"/>
              </a:rPr>
              <a:t>contratação da conectividade, doação e tombamento dos equipamentos, execução do PIEC, contratos de manutenção e respostas ao Censo Escolar.</a:t>
            </a:r>
          </a:p>
          <a:p>
            <a:pPr algn="l">
              <a:lnSpc>
                <a:spcPct val="115000"/>
              </a:lnSpc>
            </a:pPr>
            <a:r>
              <a:rPr sz="1599" b="1">
                <a:solidFill>
                  <a:srgbClr val="1A1A1A"/>
                </a:solidFill>
                <a:latin typeface="Arial"/>
              </a:rPr>
              <a:t>Leitura: </a:t>
            </a:r>
            <a:r>
              <a:rPr sz="1599" b="0">
                <a:solidFill>
                  <a:srgbClr val="1A1A1A"/>
                </a:solidFill>
                <a:latin typeface="Arial"/>
              </a:rPr>
              <a:t>matriz temática prévia, crítica às condições de produção de cada documento; registros no ATLAS.ti.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87285" y="1341086"/>
            <a:ext cx="5455783" cy="4937636"/>
          </a:xfrm>
          <a:prstGeom prst="roundRect">
            <a:avLst>
              <a:gd name="adj" fmla="val 5000"/>
            </a:avLst>
          </a:prstGeom>
          <a:solidFill>
            <a:srgbClr val="F1E7D9"/>
          </a:solidFill>
          <a:ln w="25399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70160" y="1432524"/>
            <a:ext cx="5120511" cy="4785240"/>
          </a:xfrm>
          <a:prstGeom prst="rect">
            <a:avLst/>
          </a:prstGeom>
          <a:noFill/>
        </p:spPr>
        <p:txBody>
          <a:bodyPr wrap="square" lIns="73150" rIns="73150" tIns="73150" bIns="73150" anchor="t"/>
          <a:lstStyle/>
          <a:p>
            <a:pPr algn="l">
              <a:lnSpc>
                <a:spcPct val="115000"/>
              </a:lnSpc>
              <a:spcAft>
                <a:spcPts val="933"/>
              </a:spcAft>
            </a:pPr>
            <a:r>
              <a:rPr sz="1599" b="1">
                <a:solidFill>
                  <a:srgbClr val="6C4FD8"/>
                </a:solidFill>
                <a:latin typeface="Arial"/>
              </a:rPr>
              <a:t>2 · Registro iconográfico</a:t>
            </a:r>
          </a:p>
          <a:p>
            <a:pPr algn="l">
              <a:lnSpc>
                <a:spcPct val="115000"/>
              </a:lnSpc>
              <a:spcAft>
                <a:spcPts val="933"/>
              </a:spcAft>
            </a:pPr>
            <a:r>
              <a:rPr sz="1599" b="1">
                <a:solidFill>
                  <a:srgbClr val="1A1A1A"/>
                </a:solidFill>
                <a:latin typeface="Arial"/>
              </a:rPr>
              <a:t>Corpus: </a:t>
            </a:r>
            <a:r>
              <a:rPr sz="1599" b="0">
                <a:solidFill>
                  <a:srgbClr val="1A1A1A"/>
                </a:solidFill>
                <a:latin typeface="Arial"/>
              </a:rPr>
              <a:t>38 figuras e 2 peças cartográficas (Apêndice A), de três procedências: Museu Digital de Pipa, fotografias da pesquisa e divulgação turística.</a:t>
            </a:r>
          </a:p>
          <a:p>
            <a:pPr algn="l">
              <a:lnSpc>
                <a:spcPct val="115000"/>
              </a:lnSpc>
              <a:spcAft>
                <a:spcPts val="933"/>
              </a:spcAft>
            </a:pPr>
            <a:r>
              <a:rPr sz="1599" b="1">
                <a:solidFill>
                  <a:srgbClr val="1A1A1A"/>
                </a:solidFill>
                <a:latin typeface="Arial"/>
              </a:rPr>
              <a:t>Duas etapas: </a:t>
            </a:r>
            <a:r>
              <a:rPr sz="1599" b="0">
                <a:solidFill>
                  <a:srgbClr val="1A1A1A"/>
                </a:solidFill>
                <a:latin typeface="Arial"/>
              </a:rPr>
              <a:t>descrição do que está no enquadramento; depois, interpretação com as categorias da tese.</a:t>
            </a:r>
          </a:p>
          <a:p>
            <a:pPr algn="l">
              <a:lnSpc>
                <a:spcPct val="115000"/>
              </a:lnSpc>
            </a:pPr>
            <a:r>
              <a:rPr sz="1599" b="1">
                <a:solidFill>
                  <a:srgbClr val="1A1A1A"/>
                </a:solidFill>
                <a:latin typeface="Arial"/>
              </a:rPr>
              <a:t>Cuidados: </a:t>
            </a:r>
            <a:r>
              <a:rPr sz="1599" b="0">
                <a:solidFill>
                  <a:srgbClr val="1A1A1A"/>
                </a:solidFill>
                <a:latin typeface="Arial"/>
              </a:rPr>
              <a:t>nenhum rosto de criança; sem observação de aulas; testes de velocidade da conexão nas salas e no laboratório, a fazer.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9584" y="6431119"/>
            <a:ext cx="10972525" cy="304792"/>
          </a:xfrm>
          <a:prstGeom prst="rect">
            <a:avLst/>
          </a:prstGeom>
          <a:noFill/>
        </p:spPr>
        <p:txBody>
          <a:bodyPr wrap="square" lIns="73150" rIns="73150" tIns="73150" bIns="73150" anchor="ctr"/>
          <a:lstStyle/>
          <a:p>
            <a:pPr algn="l">
              <a:lnSpc>
                <a:spcPct val="100000"/>
              </a:lnSpc>
            </a:pPr>
            <a:r>
              <a:rPr sz="999" b="1">
                <a:solidFill>
                  <a:srgbClr val="FFFFFF"/>
                </a:solidFill>
                <a:latin typeface="Arial"/>
              </a:rPr>
              <a:t>Fundamentos: </a:t>
            </a:r>
            <a:r>
              <a:rPr sz="999" b="0">
                <a:solidFill>
                  <a:srgbClr val="FFFFFF"/>
                </a:solidFill>
                <a:latin typeface="Arial"/>
              </a:rPr>
              <a:t>Marconi e Lakatos (2007); Santos (2012, p. 73): o passado técnico da forma.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7828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304792" y="152396"/>
            <a:ext cx="2804089" cy="365750"/>
          </a:xfrm>
          <a:prstGeom prst="roundRect">
            <a:avLst>
              <a:gd name="adj" fmla="val 40000"/>
            </a:avLst>
          </a:prstGeom>
          <a:solidFill>
            <a:srgbClr val="FFCE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04792" y="152396"/>
            <a:ext cx="2804089" cy="365750"/>
          </a:xfrm>
          <a:prstGeom prst="rect">
            <a:avLst/>
          </a:prstGeom>
          <a:noFill/>
        </p:spPr>
        <p:txBody>
          <a:bodyPr wrap="square" lIns="30479" rIns="30479" tIns="30479" bIns="30479" anchor="ctr"/>
          <a:lstStyle/>
          <a:p>
            <a:pPr algn="ctr">
              <a:lnSpc>
                <a:spcPct val="100000"/>
              </a:lnSpc>
            </a:pPr>
            <a:r>
              <a:rPr sz="1066" b="1">
                <a:solidFill>
                  <a:srgbClr val="1A1A1A"/>
                </a:solidFill>
                <a:latin typeface="Arial"/>
              </a:rPr>
              <a:t>4 · METODOLOGIA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584" y="335271"/>
            <a:ext cx="10972525" cy="914377"/>
          </a:xfrm>
          <a:prstGeom prst="rect">
            <a:avLst/>
          </a:prstGeom>
          <a:noFill/>
        </p:spPr>
        <p:txBody>
          <a:bodyPr wrap="square" lIns="73150" rIns="73150" tIns="73150" bIns="73150" anchor="ctr"/>
          <a:lstStyle/>
          <a:p>
            <a:pPr algn="ctr">
              <a:lnSpc>
                <a:spcPct val="100000"/>
              </a:lnSpc>
            </a:pPr>
            <a:r>
              <a:rPr sz="3066" b="1">
                <a:solidFill>
                  <a:srgbClr val="FFFFFF"/>
                </a:solidFill>
                <a:latin typeface="Arial"/>
              </a:rPr>
              <a:t>3º, 4º E 5º MOVIMENTOS: ESCUTAR E ANALISAR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26" y="1341086"/>
            <a:ext cx="3566070" cy="4419489"/>
          </a:xfrm>
          <a:prstGeom prst="roundRect">
            <a:avLst>
              <a:gd name="adj" fmla="val 5000"/>
            </a:avLst>
          </a:prstGeom>
          <a:solidFill>
            <a:srgbClr val="F1E7D9"/>
          </a:solidFill>
          <a:ln w="25399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1022" y="1402044"/>
            <a:ext cx="3261278" cy="518147"/>
          </a:xfrm>
          <a:prstGeom prst="rect">
            <a:avLst/>
          </a:prstGeom>
          <a:noFill/>
        </p:spPr>
        <p:txBody>
          <a:bodyPr wrap="square" lIns="73150" rIns="73150" tIns="73150" bIns="73150" anchor="ctr"/>
          <a:lstStyle/>
          <a:p>
            <a:pPr algn="l">
              <a:lnSpc>
                <a:spcPct val="100000"/>
              </a:lnSpc>
            </a:pPr>
            <a:r>
              <a:rPr sz="1599" b="1">
                <a:solidFill>
                  <a:srgbClr val="6C4FD8"/>
                </a:solidFill>
                <a:latin typeface="Arial"/>
              </a:rPr>
              <a:t>3 · Questionário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01022" y="1950671"/>
            <a:ext cx="3261278" cy="3748946"/>
          </a:xfrm>
          <a:prstGeom prst="rect">
            <a:avLst/>
          </a:prstGeom>
          <a:noFill/>
        </p:spPr>
        <p:txBody>
          <a:bodyPr wrap="square" lIns="73150" rIns="73150" tIns="73150" bIns="73150" anchor="t"/>
          <a:lstStyle/>
          <a:p>
            <a:pPr algn="l">
              <a:lnSpc>
                <a:spcPct val="108000"/>
              </a:lnSpc>
              <a:spcAft>
                <a:spcPts val="599"/>
              </a:spcAft>
            </a:pPr>
            <a:r>
              <a:rPr sz="1466" b="0">
                <a:solidFill>
                  <a:srgbClr val="1A1A1A"/>
                </a:solidFill>
                <a:latin typeface="Arial"/>
              </a:rPr>
              <a:t>· Perfil e trajetória profissional</a:t>
            </a:r>
          </a:p>
          <a:p>
            <a:pPr algn="l">
              <a:lnSpc>
                <a:spcPct val="108000"/>
              </a:lnSpc>
              <a:spcAft>
                <a:spcPts val="599"/>
              </a:spcAft>
            </a:pPr>
            <a:r>
              <a:rPr sz="1466" b="0">
                <a:solidFill>
                  <a:srgbClr val="1A1A1A"/>
                </a:solidFill>
                <a:latin typeface="Arial"/>
              </a:rPr>
              <a:t>· Formação e relação com o digital</a:t>
            </a:r>
          </a:p>
          <a:p>
            <a:pPr algn="l">
              <a:lnSpc>
                <a:spcPct val="108000"/>
              </a:lnSpc>
              <a:spcAft>
                <a:spcPts val="599"/>
              </a:spcAft>
            </a:pPr>
            <a:r>
              <a:rPr sz="1466" b="0">
                <a:solidFill>
                  <a:srgbClr val="1A1A1A"/>
                </a:solidFill>
                <a:latin typeface="Arial"/>
              </a:rPr>
              <a:t>· Condições materiais e território</a:t>
            </a:r>
          </a:p>
          <a:p>
            <a:pPr algn="l">
              <a:lnSpc>
                <a:spcPct val="108000"/>
              </a:lnSpc>
              <a:spcAft>
                <a:spcPts val="599"/>
              </a:spcAft>
            </a:pPr>
            <a:r>
              <a:rPr sz="1466" b="0">
                <a:solidFill>
                  <a:srgbClr val="1A1A1A"/>
                </a:solidFill>
                <a:latin typeface="Arial"/>
              </a:rPr>
              <a:t>· A PNED e as exigências de registro</a:t>
            </a:r>
          </a:p>
          <a:p>
            <a:pPr algn="l">
              <a:lnSpc>
                <a:spcPct val="108000"/>
              </a:lnSpc>
            </a:pPr>
            <a:r>
              <a:rPr sz="1466" b="0">
                <a:solidFill>
                  <a:srgbClr val="1A1A1A"/>
                </a:solidFill>
                <a:latin typeface="Arial"/>
              </a:rPr>
              <a:t>· Concepções e direitos da criança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97572" y="1341086"/>
            <a:ext cx="3566070" cy="4419489"/>
          </a:xfrm>
          <a:prstGeom prst="roundRect">
            <a:avLst>
              <a:gd name="adj" fmla="val 5000"/>
            </a:avLst>
          </a:prstGeom>
          <a:solidFill>
            <a:srgbClr val="F1E7D9"/>
          </a:solidFill>
          <a:ln w="25399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49968" y="1402044"/>
            <a:ext cx="3261278" cy="518147"/>
          </a:xfrm>
          <a:prstGeom prst="rect">
            <a:avLst/>
          </a:prstGeom>
          <a:noFill/>
        </p:spPr>
        <p:txBody>
          <a:bodyPr wrap="square" lIns="73150" rIns="73150" tIns="73150" bIns="73150" anchor="ctr"/>
          <a:lstStyle/>
          <a:p>
            <a:pPr algn="l">
              <a:lnSpc>
                <a:spcPct val="100000"/>
              </a:lnSpc>
            </a:pPr>
            <a:r>
              <a:rPr sz="1599" b="1">
                <a:solidFill>
                  <a:srgbClr val="6C4FD8"/>
                </a:solidFill>
                <a:latin typeface="Arial"/>
              </a:rPr>
              <a:t>4 · Entrevistas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49968" y="1950671"/>
            <a:ext cx="3261278" cy="3748946"/>
          </a:xfrm>
          <a:prstGeom prst="rect">
            <a:avLst/>
          </a:prstGeom>
          <a:noFill/>
        </p:spPr>
        <p:txBody>
          <a:bodyPr wrap="square" lIns="73150" rIns="73150" tIns="73150" bIns="73150" anchor="t"/>
          <a:lstStyle/>
          <a:p>
            <a:pPr algn="l">
              <a:lnSpc>
                <a:spcPct val="108000"/>
              </a:lnSpc>
              <a:spcAft>
                <a:spcPts val="599"/>
              </a:spcAft>
            </a:pPr>
            <a:r>
              <a:rPr sz="1466" b="0">
                <a:solidFill>
                  <a:srgbClr val="1A1A1A"/>
                </a:solidFill>
                <a:latin typeface="Arial"/>
              </a:rPr>
              <a:t>· Trajetória e culturas profissionais</a:t>
            </a:r>
          </a:p>
          <a:p>
            <a:pPr algn="l">
              <a:lnSpc>
                <a:spcPct val="108000"/>
              </a:lnSpc>
              <a:spcAft>
                <a:spcPts val="599"/>
              </a:spcAft>
            </a:pPr>
            <a:r>
              <a:rPr sz="1466" b="0">
                <a:solidFill>
                  <a:srgbClr val="1A1A1A"/>
                </a:solidFill>
                <a:latin typeface="Arial"/>
              </a:rPr>
              <a:t>· Interpretação da política</a:t>
            </a:r>
          </a:p>
          <a:p>
            <a:pPr algn="l">
              <a:lnSpc>
                <a:spcPct val="108000"/>
              </a:lnSpc>
              <a:spcAft>
                <a:spcPts val="599"/>
              </a:spcAft>
            </a:pPr>
            <a:r>
              <a:rPr sz="1466" b="0">
                <a:solidFill>
                  <a:srgbClr val="1A1A1A"/>
                </a:solidFill>
                <a:latin typeface="Arial"/>
              </a:rPr>
              <a:t>· Tradução: dimensão material e território</a:t>
            </a:r>
          </a:p>
          <a:p>
            <a:pPr algn="l">
              <a:lnSpc>
                <a:spcPct val="108000"/>
              </a:lnSpc>
              <a:spcAft>
                <a:spcPts val="599"/>
              </a:spcAft>
            </a:pPr>
            <a:r>
              <a:rPr sz="1466" b="0">
                <a:solidFill>
                  <a:srgbClr val="1A1A1A"/>
                </a:solidFill>
                <a:latin typeface="Arial"/>
              </a:rPr>
              <a:t>· Performatividade: registros e cobranças</a:t>
            </a:r>
          </a:p>
          <a:p>
            <a:pPr algn="l">
              <a:lnSpc>
                <a:spcPct val="108000"/>
              </a:lnSpc>
              <a:spcAft>
                <a:spcPts val="599"/>
              </a:spcAft>
            </a:pPr>
            <a:r>
              <a:rPr sz="1466" b="0">
                <a:solidFill>
                  <a:srgbClr val="1A1A1A"/>
                </a:solidFill>
                <a:latin typeface="Arial"/>
              </a:rPr>
              <a:t>· Formas de atuação</a:t>
            </a:r>
          </a:p>
          <a:p>
            <a:pPr algn="l">
              <a:lnSpc>
                <a:spcPct val="108000"/>
              </a:lnSpc>
            </a:pPr>
            <a:r>
              <a:rPr sz="1466" b="0">
                <a:solidFill>
                  <a:srgbClr val="1A1A1A"/>
                </a:solidFill>
                <a:latin typeface="Arial"/>
              </a:rPr>
              <a:t>· Habitar o digital e direitos da criança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518" y="1341086"/>
            <a:ext cx="3566070" cy="4419489"/>
          </a:xfrm>
          <a:prstGeom prst="roundRect">
            <a:avLst>
              <a:gd name="adj" fmla="val 5000"/>
            </a:avLst>
          </a:prstGeom>
          <a:solidFill>
            <a:srgbClr val="F1E7D9"/>
          </a:solidFill>
          <a:ln w="25399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198915" y="1402044"/>
            <a:ext cx="3261278" cy="518147"/>
          </a:xfrm>
          <a:prstGeom prst="rect">
            <a:avLst/>
          </a:prstGeom>
          <a:noFill/>
        </p:spPr>
        <p:txBody>
          <a:bodyPr wrap="square" lIns="73150" rIns="73150" tIns="73150" bIns="73150" anchor="ctr"/>
          <a:lstStyle/>
          <a:p>
            <a:pPr algn="l">
              <a:lnSpc>
                <a:spcPct val="100000"/>
              </a:lnSpc>
            </a:pPr>
            <a:r>
              <a:rPr sz="1599" b="1">
                <a:solidFill>
                  <a:srgbClr val="6C4FD8"/>
                </a:solidFill>
                <a:latin typeface="Arial"/>
              </a:rPr>
              <a:t>5 · Análise e devolutiva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98915" y="1950671"/>
            <a:ext cx="3261278" cy="3748946"/>
          </a:xfrm>
          <a:prstGeom prst="rect">
            <a:avLst/>
          </a:prstGeom>
          <a:noFill/>
        </p:spPr>
        <p:txBody>
          <a:bodyPr wrap="square" lIns="73150" rIns="73150" tIns="73150" bIns="73150" anchor="t"/>
          <a:lstStyle/>
          <a:p>
            <a:pPr algn="l">
              <a:lnSpc>
                <a:spcPct val="108000"/>
              </a:lnSpc>
              <a:spcAft>
                <a:spcPts val="599"/>
              </a:spcAft>
            </a:pPr>
            <a:r>
              <a:rPr sz="1466" b="0">
                <a:solidFill>
                  <a:srgbClr val="1A1A1A"/>
                </a:solidFill>
                <a:latin typeface="Arial"/>
              </a:rPr>
              <a:t>· Familiarização com todo o material</a:t>
            </a:r>
          </a:p>
          <a:p>
            <a:pPr algn="l">
              <a:lnSpc>
                <a:spcPct val="108000"/>
              </a:lnSpc>
              <a:spcAft>
                <a:spcPts val="599"/>
              </a:spcAft>
            </a:pPr>
            <a:r>
              <a:rPr sz="1466" b="0">
                <a:solidFill>
                  <a:srgbClr val="1A1A1A"/>
                </a:solidFill>
                <a:latin typeface="Arial"/>
              </a:rPr>
              <a:t>· Codificação com oito dimensões sensibilizadoras</a:t>
            </a:r>
          </a:p>
          <a:p>
            <a:pPr algn="l">
              <a:lnSpc>
                <a:spcPct val="108000"/>
              </a:lnSpc>
              <a:spcAft>
                <a:spcPts val="599"/>
              </a:spcAft>
            </a:pPr>
            <a:r>
              <a:rPr sz="1466" b="0">
                <a:solidFill>
                  <a:srgbClr val="1A1A1A"/>
                </a:solidFill>
                <a:latin typeface="Arial"/>
              </a:rPr>
              <a:t>· Interpretação com triangulação, por participante e entre posições</a:t>
            </a:r>
          </a:p>
          <a:p>
            <a:pPr algn="l">
              <a:lnSpc>
                <a:spcPct val="108000"/>
              </a:lnSpc>
              <a:spcAft>
                <a:spcPts val="599"/>
              </a:spcAft>
            </a:pPr>
            <a:r>
              <a:rPr sz="1466" b="0">
                <a:solidFill>
                  <a:srgbClr val="1A1A1A"/>
                </a:solidFill>
                <a:latin typeface="Arial"/>
              </a:rPr>
              <a:t>· Diálogo com as cinco categorias do Cap. 5</a:t>
            </a:r>
          </a:p>
          <a:p>
            <a:pPr algn="l">
              <a:lnSpc>
                <a:spcPct val="108000"/>
              </a:lnSpc>
            </a:pPr>
            <a:r>
              <a:rPr sz="1466" b="0">
                <a:solidFill>
                  <a:srgbClr val="1A1A1A"/>
                </a:solidFill>
                <a:latin typeface="Arial"/>
              </a:rPr>
              <a:t>· Devolutiva à escola e à Secretaria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26" y="5852013"/>
            <a:ext cx="11094442" cy="518147"/>
          </a:xfrm>
          <a:prstGeom prst="roundRect">
            <a:avLst>
              <a:gd name="adj" fmla="val 6000"/>
            </a:avLst>
          </a:prstGeom>
          <a:solidFill>
            <a:srgbClr val="FFCE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01" y="5852013"/>
            <a:ext cx="10728691" cy="518147"/>
          </a:xfrm>
          <a:prstGeom prst="rect">
            <a:avLst/>
          </a:prstGeom>
          <a:noFill/>
        </p:spPr>
        <p:txBody>
          <a:bodyPr wrap="square" lIns="73150" rIns="73150" tIns="73150" bIns="73150" anchor="ctr"/>
          <a:lstStyle/>
          <a:p>
            <a:pPr algn="ctr">
              <a:lnSpc>
                <a:spcPct val="100000"/>
              </a:lnSpc>
            </a:pPr>
            <a:r>
              <a:rPr sz="1266" b="0">
                <a:solidFill>
                  <a:srgbClr val="1A1A1A"/>
                </a:solidFill>
                <a:latin typeface="Arial"/>
              </a:rPr>
              <a:t>As perguntas abertas vêm antes das diretas, e as categorias não são ditas aos participantes.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9584" y="6431119"/>
            <a:ext cx="10972525" cy="304792"/>
          </a:xfrm>
          <a:prstGeom prst="rect">
            <a:avLst/>
          </a:prstGeom>
          <a:noFill/>
        </p:spPr>
        <p:txBody>
          <a:bodyPr wrap="square" lIns="73150" rIns="73150" tIns="73150" bIns="73150" anchor="ctr"/>
          <a:lstStyle/>
          <a:p>
            <a:pPr algn="l">
              <a:lnSpc>
                <a:spcPct val="100000"/>
              </a:lnSpc>
            </a:pPr>
            <a:r>
              <a:rPr sz="999" b="1">
                <a:solidFill>
                  <a:srgbClr val="FFFFFF"/>
                </a:solidFill>
                <a:latin typeface="Arial"/>
              </a:rPr>
              <a:t>Fundamentos: </a:t>
            </a:r>
            <a:r>
              <a:rPr sz="999" b="0">
                <a:solidFill>
                  <a:srgbClr val="FFFFFF"/>
                </a:solidFill>
                <a:latin typeface="Arial"/>
              </a:rPr>
              <a:t>Braun e Clarke (2006; 2019); Hargreaves (2005); Ball (2004).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7828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304792" y="152396"/>
            <a:ext cx="2804089" cy="365750"/>
          </a:xfrm>
          <a:prstGeom prst="roundRect">
            <a:avLst>
              <a:gd name="adj" fmla="val 40000"/>
            </a:avLst>
          </a:prstGeom>
          <a:solidFill>
            <a:srgbClr val="FFCE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04792" y="152396"/>
            <a:ext cx="2804089" cy="365750"/>
          </a:xfrm>
          <a:prstGeom prst="rect">
            <a:avLst/>
          </a:prstGeom>
          <a:noFill/>
        </p:spPr>
        <p:txBody>
          <a:bodyPr wrap="square" lIns="30479" rIns="30479" tIns="30479" bIns="30479" anchor="ctr"/>
          <a:lstStyle/>
          <a:p>
            <a:pPr algn="ctr">
              <a:lnSpc>
                <a:spcPct val="100000"/>
              </a:lnSpc>
            </a:pPr>
            <a:r>
              <a:rPr sz="1066" b="1">
                <a:solidFill>
                  <a:srgbClr val="1A1A1A"/>
                </a:solidFill>
                <a:latin typeface="Arial"/>
              </a:rPr>
              <a:t>4 · METODOLOGIA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584" y="335271"/>
            <a:ext cx="10972525" cy="914377"/>
          </a:xfrm>
          <a:prstGeom prst="rect">
            <a:avLst/>
          </a:prstGeom>
          <a:noFill/>
        </p:spPr>
        <p:txBody>
          <a:bodyPr wrap="square" lIns="73150" rIns="73150" tIns="73150" bIns="73150" anchor="ctr"/>
          <a:lstStyle/>
          <a:p>
            <a:pPr algn="ctr">
              <a:lnSpc>
                <a:spcPct val="100000"/>
              </a:lnSpc>
            </a:pPr>
            <a:r>
              <a:rPr sz="3333" b="1">
                <a:solidFill>
                  <a:srgbClr val="FFFFFF"/>
                </a:solidFill>
                <a:latin typeface="Arial"/>
              </a:rPr>
              <a:t>FORMAS DE ATUAÇÃO E COMO SERÃO LIDAS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26" y="1463003"/>
            <a:ext cx="2377380" cy="883897"/>
          </a:xfrm>
          <a:prstGeom prst="roundRect">
            <a:avLst>
              <a:gd name="adj" fmla="val 30000"/>
            </a:avLst>
          </a:prstGeom>
          <a:solidFill>
            <a:srgbClr val="FFCE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26" y="1463003"/>
            <a:ext cx="2377380" cy="883897"/>
          </a:xfrm>
          <a:prstGeom prst="rect">
            <a:avLst/>
          </a:prstGeom>
          <a:noFill/>
        </p:spPr>
        <p:txBody>
          <a:bodyPr wrap="square" lIns="73150" rIns="73150" tIns="73150" bIns="73150" anchor="ctr"/>
          <a:lstStyle/>
          <a:p>
            <a:pPr algn="ctr">
              <a:lnSpc>
                <a:spcPct val="100000"/>
              </a:lnSpc>
            </a:pPr>
            <a:r>
              <a:rPr sz="1599" b="1">
                <a:solidFill>
                  <a:srgbClr val="1A1A1A"/>
                </a:solidFill>
                <a:latin typeface="Arial"/>
              </a:rPr>
              <a:t>Adesão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078403" y="1463003"/>
            <a:ext cx="2377380" cy="883897"/>
          </a:xfrm>
          <a:prstGeom prst="roundRect">
            <a:avLst>
              <a:gd name="adj" fmla="val 30000"/>
            </a:avLst>
          </a:prstGeom>
          <a:solidFill>
            <a:srgbClr val="FFCE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078403" y="1463003"/>
            <a:ext cx="2377380" cy="883897"/>
          </a:xfrm>
          <a:prstGeom prst="rect">
            <a:avLst/>
          </a:prstGeom>
          <a:noFill/>
        </p:spPr>
        <p:txBody>
          <a:bodyPr wrap="square" lIns="73150" rIns="73150" tIns="73150" bIns="73150" anchor="ctr"/>
          <a:lstStyle/>
          <a:p>
            <a:pPr algn="ctr">
              <a:lnSpc>
                <a:spcPct val="100000"/>
              </a:lnSpc>
            </a:pPr>
            <a:r>
              <a:rPr sz="1599" b="1">
                <a:solidFill>
                  <a:srgbClr val="1A1A1A"/>
                </a:solidFill>
                <a:latin typeface="Arial"/>
              </a:rPr>
              <a:t>Acomodação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26" y="2529776"/>
            <a:ext cx="2377380" cy="883897"/>
          </a:xfrm>
          <a:prstGeom prst="roundRect">
            <a:avLst>
              <a:gd name="adj" fmla="val 30000"/>
            </a:avLst>
          </a:prstGeom>
          <a:solidFill>
            <a:srgbClr val="FFCE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26" y="2529776"/>
            <a:ext cx="2377380" cy="883897"/>
          </a:xfrm>
          <a:prstGeom prst="rect">
            <a:avLst/>
          </a:prstGeom>
          <a:noFill/>
        </p:spPr>
        <p:txBody>
          <a:bodyPr wrap="square" lIns="73150" rIns="73150" tIns="73150" bIns="73150" anchor="ctr"/>
          <a:lstStyle/>
          <a:p>
            <a:pPr algn="ctr">
              <a:lnSpc>
                <a:spcPct val="100000"/>
              </a:lnSpc>
            </a:pPr>
            <a:r>
              <a:rPr sz="1599" b="1">
                <a:solidFill>
                  <a:srgbClr val="1A1A1A"/>
                </a:solidFill>
                <a:latin typeface="Arial"/>
              </a:rPr>
              <a:t>Adaptação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078403" y="2529776"/>
            <a:ext cx="2377380" cy="883897"/>
          </a:xfrm>
          <a:prstGeom prst="roundRect">
            <a:avLst>
              <a:gd name="adj" fmla="val 30000"/>
            </a:avLst>
          </a:prstGeom>
          <a:solidFill>
            <a:srgbClr val="FFCE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078403" y="2529776"/>
            <a:ext cx="2377380" cy="883897"/>
          </a:xfrm>
          <a:prstGeom prst="rect">
            <a:avLst/>
          </a:prstGeom>
          <a:noFill/>
        </p:spPr>
        <p:txBody>
          <a:bodyPr wrap="square" lIns="73150" rIns="73150" tIns="73150" bIns="73150" anchor="ctr"/>
          <a:lstStyle/>
          <a:p>
            <a:pPr algn="ctr">
              <a:lnSpc>
                <a:spcPct val="100000"/>
              </a:lnSpc>
            </a:pPr>
            <a:r>
              <a:rPr sz="1599" b="1">
                <a:solidFill>
                  <a:srgbClr val="1A1A1A"/>
                </a:solidFill>
                <a:latin typeface="Arial"/>
              </a:rPr>
              <a:t>Omissão seletiva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26" y="3596550"/>
            <a:ext cx="2377380" cy="883897"/>
          </a:xfrm>
          <a:prstGeom prst="roundRect">
            <a:avLst>
              <a:gd name="adj" fmla="val 30000"/>
            </a:avLst>
          </a:prstGeom>
          <a:solidFill>
            <a:srgbClr val="FFCE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26" y="3596550"/>
            <a:ext cx="2377380" cy="883897"/>
          </a:xfrm>
          <a:prstGeom prst="rect">
            <a:avLst/>
          </a:prstGeom>
          <a:noFill/>
        </p:spPr>
        <p:txBody>
          <a:bodyPr wrap="square" lIns="73150" rIns="73150" tIns="73150" bIns="73150" anchor="ctr"/>
          <a:lstStyle/>
          <a:p>
            <a:pPr algn="ctr">
              <a:lnSpc>
                <a:spcPct val="100000"/>
              </a:lnSpc>
            </a:pPr>
            <a:r>
              <a:rPr sz="1599" b="1">
                <a:solidFill>
                  <a:srgbClr val="1A1A1A"/>
                </a:solidFill>
                <a:latin typeface="Arial"/>
              </a:rPr>
              <a:t>Negociação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078403" y="3596550"/>
            <a:ext cx="2377380" cy="883897"/>
          </a:xfrm>
          <a:prstGeom prst="roundRect">
            <a:avLst>
              <a:gd name="adj" fmla="val 30000"/>
            </a:avLst>
          </a:prstGeom>
          <a:solidFill>
            <a:srgbClr val="FFCE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078403" y="3596550"/>
            <a:ext cx="2377380" cy="883897"/>
          </a:xfrm>
          <a:prstGeom prst="rect">
            <a:avLst/>
          </a:prstGeom>
          <a:noFill/>
        </p:spPr>
        <p:txBody>
          <a:bodyPr wrap="square" lIns="73150" rIns="73150" tIns="73150" bIns="73150" anchor="ctr"/>
          <a:lstStyle/>
          <a:p>
            <a:pPr algn="ctr">
              <a:lnSpc>
                <a:spcPct val="100000"/>
              </a:lnSpc>
            </a:pPr>
            <a:r>
              <a:rPr sz="1599" b="1">
                <a:solidFill>
                  <a:srgbClr val="1A1A1A"/>
                </a:solidFill>
                <a:latin typeface="Arial"/>
              </a:rPr>
              <a:t>Ressignificação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26" y="4663323"/>
            <a:ext cx="2377380" cy="883897"/>
          </a:xfrm>
          <a:prstGeom prst="roundRect">
            <a:avLst>
              <a:gd name="adj" fmla="val 30000"/>
            </a:avLst>
          </a:prstGeom>
          <a:solidFill>
            <a:srgbClr val="FFCE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8626" y="4663323"/>
            <a:ext cx="2377380" cy="883897"/>
          </a:xfrm>
          <a:prstGeom prst="rect">
            <a:avLst/>
          </a:prstGeom>
          <a:noFill/>
        </p:spPr>
        <p:txBody>
          <a:bodyPr wrap="square" lIns="73150" rIns="73150" tIns="73150" bIns="73150" anchor="ctr"/>
          <a:lstStyle/>
          <a:p>
            <a:pPr algn="ctr">
              <a:lnSpc>
                <a:spcPct val="100000"/>
              </a:lnSpc>
            </a:pPr>
            <a:r>
              <a:rPr sz="1599" b="1">
                <a:solidFill>
                  <a:srgbClr val="1A1A1A"/>
                </a:solidFill>
                <a:latin typeface="Arial"/>
              </a:rPr>
              <a:t>Resistência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26" y="5730096"/>
            <a:ext cx="4876678" cy="609584"/>
          </a:xfrm>
          <a:prstGeom prst="rect">
            <a:avLst/>
          </a:prstGeom>
          <a:noFill/>
        </p:spPr>
        <p:txBody>
          <a:bodyPr wrap="square" lIns="73150" rIns="73150" tIns="73150" bIns="73150" anchor="t"/>
          <a:lstStyle/>
          <a:p>
            <a:pPr algn="l">
              <a:lnSpc>
                <a:spcPct val="115000"/>
              </a:lnSpc>
            </a:pPr>
            <a:r>
              <a:rPr sz="1266" b="0">
                <a:solidFill>
                  <a:srgbClr val="FFFFFF"/>
                </a:solidFill>
                <a:latin typeface="Arial"/>
              </a:rPr>
              <a:t>Nenhuma forma é pressuposta; outras podem surgir do material.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852013" y="1463003"/>
            <a:ext cx="5791055" cy="4815719"/>
          </a:xfrm>
          <a:prstGeom prst="roundRect">
            <a:avLst>
              <a:gd name="adj" fmla="val 6000"/>
            </a:avLst>
          </a:prstGeom>
          <a:solidFill>
            <a:srgbClr val="F1E7D9"/>
          </a:solidFill>
          <a:ln w="25399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095847" y="1584920"/>
            <a:ext cx="5303387" cy="4571885"/>
          </a:xfrm>
          <a:prstGeom prst="rect">
            <a:avLst/>
          </a:prstGeom>
          <a:noFill/>
        </p:spPr>
        <p:txBody>
          <a:bodyPr wrap="square" lIns="73150" rIns="73150" tIns="73150" bIns="73150" anchor="t"/>
          <a:lstStyle/>
          <a:p>
            <a:pPr algn="l">
              <a:lnSpc>
                <a:spcPct val="115000"/>
              </a:lnSpc>
              <a:spcAft>
                <a:spcPts val="1066"/>
              </a:spcAft>
            </a:pPr>
            <a:r>
              <a:rPr sz="1733" b="1">
                <a:solidFill>
                  <a:srgbClr val="1A1A1A"/>
                </a:solidFill>
                <a:latin typeface="Arial"/>
              </a:rPr>
              <a:t>Recorrência. </a:t>
            </a:r>
            <a:r>
              <a:rPr sz="1733" b="0">
                <a:solidFill>
                  <a:srgbClr val="1A1A1A"/>
                </a:solidFill>
                <a:latin typeface="Arial"/>
              </a:rPr>
              <a:t>Uma forma só vira achado quando aparece de modo recorrente e sem indução pela pergunta.</a:t>
            </a:r>
          </a:p>
          <a:p>
            <a:pPr algn="l">
              <a:lnSpc>
                <a:spcPct val="115000"/>
              </a:lnSpc>
              <a:spcAft>
                <a:spcPts val="1066"/>
              </a:spcAft>
            </a:pPr>
            <a:r>
              <a:rPr sz="1733" b="1">
                <a:solidFill>
                  <a:srgbClr val="1A1A1A"/>
                </a:solidFill>
                <a:latin typeface="Arial"/>
              </a:rPr>
              <a:t>Posição. </a:t>
            </a:r>
            <a:r>
              <a:rPr sz="1733" b="0">
                <a:solidFill>
                  <a:srgbClr val="1A1A1A"/>
                </a:solidFill>
                <a:latin typeface="Arial"/>
              </a:rPr>
              <a:t>As formas podem variar entre docência, coordenação, direção, apoio e Secretaria.</a:t>
            </a:r>
          </a:p>
          <a:p>
            <a:pPr algn="l">
              <a:lnSpc>
                <a:spcPct val="115000"/>
              </a:lnSpc>
              <a:spcAft>
                <a:spcPts val="1066"/>
              </a:spcAft>
            </a:pPr>
            <a:r>
              <a:rPr sz="1733" b="1">
                <a:solidFill>
                  <a:srgbClr val="1A1A1A"/>
                </a:solidFill>
                <a:latin typeface="Arial"/>
              </a:rPr>
              <a:t>Nome justo. </a:t>
            </a:r>
            <a:r>
              <a:rPr sz="1733" b="0">
                <a:solidFill>
                  <a:srgbClr val="1A1A1A"/>
                </a:solidFill>
                <a:latin typeface="Arial"/>
              </a:rPr>
              <a:t>Quando não há alternativa, o que se vê é custo transferido ao trabalhador, e assim será nomeado.</a:t>
            </a:r>
          </a:p>
          <a:p>
            <a:pPr algn="l">
              <a:lnSpc>
                <a:spcPct val="115000"/>
              </a:lnSpc>
            </a:pPr>
            <a:r>
              <a:rPr sz="1733" b="1">
                <a:solidFill>
                  <a:srgbClr val="1A1A1A"/>
                </a:solidFill>
                <a:latin typeface="Arial"/>
              </a:rPr>
              <a:t>Sem antecipar. </a:t>
            </a:r>
            <a:r>
              <a:rPr sz="1733" b="0">
                <a:solidFill>
                  <a:srgbClr val="1A1A1A"/>
                </a:solidFill>
                <a:latin typeface="Arial"/>
              </a:rPr>
              <a:t>As categorias não são ditas aos participantes; os critérios são datados antes da 1ª entrevista.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09584" y="6431119"/>
            <a:ext cx="10972525" cy="304792"/>
          </a:xfrm>
          <a:prstGeom prst="rect">
            <a:avLst/>
          </a:prstGeom>
          <a:noFill/>
        </p:spPr>
        <p:txBody>
          <a:bodyPr wrap="square" lIns="73150" rIns="73150" tIns="73150" bIns="73150" anchor="ctr"/>
          <a:lstStyle/>
          <a:p>
            <a:pPr algn="l">
              <a:lnSpc>
                <a:spcPct val="100000"/>
              </a:lnSpc>
            </a:pPr>
            <a:r>
              <a:rPr sz="999" b="1">
                <a:solidFill>
                  <a:srgbClr val="FFFFFF"/>
                </a:solidFill>
                <a:latin typeface="Arial"/>
              </a:rPr>
              <a:t>Fundamentos: </a:t>
            </a:r>
            <a:r>
              <a:rPr sz="999" b="0">
                <a:solidFill>
                  <a:srgbClr val="FFFFFF"/>
                </a:solidFill>
                <a:latin typeface="Arial"/>
              </a:rPr>
              <a:t>Ball (2002; 2004); Hargreaves (2005); Ball, Maguire e Braun (2016).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7828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304792" y="152396"/>
            <a:ext cx="2804089" cy="365750"/>
          </a:xfrm>
          <a:prstGeom prst="roundRect">
            <a:avLst>
              <a:gd name="adj" fmla="val 40000"/>
            </a:avLst>
          </a:prstGeom>
          <a:solidFill>
            <a:srgbClr val="FFCE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04792" y="152396"/>
            <a:ext cx="2804089" cy="365750"/>
          </a:xfrm>
          <a:prstGeom prst="rect">
            <a:avLst/>
          </a:prstGeom>
          <a:noFill/>
        </p:spPr>
        <p:txBody>
          <a:bodyPr wrap="square" lIns="30479" rIns="30479" tIns="30479" bIns="30479" anchor="ctr"/>
          <a:lstStyle/>
          <a:p>
            <a:pPr algn="ctr">
              <a:lnSpc>
                <a:spcPct val="100000"/>
              </a:lnSpc>
            </a:pPr>
            <a:r>
              <a:rPr sz="1066" b="1">
                <a:solidFill>
                  <a:srgbClr val="1A1A1A"/>
                </a:solidFill>
                <a:latin typeface="Arial"/>
              </a:rPr>
              <a:t>5 · AGENDA TERRITORIAL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584" y="335271"/>
            <a:ext cx="10972525" cy="914377"/>
          </a:xfrm>
          <a:prstGeom prst="rect">
            <a:avLst/>
          </a:prstGeom>
          <a:noFill/>
        </p:spPr>
        <p:txBody>
          <a:bodyPr wrap="square" lIns="73150" rIns="73150" tIns="73150" bIns="73150" anchor="ctr"/>
          <a:lstStyle/>
          <a:p>
            <a:pPr algn="ctr">
              <a:lnSpc>
                <a:spcPct val="100000"/>
              </a:lnSpc>
            </a:pPr>
            <a:r>
              <a:rPr sz="3733" b="1">
                <a:solidFill>
                  <a:srgbClr val="FFFFFF"/>
                </a:solidFill>
                <a:latin typeface="Arial"/>
              </a:rPr>
              <a:t>A AGENDA INTERNACIONAL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26" y="1402044"/>
            <a:ext cx="3566070" cy="3657508"/>
          </a:xfrm>
          <a:prstGeom prst="roundRect">
            <a:avLst>
              <a:gd name="adj" fmla="val 8000"/>
            </a:avLst>
          </a:prstGeom>
          <a:solidFill>
            <a:srgbClr val="F1E7D9"/>
          </a:solidFill>
          <a:ln w="25399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01" y="1523961"/>
            <a:ext cx="3200319" cy="3413674"/>
          </a:xfrm>
          <a:prstGeom prst="rect">
            <a:avLst/>
          </a:prstGeom>
          <a:noFill/>
        </p:spPr>
        <p:txBody>
          <a:bodyPr wrap="square" lIns="73150" rIns="73150" tIns="73150" bIns="73150" anchor="t"/>
          <a:lstStyle/>
          <a:p>
            <a:pPr algn="l">
              <a:lnSpc>
                <a:spcPct val="115000"/>
              </a:lnSpc>
              <a:spcAft>
                <a:spcPts val="799"/>
              </a:spcAft>
            </a:pPr>
            <a:r>
              <a:rPr sz="1533" b="1">
                <a:solidFill>
                  <a:srgbClr val="6C4FD8"/>
                </a:solidFill>
                <a:latin typeface="Arial"/>
              </a:rPr>
              <a:t>UNESCO (2023)</a:t>
            </a:r>
          </a:p>
          <a:p>
            <a:pPr algn="l">
              <a:lnSpc>
                <a:spcPct val="115000"/>
              </a:lnSpc>
              <a:spcAft>
                <a:spcPts val="799"/>
              </a:spcAft>
            </a:pPr>
            <a:r>
              <a:rPr sz="1533" b="1">
                <a:solidFill>
                  <a:srgbClr val="1A1A1A"/>
                </a:solidFill>
                <a:latin typeface="Arial"/>
              </a:rPr>
              <a:t>Relatório de Monitoramento Global da Educação</a:t>
            </a:r>
          </a:p>
          <a:p>
            <a:pPr algn="l">
              <a:lnSpc>
                <a:spcPct val="115000"/>
              </a:lnSpc>
            </a:pPr>
            <a:r>
              <a:rPr sz="1533" b="0">
                <a:solidFill>
                  <a:srgbClr val="1A1A1A"/>
                </a:solidFill>
                <a:latin typeface="Arial"/>
              </a:rPr>
              <a:t>“Uma em cada quatro escolas primárias do mundo não dispõe de eletricidade” (p. 126, tradução nossa). A tecnologia deve complementar a interação com os professores.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97572" y="1402044"/>
            <a:ext cx="3566070" cy="3657508"/>
          </a:xfrm>
          <a:prstGeom prst="roundRect">
            <a:avLst>
              <a:gd name="adj" fmla="val 8000"/>
            </a:avLst>
          </a:prstGeom>
          <a:solidFill>
            <a:srgbClr val="F1E7D9"/>
          </a:solidFill>
          <a:ln w="25399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80447" y="1523961"/>
            <a:ext cx="3200319" cy="3413674"/>
          </a:xfrm>
          <a:prstGeom prst="rect">
            <a:avLst/>
          </a:prstGeom>
          <a:noFill/>
        </p:spPr>
        <p:txBody>
          <a:bodyPr wrap="square" lIns="73150" rIns="73150" tIns="73150" bIns="73150" anchor="t"/>
          <a:lstStyle/>
          <a:p>
            <a:pPr algn="l">
              <a:lnSpc>
                <a:spcPct val="115000"/>
              </a:lnSpc>
              <a:spcAft>
                <a:spcPts val="799"/>
              </a:spcAft>
            </a:pPr>
            <a:r>
              <a:rPr sz="1533" b="1">
                <a:solidFill>
                  <a:srgbClr val="6C4FD8"/>
                </a:solidFill>
                <a:latin typeface="Arial"/>
              </a:rPr>
              <a:t>OCDE (2015)</a:t>
            </a:r>
          </a:p>
          <a:p>
            <a:pPr algn="l">
              <a:lnSpc>
                <a:spcPct val="115000"/>
              </a:lnSpc>
              <a:spcAft>
                <a:spcPts val="799"/>
              </a:spcAft>
            </a:pPr>
            <a:r>
              <a:rPr sz="1533" b="1">
                <a:solidFill>
                  <a:srgbClr val="1A1A1A"/>
                </a:solidFill>
                <a:latin typeface="Arial"/>
              </a:rPr>
              <a:t>Students, Computers and Learning</a:t>
            </a:r>
          </a:p>
          <a:p>
            <a:pPr algn="l">
              <a:lnSpc>
                <a:spcPct val="115000"/>
              </a:lnSpc>
            </a:pPr>
            <a:r>
              <a:rPr sz="1533" b="0">
                <a:solidFill>
                  <a:srgbClr val="1A1A1A"/>
                </a:solidFill>
                <a:latin typeface="Arial"/>
              </a:rPr>
              <a:t>Mesmo onde os computadores são usados em sala, seu impacto sobre o desempenho é, “na melhor das hipóteses, misto” (p. 3, tradução nossa).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518" y="1402044"/>
            <a:ext cx="3566070" cy="3657508"/>
          </a:xfrm>
          <a:prstGeom prst="roundRect">
            <a:avLst>
              <a:gd name="adj" fmla="val 8000"/>
            </a:avLst>
          </a:prstGeom>
          <a:solidFill>
            <a:srgbClr val="F1E7D9"/>
          </a:solidFill>
          <a:ln w="25399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394" y="1523961"/>
            <a:ext cx="3200319" cy="3413674"/>
          </a:xfrm>
          <a:prstGeom prst="rect">
            <a:avLst/>
          </a:prstGeom>
          <a:noFill/>
        </p:spPr>
        <p:txBody>
          <a:bodyPr wrap="square" lIns="73150" rIns="73150" tIns="73150" bIns="73150" anchor="t"/>
          <a:lstStyle/>
          <a:p>
            <a:pPr algn="l">
              <a:lnSpc>
                <a:spcPct val="115000"/>
              </a:lnSpc>
              <a:spcAft>
                <a:spcPts val="799"/>
              </a:spcAft>
            </a:pPr>
            <a:r>
              <a:rPr sz="1533" b="1">
                <a:solidFill>
                  <a:srgbClr val="6C4FD8"/>
                </a:solidFill>
                <a:latin typeface="Arial"/>
              </a:rPr>
              <a:t>Banco Mundial (2020)</a:t>
            </a:r>
          </a:p>
          <a:p>
            <a:pPr algn="l">
              <a:lnSpc>
                <a:spcPct val="115000"/>
              </a:lnSpc>
              <a:spcAft>
                <a:spcPts val="799"/>
              </a:spcAft>
            </a:pPr>
            <a:r>
              <a:rPr sz="1533" b="1">
                <a:solidFill>
                  <a:srgbClr val="1A1A1A"/>
                </a:solidFill>
                <a:latin typeface="Arial"/>
              </a:rPr>
              <a:t>Reimagining Human Connections</a:t>
            </a:r>
          </a:p>
          <a:p>
            <a:pPr algn="l">
              <a:lnSpc>
                <a:spcPct val="115000"/>
              </a:lnSpc>
            </a:pPr>
            <a:r>
              <a:rPr sz="1533" b="0">
                <a:solidFill>
                  <a:srgbClr val="1A1A1A"/>
                </a:solidFill>
                <a:latin typeface="Arial"/>
              </a:rPr>
              <a:t>“Se a tecnologia é a resposta, qual é a pergunta?” Primeiro se define o problema educacional; depois se escolhe a tecnologia.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26" y="5272908"/>
            <a:ext cx="11094442" cy="975335"/>
          </a:xfrm>
          <a:prstGeom prst="roundRect">
            <a:avLst>
              <a:gd name="adj" fmla="val 6000"/>
            </a:avLst>
          </a:prstGeom>
          <a:solidFill>
            <a:srgbClr val="FFCE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92460" y="5272908"/>
            <a:ext cx="10606774" cy="975335"/>
          </a:xfrm>
          <a:prstGeom prst="rect">
            <a:avLst/>
          </a:prstGeom>
          <a:noFill/>
        </p:spPr>
        <p:txBody>
          <a:bodyPr wrap="square" lIns="73150" rIns="73150" tIns="73150" bIns="73150" anchor="ctr"/>
          <a:lstStyle/>
          <a:p>
            <a:pPr algn="l">
              <a:lnSpc>
                <a:spcPct val="115000"/>
              </a:lnSpc>
            </a:pPr>
            <a:r>
              <a:rPr sz="1466" b="1">
                <a:solidFill>
                  <a:srgbClr val="1A1A1A"/>
                </a:solidFill>
                <a:latin typeface="Arial"/>
              </a:rPr>
              <a:t>Ponto em comum: </a:t>
            </a:r>
            <a:r>
              <a:rPr sz="1466" b="0">
                <a:solidFill>
                  <a:srgbClr val="1A1A1A"/>
                </a:solidFill>
                <a:latin typeface="Arial"/>
              </a:rPr>
              <a:t>os três documentos tiram o foco da simples presença dos recursos e o colocam nas condições, nos usos e nas finalidades. Sem condições materiais, o uso não acontece.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9584" y="6400639"/>
            <a:ext cx="10972525" cy="304792"/>
          </a:xfrm>
          <a:prstGeom prst="rect">
            <a:avLst/>
          </a:prstGeom>
          <a:noFill/>
        </p:spPr>
        <p:txBody>
          <a:bodyPr wrap="square" lIns="73150" rIns="73150" tIns="73150" bIns="73150" anchor="ctr"/>
          <a:lstStyle/>
          <a:p>
            <a:pPr algn="l">
              <a:lnSpc>
                <a:spcPct val="100000"/>
              </a:lnSpc>
            </a:pPr>
            <a:r>
              <a:rPr sz="999" b="1">
                <a:solidFill>
                  <a:srgbClr val="FFFFFF"/>
                </a:solidFill>
                <a:latin typeface="Arial"/>
              </a:rPr>
              <a:t>Fundamentos: </a:t>
            </a:r>
            <a:r>
              <a:rPr sz="999" b="0">
                <a:solidFill>
                  <a:srgbClr val="FFFFFF"/>
                </a:solidFill>
                <a:latin typeface="Arial"/>
              </a:rPr>
              <a:t>Mainardes (2006): contexto de influência; Ball (2004): performatividade.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7828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304792" y="152396"/>
            <a:ext cx="2804089" cy="365750"/>
          </a:xfrm>
          <a:prstGeom prst="roundRect">
            <a:avLst>
              <a:gd name="adj" fmla="val 40000"/>
            </a:avLst>
          </a:prstGeom>
          <a:solidFill>
            <a:srgbClr val="FFCE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04792" y="152396"/>
            <a:ext cx="2804089" cy="365750"/>
          </a:xfrm>
          <a:prstGeom prst="rect">
            <a:avLst/>
          </a:prstGeom>
          <a:noFill/>
        </p:spPr>
        <p:txBody>
          <a:bodyPr wrap="square" lIns="30479" rIns="30479" tIns="30479" bIns="30479" anchor="ctr"/>
          <a:lstStyle/>
          <a:p>
            <a:pPr algn="ctr">
              <a:lnSpc>
                <a:spcPct val="100000"/>
              </a:lnSpc>
            </a:pPr>
            <a:r>
              <a:rPr sz="1066" b="1">
                <a:solidFill>
                  <a:srgbClr val="1A1A1A"/>
                </a:solidFill>
                <a:latin typeface="Arial"/>
              </a:rPr>
              <a:t>5 · AGENDA TERRITORIAL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584" y="335271"/>
            <a:ext cx="10972525" cy="914377"/>
          </a:xfrm>
          <a:prstGeom prst="rect">
            <a:avLst/>
          </a:prstGeom>
          <a:noFill/>
        </p:spPr>
        <p:txBody>
          <a:bodyPr wrap="square" lIns="73150" rIns="73150" tIns="73150" bIns="73150" anchor="ctr"/>
          <a:lstStyle/>
          <a:p>
            <a:pPr algn="ctr">
              <a:lnSpc>
                <a:spcPct val="100000"/>
              </a:lnSpc>
            </a:pPr>
            <a:r>
              <a:rPr sz="3466" b="1">
                <a:solidFill>
                  <a:srgbClr val="FFFFFF"/>
                </a:solidFill>
                <a:latin typeface="Arial"/>
              </a:rPr>
              <a:t>O QUE OUTROS TERRITÓRIOS NOS ENSINAM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75476" y="1328894"/>
            <a:ext cx="6973649" cy="4260997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Mapa das políticas de educação digital nas Américas e na Europa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26" y="1402044"/>
            <a:ext cx="6827349" cy="4011067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48626" y="5638659"/>
            <a:ext cx="6827349" cy="365750"/>
          </a:xfrm>
          <a:prstGeom prst="rect">
            <a:avLst/>
          </a:prstGeom>
          <a:noFill/>
        </p:spPr>
        <p:txBody>
          <a:bodyPr wrap="square" lIns="73150" rIns="73150" tIns="73150" bIns="73150" anchor="t"/>
          <a:lstStyle/>
          <a:p>
            <a:pPr algn="l">
              <a:lnSpc>
                <a:spcPct val="115000"/>
              </a:lnSpc>
            </a:pPr>
            <a:r>
              <a:rPr sz="999" b="0">
                <a:solidFill>
                  <a:srgbClr val="FFFFFF"/>
                </a:solidFill>
                <a:latin typeface="Arial"/>
              </a:rPr>
              <a:t>Fonte: elaborado a partir dos quadros do Capítulo 5; base cartográfica Natural Earth.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680767" y="1328894"/>
            <a:ext cx="3962300" cy="4876678"/>
          </a:xfrm>
          <a:prstGeom prst="roundRect">
            <a:avLst>
              <a:gd name="adj" fmla="val 5000"/>
            </a:avLst>
          </a:prstGeom>
          <a:solidFill>
            <a:srgbClr val="F1E7D9"/>
          </a:solidFill>
          <a:ln w="25399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863643" y="1402044"/>
            <a:ext cx="3657508" cy="365750"/>
          </a:xfrm>
          <a:prstGeom prst="rect">
            <a:avLst/>
          </a:prstGeom>
          <a:noFill/>
        </p:spPr>
        <p:txBody>
          <a:bodyPr wrap="square" lIns="73150" rIns="73150" tIns="73150" bIns="73150" anchor="t"/>
          <a:lstStyle/>
          <a:p>
            <a:pPr algn="l">
              <a:lnSpc>
                <a:spcPct val="100000"/>
              </a:lnSpc>
            </a:pPr>
            <a:r>
              <a:rPr sz="1133" b="1">
                <a:solidFill>
                  <a:srgbClr val="1A1A1A"/>
                </a:solidFill>
                <a:latin typeface="Arial"/>
              </a:rPr>
              <a:t>A cor indica a categoria principal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894122" y="1901904"/>
            <a:ext cx="195067" cy="195067"/>
          </a:xfrm>
          <a:prstGeom prst="roundRect">
            <a:avLst>
              <a:gd name="adj" fmla="val 50000"/>
            </a:avLst>
          </a:prstGeom>
          <a:solidFill>
            <a:srgbClr val="2A6B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168435" y="1859233"/>
            <a:ext cx="3352716" cy="280408"/>
          </a:xfrm>
          <a:prstGeom prst="rect">
            <a:avLst/>
          </a:prstGeom>
          <a:noFill/>
        </p:spPr>
        <p:txBody>
          <a:bodyPr wrap="square" lIns="12191" rIns="12191" tIns="12191" bIns="12191" anchor="ctr"/>
          <a:lstStyle/>
          <a:p>
            <a:pPr algn="l">
              <a:lnSpc>
                <a:spcPct val="100000"/>
              </a:lnSpc>
            </a:pPr>
            <a:r>
              <a:rPr sz="1133" b="0">
                <a:solidFill>
                  <a:srgbClr val="1A1A1A"/>
                </a:solidFill>
                <a:latin typeface="Arial"/>
              </a:rPr>
              <a:t>Governança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894122" y="2206696"/>
            <a:ext cx="195067" cy="195067"/>
          </a:xfrm>
          <a:prstGeom prst="roundRect">
            <a:avLst>
              <a:gd name="adj" fmla="val 50000"/>
            </a:avLst>
          </a:prstGeom>
          <a:solidFill>
            <a:srgbClr val="C98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68435" y="2164025"/>
            <a:ext cx="3352716" cy="280408"/>
          </a:xfrm>
          <a:prstGeom prst="rect">
            <a:avLst/>
          </a:prstGeom>
          <a:noFill/>
        </p:spPr>
        <p:txBody>
          <a:bodyPr wrap="square" lIns="12191" rIns="12191" tIns="12191" bIns="12191" anchor="ctr"/>
          <a:lstStyle/>
          <a:p>
            <a:pPr algn="l">
              <a:lnSpc>
                <a:spcPct val="100000"/>
              </a:lnSpc>
            </a:pPr>
            <a:r>
              <a:rPr sz="1133" b="0">
                <a:solidFill>
                  <a:srgbClr val="1A1A1A"/>
                </a:solidFill>
                <a:latin typeface="Arial"/>
              </a:rPr>
              <a:t>Formação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894122" y="2511489"/>
            <a:ext cx="195067" cy="195067"/>
          </a:xfrm>
          <a:prstGeom prst="roundRect">
            <a:avLst>
              <a:gd name="adj" fmla="val 50000"/>
            </a:avLst>
          </a:prstGeom>
          <a:solidFill>
            <a:srgbClr val="4F7CA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168435" y="2468818"/>
            <a:ext cx="3352716" cy="280408"/>
          </a:xfrm>
          <a:prstGeom prst="rect">
            <a:avLst/>
          </a:prstGeom>
          <a:noFill/>
        </p:spPr>
        <p:txBody>
          <a:bodyPr wrap="square" lIns="12191" rIns="12191" tIns="12191" bIns="12191" anchor="ctr"/>
          <a:lstStyle/>
          <a:p>
            <a:pPr algn="l">
              <a:lnSpc>
                <a:spcPct val="100000"/>
              </a:lnSpc>
            </a:pPr>
            <a:r>
              <a:rPr sz="1133" b="0">
                <a:solidFill>
                  <a:srgbClr val="1A1A1A"/>
                </a:solidFill>
                <a:latin typeface="Arial"/>
              </a:rPr>
              <a:t>Infraestrutura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894122" y="2816281"/>
            <a:ext cx="195067" cy="195067"/>
          </a:xfrm>
          <a:prstGeom prst="roundRect">
            <a:avLst>
              <a:gd name="adj" fmla="val 50000"/>
            </a:avLst>
          </a:prstGeom>
          <a:solidFill>
            <a:srgbClr val="8A5A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168435" y="2773610"/>
            <a:ext cx="3352716" cy="280408"/>
          </a:xfrm>
          <a:prstGeom prst="rect">
            <a:avLst/>
          </a:prstGeom>
          <a:noFill/>
        </p:spPr>
        <p:txBody>
          <a:bodyPr wrap="square" lIns="12191" rIns="12191" tIns="12191" bIns="12191" anchor="ctr"/>
          <a:lstStyle/>
          <a:p>
            <a:pPr algn="l">
              <a:lnSpc>
                <a:spcPct val="100000"/>
              </a:lnSpc>
            </a:pPr>
            <a:r>
              <a:rPr sz="1133" b="0">
                <a:solidFill>
                  <a:srgbClr val="1A1A1A"/>
                </a:solidFill>
                <a:latin typeface="Arial"/>
              </a:rPr>
              <a:t>Continuidade institucional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894122" y="3121073"/>
            <a:ext cx="195067" cy="195067"/>
          </a:xfrm>
          <a:prstGeom prst="roundRect">
            <a:avLst>
              <a:gd name="adj" fmla="val 50000"/>
            </a:avLst>
          </a:prstGeom>
          <a:solidFill>
            <a:srgbClr val="D965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168435" y="3078403"/>
            <a:ext cx="3352716" cy="280408"/>
          </a:xfrm>
          <a:prstGeom prst="rect">
            <a:avLst/>
          </a:prstGeom>
          <a:noFill/>
        </p:spPr>
        <p:txBody>
          <a:bodyPr wrap="square" lIns="12191" rIns="12191" tIns="12191" bIns="12191" anchor="ctr"/>
          <a:lstStyle/>
          <a:p>
            <a:pPr algn="l">
              <a:lnSpc>
                <a:spcPct val="100000"/>
              </a:lnSpc>
            </a:pPr>
            <a:r>
              <a:rPr sz="1133" b="0">
                <a:solidFill>
                  <a:srgbClr val="1A1A1A"/>
                </a:solidFill>
                <a:latin typeface="Arial"/>
              </a:rPr>
              <a:t>Cultura digital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863643" y="3444153"/>
            <a:ext cx="3657508" cy="2743131"/>
          </a:xfrm>
          <a:prstGeom prst="rect">
            <a:avLst/>
          </a:prstGeom>
          <a:noFill/>
        </p:spPr>
        <p:txBody>
          <a:bodyPr wrap="square" lIns="73150" rIns="73150" tIns="73150" bIns="73150" anchor="t"/>
          <a:lstStyle/>
          <a:p>
            <a:pPr algn="l">
              <a:lnSpc>
                <a:spcPct val="105000"/>
              </a:lnSpc>
              <a:spcAft>
                <a:spcPts val="666"/>
              </a:spcAft>
            </a:pPr>
            <a:r>
              <a:rPr sz="1066" b="1">
                <a:solidFill>
                  <a:srgbClr val="6C4FD8"/>
                </a:solidFill>
                <a:latin typeface="Arial"/>
              </a:rPr>
              <a:t>Américas: </a:t>
            </a:r>
            <a:r>
              <a:rPr sz="1066" b="0">
                <a:solidFill>
                  <a:srgbClr val="1A1A1A"/>
                </a:solidFill>
                <a:latin typeface="Arial"/>
              </a:rPr>
              <a:t>1 EUA · Ed. Technology Plan · 2 Canadá · Digital Literacy (BC) · 3 México · @prende 2.0 · 4 Costa Rica · PRONIE · 5 Colômbia · Computadores para Educar · 6 Peru · Una Laptop por Niño · 7 Chile · Red Enlaces · 8 Argentina · Conectar Igualdad · 9 Uruguai · Plan Ceibal · Brasil · PNED (2023)</a:t>
            </a:r>
          </a:p>
          <a:p>
            <a:pPr algn="l">
              <a:lnSpc>
                <a:spcPct val="105000"/>
              </a:lnSpc>
            </a:pPr>
            <a:r>
              <a:rPr sz="1066" b="1">
                <a:solidFill>
                  <a:srgbClr val="6C4FD8"/>
                </a:solidFill>
                <a:latin typeface="Arial"/>
              </a:rPr>
              <a:t>Europa: </a:t>
            </a:r>
            <a:r>
              <a:rPr sz="1066" b="0">
                <a:solidFill>
                  <a:srgbClr val="1A1A1A"/>
                </a:solidFill>
                <a:latin typeface="Arial"/>
              </a:rPr>
              <a:t>10 União Europeia · DigComp · 11 Portugal · PTE e INCoDe · 12 Espanha · Comp. Digital Docente · 13 Irlanda · Digital Strategy · 14 Reino Unido · 15 França · Stratégie du numérique · 16 Países Baixos · 17 Alemanha · DigitalPakt · 18 Itália · PNSD · 19 Finlândia · Currículo (2014)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09584" y="6400639"/>
            <a:ext cx="10972525" cy="304792"/>
          </a:xfrm>
          <a:prstGeom prst="rect">
            <a:avLst/>
          </a:prstGeom>
          <a:noFill/>
        </p:spPr>
        <p:txBody>
          <a:bodyPr wrap="square" lIns="73150" rIns="73150" tIns="73150" bIns="73150" anchor="ctr"/>
          <a:lstStyle/>
          <a:p>
            <a:pPr algn="l">
              <a:lnSpc>
                <a:spcPct val="100000"/>
              </a:lnSpc>
            </a:pPr>
            <a:r>
              <a:rPr sz="999" b="1">
                <a:solidFill>
                  <a:srgbClr val="FFFFFF"/>
                </a:solidFill>
                <a:latin typeface="Arial"/>
              </a:rPr>
              <a:t>Fundamentos: </a:t>
            </a:r>
            <a:r>
              <a:rPr sz="999" b="0">
                <a:solidFill>
                  <a:srgbClr val="FFFFFF"/>
                </a:solidFill>
                <a:latin typeface="Arial"/>
              </a:rPr>
              <a:t>Mainardes (2006): contexto de influência.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7828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304792" y="152396"/>
            <a:ext cx="2804089" cy="365750"/>
          </a:xfrm>
          <a:prstGeom prst="roundRect">
            <a:avLst>
              <a:gd name="adj" fmla="val 40000"/>
            </a:avLst>
          </a:prstGeom>
          <a:solidFill>
            <a:srgbClr val="FFCE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04792" y="152396"/>
            <a:ext cx="2804089" cy="365750"/>
          </a:xfrm>
          <a:prstGeom prst="rect">
            <a:avLst/>
          </a:prstGeom>
          <a:noFill/>
        </p:spPr>
        <p:txBody>
          <a:bodyPr wrap="square" lIns="30479" rIns="30479" tIns="30479" bIns="30479" anchor="ctr"/>
          <a:lstStyle/>
          <a:p>
            <a:pPr algn="ctr">
              <a:lnSpc>
                <a:spcPct val="100000"/>
              </a:lnSpc>
            </a:pPr>
            <a:r>
              <a:rPr sz="1066" b="1">
                <a:solidFill>
                  <a:srgbClr val="1A1A1A"/>
                </a:solidFill>
                <a:latin typeface="Arial"/>
              </a:rPr>
              <a:t>5 · AGENDA TERRITORIAL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584" y="335271"/>
            <a:ext cx="10972525" cy="914377"/>
          </a:xfrm>
          <a:prstGeom prst="rect">
            <a:avLst/>
          </a:prstGeom>
          <a:noFill/>
        </p:spPr>
        <p:txBody>
          <a:bodyPr wrap="square" lIns="73150" rIns="73150" tIns="73150" bIns="73150" anchor="ctr"/>
          <a:lstStyle/>
          <a:p>
            <a:pPr algn="ctr">
              <a:lnSpc>
                <a:spcPct val="100000"/>
              </a:lnSpc>
            </a:pPr>
            <a:r>
              <a:rPr sz="3066" b="1">
                <a:solidFill>
                  <a:srgbClr val="FFFFFF"/>
                </a:solidFill>
                <a:latin typeface="Arial"/>
              </a:rPr>
              <a:t>O QUE ESSAS EXPERIÊNCIAS TRAZEM PARA A TESE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26" y="1402044"/>
            <a:ext cx="2072588" cy="4206134"/>
          </a:xfrm>
          <a:prstGeom prst="roundRect">
            <a:avLst>
              <a:gd name="adj" fmla="val 8000"/>
            </a:avLst>
          </a:prstGeom>
          <a:solidFill>
            <a:srgbClr val="F1E7D9"/>
          </a:solidFill>
          <a:ln w="25399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70543" y="1523961"/>
            <a:ext cx="1828754" cy="487667"/>
          </a:xfrm>
          <a:prstGeom prst="roundRect">
            <a:avLst>
              <a:gd name="adj" fmla="val 30000"/>
            </a:avLst>
          </a:prstGeom>
          <a:solidFill>
            <a:srgbClr val="2A6B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70543" y="1523961"/>
            <a:ext cx="1828754" cy="487667"/>
          </a:xfrm>
          <a:prstGeom prst="rect">
            <a:avLst/>
          </a:prstGeom>
          <a:noFill/>
        </p:spPr>
        <p:txBody>
          <a:bodyPr wrap="square" lIns="30479" rIns="30479" tIns="30479" bIns="30479" anchor="ctr"/>
          <a:lstStyle/>
          <a:p>
            <a:pPr algn="ctr">
              <a:lnSpc>
                <a:spcPct val="100000"/>
              </a:lnSpc>
            </a:pPr>
            <a:r>
              <a:rPr sz="1266" b="1">
                <a:solidFill>
                  <a:srgbClr val="FFFFFF"/>
                </a:solidFill>
                <a:latin typeface="Arial"/>
              </a:rPr>
              <a:t>Governança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0543" y="2133546"/>
            <a:ext cx="1828754" cy="1828754"/>
          </a:xfrm>
          <a:prstGeom prst="rect">
            <a:avLst/>
          </a:prstGeom>
          <a:noFill/>
        </p:spPr>
        <p:txBody>
          <a:bodyPr wrap="square" lIns="12191" rIns="12191" tIns="12191" bIns="12191" anchor="t"/>
          <a:lstStyle/>
          <a:p>
            <a:pPr algn="l">
              <a:lnSpc>
                <a:spcPct val="115000"/>
              </a:lnSpc>
            </a:pPr>
            <a:r>
              <a:rPr sz="1266" b="0">
                <a:solidFill>
                  <a:srgbClr val="1A1A1A"/>
                </a:solidFill>
                <a:latin typeface="Arial"/>
              </a:rPr>
              <a:t>Coordenar escalas faz parte da política (Alemanha, Finlândia, UE).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0543" y="3992780"/>
            <a:ext cx="1828754" cy="1523961"/>
          </a:xfrm>
          <a:prstGeom prst="rect">
            <a:avLst/>
          </a:prstGeom>
          <a:noFill/>
        </p:spPr>
        <p:txBody>
          <a:bodyPr wrap="square" lIns="12191" rIns="12191" tIns="12191" bIns="12191" anchor="t"/>
          <a:lstStyle/>
          <a:p>
            <a:pPr algn="l">
              <a:lnSpc>
                <a:spcPct val="115000"/>
              </a:lnSpc>
            </a:pPr>
            <a:r>
              <a:rPr sz="1199" b="1">
                <a:solidFill>
                  <a:srgbClr val="6C4FD8"/>
                </a:solidFill>
                <a:latin typeface="Arial"/>
              </a:rPr>
              <a:t>No campo: </a:t>
            </a:r>
            <a:r>
              <a:rPr sz="1199" b="0">
                <a:solidFill>
                  <a:srgbClr val="1A1A1A"/>
                </a:solidFill>
                <a:latin typeface="Arial"/>
              </a:rPr>
              <a:t>O que chega da União e do estado à rede, e o que a Secretaria repassa à escola?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804089" y="1402044"/>
            <a:ext cx="2072588" cy="4206134"/>
          </a:xfrm>
          <a:prstGeom prst="roundRect">
            <a:avLst>
              <a:gd name="adj" fmla="val 8000"/>
            </a:avLst>
          </a:prstGeom>
          <a:solidFill>
            <a:srgbClr val="F1E7D9"/>
          </a:solidFill>
          <a:ln w="25399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2926006" y="1523961"/>
            <a:ext cx="1828754" cy="487667"/>
          </a:xfrm>
          <a:prstGeom prst="roundRect">
            <a:avLst>
              <a:gd name="adj" fmla="val 30000"/>
            </a:avLst>
          </a:prstGeom>
          <a:solidFill>
            <a:srgbClr val="C98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926006" y="1523961"/>
            <a:ext cx="1828754" cy="487667"/>
          </a:xfrm>
          <a:prstGeom prst="rect">
            <a:avLst/>
          </a:prstGeom>
          <a:noFill/>
        </p:spPr>
        <p:txBody>
          <a:bodyPr wrap="square" lIns="30479" rIns="30479" tIns="30479" bIns="30479" anchor="ctr"/>
          <a:lstStyle/>
          <a:p>
            <a:pPr algn="ctr">
              <a:lnSpc>
                <a:spcPct val="100000"/>
              </a:lnSpc>
            </a:pPr>
            <a:r>
              <a:rPr sz="1266" b="1">
                <a:solidFill>
                  <a:srgbClr val="FFFFFF"/>
                </a:solidFill>
                <a:latin typeface="Arial"/>
              </a:rPr>
              <a:t>Formação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26006" y="2133546"/>
            <a:ext cx="1828754" cy="1828754"/>
          </a:xfrm>
          <a:prstGeom prst="rect">
            <a:avLst/>
          </a:prstGeom>
          <a:noFill/>
        </p:spPr>
        <p:txBody>
          <a:bodyPr wrap="square" lIns="12191" rIns="12191" tIns="12191" bIns="12191" anchor="t"/>
          <a:lstStyle/>
          <a:p>
            <a:pPr algn="l">
              <a:lnSpc>
                <a:spcPct val="115000"/>
              </a:lnSpc>
            </a:pPr>
            <a:r>
              <a:rPr sz="1266" b="0">
                <a:solidFill>
                  <a:srgbClr val="1A1A1A"/>
                </a:solidFill>
                <a:latin typeface="Arial"/>
              </a:rPr>
              <a:t>A mediação dos profissionais é condição do uso; tempo e apoio contam.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26006" y="3992780"/>
            <a:ext cx="1828754" cy="1523961"/>
          </a:xfrm>
          <a:prstGeom prst="rect">
            <a:avLst/>
          </a:prstGeom>
          <a:noFill/>
        </p:spPr>
        <p:txBody>
          <a:bodyPr wrap="square" lIns="12191" rIns="12191" tIns="12191" bIns="12191" anchor="t"/>
          <a:lstStyle/>
          <a:p>
            <a:pPr algn="l">
              <a:lnSpc>
                <a:spcPct val="115000"/>
              </a:lnSpc>
            </a:pPr>
            <a:r>
              <a:rPr sz="1199" b="1">
                <a:solidFill>
                  <a:srgbClr val="6C4FD8"/>
                </a:solidFill>
                <a:latin typeface="Arial"/>
              </a:rPr>
              <a:t>No campo: </a:t>
            </a:r>
            <a:r>
              <a:rPr sz="1199" b="0">
                <a:solidFill>
                  <a:srgbClr val="1A1A1A"/>
                </a:solidFill>
                <a:latin typeface="Arial"/>
              </a:rPr>
              <a:t>Que formação chegou à escola, e quando?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59553" y="1402044"/>
            <a:ext cx="2072588" cy="4206134"/>
          </a:xfrm>
          <a:prstGeom prst="roundRect">
            <a:avLst>
              <a:gd name="adj" fmla="val 8000"/>
            </a:avLst>
          </a:prstGeom>
          <a:solidFill>
            <a:srgbClr val="F1E7D9"/>
          </a:solidFill>
          <a:ln w="25399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5181470" y="1523961"/>
            <a:ext cx="1828754" cy="487667"/>
          </a:xfrm>
          <a:prstGeom prst="roundRect">
            <a:avLst>
              <a:gd name="adj" fmla="val 30000"/>
            </a:avLst>
          </a:prstGeom>
          <a:solidFill>
            <a:srgbClr val="4F7CA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181470" y="1523961"/>
            <a:ext cx="1828754" cy="487667"/>
          </a:xfrm>
          <a:prstGeom prst="rect">
            <a:avLst/>
          </a:prstGeom>
          <a:noFill/>
        </p:spPr>
        <p:txBody>
          <a:bodyPr wrap="square" lIns="30479" rIns="30479" tIns="30479" bIns="30479" anchor="ctr"/>
          <a:lstStyle/>
          <a:p>
            <a:pPr algn="ctr">
              <a:lnSpc>
                <a:spcPct val="100000"/>
              </a:lnSpc>
            </a:pPr>
            <a:r>
              <a:rPr sz="1266" b="1">
                <a:solidFill>
                  <a:srgbClr val="FFFFFF"/>
                </a:solidFill>
                <a:latin typeface="Arial"/>
              </a:rPr>
              <a:t>Infraestrutura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181470" y="2133546"/>
            <a:ext cx="1828754" cy="1828754"/>
          </a:xfrm>
          <a:prstGeom prst="rect">
            <a:avLst/>
          </a:prstGeom>
          <a:noFill/>
        </p:spPr>
        <p:txBody>
          <a:bodyPr wrap="square" lIns="12191" rIns="12191" tIns="12191" bIns="12191" anchor="t"/>
          <a:lstStyle/>
          <a:p>
            <a:pPr algn="l">
              <a:lnSpc>
                <a:spcPct val="115000"/>
              </a:lnSpc>
            </a:pPr>
            <a:r>
              <a:rPr sz="1266" b="0">
                <a:solidFill>
                  <a:srgbClr val="1A1A1A"/>
                </a:solidFill>
                <a:latin typeface="Arial"/>
              </a:rPr>
              <a:t>Equalizar equipamentos não equalizou usos (Itália, Peru).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181470" y="3992780"/>
            <a:ext cx="1828754" cy="1523961"/>
          </a:xfrm>
          <a:prstGeom prst="rect">
            <a:avLst/>
          </a:prstGeom>
          <a:noFill/>
        </p:spPr>
        <p:txBody>
          <a:bodyPr wrap="square" lIns="12191" rIns="12191" tIns="12191" bIns="12191" anchor="t"/>
          <a:lstStyle/>
          <a:p>
            <a:pPr algn="l">
              <a:lnSpc>
                <a:spcPct val="115000"/>
              </a:lnSpc>
            </a:pPr>
            <a:r>
              <a:rPr sz="1199" b="1">
                <a:solidFill>
                  <a:srgbClr val="6C4FD8"/>
                </a:solidFill>
                <a:latin typeface="Arial"/>
              </a:rPr>
              <a:t>No campo: </a:t>
            </a:r>
            <a:r>
              <a:rPr sz="1199" b="0">
                <a:solidFill>
                  <a:srgbClr val="1A1A1A"/>
                </a:solidFill>
                <a:latin typeface="Arial"/>
              </a:rPr>
              <a:t>Com que equipamentos se trabalha?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15017" y="1402044"/>
            <a:ext cx="2072588" cy="4206134"/>
          </a:xfrm>
          <a:prstGeom prst="roundRect">
            <a:avLst>
              <a:gd name="adj" fmla="val 8000"/>
            </a:avLst>
          </a:prstGeom>
          <a:solidFill>
            <a:srgbClr val="F1E7D9"/>
          </a:solidFill>
          <a:ln w="25399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7436934" y="1523961"/>
            <a:ext cx="1828754" cy="487667"/>
          </a:xfrm>
          <a:prstGeom prst="roundRect">
            <a:avLst>
              <a:gd name="adj" fmla="val 30000"/>
            </a:avLst>
          </a:prstGeom>
          <a:solidFill>
            <a:srgbClr val="8A5A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436934" y="1523961"/>
            <a:ext cx="1828754" cy="487667"/>
          </a:xfrm>
          <a:prstGeom prst="rect">
            <a:avLst/>
          </a:prstGeom>
          <a:noFill/>
        </p:spPr>
        <p:txBody>
          <a:bodyPr wrap="square" lIns="30479" rIns="30479" tIns="30479" bIns="30479" anchor="ctr"/>
          <a:lstStyle/>
          <a:p>
            <a:pPr algn="ctr">
              <a:lnSpc>
                <a:spcPct val="100000"/>
              </a:lnSpc>
            </a:pPr>
            <a:r>
              <a:rPr sz="1266" b="1">
                <a:solidFill>
                  <a:srgbClr val="FFFFFF"/>
                </a:solidFill>
                <a:latin typeface="Arial"/>
              </a:rPr>
              <a:t>Continuidade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36934" y="2133546"/>
            <a:ext cx="1828754" cy="1828754"/>
          </a:xfrm>
          <a:prstGeom prst="rect">
            <a:avLst/>
          </a:prstGeom>
          <a:noFill/>
        </p:spPr>
        <p:txBody>
          <a:bodyPr wrap="square" lIns="12191" rIns="12191" tIns="12191" bIns="12191" anchor="t"/>
          <a:lstStyle/>
          <a:p>
            <a:pPr algn="l">
              <a:lnSpc>
                <a:spcPct val="115000"/>
              </a:lnSpc>
            </a:pPr>
            <a:r>
              <a:rPr sz="1266" b="0">
                <a:solidFill>
                  <a:srgbClr val="1A1A1A"/>
                </a:solidFill>
                <a:latin typeface="Arial"/>
              </a:rPr>
              <a:t>O Ceibal atravessou governos; a Argentina teve três reversões em quinze anos.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36934" y="3992780"/>
            <a:ext cx="1828754" cy="1523961"/>
          </a:xfrm>
          <a:prstGeom prst="rect">
            <a:avLst/>
          </a:prstGeom>
          <a:noFill/>
        </p:spPr>
        <p:txBody>
          <a:bodyPr wrap="square" lIns="12191" rIns="12191" tIns="12191" bIns="12191" anchor="t"/>
          <a:lstStyle/>
          <a:p>
            <a:pPr algn="l">
              <a:lnSpc>
                <a:spcPct val="115000"/>
              </a:lnSpc>
            </a:pPr>
            <a:r>
              <a:rPr sz="1199" b="1">
                <a:solidFill>
                  <a:srgbClr val="6C4FD8"/>
                </a:solidFill>
                <a:latin typeface="Arial"/>
              </a:rPr>
              <a:t>No campo: </a:t>
            </a:r>
            <a:r>
              <a:rPr sz="1199" b="0">
                <a:solidFill>
                  <a:srgbClr val="1A1A1A"/>
                </a:solidFill>
                <a:latin typeface="Arial"/>
              </a:rPr>
              <a:t>Que continuidade a rede municipal teve?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570480" y="1402044"/>
            <a:ext cx="2072588" cy="4206134"/>
          </a:xfrm>
          <a:prstGeom prst="roundRect">
            <a:avLst>
              <a:gd name="adj" fmla="val 8000"/>
            </a:avLst>
          </a:prstGeom>
          <a:solidFill>
            <a:srgbClr val="F1E7D9"/>
          </a:solidFill>
          <a:ln w="25399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9692397" y="1523961"/>
            <a:ext cx="1828754" cy="487667"/>
          </a:xfrm>
          <a:prstGeom prst="roundRect">
            <a:avLst>
              <a:gd name="adj" fmla="val 30000"/>
            </a:avLst>
          </a:prstGeom>
          <a:solidFill>
            <a:srgbClr val="D965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692397" y="1523961"/>
            <a:ext cx="1828754" cy="487667"/>
          </a:xfrm>
          <a:prstGeom prst="rect">
            <a:avLst/>
          </a:prstGeom>
          <a:noFill/>
        </p:spPr>
        <p:txBody>
          <a:bodyPr wrap="square" lIns="30479" rIns="30479" tIns="30479" bIns="30479" anchor="ctr"/>
          <a:lstStyle/>
          <a:p>
            <a:pPr algn="ctr">
              <a:lnSpc>
                <a:spcPct val="100000"/>
              </a:lnSpc>
            </a:pPr>
            <a:r>
              <a:rPr sz="1266" b="1">
                <a:solidFill>
                  <a:srgbClr val="FFFFFF"/>
                </a:solidFill>
                <a:latin typeface="Arial"/>
              </a:rPr>
              <a:t>Cultura digital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692397" y="2133546"/>
            <a:ext cx="1828754" cy="1828754"/>
          </a:xfrm>
          <a:prstGeom prst="rect">
            <a:avLst/>
          </a:prstGeom>
          <a:noFill/>
        </p:spPr>
        <p:txBody>
          <a:bodyPr wrap="square" lIns="12191" rIns="12191" tIns="12191" bIns="12191" anchor="t"/>
          <a:lstStyle/>
          <a:p>
            <a:pPr algn="l">
              <a:lnSpc>
                <a:spcPct val="115000"/>
              </a:lnSpc>
            </a:pPr>
            <a:r>
              <a:rPr sz="1266" b="0">
                <a:solidFill>
                  <a:srgbClr val="1A1A1A"/>
                </a:solidFill>
                <a:latin typeface="Arial"/>
              </a:rPr>
              <a:t>Educação digital ligada à cidadania e à proteção das crianças (França, BIK+).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692397" y="3992780"/>
            <a:ext cx="1828754" cy="1523961"/>
          </a:xfrm>
          <a:prstGeom prst="rect">
            <a:avLst/>
          </a:prstGeom>
          <a:noFill/>
        </p:spPr>
        <p:txBody>
          <a:bodyPr wrap="square" lIns="12191" rIns="12191" tIns="12191" bIns="12191" anchor="t"/>
          <a:lstStyle/>
          <a:p>
            <a:pPr algn="l">
              <a:lnSpc>
                <a:spcPct val="115000"/>
              </a:lnSpc>
            </a:pPr>
            <a:r>
              <a:rPr sz="1199" b="1">
                <a:solidFill>
                  <a:srgbClr val="6C4FD8"/>
                </a:solidFill>
                <a:latin typeface="Arial"/>
              </a:rPr>
              <a:t>No campo: </a:t>
            </a:r>
            <a:r>
              <a:rPr sz="1199" b="0">
                <a:solidFill>
                  <a:srgbClr val="1A1A1A"/>
                </a:solidFill>
                <a:latin typeface="Arial"/>
              </a:rPr>
              <a:t>O que se faz com crianças de seis a dez anos?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48626" y="5760575"/>
            <a:ext cx="11094442" cy="609584"/>
          </a:xfrm>
          <a:prstGeom prst="roundRect">
            <a:avLst>
              <a:gd name="adj" fmla="val 6000"/>
            </a:avLst>
          </a:prstGeom>
          <a:solidFill>
            <a:srgbClr val="FFCE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31501" y="5760575"/>
            <a:ext cx="10728691" cy="609584"/>
          </a:xfrm>
          <a:prstGeom prst="rect">
            <a:avLst/>
          </a:prstGeom>
          <a:noFill/>
        </p:spPr>
        <p:txBody>
          <a:bodyPr wrap="square" lIns="73150" rIns="73150" tIns="73150" bIns="73150" anchor="ctr"/>
          <a:lstStyle/>
          <a:p>
            <a:pPr algn="l">
              <a:lnSpc>
                <a:spcPct val="100000"/>
              </a:lnSpc>
            </a:pPr>
            <a:r>
              <a:rPr sz="1333" b="0">
                <a:solidFill>
                  <a:srgbClr val="1A1A1A"/>
                </a:solidFill>
                <a:latin typeface="Arial"/>
              </a:rPr>
              <a:t>Nenhuma experiência descreve Pipa. Fica a pergunta que nenhum caso responde: o que acontece quando parte das condições não chega?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7828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304792" y="152396"/>
            <a:ext cx="2804089" cy="365750"/>
          </a:xfrm>
          <a:prstGeom prst="roundRect">
            <a:avLst>
              <a:gd name="adj" fmla="val 40000"/>
            </a:avLst>
          </a:prstGeom>
          <a:solidFill>
            <a:srgbClr val="FFCE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04792" y="152396"/>
            <a:ext cx="2804089" cy="365750"/>
          </a:xfrm>
          <a:prstGeom prst="rect">
            <a:avLst/>
          </a:prstGeom>
          <a:noFill/>
        </p:spPr>
        <p:txBody>
          <a:bodyPr wrap="square" lIns="30479" rIns="30479" tIns="30479" bIns="30479" anchor="ctr"/>
          <a:lstStyle/>
          <a:p>
            <a:pPr algn="ctr">
              <a:lnSpc>
                <a:spcPct val="100000"/>
              </a:lnSpc>
            </a:pPr>
            <a:r>
              <a:rPr sz="1066" b="1">
                <a:solidFill>
                  <a:srgbClr val="1A1A1A"/>
                </a:solidFill>
                <a:latin typeface="Arial"/>
              </a:rPr>
              <a:t>5 · AGENDA TERRITORIAL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584" y="335271"/>
            <a:ext cx="10972525" cy="914377"/>
          </a:xfrm>
          <a:prstGeom prst="rect">
            <a:avLst/>
          </a:prstGeom>
          <a:noFill/>
        </p:spPr>
        <p:txBody>
          <a:bodyPr wrap="square" lIns="73150" rIns="73150" tIns="73150" bIns="73150" anchor="ctr"/>
          <a:lstStyle/>
          <a:p>
            <a:pPr algn="ctr">
              <a:lnSpc>
                <a:spcPct val="100000"/>
              </a:lnSpc>
            </a:pPr>
            <a:r>
              <a:rPr sz="3466" b="1">
                <a:solidFill>
                  <a:srgbClr val="FFFFFF"/>
                </a:solidFill>
                <a:latin typeface="Arial"/>
              </a:rPr>
              <a:t>O TEXTO DA POLÍTICA: O VAZIO MATERIAL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26" y="1402044"/>
            <a:ext cx="5425304" cy="1706837"/>
          </a:xfrm>
          <a:prstGeom prst="roundRect">
            <a:avLst>
              <a:gd name="adj" fmla="val 8000"/>
            </a:avLst>
          </a:prstGeom>
          <a:solidFill>
            <a:srgbClr val="F1E7D9"/>
          </a:solidFill>
          <a:ln w="25399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01" y="1493482"/>
            <a:ext cx="5059553" cy="1523961"/>
          </a:xfrm>
          <a:prstGeom prst="rect">
            <a:avLst/>
          </a:prstGeom>
          <a:noFill/>
        </p:spPr>
        <p:txBody>
          <a:bodyPr wrap="square" lIns="73150" rIns="73150" tIns="73150" bIns="73150" anchor="t"/>
          <a:lstStyle/>
          <a:p>
            <a:pPr algn="l">
              <a:lnSpc>
                <a:spcPct val="115000"/>
              </a:lnSpc>
              <a:spcAft>
                <a:spcPts val="266"/>
              </a:spcAft>
            </a:pPr>
            <a:r>
              <a:rPr sz="1599" b="1">
                <a:solidFill>
                  <a:srgbClr val="6C4FD8"/>
                </a:solidFill>
                <a:latin typeface="Arial"/>
              </a:rPr>
              <a:t>Art. 1º, § 3º</a:t>
            </a:r>
          </a:p>
          <a:p>
            <a:pPr algn="l">
              <a:lnSpc>
                <a:spcPct val="115000"/>
              </a:lnSpc>
            </a:pPr>
            <a:r>
              <a:rPr sz="1599" b="0">
                <a:solidFill>
                  <a:srgbClr val="1A1A1A"/>
                </a:solidFill>
                <a:latin typeface="Arial"/>
              </a:rPr>
              <a:t>A PNED se define como “instância de articulação” das políticas de infraestrutura e conectividade já existentes.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56806" y="1402044"/>
            <a:ext cx="5425304" cy="1706837"/>
          </a:xfrm>
          <a:prstGeom prst="roundRect">
            <a:avLst>
              <a:gd name="adj" fmla="val 8000"/>
            </a:avLst>
          </a:prstGeom>
          <a:solidFill>
            <a:srgbClr val="F1E7D9"/>
          </a:solidFill>
          <a:ln w="25399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39681" y="1493482"/>
            <a:ext cx="5059553" cy="1523961"/>
          </a:xfrm>
          <a:prstGeom prst="rect">
            <a:avLst/>
          </a:prstGeom>
          <a:noFill/>
        </p:spPr>
        <p:txBody>
          <a:bodyPr wrap="square" lIns="73150" rIns="73150" tIns="73150" bIns="73150" anchor="t"/>
          <a:lstStyle/>
          <a:p>
            <a:pPr algn="l">
              <a:lnSpc>
                <a:spcPct val="115000"/>
              </a:lnSpc>
              <a:spcAft>
                <a:spcPts val="266"/>
              </a:spcAft>
            </a:pPr>
            <a:r>
              <a:rPr sz="1599" b="1">
                <a:solidFill>
                  <a:srgbClr val="6C4FD8"/>
                </a:solidFill>
                <a:latin typeface="Arial"/>
              </a:rPr>
              <a:t>Art. 2º</a:t>
            </a:r>
          </a:p>
          <a:p>
            <a:pPr algn="l">
              <a:lnSpc>
                <a:spcPct val="115000"/>
              </a:lnSpc>
            </a:pPr>
            <a:r>
              <a:rPr sz="1599" b="0">
                <a:solidFill>
                  <a:srgbClr val="1A1A1A"/>
                </a:solidFill>
                <a:latin typeface="Arial"/>
              </a:rPr>
              <a:t>A inclusão digital, onde está a conectividade das escolas, segue “dentro dos limites orçamentários” de cada ente.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26" y="3291757"/>
            <a:ext cx="5425304" cy="1706837"/>
          </a:xfrm>
          <a:prstGeom prst="roundRect">
            <a:avLst>
              <a:gd name="adj" fmla="val 8000"/>
            </a:avLst>
          </a:prstGeom>
          <a:solidFill>
            <a:srgbClr val="F1E7D9"/>
          </a:solidFill>
          <a:ln w="25399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01" y="3383195"/>
            <a:ext cx="5059553" cy="1523961"/>
          </a:xfrm>
          <a:prstGeom prst="rect">
            <a:avLst/>
          </a:prstGeom>
          <a:noFill/>
        </p:spPr>
        <p:txBody>
          <a:bodyPr wrap="square" lIns="73150" rIns="73150" tIns="73150" bIns="73150" anchor="t"/>
          <a:lstStyle/>
          <a:p>
            <a:pPr algn="l">
              <a:lnSpc>
                <a:spcPct val="115000"/>
              </a:lnSpc>
              <a:spcAft>
                <a:spcPts val="266"/>
              </a:spcAft>
            </a:pPr>
            <a:r>
              <a:rPr sz="1599" b="1">
                <a:solidFill>
                  <a:srgbClr val="6C4FD8"/>
                </a:solidFill>
                <a:latin typeface="Arial"/>
              </a:rPr>
              <a:t>Art. 11</a:t>
            </a:r>
          </a:p>
          <a:p>
            <a:pPr algn="l">
              <a:lnSpc>
                <a:spcPct val="115000"/>
              </a:lnSpc>
            </a:pPr>
            <a:r>
              <a:rPr sz="1599" b="0">
                <a:solidFill>
                  <a:srgbClr val="1A1A1A"/>
                </a:solidFill>
                <a:latin typeface="Arial"/>
              </a:rPr>
              <a:t>Dotações dos entes, doações, Fust e Funttel: nenhum fundo próprio, nenhum repasse obrigatório aos municípios.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56806" y="3291757"/>
            <a:ext cx="5425304" cy="1706837"/>
          </a:xfrm>
          <a:prstGeom prst="roundRect">
            <a:avLst>
              <a:gd name="adj" fmla="val 8000"/>
            </a:avLst>
          </a:prstGeom>
          <a:solidFill>
            <a:srgbClr val="F1E7D9"/>
          </a:solidFill>
          <a:ln w="25399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39681" y="3383195"/>
            <a:ext cx="5059553" cy="1523961"/>
          </a:xfrm>
          <a:prstGeom prst="rect">
            <a:avLst/>
          </a:prstGeom>
          <a:noFill/>
        </p:spPr>
        <p:txBody>
          <a:bodyPr wrap="square" lIns="73150" rIns="73150" tIns="73150" bIns="73150" anchor="t"/>
          <a:lstStyle/>
          <a:p>
            <a:pPr algn="l">
              <a:lnSpc>
                <a:spcPct val="115000"/>
              </a:lnSpc>
              <a:spcAft>
                <a:spcPts val="266"/>
              </a:spcAft>
            </a:pPr>
            <a:r>
              <a:rPr sz="1599" b="1">
                <a:solidFill>
                  <a:srgbClr val="6C4FD8"/>
                </a:solidFill>
                <a:latin typeface="Arial"/>
              </a:rPr>
              <a:t>Art. 3º, § 1º, IX e X</a:t>
            </a:r>
          </a:p>
          <a:p>
            <a:pPr algn="l">
              <a:lnSpc>
                <a:spcPct val="115000"/>
              </a:lnSpc>
            </a:pPr>
            <a:r>
              <a:rPr sz="1599" b="0">
                <a:solidFill>
                  <a:srgbClr val="1A1A1A"/>
                </a:solidFill>
                <a:latin typeface="Arial"/>
              </a:rPr>
              <a:t>A formação de professores aparece como promoção, sem responsáveis, prazos, carga horária ou custeio.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26" y="5242428"/>
            <a:ext cx="11033484" cy="1066773"/>
          </a:xfrm>
          <a:prstGeom prst="roundRect">
            <a:avLst>
              <a:gd name="adj" fmla="val 6000"/>
            </a:avLst>
          </a:prstGeom>
          <a:solidFill>
            <a:srgbClr val="FFCE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92460" y="5242428"/>
            <a:ext cx="10545816" cy="1066773"/>
          </a:xfrm>
          <a:prstGeom prst="rect">
            <a:avLst/>
          </a:prstGeom>
          <a:noFill/>
        </p:spPr>
        <p:txBody>
          <a:bodyPr wrap="square" lIns="73150" rIns="73150" tIns="73150" bIns="73150" anchor="ctr"/>
          <a:lstStyle/>
          <a:p>
            <a:pPr algn="l">
              <a:lnSpc>
                <a:spcPct val="115000"/>
              </a:lnSpc>
            </a:pPr>
            <a:r>
              <a:rPr sz="1466" b="1">
                <a:solidFill>
                  <a:srgbClr val="1A1A1A"/>
                </a:solidFill>
                <a:latin typeface="Arial"/>
              </a:rPr>
              <a:t>Na escala do território: </a:t>
            </a:r>
            <a:r>
              <a:rPr sz="1466" b="0">
                <a:solidFill>
                  <a:srgbClr val="1A1A1A"/>
                </a:solidFill>
                <a:latin typeface="Arial"/>
              </a:rPr>
              <a:t>a lei declara o direito e deixa a chegada dos meios à escola na dependência da capacidade de cada ente. Em Pipa, essa capacidade é a de um município de pequeno porte.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9584" y="6431119"/>
            <a:ext cx="10972525" cy="304792"/>
          </a:xfrm>
          <a:prstGeom prst="rect">
            <a:avLst/>
          </a:prstGeom>
          <a:noFill/>
        </p:spPr>
        <p:txBody>
          <a:bodyPr wrap="square" lIns="73150" rIns="73150" tIns="73150" bIns="73150" anchor="ctr"/>
          <a:lstStyle/>
          <a:p>
            <a:pPr algn="l">
              <a:lnSpc>
                <a:spcPct val="100000"/>
              </a:lnSpc>
            </a:pPr>
            <a:r>
              <a:rPr sz="999" b="1">
                <a:solidFill>
                  <a:srgbClr val="FFFFFF"/>
                </a:solidFill>
                <a:latin typeface="Arial"/>
              </a:rPr>
              <a:t>Fundamentos: </a:t>
            </a:r>
            <a:r>
              <a:rPr sz="999" b="0">
                <a:solidFill>
                  <a:srgbClr val="FFFFFF"/>
                </a:solidFill>
                <a:latin typeface="Arial"/>
              </a:rPr>
              <a:t>Brasil (2023); Brasil (2025); Mainardes (2006); Ball (2004).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7828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304792" y="152396"/>
            <a:ext cx="2804089" cy="365750"/>
          </a:xfrm>
          <a:prstGeom prst="roundRect">
            <a:avLst>
              <a:gd name="adj" fmla="val 40000"/>
            </a:avLst>
          </a:prstGeom>
          <a:solidFill>
            <a:srgbClr val="FFCE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04792" y="152396"/>
            <a:ext cx="2804089" cy="365750"/>
          </a:xfrm>
          <a:prstGeom prst="rect">
            <a:avLst/>
          </a:prstGeom>
          <a:noFill/>
        </p:spPr>
        <p:txBody>
          <a:bodyPr wrap="square" lIns="30479" rIns="30479" tIns="30479" bIns="30479" anchor="ctr"/>
          <a:lstStyle/>
          <a:p>
            <a:pPr algn="ctr">
              <a:lnSpc>
                <a:spcPct val="100000"/>
              </a:lnSpc>
            </a:pPr>
            <a:r>
              <a:rPr sz="1066" b="1">
                <a:solidFill>
                  <a:srgbClr val="1A1A1A"/>
                </a:solidFill>
                <a:latin typeface="Arial"/>
              </a:rPr>
              <a:t>6 · TERRITÓRIO: RESULTADOS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584" y="335271"/>
            <a:ext cx="10972525" cy="914377"/>
          </a:xfrm>
          <a:prstGeom prst="rect">
            <a:avLst/>
          </a:prstGeom>
          <a:noFill/>
        </p:spPr>
        <p:txBody>
          <a:bodyPr wrap="square" lIns="73150" rIns="73150" tIns="73150" bIns="73150" anchor="ctr"/>
          <a:lstStyle/>
          <a:p>
            <a:pPr algn="ctr">
              <a:lnSpc>
                <a:spcPct val="100000"/>
              </a:lnSpc>
            </a:pPr>
            <a:r>
              <a:rPr sz="3199" b="1">
                <a:solidFill>
                  <a:srgbClr val="FFFFFF"/>
                </a:solidFill>
                <a:latin typeface="Arial"/>
              </a:rPr>
              <a:t>O TERRITÓRIO COMO CATEGORIA DE ANÁLISE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26" y="1188690"/>
            <a:ext cx="11094442" cy="548626"/>
          </a:xfrm>
          <a:prstGeom prst="rect">
            <a:avLst/>
          </a:prstGeom>
          <a:noFill/>
        </p:spPr>
        <p:txBody>
          <a:bodyPr wrap="square" lIns="73150" rIns="73150" tIns="73150" bIns="73150" anchor="ctr"/>
          <a:lstStyle/>
          <a:p>
            <a:pPr algn="ctr">
              <a:lnSpc>
                <a:spcPct val="115000"/>
              </a:lnSpc>
            </a:pPr>
            <a:r>
              <a:rPr sz="1399" b="0">
                <a:solidFill>
                  <a:srgbClr val="FFFFFF"/>
                </a:solidFill>
                <a:latin typeface="Arial"/>
              </a:rPr>
              <a:t>Capítulo 6: o que o registro iconográfico e o acervo histórico já documentam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26" y="1828754"/>
            <a:ext cx="2621214" cy="4389010"/>
          </a:xfrm>
          <a:prstGeom prst="roundRect">
            <a:avLst>
              <a:gd name="adj" fmla="val 6000"/>
            </a:avLst>
          </a:prstGeom>
          <a:solidFill>
            <a:srgbClr val="F1E7D9"/>
          </a:solidFill>
          <a:ln w="25399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70543" y="1950671"/>
            <a:ext cx="2377380" cy="487667"/>
          </a:xfrm>
          <a:prstGeom prst="roundRect">
            <a:avLst>
              <a:gd name="adj" fmla="val 30000"/>
            </a:avLst>
          </a:prstGeom>
          <a:solidFill>
            <a:srgbClr val="6C4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70543" y="1950671"/>
            <a:ext cx="2377380" cy="487667"/>
          </a:xfrm>
          <a:prstGeom prst="rect">
            <a:avLst/>
          </a:prstGeom>
          <a:noFill/>
        </p:spPr>
        <p:txBody>
          <a:bodyPr wrap="square" lIns="30479" rIns="30479" tIns="30479" bIns="30479" anchor="ctr"/>
          <a:lstStyle/>
          <a:p>
            <a:pPr algn="ctr">
              <a:lnSpc>
                <a:spcPct val="100000"/>
              </a:lnSpc>
            </a:pPr>
            <a:r>
              <a:rPr sz="1399" b="1">
                <a:solidFill>
                  <a:srgbClr val="FFFFFF"/>
                </a:solidFill>
                <a:latin typeface="Arial"/>
              </a:rPr>
              <a:t>Histórica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0543" y="2529776"/>
            <a:ext cx="2377380" cy="1767795"/>
          </a:xfrm>
          <a:prstGeom prst="rect">
            <a:avLst/>
          </a:prstGeom>
          <a:noFill/>
        </p:spPr>
        <p:txBody>
          <a:bodyPr wrap="square" lIns="30479" rIns="30479" tIns="30479" bIns="30479" anchor="t"/>
          <a:lstStyle/>
          <a:p>
            <a:pPr algn="l">
              <a:lnSpc>
                <a:spcPct val="115000"/>
              </a:lnSpc>
            </a:pPr>
            <a:r>
              <a:rPr sz="1399" b="1">
                <a:solidFill>
                  <a:srgbClr val="1A1A1A"/>
                </a:solidFill>
                <a:latin typeface="Arial"/>
              </a:rPr>
              <a:t>Documenta: </a:t>
            </a:r>
            <a:r>
              <a:rPr sz="1399" b="0">
                <a:solidFill>
                  <a:srgbClr val="1A1A1A"/>
                </a:solidFill>
                <a:latin typeface="Arial"/>
              </a:rPr>
              <a:t>Permanências e transformações; formas herdadas que sobrevivem à função que as criou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0543" y="4328051"/>
            <a:ext cx="2377380" cy="1828754"/>
          </a:xfrm>
          <a:prstGeom prst="rect">
            <a:avLst/>
          </a:prstGeom>
          <a:noFill/>
        </p:spPr>
        <p:txBody>
          <a:bodyPr wrap="square" lIns="30479" rIns="30479" tIns="30479" bIns="30479" anchor="t"/>
          <a:lstStyle/>
          <a:p>
            <a:pPr algn="l">
              <a:lnSpc>
                <a:spcPct val="115000"/>
              </a:lnSpc>
            </a:pPr>
            <a:r>
              <a:rPr sz="1399" b="1">
                <a:solidFill>
                  <a:srgbClr val="6C4FD8"/>
                </a:solidFill>
                <a:latin typeface="Arial"/>
              </a:rPr>
              <a:t>Pergunta: </a:t>
            </a:r>
            <a:r>
              <a:rPr sz="1399" b="0">
                <a:solidFill>
                  <a:srgbClr val="1A1A1A"/>
                </a:solidFill>
                <a:latin typeface="Arial"/>
              </a:rPr>
              <a:t>Que camadas do território a política encontra ao chegar?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352716" y="1828754"/>
            <a:ext cx="2621214" cy="4389010"/>
          </a:xfrm>
          <a:prstGeom prst="roundRect">
            <a:avLst>
              <a:gd name="adj" fmla="val 6000"/>
            </a:avLst>
          </a:prstGeom>
          <a:solidFill>
            <a:srgbClr val="F1E7D9"/>
          </a:solidFill>
          <a:ln w="25399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3474633" y="1950671"/>
            <a:ext cx="2377380" cy="487667"/>
          </a:xfrm>
          <a:prstGeom prst="roundRect">
            <a:avLst>
              <a:gd name="adj" fmla="val 30000"/>
            </a:avLst>
          </a:prstGeom>
          <a:solidFill>
            <a:srgbClr val="6C4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474633" y="1950671"/>
            <a:ext cx="2377380" cy="487667"/>
          </a:xfrm>
          <a:prstGeom prst="rect">
            <a:avLst/>
          </a:prstGeom>
          <a:noFill/>
        </p:spPr>
        <p:txBody>
          <a:bodyPr wrap="square" lIns="30479" rIns="30479" tIns="30479" bIns="30479" anchor="ctr"/>
          <a:lstStyle/>
          <a:p>
            <a:pPr algn="ctr">
              <a:lnSpc>
                <a:spcPct val="100000"/>
              </a:lnSpc>
            </a:pPr>
            <a:r>
              <a:rPr sz="1399" b="1">
                <a:solidFill>
                  <a:srgbClr val="FFFFFF"/>
                </a:solidFill>
                <a:latin typeface="Arial"/>
              </a:rPr>
              <a:t>Socioeconômica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74633" y="2529776"/>
            <a:ext cx="2377380" cy="1767795"/>
          </a:xfrm>
          <a:prstGeom prst="rect">
            <a:avLst/>
          </a:prstGeom>
          <a:noFill/>
        </p:spPr>
        <p:txBody>
          <a:bodyPr wrap="square" lIns="30479" rIns="30479" tIns="30479" bIns="30479" anchor="t"/>
          <a:lstStyle/>
          <a:p>
            <a:pPr algn="l">
              <a:lnSpc>
                <a:spcPct val="115000"/>
              </a:lnSpc>
            </a:pPr>
            <a:r>
              <a:rPr sz="1399" b="1">
                <a:solidFill>
                  <a:srgbClr val="1A1A1A"/>
                </a:solidFill>
                <a:latin typeface="Arial"/>
              </a:rPr>
              <a:t>Documenta: </a:t>
            </a:r>
            <a:r>
              <a:rPr sz="1399" b="0">
                <a:solidFill>
                  <a:srgbClr val="1A1A1A"/>
                </a:solidFill>
                <a:latin typeface="Arial"/>
              </a:rPr>
              <a:t>Turismo, trabalho, mobilidade, valorização fundiária e desigualdades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74633" y="4328051"/>
            <a:ext cx="2377380" cy="1828754"/>
          </a:xfrm>
          <a:prstGeom prst="rect">
            <a:avLst/>
          </a:prstGeom>
          <a:noFill/>
        </p:spPr>
        <p:txBody>
          <a:bodyPr wrap="square" lIns="30479" rIns="30479" tIns="30479" bIns="30479" anchor="t"/>
          <a:lstStyle/>
          <a:p>
            <a:pPr algn="l">
              <a:lnSpc>
                <a:spcPct val="115000"/>
              </a:lnSpc>
            </a:pPr>
            <a:r>
              <a:rPr sz="1399" b="1">
                <a:solidFill>
                  <a:srgbClr val="6C4FD8"/>
                </a:solidFill>
                <a:latin typeface="Arial"/>
              </a:rPr>
              <a:t>Pergunta: </a:t>
            </a:r>
            <a:r>
              <a:rPr sz="1399" b="0">
                <a:solidFill>
                  <a:srgbClr val="1A1A1A"/>
                </a:solidFill>
                <a:latin typeface="Arial"/>
              </a:rPr>
              <a:t>Como a dinâmica econômica e suas desigualdades atravessam a rotina da escola?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56806" y="1828754"/>
            <a:ext cx="2621214" cy="4389010"/>
          </a:xfrm>
          <a:prstGeom prst="roundRect">
            <a:avLst>
              <a:gd name="adj" fmla="val 6000"/>
            </a:avLst>
          </a:prstGeom>
          <a:solidFill>
            <a:srgbClr val="F1E7D9"/>
          </a:solidFill>
          <a:ln w="25399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278723" y="1950671"/>
            <a:ext cx="2377380" cy="487667"/>
          </a:xfrm>
          <a:prstGeom prst="roundRect">
            <a:avLst>
              <a:gd name="adj" fmla="val 30000"/>
            </a:avLst>
          </a:prstGeom>
          <a:solidFill>
            <a:srgbClr val="6C4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278723" y="1950671"/>
            <a:ext cx="2377380" cy="487667"/>
          </a:xfrm>
          <a:prstGeom prst="rect">
            <a:avLst/>
          </a:prstGeom>
          <a:noFill/>
        </p:spPr>
        <p:txBody>
          <a:bodyPr wrap="square" lIns="30479" rIns="30479" tIns="30479" bIns="30479" anchor="ctr"/>
          <a:lstStyle/>
          <a:p>
            <a:pPr algn="ctr">
              <a:lnSpc>
                <a:spcPct val="100000"/>
              </a:lnSpc>
            </a:pPr>
            <a:r>
              <a:rPr sz="1399" b="1">
                <a:solidFill>
                  <a:srgbClr val="FFFFFF"/>
                </a:solidFill>
                <a:latin typeface="Arial"/>
              </a:rPr>
              <a:t>Tecnológica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78723" y="2529776"/>
            <a:ext cx="2377380" cy="1767795"/>
          </a:xfrm>
          <a:prstGeom prst="rect">
            <a:avLst/>
          </a:prstGeom>
          <a:noFill/>
        </p:spPr>
        <p:txBody>
          <a:bodyPr wrap="square" lIns="30479" rIns="30479" tIns="30479" bIns="30479" anchor="t"/>
          <a:lstStyle/>
          <a:p>
            <a:pPr algn="l">
              <a:lnSpc>
                <a:spcPct val="115000"/>
              </a:lnSpc>
            </a:pPr>
            <a:r>
              <a:rPr sz="1399" b="1">
                <a:solidFill>
                  <a:srgbClr val="1A1A1A"/>
                </a:solidFill>
                <a:latin typeface="Arial"/>
              </a:rPr>
              <a:t>Documenta: </a:t>
            </a:r>
            <a:r>
              <a:rPr sz="1399" b="0">
                <a:solidFill>
                  <a:srgbClr val="1A1A1A"/>
                </a:solidFill>
                <a:latin typeface="Arial"/>
              </a:rPr>
              <a:t>Circulação, acesso e apropriação das tecnologias no território e na escola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78723" y="4328051"/>
            <a:ext cx="2377380" cy="1828754"/>
          </a:xfrm>
          <a:prstGeom prst="rect">
            <a:avLst/>
          </a:prstGeom>
          <a:noFill/>
        </p:spPr>
        <p:txBody>
          <a:bodyPr wrap="square" lIns="30479" rIns="30479" tIns="30479" bIns="30479" anchor="t"/>
          <a:lstStyle/>
          <a:p>
            <a:pPr algn="l">
              <a:lnSpc>
                <a:spcPct val="115000"/>
              </a:lnSpc>
            </a:pPr>
            <a:r>
              <a:rPr sz="1399" b="1">
                <a:solidFill>
                  <a:srgbClr val="6C4FD8"/>
                </a:solidFill>
                <a:latin typeface="Arial"/>
              </a:rPr>
              <a:t>Pergunta: </a:t>
            </a:r>
            <a:r>
              <a:rPr sz="1399" b="0">
                <a:solidFill>
                  <a:srgbClr val="1A1A1A"/>
                </a:solidFill>
                <a:latin typeface="Arial"/>
              </a:rPr>
              <a:t>Como a distribuição da infraestrutura participa das possibilidades de uso pedagógico?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960895" y="1828754"/>
            <a:ext cx="2621214" cy="4389010"/>
          </a:xfrm>
          <a:prstGeom prst="roundRect">
            <a:avLst>
              <a:gd name="adj" fmla="val 6000"/>
            </a:avLst>
          </a:prstGeom>
          <a:solidFill>
            <a:srgbClr val="F1E7D9"/>
          </a:solidFill>
          <a:ln w="25399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9082812" y="1950671"/>
            <a:ext cx="2377380" cy="487667"/>
          </a:xfrm>
          <a:prstGeom prst="roundRect">
            <a:avLst>
              <a:gd name="adj" fmla="val 30000"/>
            </a:avLst>
          </a:prstGeom>
          <a:solidFill>
            <a:srgbClr val="6C4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082812" y="1950671"/>
            <a:ext cx="2377380" cy="487667"/>
          </a:xfrm>
          <a:prstGeom prst="rect">
            <a:avLst/>
          </a:prstGeom>
          <a:noFill/>
        </p:spPr>
        <p:txBody>
          <a:bodyPr wrap="square" lIns="30479" rIns="30479" tIns="30479" bIns="30479" anchor="ctr"/>
          <a:lstStyle/>
          <a:p>
            <a:pPr algn="ctr">
              <a:lnSpc>
                <a:spcPct val="100000"/>
              </a:lnSpc>
            </a:pPr>
            <a:r>
              <a:rPr sz="1399" b="1">
                <a:solidFill>
                  <a:srgbClr val="FFFFFF"/>
                </a:solidFill>
                <a:latin typeface="Arial"/>
              </a:rPr>
              <a:t>Institucional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082812" y="2529776"/>
            <a:ext cx="2377380" cy="1767795"/>
          </a:xfrm>
          <a:prstGeom prst="rect">
            <a:avLst/>
          </a:prstGeom>
          <a:noFill/>
        </p:spPr>
        <p:txBody>
          <a:bodyPr wrap="square" lIns="30479" rIns="30479" tIns="30479" bIns="30479" anchor="t"/>
          <a:lstStyle/>
          <a:p>
            <a:pPr algn="l">
              <a:lnSpc>
                <a:spcPct val="115000"/>
              </a:lnSpc>
            </a:pPr>
            <a:r>
              <a:rPr sz="1399" b="1">
                <a:solidFill>
                  <a:srgbClr val="1A1A1A"/>
                </a:solidFill>
                <a:latin typeface="Arial"/>
              </a:rPr>
              <a:t>Documenta: </a:t>
            </a:r>
            <a:r>
              <a:rPr sz="1399" b="0">
                <a:solidFill>
                  <a:srgbClr val="1A1A1A"/>
                </a:solidFill>
                <a:latin typeface="Arial"/>
              </a:rPr>
              <a:t>Infraestrutura escolar, alocação de recursos, gestão e condições profissionais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082812" y="4328051"/>
            <a:ext cx="2377380" cy="1828754"/>
          </a:xfrm>
          <a:prstGeom prst="rect">
            <a:avLst/>
          </a:prstGeom>
          <a:noFill/>
        </p:spPr>
        <p:txBody>
          <a:bodyPr wrap="square" lIns="30479" rIns="30479" tIns="30479" bIns="30479" anchor="t"/>
          <a:lstStyle/>
          <a:p>
            <a:pPr algn="l">
              <a:lnSpc>
                <a:spcPct val="115000"/>
              </a:lnSpc>
            </a:pPr>
            <a:r>
              <a:rPr sz="1399" b="1">
                <a:solidFill>
                  <a:srgbClr val="6C4FD8"/>
                </a:solidFill>
                <a:latin typeface="Arial"/>
              </a:rPr>
              <a:t>Pergunta: </a:t>
            </a:r>
            <a:r>
              <a:rPr sz="1399" b="0">
                <a:solidFill>
                  <a:srgbClr val="1A1A1A"/>
                </a:solidFill>
                <a:latin typeface="Arial"/>
              </a:rPr>
              <a:t>Como as decisões institucionais ampliam ou restringem as margens na ponta?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09584" y="6400639"/>
            <a:ext cx="10972525" cy="304792"/>
          </a:xfrm>
          <a:prstGeom prst="rect">
            <a:avLst/>
          </a:prstGeom>
          <a:noFill/>
        </p:spPr>
        <p:txBody>
          <a:bodyPr wrap="square" lIns="73150" rIns="73150" tIns="73150" bIns="73150" anchor="ctr"/>
          <a:lstStyle/>
          <a:p>
            <a:pPr algn="l">
              <a:lnSpc>
                <a:spcPct val="100000"/>
              </a:lnSpc>
            </a:pPr>
            <a:r>
              <a:rPr sz="999" b="1">
                <a:solidFill>
                  <a:srgbClr val="FFFFFF"/>
                </a:solidFill>
                <a:latin typeface="Arial"/>
              </a:rPr>
              <a:t>Fundamentos: </a:t>
            </a:r>
            <a:r>
              <a:rPr sz="999" b="0">
                <a:solidFill>
                  <a:srgbClr val="FFFFFF"/>
                </a:solidFill>
                <a:latin typeface="Arial"/>
              </a:rPr>
              <a:t>Quadro 17 (Cap. 6); Santos (1999; 2006); Massey (2008). A formação fica para o Cap. 7.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7828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304792" y="152396"/>
            <a:ext cx="2804089" cy="365750"/>
          </a:xfrm>
          <a:prstGeom prst="roundRect">
            <a:avLst>
              <a:gd name="adj" fmla="val 40000"/>
            </a:avLst>
          </a:prstGeom>
          <a:solidFill>
            <a:srgbClr val="FFCE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04792" y="152396"/>
            <a:ext cx="2804089" cy="365750"/>
          </a:xfrm>
          <a:prstGeom prst="rect">
            <a:avLst/>
          </a:prstGeom>
          <a:noFill/>
        </p:spPr>
        <p:txBody>
          <a:bodyPr wrap="square" lIns="30479" rIns="30479" tIns="30479" bIns="30479" anchor="ctr"/>
          <a:lstStyle/>
          <a:p>
            <a:pPr algn="ctr">
              <a:lnSpc>
                <a:spcPct val="100000"/>
              </a:lnSpc>
            </a:pPr>
            <a:r>
              <a:rPr sz="1066" b="1">
                <a:solidFill>
                  <a:srgbClr val="1A1A1A"/>
                </a:solidFill>
                <a:latin typeface="Arial"/>
              </a:rPr>
              <a:t>6 · TERRITÓRIO: RESULTADOS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584" y="335271"/>
            <a:ext cx="10972525" cy="914377"/>
          </a:xfrm>
          <a:prstGeom prst="rect">
            <a:avLst/>
          </a:prstGeom>
          <a:noFill/>
        </p:spPr>
        <p:txBody>
          <a:bodyPr wrap="square" lIns="73150" rIns="73150" tIns="73150" bIns="73150" anchor="ctr"/>
          <a:lstStyle/>
          <a:p>
            <a:pPr algn="ctr">
              <a:lnSpc>
                <a:spcPct val="100000"/>
              </a:lnSpc>
            </a:pPr>
            <a:r>
              <a:rPr sz="3466" b="1">
                <a:solidFill>
                  <a:srgbClr val="FFFFFF"/>
                </a:solidFill>
                <a:latin typeface="Arial"/>
              </a:rPr>
              <a:t>UM TERRITÓRIO, DOIS DESENHOS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36434" y="1359374"/>
            <a:ext cx="2950390" cy="4291476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Mapa de localização de Tibau do Sul e Pipa"/>
          <p:cNvPicPr>
            <a:picLocks noChangeAspect="1"/>
          </p:cNvPicPr>
          <p:nvPr/>
        </p:nvPicPr>
        <p:blipFill>
          <a:blip r:embed="rId3"/>
          <a:srcRect l="7298" r="7298"/>
          <a:stretch>
            <a:fillRect/>
          </a:stretch>
        </p:blipFill>
        <p:spPr>
          <a:xfrm>
            <a:off x="609584" y="1432524"/>
            <a:ext cx="2804089" cy="365750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09584" y="5102224"/>
            <a:ext cx="2804089" cy="487667"/>
          </a:xfrm>
          <a:prstGeom prst="rect">
            <a:avLst/>
          </a:prstGeom>
          <a:noFill/>
        </p:spPr>
        <p:txBody>
          <a:bodyPr wrap="square" lIns="12191" rIns="12191" tIns="12191" bIns="12191" anchor="ctr"/>
          <a:lstStyle/>
          <a:p>
            <a:pPr algn="l">
              <a:lnSpc>
                <a:spcPct val="100000"/>
              </a:lnSpc>
            </a:pPr>
            <a:r>
              <a:rPr sz="999" b="0">
                <a:solidFill>
                  <a:srgbClr val="1A1A1A"/>
                </a:solidFill>
                <a:latin typeface="Arial"/>
              </a:rPr>
              <a:t>Tibau do Sul e Pipa (Figura 1)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706275" y="1359374"/>
            <a:ext cx="4413393" cy="4291476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Mapa turístico do núcleo urbano de Pipa"/>
          <p:cNvPicPr>
            <a:picLocks noChangeAspect="1"/>
          </p:cNvPicPr>
          <p:nvPr/>
        </p:nvPicPr>
        <p:blipFill>
          <a:blip r:embed="rId4"/>
          <a:srcRect l="32817" r="32817"/>
          <a:stretch>
            <a:fillRect/>
          </a:stretch>
        </p:blipFill>
        <p:spPr>
          <a:xfrm>
            <a:off x="3779425" y="1432524"/>
            <a:ext cx="4267093" cy="365750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3779425" y="5102224"/>
            <a:ext cx="4267093" cy="487667"/>
          </a:xfrm>
          <a:prstGeom prst="rect">
            <a:avLst/>
          </a:prstGeom>
          <a:noFill/>
        </p:spPr>
        <p:txBody>
          <a:bodyPr wrap="square" lIns="12191" rIns="12191" tIns="12191" bIns="12191" anchor="ctr"/>
          <a:lstStyle/>
          <a:p>
            <a:pPr algn="l">
              <a:lnSpc>
                <a:spcPct val="100000"/>
              </a:lnSpc>
            </a:pPr>
            <a:r>
              <a:rPr sz="999" b="0">
                <a:solidFill>
                  <a:srgbClr val="1A1A1A"/>
                </a:solidFill>
                <a:latin typeface="Arial"/>
              </a:rPr>
              <a:t>Mapa turístico de Pipa (Figura 2)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381790" y="1359374"/>
            <a:ext cx="3261278" cy="4267093"/>
          </a:xfrm>
          <a:prstGeom prst="roundRect">
            <a:avLst>
              <a:gd name="adj" fmla="val 6000"/>
            </a:avLst>
          </a:prstGeom>
          <a:solidFill>
            <a:srgbClr val="FFCE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534186" y="1432524"/>
            <a:ext cx="2986965" cy="4145176"/>
          </a:xfrm>
          <a:prstGeom prst="rect">
            <a:avLst/>
          </a:prstGeom>
          <a:noFill/>
        </p:spPr>
        <p:txBody>
          <a:bodyPr wrap="square" lIns="73150" rIns="73150" tIns="73150" bIns="73150" anchor="t"/>
          <a:lstStyle/>
          <a:p>
            <a:pPr algn="l">
              <a:lnSpc>
                <a:spcPct val="115000"/>
              </a:lnSpc>
              <a:spcAft>
                <a:spcPts val="933"/>
              </a:spcAft>
            </a:pPr>
            <a:r>
              <a:rPr sz="1399" b="1">
                <a:solidFill>
                  <a:srgbClr val="1A1A1A"/>
                </a:solidFill>
                <a:latin typeface="Arial"/>
              </a:rPr>
              <a:t>Institucional: </a:t>
            </a:r>
            <a:r>
              <a:rPr sz="1399" b="0">
                <a:solidFill>
                  <a:srgbClr val="1A1A1A"/>
                </a:solidFill>
                <a:latin typeface="Arial"/>
              </a:rPr>
              <a:t>organiza Pipa por referências político-administrativas; a política chega pela rede municipal.</a:t>
            </a:r>
          </a:p>
          <a:p>
            <a:pPr algn="l">
              <a:lnSpc>
                <a:spcPct val="115000"/>
              </a:lnSpc>
              <a:spcAft>
                <a:spcPts val="933"/>
              </a:spcAft>
            </a:pPr>
            <a:r>
              <a:rPr sz="1399" b="1">
                <a:solidFill>
                  <a:srgbClr val="1A1A1A"/>
                </a:solidFill>
                <a:latin typeface="Arial"/>
              </a:rPr>
              <a:t>Turístico: </a:t>
            </a:r>
            <a:r>
              <a:rPr sz="1399" b="0">
                <a:solidFill>
                  <a:srgbClr val="1A1A1A"/>
                </a:solidFill>
                <a:latin typeface="Arial"/>
              </a:rPr>
              <a:t>organiza o mesmo lugar pela circulação e pela experiência do visitante.</a:t>
            </a:r>
          </a:p>
          <a:p>
            <a:pPr algn="l">
              <a:lnSpc>
                <a:spcPct val="115000"/>
              </a:lnSpc>
            </a:pPr>
            <a:r>
              <a:rPr sz="1399" b="0">
                <a:solidFill>
                  <a:srgbClr val="1A1A1A"/>
                </a:solidFill>
                <a:latin typeface="Arial"/>
              </a:rPr>
              <a:t>“A categoria de análise é o território usado” (SANTOS, 1999, p. 18).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9584" y="6065368"/>
            <a:ext cx="10972525" cy="304792"/>
          </a:xfrm>
          <a:prstGeom prst="rect">
            <a:avLst/>
          </a:prstGeom>
          <a:noFill/>
        </p:spPr>
        <p:txBody>
          <a:bodyPr wrap="square" lIns="73150" rIns="73150" tIns="73150" bIns="73150" anchor="ctr"/>
          <a:lstStyle/>
          <a:p>
            <a:pPr algn="l">
              <a:lnSpc>
                <a:spcPct val="100000"/>
              </a:lnSpc>
            </a:pPr>
            <a:r>
              <a:rPr sz="999" b="0">
                <a:solidFill>
                  <a:srgbClr val="FFFFFF"/>
                </a:solidFill>
                <a:latin typeface="Arial"/>
              </a:rPr>
              <a:t>Fontes: base cartográfica IBGE, adaptada pela autora (2026); material de divulgação turística de Pipa.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7828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304792" y="152396"/>
            <a:ext cx="2804089" cy="365750"/>
          </a:xfrm>
          <a:prstGeom prst="roundRect">
            <a:avLst>
              <a:gd name="adj" fmla="val 40000"/>
            </a:avLst>
          </a:prstGeom>
          <a:solidFill>
            <a:srgbClr val="FFCE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04792" y="152396"/>
            <a:ext cx="2804089" cy="365750"/>
          </a:xfrm>
          <a:prstGeom prst="rect">
            <a:avLst/>
          </a:prstGeom>
          <a:noFill/>
        </p:spPr>
        <p:txBody>
          <a:bodyPr wrap="square" lIns="30479" rIns="30479" tIns="30479" bIns="30479" anchor="ctr"/>
          <a:lstStyle/>
          <a:p>
            <a:pPr algn="ctr">
              <a:lnSpc>
                <a:spcPct val="100000"/>
              </a:lnSpc>
            </a:pPr>
            <a:r>
              <a:rPr sz="1066" b="1">
                <a:solidFill>
                  <a:srgbClr val="1A1A1A"/>
                </a:solidFill>
                <a:latin typeface="Arial"/>
              </a:rPr>
              <a:t>6 · TERRITÓRIO: RESULTADOS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584" y="335271"/>
            <a:ext cx="10972525" cy="914377"/>
          </a:xfrm>
          <a:prstGeom prst="rect">
            <a:avLst/>
          </a:prstGeom>
          <a:noFill/>
        </p:spPr>
        <p:txBody>
          <a:bodyPr wrap="square" lIns="73150" rIns="73150" tIns="73150" bIns="73150" anchor="ctr"/>
          <a:lstStyle/>
          <a:p>
            <a:pPr algn="ctr">
              <a:lnSpc>
                <a:spcPct val="100000"/>
              </a:lnSpc>
            </a:pPr>
            <a:r>
              <a:rPr sz="3333" b="1">
                <a:solidFill>
                  <a:srgbClr val="FFFFFF"/>
                </a:solidFill>
                <a:latin typeface="Arial"/>
              </a:rPr>
              <a:t>A ANTIGA PIPA: TRABALHO, MORADIA E MAR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75476" y="1328894"/>
            <a:ext cx="3559974" cy="252368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Construção artesanal de embarcação (Figura 3)"/>
          <p:cNvPicPr>
            <a:picLocks noChangeAspect="1"/>
          </p:cNvPicPr>
          <p:nvPr/>
        </p:nvPicPr>
        <p:blipFill>
          <a:blip r:embed="rId3"/>
          <a:srcRect t="11879" b="11879"/>
          <a:stretch>
            <a:fillRect/>
          </a:stretch>
        </p:blipFill>
        <p:spPr>
          <a:xfrm>
            <a:off x="548626" y="1402044"/>
            <a:ext cx="3413674" cy="1889712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48626" y="3303949"/>
            <a:ext cx="3413674" cy="487667"/>
          </a:xfrm>
          <a:prstGeom prst="rect">
            <a:avLst/>
          </a:prstGeom>
          <a:noFill/>
        </p:spPr>
        <p:txBody>
          <a:bodyPr wrap="square" lIns="12191" rIns="12191" tIns="12191" bIns="12191" anchor="ctr"/>
          <a:lstStyle/>
          <a:p>
            <a:pPr algn="l">
              <a:lnSpc>
                <a:spcPct val="100000"/>
              </a:lnSpc>
            </a:pPr>
            <a:r>
              <a:rPr sz="999" b="0">
                <a:solidFill>
                  <a:srgbClr val="1A1A1A"/>
                </a:solidFill>
                <a:latin typeface="Arial"/>
              </a:rPr>
              <a:t>Construção artesanal de embarcação (Figura 3)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132984" y="1328894"/>
            <a:ext cx="3559974" cy="252368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Embarcações de pesca na enseada (Figura 7)"/>
          <p:cNvPicPr>
            <a:picLocks noChangeAspect="1"/>
          </p:cNvPicPr>
          <p:nvPr/>
        </p:nvPicPr>
        <p:blipFill>
          <a:blip r:embed="rId4"/>
          <a:srcRect t="8532" b="8532"/>
          <a:stretch>
            <a:fillRect/>
          </a:stretch>
        </p:blipFill>
        <p:spPr>
          <a:xfrm>
            <a:off x="4206134" y="1402044"/>
            <a:ext cx="3413674" cy="188971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206134" y="3303949"/>
            <a:ext cx="3413674" cy="487667"/>
          </a:xfrm>
          <a:prstGeom prst="rect">
            <a:avLst/>
          </a:prstGeom>
          <a:noFill/>
        </p:spPr>
        <p:txBody>
          <a:bodyPr wrap="square" lIns="12191" rIns="12191" tIns="12191" bIns="12191" anchor="ctr"/>
          <a:lstStyle/>
          <a:p>
            <a:pPr algn="l">
              <a:lnSpc>
                <a:spcPct val="100000"/>
              </a:lnSpc>
            </a:pPr>
            <a:r>
              <a:rPr sz="999" b="0">
                <a:solidFill>
                  <a:srgbClr val="1A1A1A"/>
                </a:solidFill>
                <a:latin typeface="Arial"/>
              </a:rPr>
              <a:t>Embarcações de pesca na enseada (Figura 7)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75476" y="3858671"/>
            <a:ext cx="3559974" cy="252368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Mutirão para curral de pesca (Figura 9)"/>
          <p:cNvPicPr>
            <a:picLocks noChangeAspect="1"/>
          </p:cNvPicPr>
          <p:nvPr/>
        </p:nvPicPr>
        <p:blipFill>
          <a:blip r:embed="rId5"/>
          <a:srcRect t="15617" b="15617"/>
          <a:stretch>
            <a:fillRect/>
          </a:stretch>
        </p:blipFill>
        <p:spPr>
          <a:xfrm>
            <a:off x="548626" y="3931821"/>
            <a:ext cx="3413674" cy="1889712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548626" y="5833726"/>
            <a:ext cx="3413674" cy="487667"/>
          </a:xfrm>
          <a:prstGeom prst="rect">
            <a:avLst/>
          </a:prstGeom>
          <a:noFill/>
        </p:spPr>
        <p:txBody>
          <a:bodyPr wrap="square" lIns="12191" rIns="12191" tIns="12191" bIns="12191" anchor="ctr"/>
          <a:lstStyle/>
          <a:p>
            <a:pPr algn="l">
              <a:lnSpc>
                <a:spcPct val="100000"/>
              </a:lnSpc>
            </a:pPr>
            <a:r>
              <a:rPr sz="999" b="0">
                <a:solidFill>
                  <a:srgbClr val="1A1A1A"/>
                </a:solidFill>
                <a:latin typeface="Arial"/>
              </a:rPr>
              <a:t>Mutirão para curral de pesca (Figura 9)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132984" y="3858671"/>
            <a:ext cx="3559974" cy="252368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O cruzeiro em sua localização original (Figura 10)"/>
          <p:cNvPicPr>
            <a:picLocks noChangeAspect="1"/>
          </p:cNvPicPr>
          <p:nvPr/>
        </p:nvPicPr>
        <p:blipFill>
          <a:blip r:embed="rId6"/>
          <a:srcRect t="8395" b="8395"/>
          <a:stretch>
            <a:fillRect/>
          </a:stretch>
        </p:blipFill>
        <p:spPr>
          <a:xfrm>
            <a:off x="4206134" y="3931821"/>
            <a:ext cx="3413674" cy="1889712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4206134" y="5833726"/>
            <a:ext cx="3413674" cy="487667"/>
          </a:xfrm>
          <a:prstGeom prst="rect">
            <a:avLst/>
          </a:prstGeom>
          <a:noFill/>
        </p:spPr>
        <p:txBody>
          <a:bodyPr wrap="square" lIns="12191" rIns="12191" tIns="12191" bIns="12191" anchor="ctr"/>
          <a:lstStyle/>
          <a:p>
            <a:pPr algn="l">
              <a:lnSpc>
                <a:spcPct val="100000"/>
              </a:lnSpc>
            </a:pPr>
            <a:r>
              <a:rPr sz="999" b="0">
                <a:solidFill>
                  <a:srgbClr val="1A1A1A"/>
                </a:solidFill>
                <a:latin typeface="Arial"/>
              </a:rPr>
              <a:t>O cruzeiro em sua localização original (Figura 10)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863643" y="1328894"/>
            <a:ext cx="3779425" cy="4907157"/>
          </a:xfrm>
          <a:prstGeom prst="roundRect">
            <a:avLst>
              <a:gd name="adj" fmla="val 6000"/>
            </a:avLst>
          </a:prstGeom>
          <a:solidFill>
            <a:srgbClr val="FFCE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46518" y="1432524"/>
            <a:ext cx="3413674" cy="4693802"/>
          </a:xfrm>
          <a:prstGeom prst="rect">
            <a:avLst/>
          </a:prstGeom>
          <a:noFill/>
        </p:spPr>
        <p:txBody>
          <a:bodyPr wrap="square" lIns="73150" rIns="73150" tIns="73150" bIns="73150" anchor="t"/>
          <a:lstStyle/>
          <a:p>
            <a:pPr algn="l">
              <a:lnSpc>
                <a:spcPct val="115000"/>
              </a:lnSpc>
              <a:spcAft>
                <a:spcPts val="799"/>
              </a:spcAft>
            </a:pPr>
            <a:r>
              <a:rPr sz="1399" b="1">
                <a:solidFill>
                  <a:srgbClr val="1A1A1A"/>
                </a:solidFill>
                <a:latin typeface="Arial"/>
              </a:rPr>
              <a:t>O que as imagens registram</a:t>
            </a:r>
          </a:p>
          <a:p>
            <a:pPr algn="l">
              <a:lnSpc>
                <a:spcPct val="115000"/>
              </a:lnSpc>
              <a:spcAft>
                <a:spcPts val="799"/>
              </a:spcAft>
            </a:pPr>
            <a:r>
              <a:rPr sz="1399" b="0">
                <a:solidFill>
                  <a:srgbClr val="1A1A1A"/>
                </a:solidFill>
                <a:latin typeface="Arial"/>
              </a:rPr>
              <a:t>Trabalho, moradia e atividade marítima articulados no mesmo território.</a:t>
            </a:r>
          </a:p>
          <a:p>
            <a:pPr algn="l">
              <a:lnSpc>
                <a:spcPct val="115000"/>
              </a:lnSpc>
              <a:spcAft>
                <a:spcPts val="799"/>
              </a:spcAft>
            </a:pPr>
            <a:r>
              <a:rPr sz="1399" b="0">
                <a:solidFill>
                  <a:srgbClr val="1A1A1A"/>
                </a:solidFill>
                <a:latin typeface="Arial"/>
              </a:rPr>
              <a:t>Um saber aprendido no próprio fazer, em trabalho coletivo, como no mutirão.</a:t>
            </a:r>
          </a:p>
          <a:p>
            <a:pPr algn="l">
              <a:lnSpc>
                <a:spcPct val="115000"/>
              </a:lnSpc>
              <a:spcAft>
                <a:spcPts val="799"/>
              </a:spcAft>
            </a:pPr>
            <a:r>
              <a:rPr sz="1399" b="0">
                <a:solidFill>
                  <a:srgbClr val="1A1A1A"/>
                </a:solidFill>
                <a:latin typeface="Arial"/>
              </a:rPr>
              <a:t>Com Santos, a paisagem guarda as marcas dos meios de trabalho de cada tempo.</a:t>
            </a:r>
          </a:p>
          <a:p>
            <a:pPr algn="l">
              <a:lnSpc>
                <a:spcPct val="115000"/>
              </a:lnSpc>
            </a:pPr>
            <a:r>
              <a:rPr sz="1399" b="0">
                <a:solidFill>
                  <a:srgbClr val="1A1A1A"/>
                </a:solidFill>
                <a:latin typeface="Arial"/>
              </a:rPr>
              <a:t>Com Massey, evitamos congelar a vila de pescadores num passado idealizado.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09584" y="6431119"/>
            <a:ext cx="10972525" cy="304792"/>
          </a:xfrm>
          <a:prstGeom prst="rect">
            <a:avLst/>
          </a:prstGeom>
          <a:noFill/>
        </p:spPr>
        <p:txBody>
          <a:bodyPr wrap="square" lIns="73150" rIns="73150" tIns="73150" bIns="73150" anchor="ctr"/>
          <a:lstStyle/>
          <a:p>
            <a:pPr algn="l">
              <a:lnSpc>
                <a:spcPct val="100000"/>
              </a:lnSpc>
            </a:pPr>
            <a:r>
              <a:rPr sz="999" b="1">
                <a:solidFill>
                  <a:srgbClr val="FFFFFF"/>
                </a:solidFill>
                <a:latin typeface="Arial"/>
              </a:rPr>
              <a:t>Fundamentos: </a:t>
            </a:r>
            <a:r>
              <a:rPr sz="999" b="0">
                <a:solidFill>
                  <a:srgbClr val="FFFFFF"/>
                </a:solidFill>
                <a:latin typeface="Arial"/>
              </a:rPr>
              <a:t>Santos (2006, p. 92): rugosidade; Massey (2008). Imagens: Museu Digital de Pipa / acervo da pesquisa (2026).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7828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304792" y="152396"/>
            <a:ext cx="2804089" cy="365750"/>
          </a:xfrm>
          <a:prstGeom prst="roundRect">
            <a:avLst>
              <a:gd name="adj" fmla="val 40000"/>
            </a:avLst>
          </a:prstGeom>
          <a:solidFill>
            <a:srgbClr val="FFCE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04792" y="152396"/>
            <a:ext cx="2804089" cy="365750"/>
          </a:xfrm>
          <a:prstGeom prst="rect">
            <a:avLst/>
          </a:prstGeom>
          <a:noFill/>
        </p:spPr>
        <p:txBody>
          <a:bodyPr wrap="square" lIns="30479" rIns="30479" tIns="30479" bIns="30479" anchor="ctr"/>
          <a:lstStyle/>
          <a:p>
            <a:pPr algn="ctr">
              <a:lnSpc>
                <a:spcPct val="100000"/>
              </a:lnSpc>
            </a:pPr>
            <a:r>
              <a:rPr sz="1066" b="1">
                <a:solidFill>
                  <a:srgbClr val="1A1A1A"/>
                </a:solidFill>
                <a:latin typeface="Arial"/>
              </a:rPr>
              <a:t>6 · TERRITÓRIO: RESULTADOS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584" y="335271"/>
            <a:ext cx="10972525" cy="914377"/>
          </a:xfrm>
          <a:prstGeom prst="rect">
            <a:avLst/>
          </a:prstGeom>
          <a:noFill/>
        </p:spPr>
        <p:txBody>
          <a:bodyPr wrap="square" lIns="73150" rIns="73150" tIns="73150" bIns="73150" anchor="ctr"/>
          <a:lstStyle/>
          <a:p>
            <a:pPr algn="ctr">
              <a:lnSpc>
                <a:spcPct val="100000"/>
              </a:lnSpc>
            </a:pPr>
            <a:r>
              <a:rPr sz="3199" b="1">
                <a:solidFill>
                  <a:srgbClr val="FFFFFF"/>
                </a:solidFill>
                <a:latin typeface="Arial"/>
              </a:rPr>
              <a:t>AS TRANSFORMAÇÕES: DE VILA A POLO TURÍSTICO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75476" y="1328894"/>
            <a:ext cx="3559974" cy="2828473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Urbanização da orla (Figura 11)"/>
          <p:cNvPicPr>
            <a:picLocks noChangeAspect="1"/>
          </p:cNvPicPr>
          <p:nvPr/>
        </p:nvPicPr>
        <p:blipFill>
          <a:blip r:embed="rId3"/>
          <a:srcRect t="3192" b="3192"/>
          <a:stretch>
            <a:fillRect/>
          </a:stretch>
        </p:blipFill>
        <p:spPr>
          <a:xfrm>
            <a:off x="548626" y="1402044"/>
            <a:ext cx="3413674" cy="2194505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48626" y="3608741"/>
            <a:ext cx="3413674" cy="487667"/>
          </a:xfrm>
          <a:prstGeom prst="rect">
            <a:avLst/>
          </a:prstGeom>
          <a:noFill/>
        </p:spPr>
        <p:txBody>
          <a:bodyPr wrap="square" lIns="12191" rIns="12191" tIns="12191" bIns="12191" anchor="ctr"/>
          <a:lstStyle/>
          <a:p>
            <a:pPr algn="l">
              <a:lnSpc>
                <a:spcPct val="100000"/>
              </a:lnSpc>
            </a:pPr>
            <a:r>
              <a:rPr sz="999" b="0">
                <a:solidFill>
                  <a:srgbClr val="1A1A1A"/>
                </a:solidFill>
                <a:latin typeface="Arial"/>
              </a:rPr>
              <a:t>Urbanização da orla (Figura 11)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24422" y="1328894"/>
            <a:ext cx="3559974" cy="2828473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Surfistas e pranchas, abril de 1991 (Figura 12)"/>
          <p:cNvPicPr>
            <a:picLocks noChangeAspect="1"/>
          </p:cNvPicPr>
          <p:nvPr/>
        </p:nvPicPr>
        <p:blipFill>
          <a:blip r:embed="rId4"/>
          <a:srcRect t="9420" b="9420"/>
          <a:stretch>
            <a:fillRect/>
          </a:stretch>
        </p:blipFill>
        <p:spPr>
          <a:xfrm>
            <a:off x="4297572" y="1402044"/>
            <a:ext cx="3413674" cy="2194505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297572" y="3608741"/>
            <a:ext cx="3413674" cy="487667"/>
          </a:xfrm>
          <a:prstGeom prst="rect">
            <a:avLst/>
          </a:prstGeom>
          <a:noFill/>
        </p:spPr>
        <p:txBody>
          <a:bodyPr wrap="square" lIns="12191" rIns="12191" tIns="12191" bIns="12191" anchor="ctr"/>
          <a:lstStyle/>
          <a:p>
            <a:pPr algn="l">
              <a:lnSpc>
                <a:spcPct val="100000"/>
              </a:lnSpc>
            </a:pPr>
            <a:r>
              <a:rPr sz="999" b="0">
                <a:solidFill>
                  <a:srgbClr val="1A1A1A"/>
                </a:solidFill>
                <a:latin typeface="Arial"/>
              </a:rPr>
              <a:t>Surfistas e pranchas, abril de 1991 (Figura 12)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973368" y="1328894"/>
            <a:ext cx="3559974" cy="2828473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Comércio e transporte na vila (Figura 13)"/>
          <p:cNvPicPr>
            <a:picLocks noChangeAspect="1"/>
          </p:cNvPicPr>
          <p:nvPr/>
        </p:nvPicPr>
        <p:blipFill>
          <a:blip r:embed="rId5"/>
          <a:srcRect t="1635" b="1635"/>
          <a:stretch>
            <a:fillRect/>
          </a:stretch>
        </p:blipFill>
        <p:spPr>
          <a:xfrm>
            <a:off x="8046518" y="1402044"/>
            <a:ext cx="3413674" cy="2194505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8046518" y="3608741"/>
            <a:ext cx="3413674" cy="487667"/>
          </a:xfrm>
          <a:prstGeom prst="rect">
            <a:avLst/>
          </a:prstGeom>
          <a:noFill/>
        </p:spPr>
        <p:txBody>
          <a:bodyPr wrap="square" lIns="12191" rIns="12191" tIns="12191" bIns="12191" anchor="ctr"/>
          <a:lstStyle/>
          <a:p>
            <a:pPr algn="l">
              <a:lnSpc>
                <a:spcPct val="100000"/>
              </a:lnSpc>
            </a:pPr>
            <a:r>
              <a:rPr sz="999" b="0">
                <a:solidFill>
                  <a:srgbClr val="1A1A1A"/>
                </a:solidFill>
                <a:latin typeface="Arial"/>
              </a:rPr>
              <a:t>Comércio e transporte na vila (Figura 13)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26" y="4297572"/>
            <a:ext cx="2621214" cy="1066773"/>
          </a:xfrm>
          <a:prstGeom prst="roundRect">
            <a:avLst>
              <a:gd name="adj" fmla="val 10000"/>
            </a:avLst>
          </a:prstGeom>
          <a:solidFill>
            <a:srgbClr val="F1E7D9"/>
          </a:solidFill>
          <a:ln w="25399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70543" y="4328051"/>
            <a:ext cx="2377380" cy="1005814"/>
          </a:xfrm>
          <a:prstGeom prst="rect">
            <a:avLst/>
          </a:prstGeom>
          <a:noFill/>
        </p:spPr>
        <p:txBody>
          <a:bodyPr wrap="square" lIns="73150" rIns="73150" tIns="73150" bIns="73150" anchor="ctr"/>
          <a:lstStyle/>
          <a:p>
            <a:pPr algn="l">
              <a:lnSpc>
                <a:spcPct val="115000"/>
              </a:lnSpc>
            </a:pPr>
            <a:r>
              <a:rPr sz="1266" b="1">
                <a:solidFill>
                  <a:srgbClr val="6C4FD8"/>
                </a:solidFill>
                <a:latin typeface="Arial"/>
              </a:rPr>
              <a:t>a) </a:t>
            </a:r>
            <a:r>
              <a:rPr sz="1266" b="0">
                <a:solidFill>
                  <a:srgbClr val="1A1A1A"/>
                </a:solidFill>
                <a:latin typeface="Arial"/>
              </a:rPr>
              <a:t>turismo associado ao surfe, a partir dos anos 1990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352716" y="4297572"/>
            <a:ext cx="2621214" cy="1066773"/>
          </a:xfrm>
          <a:prstGeom prst="roundRect">
            <a:avLst>
              <a:gd name="adj" fmla="val 10000"/>
            </a:avLst>
          </a:prstGeom>
          <a:solidFill>
            <a:srgbClr val="F1E7D9"/>
          </a:solidFill>
          <a:ln w="25399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474633" y="4328051"/>
            <a:ext cx="2377380" cy="1005814"/>
          </a:xfrm>
          <a:prstGeom prst="rect">
            <a:avLst/>
          </a:prstGeom>
          <a:noFill/>
        </p:spPr>
        <p:txBody>
          <a:bodyPr wrap="square" lIns="73150" rIns="73150" tIns="73150" bIns="73150" anchor="ctr"/>
          <a:lstStyle/>
          <a:p>
            <a:pPr algn="l">
              <a:lnSpc>
                <a:spcPct val="115000"/>
              </a:lnSpc>
            </a:pPr>
            <a:r>
              <a:rPr sz="1266" b="1">
                <a:solidFill>
                  <a:srgbClr val="6C4FD8"/>
                </a:solidFill>
                <a:latin typeface="Arial"/>
              </a:rPr>
              <a:t>b) </a:t>
            </a:r>
            <a:r>
              <a:rPr sz="1266" b="0">
                <a:solidFill>
                  <a:srgbClr val="1A1A1A"/>
                </a:solidFill>
                <a:latin typeface="Arial"/>
              </a:rPr>
              <a:t>investimentos imobiliários nacionais e estrangeiros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56806" y="4297572"/>
            <a:ext cx="2621214" cy="1066773"/>
          </a:xfrm>
          <a:prstGeom prst="roundRect">
            <a:avLst>
              <a:gd name="adj" fmla="val 10000"/>
            </a:avLst>
          </a:prstGeom>
          <a:solidFill>
            <a:srgbClr val="F1E7D9"/>
          </a:solidFill>
          <a:ln w="25399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78723" y="4328051"/>
            <a:ext cx="2377380" cy="1005814"/>
          </a:xfrm>
          <a:prstGeom prst="rect">
            <a:avLst/>
          </a:prstGeom>
          <a:noFill/>
        </p:spPr>
        <p:txBody>
          <a:bodyPr wrap="square" lIns="73150" rIns="73150" tIns="73150" bIns="73150" anchor="ctr"/>
          <a:lstStyle/>
          <a:p>
            <a:pPr algn="l">
              <a:lnSpc>
                <a:spcPct val="115000"/>
              </a:lnSpc>
            </a:pPr>
            <a:r>
              <a:rPr sz="1266" b="1">
                <a:solidFill>
                  <a:srgbClr val="6C4FD8"/>
                </a:solidFill>
                <a:latin typeface="Arial"/>
              </a:rPr>
              <a:t>c) </a:t>
            </a:r>
            <a:r>
              <a:rPr sz="1266" b="0">
                <a:solidFill>
                  <a:srgbClr val="1A1A1A"/>
                </a:solidFill>
                <a:latin typeface="Arial"/>
              </a:rPr>
              <a:t>migração de trabalhadores para o setor de serviços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960895" y="4297572"/>
            <a:ext cx="2621214" cy="1066773"/>
          </a:xfrm>
          <a:prstGeom prst="roundRect">
            <a:avLst>
              <a:gd name="adj" fmla="val 10000"/>
            </a:avLst>
          </a:prstGeom>
          <a:solidFill>
            <a:srgbClr val="F1E7D9"/>
          </a:solidFill>
          <a:ln w="25399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082812" y="4328051"/>
            <a:ext cx="2377380" cy="1005814"/>
          </a:xfrm>
          <a:prstGeom prst="rect">
            <a:avLst/>
          </a:prstGeom>
          <a:noFill/>
        </p:spPr>
        <p:txBody>
          <a:bodyPr wrap="square" lIns="73150" rIns="73150" tIns="73150" bIns="73150" anchor="ctr"/>
          <a:lstStyle/>
          <a:p>
            <a:pPr algn="l">
              <a:lnSpc>
                <a:spcPct val="115000"/>
              </a:lnSpc>
            </a:pPr>
            <a:r>
              <a:rPr sz="1266" b="1">
                <a:solidFill>
                  <a:srgbClr val="6C4FD8"/>
                </a:solidFill>
                <a:latin typeface="Arial"/>
              </a:rPr>
              <a:t>d) </a:t>
            </a:r>
            <a:r>
              <a:rPr sz="1266" b="0">
                <a:solidFill>
                  <a:srgbClr val="1A1A1A"/>
                </a:solidFill>
                <a:latin typeface="Arial"/>
              </a:rPr>
              <a:t>mais recentemente, o trabalho remoto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26" y="5455783"/>
            <a:ext cx="11094442" cy="731501"/>
          </a:xfrm>
          <a:prstGeom prst="rect">
            <a:avLst/>
          </a:prstGeom>
          <a:noFill/>
        </p:spPr>
        <p:txBody>
          <a:bodyPr wrap="square" lIns="73150" rIns="73150" tIns="73150" bIns="73150" anchor="ctr"/>
          <a:lstStyle/>
          <a:p>
            <a:pPr algn="ctr">
              <a:lnSpc>
                <a:spcPct val="115000"/>
              </a:lnSpc>
            </a:pPr>
            <a:r>
              <a:rPr sz="1399" b="0">
                <a:solidFill>
                  <a:srgbClr val="FFFFFF"/>
                </a:solidFill>
                <a:latin typeface="Arial"/>
              </a:rPr>
              <a:t>A Pipa contemporânea resulta da sobreposição de trajetórias: os novos usos dividem o território com os antigos, sem apagá-los.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09584" y="6400639"/>
            <a:ext cx="10972525" cy="304792"/>
          </a:xfrm>
          <a:prstGeom prst="rect">
            <a:avLst/>
          </a:prstGeom>
          <a:noFill/>
        </p:spPr>
        <p:txBody>
          <a:bodyPr wrap="square" lIns="73150" rIns="73150" tIns="73150" bIns="73150" anchor="ctr"/>
          <a:lstStyle/>
          <a:p>
            <a:pPr algn="l">
              <a:lnSpc>
                <a:spcPct val="100000"/>
              </a:lnSpc>
            </a:pPr>
            <a:r>
              <a:rPr sz="999" b="1">
                <a:solidFill>
                  <a:srgbClr val="FFFFFF"/>
                </a:solidFill>
                <a:latin typeface="Arial"/>
              </a:rPr>
              <a:t>Fundamentos: </a:t>
            </a:r>
            <a:r>
              <a:rPr sz="999" b="0">
                <a:solidFill>
                  <a:srgbClr val="FFFFFF"/>
                </a:solidFill>
                <a:latin typeface="Arial"/>
              </a:rPr>
              <a:t>Castells (2013); Bauman (1999); Massey (2008). Imagens: Museu Digital de Pipa / acervo da pesquisa (2026).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7828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304792" y="152396"/>
            <a:ext cx="2804089" cy="365750"/>
          </a:xfrm>
          <a:prstGeom prst="roundRect">
            <a:avLst>
              <a:gd name="adj" fmla="val 40000"/>
            </a:avLst>
          </a:prstGeom>
          <a:solidFill>
            <a:srgbClr val="FFCE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04792" y="152396"/>
            <a:ext cx="2804089" cy="365750"/>
          </a:xfrm>
          <a:prstGeom prst="rect">
            <a:avLst/>
          </a:prstGeom>
          <a:noFill/>
        </p:spPr>
        <p:txBody>
          <a:bodyPr wrap="square" lIns="30479" rIns="30479" tIns="30479" bIns="30479" anchor="ctr"/>
          <a:lstStyle/>
          <a:p>
            <a:pPr algn="ctr">
              <a:lnSpc>
                <a:spcPct val="100000"/>
              </a:lnSpc>
            </a:pPr>
            <a:r>
              <a:rPr sz="1066" b="1">
                <a:solidFill>
                  <a:srgbClr val="1A1A1A"/>
                </a:solidFill>
                <a:latin typeface="Arial"/>
              </a:rPr>
              <a:t>6 · TERRITÓRIO: RESULTADOS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584" y="335271"/>
            <a:ext cx="10972525" cy="914377"/>
          </a:xfrm>
          <a:prstGeom prst="rect">
            <a:avLst/>
          </a:prstGeom>
          <a:noFill/>
        </p:spPr>
        <p:txBody>
          <a:bodyPr wrap="square" lIns="73150" rIns="73150" tIns="73150" bIns="73150" anchor="ctr"/>
          <a:lstStyle/>
          <a:p>
            <a:pPr algn="ctr">
              <a:lnSpc>
                <a:spcPct val="100000"/>
              </a:lnSpc>
            </a:pPr>
            <a:r>
              <a:rPr sz="3066" b="1">
                <a:solidFill>
                  <a:srgbClr val="FFFFFF"/>
                </a:solidFill>
                <a:latin typeface="Arial"/>
              </a:rPr>
              <a:t>A PIPA DE HOJE: O ANTIGO E O CONECTADO JUNTOS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75476" y="1328894"/>
            <a:ext cx="3316141" cy="2462722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Rua turística à noite (Figura 16)"/>
          <p:cNvPicPr>
            <a:picLocks noChangeAspect="1"/>
          </p:cNvPicPr>
          <p:nvPr/>
        </p:nvPicPr>
        <p:blipFill>
          <a:blip r:embed="rId3"/>
          <a:srcRect t="6427" b="6427"/>
          <a:stretch>
            <a:fillRect/>
          </a:stretch>
        </p:blipFill>
        <p:spPr>
          <a:xfrm>
            <a:off x="548626" y="1402044"/>
            <a:ext cx="3169840" cy="1828754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48626" y="3242990"/>
            <a:ext cx="3169840" cy="487667"/>
          </a:xfrm>
          <a:prstGeom prst="rect">
            <a:avLst/>
          </a:prstGeom>
          <a:noFill/>
        </p:spPr>
        <p:txBody>
          <a:bodyPr wrap="square" lIns="12191" rIns="12191" tIns="12191" bIns="12191" anchor="ctr"/>
          <a:lstStyle/>
          <a:p>
            <a:pPr algn="l">
              <a:lnSpc>
                <a:spcPct val="100000"/>
              </a:lnSpc>
            </a:pPr>
            <a:r>
              <a:rPr sz="999" b="0">
                <a:solidFill>
                  <a:srgbClr val="1A1A1A"/>
                </a:solidFill>
                <a:latin typeface="Arial"/>
              </a:rPr>
              <a:t>Rua turística à noite (Figura 16)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75476" y="3828192"/>
            <a:ext cx="3316141" cy="2462722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Passeios na baía (Figura 20)"/>
          <p:cNvPicPr>
            <a:picLocks noChangeAspect="1"/>
          </p:cNvPicPr>
          <p:nvPr/>
        </p:nvPicPr>
        <p:blipFill>
          <a:blip r:embed="rId4"/>
          <a:srcRect t="10871" b="10871"/>
          <a:stretch>
            <a:fillRect/>
          </a:stretch>
        </p:blipFill>
        <p:spPr>
          <a:xfrm>
            <a:off x="548626" y="3901342"/>
            <a:ext cx="3169840" cy="1828754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48626" y="5742288"/>
            <a:ext cx="3169840" cy="487667"/>
          </a:xfrm>
          <a:prstGeom prst="rect">
            <a:avLst/>
          </a:prstGeom>
          <a:noFill/>
        </p:spPr>
        <p:txBody>
          <a:bodyPr wrap="square" lIns="12191" rIns="12191" tIns="12191" bIns="12191" anchor="ctr"/>
          <a:lstStyle/>
          <a:p>
            <a:pPr algn="l">
              <a:lnSpc>
                <a:spcPct val="100000"/>
              </a:lnSpc>
            </a:pPr>
            <a:r>
              <a:rPr sz="999" b="0">
                <a:solidFill>
                  <a:srgbClr val="1A1A1A"/>
                </a:solidFill>
                <a:latin typeface="Arial"/>
              </a:rPr>
              <a:t>Passeios na baía (Figura 20)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950109" y="1328894"/>
            <a:ext cx="2340805" cy="4962019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Pousadas junto às falésias (Figura 19)"/>
          <p:cNvPicPr>
            <a:picLocks noChangeAspect="1"/>
          </p:cNvPicPr>
          <p:nvPr/>
        </p:nvPicPr>
        <p:blipFill>
          <a:blip r:embed="rId5"/>
          <a:srcRect l="5024" r="5024"/>
          <a:stretch>
            <a:fillRect/>
          </a:stretch>
        </p:blipFill>
        <p:spPr>
          <a:xfrm>
            <a:off x="4023259" y="1402044"/>
            <a:ext cx="2194505" cy="4328051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4023259" y="5742288"/>
            <a:ext cx="2194505" cy="487667"/>
          </a:xfrm>
          <a:prstGeom prst="rect">
            <a:avLst/>
          </a:prstGeom>
          <a:noFill/>
        </p:spPr>
        <p:txBody>
          <a:bodyPr wrap="square" lIns="12191" rIns="12191" tIns="12191" bIns="12191" anchor="ctr"/>
          <a:lstStyle/>
          <a:p>
            <a:pPr algn="l">
              <a:lnSpc>
                <a:spcPct val="100000"/>
              </a:lnSpc>
            </a:pPr>
            <a:r>
              <a:rPr sz="999" b="0">
                <a:solidFill>
                  <a:srgbClr val="1A1A1A"/>
                </a:solidFill>
                <a:latin typeface="Arial"/>
              </a:rPr>
              <a:t>Pousadas junto às falésias (Figura 19)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49406" y="1328894"/>
            <a:ext cx="2706556" cy="4962019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Pescador descarregando o pescado (Figura 21)"/>
          <p:cNvPicPr>
            <a:picLocks noChangeAspect="1"/>
          </p:cNvPicPr>
          <p:nvPr/>
        </p:nvPicPr>
        <p:blipFill>
          <a:blip r:embed="rId6"/>
          <a:srcRect l="11022" r="11022"/>
          <a:stretch>
            <a:fillRect/>
          </a:stretch>
        </p:blipFill>
        <p:spPr>
          <a:xfrm>
            <a:off x="6522556" y="1402044"/>
            <a:ext cx="2560255" cy="4328051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6522556" y="5742288"/>
            <a:ext cx="2560255" cy="487667"/>
          </a:xfrm>
          <a:prstGeom prst="rect">
            <a:avLst/>
          </a:prstGeom>
          <a:noFill/>
        </p:spPr>
        <p:txBody>
          <a:bodyPr wrap="square" lIns="12191" rIns="12191" tIns="12191" bIns="12191" anchor="ctr"/>
          <a:lstStyle/>
          <a:p>
            <a:pPr algn="l">
              <a:lnSpc>
                <a:spcPct val="100000"/>
              </a:lnSpc>
            </a:pPr>
            <a:r>
              <a:rPr sz="999" b="0">
                <a:solidFill>
                  <a:srgbClr val="1A1A1A"/>
                </a:solidFill>
                <a:latin typeface="Arial"/>
              </a:rPr>
              <a:t>Pescador descarregando o pescado (Figura 21)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387605" y="1328894"/>
            <a:ext cx="2255463" cy="4876678"/>
          </a:xfrm>
          <a:prstGeom prst="roundRect">
            <a:avLst>
              <a:gd name="adj" fmla="val 6000"/>
            </a:avLst>
          </a:prstGeom>
          <a:solidFill>
            <a:srgbClr val="FFCE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509522" y="1402044"/>
            <a:ext cx="2011629" cy="4754761"/>
          </a:xfrm>
          <a:prstGeom prst="rect">
            <a:avLst/>
          </a:prstGeom>
          <a:noFill/>
        </p:spPr>
        <p:txBody>
          <a:bodyPr wrap="square" lIns="73150" rIns="73150" tIns="73150" bIns="73150" anchor="ctr"/>
          <a:lstStyle/>
          <a:p>
            <a:pPr algn="l">
              <a:lnSpc>
                <a:spcPct val="115000"/>
              </a:lnSpc>
              <a:spcAft>
                <a:spcPts val="799"/>
              </a:spcAft>
            </a:pPr>
            <a:r>
              <a:rPr sz="1333" b="1">
                <a:solidFill>
                  <a:srgbClr val="1A1A1A"/>
                </a:solidFill>
                <a:latin typeface="Arial"/>
              </a:rPr>
              <a:t>Hotelaria, reservas e pagamentos dependem da conexão.</a:t>
            </a:r>
          </a:p>
          <a:p>
            <a:pPr algn="l">
              <a:lnSpc>
                <a:spcPct val="115000"/>
              </a:lnSpc>
            </a:pPr>
            <a:r>
              <a:rPr sz="1333" b="0">
                <a:solidFill>
                  <a:srgbClr val="1A1A1A"/>
                </a:solidFill>
                <a:latin typeface="Arial"/>
              </a:rPr>
              <a:t>A pesca segue no mesmo mar. Da presença das tecnologias no território não se presume seu uso pedagógico na escola.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09584" y="6431119"/>
            <a:ext cx="10972525" cy="304792"/>
          </a:xfrm>
          <a:prstGeom prst="rect">
            <a:avLst/>
          </a:prstGeom>
          <a:noFill/>
        </p:spPr>
        <p:txBody>
          <a:bodyPr wrap="square" lIns="73150" rIns="73150" tIns="73150" bIns="73150" anchor="ctr"/>
          <a:lstStyle/>
          <a:p>
            <a:pPr algn="l">
              <a:lnSpc>
                <a:spcPct val="100000"/>
              </a:lnSpc>
            </a:pPr>
            <a:r>
              <a:rPr sz="999" b="1">
                <a:solidFill>
                  <a:srgbClr val="FFFFFF"/>
                </a:solidFill>
                <a:latin typeface="Arial"/>
              </a:rPr>
              <a:t>Fundamentos: </a:t>
            </a:r>
            <a:r>
              <a:rPr sz="999" b="0">
                <a:solidFill>
                  <a:srgbClr val="FFFFFF"/>
                </a:solidFill>
                <a:latin typeface="Arial"/>
              </a:rPr>
              <a:t>Santos (1999): território usado; Massey (2008): encontro de trajetórias. Fonte: acervo da pesquisa (2026).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7828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304792" y="152396"/>
            <a:ext cx="2804089" cy="365750"/>
          </a:xfrm>
          <a:prstGeom prst="roundRect">
            <a:avLst>
              <a:gd name="adj" fmla="val 40000"/>
            </a:avLst>
          </a:prstGeom>
          <a:solidFill>
            <a:srgbClr val="FFCE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04792" y="152396"/>
            <a:ext cx="2804089" cy="365750"/>
          </a:xfrm>
          <a:prstGeom prst="rect">
            <a:avLst/>
          </a:prstGeom>
          <a:noFill/>
        </p:spPr>
        <p:txBody>
          <a:bodyPr wrap="square" lIns="30479" rIns="30479" tIns="30479" bIns="30479" anchor="ctr"/>
          <a:lstStyle/>
          <a:p>
            <a:pPr algn="ctr">
              <a:lnSpc>
                <a:spcPct val="100000"/>
              </a:lnSpc>
            </a:pPr>
            <a:r>
              <a:rPr sz="1066" b="1">
                <a:solidFill>
                  <a:srgbClr val="1A1A1A"/>
                </a:solidFill>
                <a:latin typeface="Arial"/>
              </a:rPr>
              <a:t>6 · TERRITÓRIO: RESULTADOS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584" y="335271"/>
            <a:ext cx="10972525" cy="914377"/>
          </a:xfrm>
          <a:prstGeom prst="rect">
            <a:avLst/>
          </a:prstGeom>
          <a:noFill/>
        </p:spPr>
        <p:txBody>
          <a:bodyPr wrap="square" lIns="73150" rIns="73150" tIns="73150" bIns="73150" anchor="ctr"/>
          <a:lstStyle/>
          <a:p>
            <a:pPr algn="ctr">
              <a:lnSpc>
                <a:spcPct val="100000"/>
              </a:lnSpc>
            </a:pPr>
            <a:r>
              <a:rPr sz="3333" b="1">
                <a:solidFill>
                  <a:srgbClr val="FFFFFF"/>
                </a:solidFill>
                <a:latin typeface="Arial"/>
              </a:rPr>
              <a:t>ONTEM, HOJE E O QUE CHEGA À ESCOLA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26" y="1310607"/>
            <a:ext cx="1584920" cy="380990"/>
          </a:xfrm>
          <a:prstGeom prst="roundRect">
            <a:avLst>
              <a:gd name="adj" fmla="val 8000"/>
            </a:avLst>
          </a:prstGeom>
          <a:solidFill>
            <a:srgbClr val="6C4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26" y="1310607"/>
            <a:ext cx="1584920" cy="380990"/>
          </a:xfrm>
          <a:prstGeom prst="rect">
            <a:avLst/>
          </a:prstGeom>
          <a:noFill/>
        </p:spPr>
        <p:txBody>
          <a:bodyPr wrap="square" lIns="60958" rIns="60958" tIns="60958" bIns="60958" anchor="ctr"/>
          <a:lstStyle/>
          <a:p>
            <a:pPr algn="l">
              <a:lnSpc>
                <a:spcPct val="110000"/>
              </a:lnSpc>
            </a:pPr>
            <a:r>
              <a:rPr sz="1399" b="1">
                <a:solidFill>
                  <a:srgbClr val="FFFFFF"/>
                </a:solidFill>
                <a:latin typeface="Arial"/>
              </a:rPr>
              <a:t>Dimensão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170121" y="1310607"/>
            <a:ext cx="2986965" cy="380990"/>
          </a:xfrm>
          <a:prstGeom prst="roundRect">
            <a:avLst>
              <a:gd name="adj" fmla="val 8000"/>
            </a:avLst>
          </a:prstGeom>
          <a:solidFill>
            <a:srgbClr val="6C4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170121" y="1310607"/>
            <a:ext cx="2986965" cy="380990"/>
          </a:xfrm>
          <a:prstGeom prst="rect">
            <a:avLst/>
          </a:prstGeom>
          <a:noFill/>
        </p:spPr>
        <p:txBody>
          <a:bodyPr wrap="square" lIns="60958" rIns="60958" tIns="60958" bIns="60958" anchor="ctr"/>
          <a:lstStyle/>
          <a:p>
            <a:pPr algn="l">
              <a:lnSpc>
                <a:spcPct val="110000"/>
              </a:lnSpc>
            </a:pPr>
            <a:r>
              <a:rPr sz="1399" b="1">
                <a:solidFill>
                  <a:srgbClr val="FFFFFF"/>
                </a:solidFill>
                <a:latin typeface="Arial"/>
              </a:rPr>
              <a:t>Pipa histórica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193662" y="1310607"/>
            <a:ext cx="3108882" cy="380990"/>
          </a:xfrm>
          <a:prstGeom prst="roundRect">
            <a:avLst>
              <a:gd name="adj" fmla="val 8000"/>
            </a:avLst>
          </a:prstGeom>
          <a:solidFill>
            <a:srgbClr val="6C4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93662" y="1310607"/>
            <a:ext cx="3108882" cy="380990"/>
          </a:xfrm>
          <a:prstGeom prst="rect">
            <a:avLst/>
          </a:prstGeom>
          <a:noFill/>
        </p:spPr>
        <p:txBody>
          <a:bodyPr wrap="square" lIns="60958" rIns="60958" tIns="60958" bIns="60958" anchor="ctr"/>
          <a:lstStyle/>
          <a:p>
            <a:pPr algn="l">
              <a:lnSpc>
                <a:spcPct val="110000"/>
              </a:lnSpc>
            </a:pPr>
            <a:r>
              <a:rPr sz="1399" b="1">
                <a:solidFill>
                  <a:srgbClr val="FFFFFF"/>
                </a:solidFill>
                <a:latin typeface="Arial"/>
              </a:rPr>
              <a:t>Pipa contemporânea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339119" y="1310607"/>
            <a:ext cx="3291757" cy="380990"/>
          </a:xfrm>
          <a:prstGeom prst="roundRect">
            <a:avLst>
              <a:gd name="adj" fmla="val 8000"/>
            </a:avLst>
          </a:prstGeom>
          <a:solidFill>
            <a:srgbClr val="6C4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39119" y="1310607"/>
            <a:ext cx="3291757" cy="380990"/>
          </a:xfrm>
          <a:prstGeom prst="rect">
            <a:avLst/>
          </a:prstGeom>
          <a:noFill/>
        </p:spPr>
        <p:txBody>
          <a:bodyPr wrap="square" lIns="60958" rIns="60958" tIns="60958" bIns="60958" anchor="ctr"/>
          <a:lstStyle/>
          <a:p>
            <a:pPr algn="l">
              <a:lnSpc>
                <a:spcPct val="110000"/>
              </a:lnSpc>
            </a:pPr>
            <a:r>
              <a:rPr sz="1399" b="1">
                <a:solidFill>
                  <a:srgbClr val="FFFFFF"/>
                </a:solidFill>
                <a:latin typeface="Arial"/>
              </a:rPr>
              <a:t>Repercussão para a escola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26" y="1728172"/>
            <a:ext cx="1584920" cy="593329"/>
          </a:xfrm>
          <a:prstGeom prst="roundRect">
            <a:avLst>
              <a:gd name="adj" fmla="val 6000"/>
            </a:avLst>
          </a:prstGeom>
          <a:solidFill>
            <a:srgbClr val="F1E7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26" y="1728172"/>
            <a:ext cx="1584920" cy="593329"/>
          </a:xfrm>
          <a:prstGeom prst="rect">
            <a:avLst/>
          </a:prstGeom>
          <a:noFill/>
        </p:spPr>
        <p:txBody>
          <a:bodyPr wrap="square" lIns="60958" rIns="60958" tIns="60958" bIns="60958" anchor="ctr"/>
          <a:lstStyle/>
          <a:p>
            <a:pPr algn="l">
              <a:lnSpc>
                <a:spcPct val="110000"/>
              </a:lnSpc>
            </a:pPr>
            <a:r>
              <a:rPr sz="1333" b="1">
                <a:solidFill>
                  <a:srgbClr val="1A1A1A"/>
                </a:solidFill>
                <a:latin typeface="Arial"/>
              </a:rPr>
              <a:t>Território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170121" y="1728172"/>
            <a:ext cx="2986965" cy="59332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170121" y="1728172"/>
            <a:ext cx="2986965" cy="593329"/>
          </a:xfrm>
          <a:prstGeom prst="rect">
            <a:avLst/>
          </a:prstGeom>
          <a:noFill/>
        </p:spPr>
        <p:txBody>
          <a:bodyPr wrap="square" lIns="60958" rIns="60958" tIns="60958" bIns="60958" anchor="ctr"/>
          <a:lstStyle/>
          <a:p>
            <a:pPr algn="l">
              <a:lnSpc>
                <a:spcPct val="110000"/>
              </a:lnSpc>
            </a:pPr>
            <a:r>
              <a:rPr sz="1333" b="0">
                <a:solidFill>
                  <a:srgbClr val="1A1A1A"/>
                </a:solidFill>
                <a:latin typeface="Arial"/>
              </a:rPr>
              <a:t>Vila da pesca e da circulação local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193662" y="1728172"/>
            <a:ext cx="3108882" cy="59332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193662" y="1728172"/>
            <a:ext cx="3108882" cy="593329"/>
          </a:xfrm>
          <a:prstGeom prst="rect">
            <a:avLst/>
          </a:prstGeom>
          <a:noFill/>
        </p:spPr>
        <p:txBody>
          <a:bodyPr wrap="square" lIns="60958" rIns="60958" tIns="60958" bIns="60958" anchor="ctr"/>
          <a:lstStyle/>
          <a:p>
            <a:pPr algn="l">
              <a:lnSpc>
                <a:spcPct val="110000"/>
              </a:lnSpc>
            </a:pPr>
            <a:r>
              <a:rPr sz="1333" b="0">
                <a:solidFill>
                  <a:srgbClr val="1A1A1A"/>
                </a:solidFill>
                <a:latin typeface="Arial"/>
              </a:rPr>
              <a:t>Distrito integrado a circuitos turísticos e fluxos amplos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339119" y="1728172"/>
            <a:ext cx="3291757" cy="59332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39119" y="1728172"/>
            <a:ext cx="3291757" cy="593329"/>
          </a:xfrm>
          <a:prstGeom prst="rect">
            <a:avLst/>
          </a:prstGeom>
          <a:noFill/>
        </p:spPr>
        <p:txBody>
          <a:bodyPr wrap="square" lIns="60958" rIns="60958" tIns="60958" bIns="60958" anchor="ctr"/>
          <a:lstStyle/>
          <a:p>
            <a:pPr algn="l">
              <a:lnSpc>
                <a:spcPct val="110000"/>
              </a:lnSpc>
            </a:pPr>
            <a:r>
              <a:rPr sz="1333" b="0">
                <a:solidFill>
                  <a:srgbClr val="1A1A1A"/>
                </a:solidFill>
                <a:latin typeface="Arial"/>
              </a:rPr>
              <a:t>Temporalidades e usos diferentes compõem o contexto da escola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26" y="2358077"/>
            <a:ext cx="1584920" cy="593329"/>
          </a:xfrm>
          <a:prstGeom prst="roundRect">
            <a:avLst>
              <a:gd name="adj" fmla="val 6000"/>
            </a:avLst>
          </a:prstGeom>
          <a:solidFill>
            <a:srgbClr val="F1E7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48626" y="2358077"/>
            <a:ext cx="1584920" cy="593329"/>
          </a:xfrm>
          <a:prstGeom prst="rect">
            <a:avLst/>
          </a:prstGeom>
          <a:noFill/>
        </p:spPr>
        <p:txBody>
          <a:bodyPr wrap="square" lIns="60958" rIns="60958" tIns="60958" bIns="60958" anchor="ctr"/>
          <a:lstStyle/>
          <a:p>
            <a:pPr algn="l">
              <a:lnSpc>
                <a:spcPct val="110000"/>
              </a:lnSpc>
            </a:pPr>
            <a:r>
              <a:rPr sz="1333" b="1">
                <a:solidFill>
                  <a:srgbClr val="1A1A1A"/>
                </a:solidFill>
                <a:latin typeface="Arial"/>
              </a:rPr>
              <a:t>Economia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2170121" y="2358077"/>
            <a:ext cx="2986965" cy="59332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170121" y="2358077"/>
            <a:ext cx="2986965" cy="593329"/>
          </a:xfrm>
          <a:prstGeom prst="rect">
            <a:avLst/>
          </a:prstGeom>
          <a:noFill/>
        </p:spPr>
        <p:txBody>
          <a:bodyPr wrap="square" lIns="60958" rIns="60958" tIns="60958" bIns="60958" anchor="ctr"/>
          <a:lstStyle/>
          <a:p>
            <a:pPr algn="l">
              <a:lnSpc>
                <a:spcPct val="110000"/>
              </a:lnSpc>
            </a:pPr>
            <a:r>
              <a:rPr sz="1333" b="0">
                <a:solidFill>
                  <a:srgbClr val="1A1A1A"/>
                </a:solidFill>
                <a:latin typeface="Arial"/>
              </a:rPr>
              <a:t>Pesca artesanal, comércio local, trabalho ligado ao mar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193662" y="2358077"/>
            <a:ext cx="3108882" cy="59332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193662" y="2358077"/>
            <a:ext cx="3108882" cy="593329"/>
          </a:xfrm>
          <a:prstGeom prst="rect">
            <a:avLst/>
          </a:prstGeom>
          <a:noFill/>
        </p:spPr>
        <p:txBody>
          <a:bodyPr wrap="square" lIns="60958" rIns="60958" tIns="60958" bIns="60958" anchor="ctr"/>
          <a:lstStyle/>
          <a:p>
            <a:pPr algn="l">
              <a:lnSpc>
                <a:spcPct val="110000"/>
              </a:lnSpc>
            </a:pPr>
            <a:r>
              <a:rPr sz="1333" b="0">
                <a:solidFill>
                  <a:srgbClr val="1A1A1A"/>
                </a:solidFill>
                <a:latin typeface="Arial"/>
              </a:rPr>
              <a:t>Turismo, serviços e atividades articuladas a redes digitais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339119" y="2358077"/>
            <a:ext cx="3291757" cy="59332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339119" y="2358077"/>
            <a:ext cx="3291757" cy="593329"/>
          </a:xfrm>
          <a:prstGeom prst="rect">
            <a:avLst/>
          </a:prstGeom>
          <a:noFill/>
        </p:spPr>
        <p:txBody>
          <a:bodyPr wrap="square" lIns="60958" rIns="60958" tIns="60958" bIns="60958" anchor="ctr"/>
          <a:lstStyle/>
          <a:p>
            <a:pPr algn="l">
              <a:lnSpc>
                <a:spcPct val="110000"/>
              </a:lnSpc>
            </a:pPr>
            <a:r>
              <a:rPr sz="1333" b="0">
                <a:solidFill>
                  <a:srgbClr val="1A1A1A"/>
                </a:solidFill>
                <a:latin typeface="Arial"/>
              </a:rPr>
              <a:t>Formas de trabalho e condições de acesso às tecnologias coexistem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48626" y="2987981"/>
            <a:ext cx="1584920" cy="593329"/>
          </a:xfrm>
          <a:prstGeom prst="roundRect">
            <a:avLst>
              <a:gd name="adj" fmla="val 6000"/>
            </a:avLst>
          </a:prstGeom>
          <a:solidFill>
            <a:srgbClr val="F1E7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48626" y="2987981"/>
            <a:ext cx="1584920" cy="593329"/>
          </a:xfrm>
          <a:prstGeom prst="rect">
            <a:avLst/>
          </a:prstGeom>
          <a:noFill/>
        </p:spPr>
        <p:txBody>
          <a:bodyPr wrap="square" lIns="60958" rIns="60958" tIns="60958" bIns="60958" anchor="ctr"/>
          <a:lstStyle/>
          <a:p>
            <a:pPr algn="l">
              <a:lnSpc>
                <a:spcPct val="110000"/>
              </a:lnSpc>
            </a:pPr>
            <a:r>
              <a:rPr sz="1333" b="1">
                <a:solidFill>
                  <a:srgbClr val="1A1A1A"/>
                </a:solidFill>
                <a:latin typeface="Arial"/>
              </a:rPr>
              <a:t>Cultura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2170121" y="2987981"/>
            <a:ext cx="2986965" cy="59332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170121" y="2987981"/>
            <a:ext cx="2986965" cy="593329"/>
          </a:xfrm>
          <a:prstGeom prst="rect">
            <a:avLst/>
          </a:prstGeom>
          <a:noFill/>
        </p:spPr>
        <p:txBody>
          <a:bodyPr wrap="square" lIns="60958" rIns="60958" tIns="60958" bIns="60958" anchor="ctr"/>
          <a:lstStyle/>
          <a:p>
            <a:pPr algn="l">
              <a:lnSpc>
                <a:spcPct val="110000"/>
              </a:lnSpc>
            </a:pPr>
            <a:r>
              <a:rPr sz="1333" b="0">
                <a:solidFill>
                  <a:srgbClr val="1A1A1A"/>
                </a:solidFill>
                <a:latin typeface="Arial"/>
              </a:rPr>
              <a:t>Repertórios transmitidos na convivência comunitária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193662" y="2987981"/>
            <a:ext cx="3108882" cy="59332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193662" y="2987981"/>
            <a:ext cx="3108882" cy="593329"/>
          </a:xfrm>
          <a:prstGeom prst="rect">
            <a:avLst/>
          </a:prstGeom>
          <a:noFill/>
        </p:spPr>
        <p:txBody>
          <a:bodyPr wrap="square" lIns="60958" rIns="60958" tIns="60958" bIns="60958" anchor="ctr"/>
          <a:lstStyle/>
          <a:p>
            <a:pPr algn="l">
              <a:lnSpc>
                <a:spcPct val="110000"/>
              </a:lnSpc>
            </a:pPr>
            <a:r>
              <a:rPr sz="1333" b="0">
                <a:solidFill>
                  <a:srgbClr val="1A1A1A"/>
                </a:solidFill>
                <a:latin typeface="Arial"/>
              </a:rPr>
              <a:t>Diversidade de trajetórias e práticas culturais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339119" y="2987981"/>
            <a:ext cx="3291757" cy="59332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339119" y="2987981"/>
            <a:ext cx="3291757" cy="593329"/>
          </a:xfrm>
          <a:prstGeom prst="rect">
            <a:avLst/>
          </a:prstGeom>
          <a:noFill/>
        </p:spPr>
        <p:txBody>
          <a:bodyPr wrap="square" lIns="60958" rIns="60958" tIns="60958" bIns="60958" anchor="ctr"/>
          <a:lstStyle/>
          <a:p>
            <a:pPr algn="l">
              <a:lnSpc>
                <a:spcPct val="110000"/>
              </a:lnSpc>
            </a:pPr>
            <a:r>
              <a:rPr sz="1333" b="0">
                <a:solidFill>
                  <a:srgbClr val="1A1A1A"/>
                </a:solidFill>
                <a:latin typeface="Arial"/>
              </a:rPr>
              <a:t>Repertórios diferentes integram o cotidiano escolar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548626" y="3617885"/>
            <a:ext cx="1584920" cy="816843"/>
          </a:xfrm>
          <a:prstGeom prst="roundRect">
            <a:avLst>
              <a:gd name="adj" fmla="val 6000"/>
            </a:avLst>
          </a:prstGeom>
          <a:solidFill>
            <a:srgbClr val="F1E7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48626" y="3617885"/>
            <a:ext cx="1584920" cy="816843"/>
          </a:xfrm>
          <a:prstGeom prst="rect">
            <a:avLst/>
          </a:prstGeom>
          <a:noFill/>
        </p:spPr>
        <p:txBody>
          <a:bodyPr wrap="square" lIns="60958" rIns="60958" tIns="60958" bIns="60958" anchor="ctr"/>
          <a:lstStyle/>
          <a:p>
            <a:pPr algn="l">
              <a:lnSpc>
                <a:spcPct val="110000"/>
              </a:lnSpc>
            </a:pPr>
            <a:r>
              <a:rPr sz="1333" b="1">
                <a:solidFill>
                  <a:srgbClr val="1A1A1A"/>
                </a:solidFill>
                <a:latin typeface="Arial"/>
              </a:rPr>
              <a:t>Tecnologia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2170121" y="3617885"/>
            <a:ext cx="2986965" cy="816843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2170121" y="3617885"/>
            <a:ext cx="2986965" cy="816843"/>
          </a:xfrm>
          <a:prstGeom prst="rect">
            <a:avLst/>
          </a:prstGeom>
          <a:noFill/>
        </p:spPr>
        <p:txBody>
          <a:bodyPr wrap="square" lIns="60958" rIns="60958" tIns="60958" bIns="60958" anchor="ctr"/>
          <a:lstStyle/>
          <a:p>
            <a:pPr algn="l">
              <a:lnSpc>
                <a:spcPct val="110000"/>
              </a:lnSpc>
            </a:pPr>
            <a:r>
              <a:rPr sz="1333" b="0">
                <a:solidFill>
                  <a:srgbClr val="1A1A1A"/>
                </a:solidFill>
                <a:latin typeface="Arial"/>
              </a:rPr>
              <a:t>Presença reduzida nas atividades registradas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5193662" y="3617885"/>
            <a:ext cx="3108882" cy="816843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193662" y="3617885"/>
            <a:ext cx="3108882" cy="816843"/>
          </a:xfrm>
          <a:prstGeom prst="rect">
            <a:avLst/>
          </a:prstGeom>
          <a:noFill/>
        </p:spPr>
        <p:txBody>
          <a:bodyPr wrap="square" lIns="60958" rIns="60958" tIns="60958" bIns="60958" anchor="ctr"/>
          <a:lstStyle/>
          <a:p>
            <a:pPr algn="l">
              <a:lnSpc>
                <a:spcPct val="110000"/>
              </a:lnSpc>
            </a:pPr>
            <a:r>
              <a:rPr sz="1333" b="0">
                <a:solidFill>
                  <a:srgbClr val="1A1A1A"/>
                </a:solidFill>
                <a:latin typeface="Arial"/>
              </a:rPr>
              <a:t>Tecnologias nas atividades econômicas, sociais e comunicacionais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8339119" y="3617885"/>
            <a:ext cx="3291757" cy="816843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339119" y="3617885"/>
            <a:ext cx="3291757" cy="816843"/>
          </a:xfrm>
          <a:prstGeom prst="rect">
            <a:avLst/>
          </a:prstGeom>
          <a:noFill/>
        </p:spPr>
        <p:txBody>
          <a:bodyPr wrap="square" lIns="60958" rIns="60958" tIns="60958" bIns="60958" anchor="ctr"/>
          <a:lstStyle/>
          <a:p>
            <a:pPr algn="l">
              <a:lnSpc>
                <a:spcPct val="110000"/>
              </a:lnSpc>
            </a:pPr>
            <a:r>
              <a:rPr sz="1333" b="0">
                <a:solidFill>
                  <a:srgbClr val="1A1A1A"/>
                </a:solidFill>
                <a:latin typeface="Arial"/>
              </a:rPr>
              <a:t>Presença no território não implica uso pedagógico equivalente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548626" y="4471304"/>
            <a:ext cx="1584920" cy="593329"/>
          </a:xfrm>
          <a:prstGeom prst="roundRect">
            <a:avLst>
              <a:gd name="adj" fmla="val 6000"/>
            </a:avLst>
          </a:prstGeom>
          <a:solidFill>
            <a:srgbClr val="F1E7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48626" y="4471304"/>
            <a:ext cx="1584920" cy="593329"/>
          </a:xfrm>
          <a:prstGeom prst="rect">
            <a:avLst/>
          </a:prstGeom>
          <a:noFill/>
        </p:spPr>
        <p:txBody>
          <a:bodyPr wrap="square" lIns="60958" rIns="60958" tIns="60958" bIns="60958" anchor="ctr"/>
          <a:lstStyle/>
          <a:p>
            <a:pPr algn="l">
              <a:lnSpc>
                <a:spcPct val="110000"/>
              </a:lnSpc>
            </a:pPr>
            <a:r>
              <a:rPr sz="1333" b="1">
                <a:solidFill>
                  <a:srgbClr val="1A1A1A"/>
                </a:solidFill>
                <a:latin typeface="Arial"/>
              </a:rPr>
              <a:t>Demografia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2170121" y="4471304"/>
            <a:ext cx="2986965" cy="59332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2170121" y="4471304"/>
            <a:ext cx="2986965" cy="593329"/>
          </a:xfrm>
          <a:prstGeom prst="rect">
            <a:avLst/>
          </a:prstGeom>
          <a:noFill/>
        </p:spPr>
        <p:txBody>
          <a:bodyPr wrap="square" lIns="60958" rIns="60958" tIns="60958" bIns="60958" anchor="ctr"/>
          <a:lstStyle/>
          <a:p>
            <a:pPr algn="l">
              <a:lnSpc>
                <a:spcPct val="110000"/>
              </a:lnSpc>
            </a:pPr>
            <a:r>
              <a:rPr sz="1333" b="0">
                <a:solidFill>
                  <a:srgbClr val="1A1A1A"/>
                </a:solidFill>
                <a:latin typeface="Arial"/>
              </a:rPr>
              <a:t>Moradores ligados às trajetórias da vila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5193662" y="4471304"/>
            <a:ext cx="3108882" cy="59332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5193662" y="4471304"/>
            <a:ext cx="3108882" cy="593329"/>
          </a:xfrm>
          <a:prstGeom prst="rect">
            <a:avLst/>
          </a:prstGeom>
          <a:noFill/>
        </p:spPr>
        <p:txBody>
          <a:bodyPr wrap="square" lIns="60958" rIns="60958" tIns="60958" bIns="60958" anchor="ctr"/>
          <a:lstStyle/>
          <a:p>
            <a:pPr algn="l">
              <a:lnSpc>
                <a:spcPct val="110000"/>
              </a:lnSpc>
            </a:pPr>
            <a:r>
              <a:rPr sz="1333" b="0">
                <a:solidFill>
                  <a:srgbClr val="1A1A1A"/>
                </a:solidFill>
                <a:latin typeface="Arial"/>
              </a:rPr>
              <a:t>Mais diversidade de moradores, trabalhadores e visitantes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8339119" y="4471304"/>
            <a:ext cx="3291757" cy="59332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8339119" y="4471304"/>
            <a:ext cx="3291757" cy="593329"/>
          </a:xfrm>
          <a:prstGeom prst="rect">
            <a:avLst/>
          </a:prstGeom>
          <a:noFill/>
        </p:spPr>
        <p:txBody>
          <a:bodyPr wrap="square" lIns="60958" rIns="60958" tIns="60958" bIns="60958" anchor="ctr"/>
          <a:lstStyle/>
          <a:p>
            <a:pPr algn="l">
              <a:lnSpc>
                <a:spcPct val="110000"/>
              </a:lnSpc>
            </a:pPr>
            <a:r>
              <a:rPr sz="1333" b="0">
                <a:solidFill>
                  <a:srgbClr val="1A1A1A"/>
                </a:solidFill>
                <a:latin typeface="Arial"/>
              </a:rPr>
              <a:t>Diversidade social, linguística e cultural na escola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548626" y="5101208"/>
            <a:ext cx="1584920" cy="593329"/>
          </a:xfrm>
          <a:prstGeom prst="roundRect">
            <a:avLst>
              <a:gd name="adj" fmla="val 6000"/>
            </a:avLst>
          </a:prstGeom>
          <a:solidFill>
            <a:srgbClr val="F1E7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548626" y="5101208"/>
            <a:ext cx="1584920" cy="593329"/>
          </a:xfrm>
          <a:prstGeom prst="rect">
            <a:avLst/>
          </a:prstGeom>
          <a:noFill/>
        </p:spPr>
        <p:txBody>
          <a:bodyPr wrap="square" lIns="60958" rIns="60958" tIns="60958" bIns="60958" anchor="ctr"/>
          <a:lstStyle/>
          <a:p>
            <a:pPr algn="l">
              <a:lnSpc>
                <a:spcPct val="110000"/>
              </a:lnSpc>
            </a:pPr>
            <a:r>
              <a:rPr sz="1333" b="1">
                <a:solidFill>
                  <a:srgbClr val="1A1A1A"/>
                </a:solidFill>
                <a:latin typeface="Arial"/>
              </a:rPr>
              <a:t>Infância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2170121" y="5101208"/>
            <a:ext cx="2986965" cy="59332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2170121" y="5101208"/>
            <a:ext cx="2986965" cy="593329"/>
          </a:xfrm>
          <a:prstGeom prst="rect">
            <a:avLst/>
          </a:prstGeom>
          <a:noFill/>
        </p:spPr>
        <p:txBody>
          <a:bodyPr wrap="square" lIns="60958" rIns="60958" tIns="60958" bIns="60958" anchor="ctr"/>
          <a:lstStyle/>
          <a:p>
            <a:pPr algn="l">
              <a:lnSpc>
                <a:spcPct val="110000"/>
              </a:lnSpc>
            </a:pPr>
            <a:r>
              <a:rPr sz="1333" b="0">
                <a:solidFill>
                  <a:srgbClr val="1A1A1A"/>
                </a:solidFill>
                <a:latin typeface="Arial"/>
              </a:rPr>
              <a:t>Experiências no espaço público local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5193662" y="5101208"/>
            <a:ext cx="3108882" cy="59332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5193662" y="5101208"/>
            <a:ext cx="3108882" cy="593329"/>
          </a:xfrm>
          <a:prstGeom prst="rect">
            <a:avLst/>
          </a:prstGeom>
          <a:noFill/>
        </p:spPr>
        <p:txBody>
          <a:bodyPr wrap="square" lIns="60958" rIns="60958" tIns="60958" bIns="60958" anchor="ctr"/>
          <a:lstStyle/>
          <a:p>
            <a:pPr algn="l">
              <a:lnSpc>
                <a:spcPct val="110000"/>
              </a:lnSpc>
            </a:pPr>
            <a:r>
              <a:rPr sz="1333" b="0">
                <a:solidFill>
                  <a:srgbClr val="1A1A1A"/>
                </a:solidFill>
                <a:latin typeface="Arial"/>
              </a:rPr>
              <a:t>Experiências atravessadas por mediações digitais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8339119" y="5101208"/>
            <a:ext cx="3291757" cy="59332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8339119" y="5101208"/>
            <a:ext cx="3291757" cy="593329"/>
          </a:xfrm>
          <a:prstGeom prst="rect">
            <a:avLst/>
          </a:prstGeom>
          <a:noFill/>
        </p:spPr>
        <p:txBody>
          <a:bodyPr wrap="square" lIns="60958" rIns="60958" tIns="60958" bIns="60958" anchor="ctr"/>
          <a:lstStyle/>
          <a:p>
            <a:pPr algn="l">
              <a:lnSpc>
                <a:spcPct val="110000"/>
              </a:lnSpc>
            </a:pPr>
            <a:r>
              <a:rPr sz="1333" b="0">
                <a:solidFill>
                  <a:srgbClr val="1A1A1A"/>
                </a:solidFill>
                <a:latin typeface="Arial"/>
              </a:rPr>
              <a:t>Condições desiguais de acesso são o ponto de partida da Educação Digital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609584" y="6431119"/>
            <a:ext cx="10972525" cy="304792"/>
          </a:xfrm>
          <a:prstGeom prst="rect">
            <a:avLst/>
          </a:prstGeom>
          <a:noFill/>
        </p:spPr>
        <p:txBody>
          <a:bodyPr wrap="square" lIns="73150" rIns="73150" tIns="73150" bIns="73150" anchor="ctr"/>
          <a:lstStyle/>
          <a:p>
            <a:pPr algn="l">
              <a:lnSpc>
                <a:spcPct val="100000"/>
              </a:lnSpc>
            </a:pPr>
            <a:r>
              <a:rPr sz="999" b="1">
                <a:solidFill>
                  <a:srgbClr val="FFFFFF"/>
                </a:solidFill>
                <a:latin typeface="Arial"/>
              </a:rPr>
              <a:t>Fundamentos: </a:t>
            </a:r>
            <a:r>
              <a:rPr sz="999" b="0">
                <a:solidFill>
                  <a:srgbClr val="FFFFFF"/>
                </a:solidFill>
                <a:latin typeface="Arial"/>
              </a:rPr>
              <a:t>Quadro 16 (Cap. 6), sintetizado. Santos (2006); Massey (2008); Castells (2013).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7828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304792" y="152396"/>
            <a:ext cx="2804089" cy="365750"/>
          </a:xfrm>
          <a:prstGeom prst="roundRect">
            <a:avLst>
              <a:gd name="adj" fmla="val 40000"/>
            </a:avLst>
          </a:prstGeom>
          <a:solidFill>
            <a:srgbClr val="FFCE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04792" y="152396"/>
            <a:ext cx="2804089" cy="365750"/>
          </a:xfrm>
          <a:prstGeom prst="rect">
            <a:avLst/>
          </a:prstGeom>
          <a:noFill/>
        </p:spPr>
        <p:txBody>
          <a:bodyPr wrap="square" lIns="30479" rIns="30479" tIns="30479" bIns="30479" anchor="ctr"/>
          <a:lstStyle/>
          <a:p>
            <a:pPr algn="ctr">
              <a:lnSpc>
                <a:spcPct val="100000"/>
              </a:lnSpc>
            </a:pPr>
            <a:r>
              <a:rPr sz="1066" b="1">
                <a:solidFill>
                  <a:srgbClr val="1A1A1A"/>
                </a:solidFill>
                <a:latin typeface="Arial"/>
              </a:rPr>
              <a:t>6 · TERRITÓRIO: RESULTADOS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584" y="335271"/>
            <a:ext cx="10972525" cy="914377"/>
          </a:xfrm>
          <a:prstGeom prst="rect">
            <a:avLst/>
          </a:prstGeom>
          <a:noFill/>
        </p:spPr>
        <p:txBody>
          <a:bodyPr wrap="square" lIns="73150" rIns="73150" tIns="73150" bIns="73150" anchor="ctr"/>
          <a:lstStyle/>
          <a:p>
            <a:pPr algn="ctr">
              <a:lnSpc>
                <a:spcPct val="100000"/>
              </a:lnSpc>
            </a:pPr>
            <a:r>
              <a:rPr sz="3466" b="1">
                <a:solidFill>
                  <a:srgbClr val="FFFFFF"/>
                </a:solidFill>
                <a:latin typeface="Arial"/>
              </a:rPr>
              <a:t>A ESCOLA: O QUE AS IMAGENS MOSTRAM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75476" y="1328894"/>
            <a:ext cx="2645597" cy="2828473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Fachada (Figura 22)"/>
          <p:cNvPicPr>
            <a:picLocks noChangeAspect="1"/>
          </p:cNvPicPr>
          <p:nvPr/>
        </p:nvPicPr>
        <p:blipFill>
          <a:blip r:embed="rId3"/>
          <a:srcRect l="17969" r="17969"/>
          <a:stretch>
            <a:fillRect/>
          </a:stretch>
        </p:blipFill>
        <p:spPr>
          <a:xfrm>
            <a:off x="548626" y="1402044"/>
            <a:ext cx="2499297" cy="2194505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48626" y="3608741"/>
            <a:ext cx="2499297" cy="487667"/>
          </a:xfrm>
          <a:prstGeom prst="rect">
            <a:avLst/>
          </a:prstGeom>
          <a:noFill/>
        </p:spPr>
        <p:txBody>
          <a:bodyPr wrap="square" lIns="12191" rIns="12191" tIns="12191" bIns="12191" anchor="ctr"/>
          <a:lstStyle/>
          <a:p>
            <a:pPr algn="l">
              <a:lnSpc>
                <a:spcPct val="100000"/>
              </a:lnSpc>
            </a:pPr>
            <a:r>
              <a:rPr sz="999" b="0">
                <a:solidFill>
                  <a:srgbClr val="1A1A1A"/>
                </a:solidFill>
                <a:latin typeface="Arial"/>
              </a:rPr>
              <a:t>Fachada (Figura 22)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75476" y="4267093"/>
            <a:ext cx="2645597" cy="1371565"/>
          </a:xfrm>
          <a:prstGeom prst="roundRect">
            <a:avLst>
              <a:gd name="adj" fmla="val 6000"/>
            </a:avLst>
          </a:prstGeom>
          <a:solidFill>
            <a:srgbClr val="FFCE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26" y="4297572"/>
            <a:ext cx="2499297" cy="1310607"/>
          </a:xfrm>
          <a:prstGeom prst="rect">
            <a:avLst/>
          </a:prstGeom>
          <a:noFill/>
        </p:spPr>
        <p:txBody>
          <a:bodyPr wrap="square" lIns="73150" rIns="73150" tIns="73150" bIns="73150" anchor="ctr"/>
          <a:lstStyle/>
          <a:p>
            <a:pPr algn="l">
              <a:lnSpc>
                <a:spcPct val="115000"/>
              </a:lnSpc>
            </a:pPr>
            <a:r>
              <a:rPr sz="1266" b="0">
                <a:solidFill>
                  <a:srgbClr val="1A1A1A"/>
                </a:solidFill>
                <a:latin typeface="Arial"/>
              </a:rPr>
              <a:t>Piso tátil na entrada; a placa situa a escola na rede de Tibau do Sul.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279566" y="1328894"/>
            <a:ext cx="2645597" cy="2828473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Corredor coberto (Figura 23)"/>
          <p:cNvPicPr>
            <a:picLocks noChangeAspect="1"/>
          </p:cNvPicPr>
          <p:nvPr/>
        </p:nvPicPr>
        <p:blipFill>
          <a:blip r:embed="rId4"/>
          <a:srcRect t="25362" b="25362"/>
          <a:stretch>
            <a:fillRect/>
          </a:stretch>
        </p:blipFill>
        <p:spPr>
          <a:xfrm>
            <a:off x="3352716" y="1402044"/>
            <a:ext cx="2499297" cy="2194505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3352716" y="3608741"/>
            <a:ext cx="2499297" cy="487667"/>
          </a:xfrm>
          <a:prstGeom prst="rect">
            <a:avLst/>
          </a:prstGeom>
          <a:noFill/>
        </p:spPr>
        <p:txBody>
          <a:bodyPr wrap="square" lIns="12191" rIns="12191" tIns="12191" bIns="12191" anchor="ctr"/>
          <a:lstStyle/>
          <a:p>
            <a:pPr algn="l">
              <a:lnSpc>
                <a:spcPct val="100000"/>
              </a:lnSpc>
            </a:pPr>
            <a:r>
              <a:rPr sz="999" b="0">
                <a:solidFill>
                  <a:srgbClr val="1A1A1A"/>
                </a:solidFill>
                <a:latin typeface="Arial"/>
              </a:rPr>
              <a:t>Corredor coberto (Figura 23)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279566" y="4267093"/>
            <a:ext cx="2645597" cy="1371565"/>
          </a:xfrm>
          <a:prstGeom prst="roundRect">
            <a:avLst>
              <a:gd name="adj" fmla="val 6000"/>
            </a:avLst>
          </a:prstGeom>
          <a:solidFill>
            <a:srgbClr val="FFCE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352716" y="4297572"/>
            <a:ext cx="2499297" cy="1310607"/>
          </a:xfrm>
          <a:prstGeom prst="rect">
            <a:avLst/>
          </a:prstGeom>
          <a:noFill/>
        </p:spPr>
        <p:txBody>
          <a:bodyPr wrap="square" lIns="73150" rIns="73150" tIns="73150" bIns="73150" anchor="ctr"/>
          <a:lstStyle/>
          <a:p>
            <a:pPr algn="l">
              <a:lnSpc>
                <a:spcPct val="115000"/>
              </a:lnSpc>
            </a:pPr>
            <a:r>
              <a:rPr sz="1266" b="0">
                <a:solidFill>
                  <a:srgbClr val="1A1A1A"/>
                </a:solidFill>
                <a:latin typeface="Arial"/>
              </a:rPr>
              <a:t>Acessibilidade, cobogós e coleta seletiva no percurso.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083655" y="1328894"/>
            <a:ext cx="2645597" cy="2828473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Parque na restinga (Figura 24)"/>
          <p:cNvPicPr>
            <a:picLocks noChangeAspect="1"/>
          </p:cNvPicPr>
          <p:nvPr/>
        </p:nvPicPr>
        <p:blipFill>
          <a:blip r:embed="rId5"/>
          <a:srcRect t="25305" b="25305"/>
          <a:stretch>
            <a:fillRect/>
          </a:stretch>
        </p:blipFill>
        <p:spPr>
          <a:xfrm>
            <a:off x="6156806" y="1402044"/>
            <a:ext cx="2499297" cy="2194505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6156806" y="3608741"/>
            <a:ext cx="2499297" cy="487667"/>
          </a:xfrm>
          <a:prstGeom prst="rect">
            <a:avLst/>
          </a:prstGeom>
          <a:noFill/>
        </p:spPr>
        <p:txBody>
          <a:bodyPr wrap="square" lIns="12191" rIns="12191" tIns="12191" bIns="12191" anchor="ctr"/>
          <a:lstStyle/>
          <a:p>
            <a:pPr algn="l">
              <a:lnSpc>
                <a:spcPct val="100000"/>
              </a:lnSpc>
            </a:pPr>
            <a:r>
              <a:rPr sz="999" b="0">
                <a:solidFill>
                  <a:srgbClr val="1A1A1A"/>
                </a:solidFill>
                <a:latin typeface="Arial"/>
              </a:rPr>
              <a:t>Parque na restinga (Figura 24)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083655" y="4267093"/>
            <a:ext cx="2645597" cy="1371565"/>
          </a:xfrm>
          <a:prstGeom prst="roundRect">
            <a:avLst>
              <a:gd name="adj" fmla="val 6000"/>
            </a:avLst>
          </a:prstGeom>
          <a:solidFill>
            <a:srgbClr val="FFCE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156806" y="4297572"/>
            <a:ext cx="2499297" cy="1310607"/>
          </a:xfrm>
          <a:prstGeom prst="rect">
            <a:avLst/>
          </a:prstGeom>
          <a:noFill/>
        </p:spPr>
        <p:txBody>
          <a:bodyPr wrap="square" lIns="73150" rIns="73150" tIns="73150" bIns="73150" anchor="ctr"/>
          <a:lstStyle/>
          <a:p>
            <a:pPr algn="l">
              <a:lnSpc>
                <a:spcPct val="115000"/>
              </a:lnSpc>
            </a:pPr>
            <a:r>
              <a:rPr sz="1266" b="0">
                <a:solidFill>
                  <a:srgbClr val="1A1A1A"/>
                </a:solidFill>
                <a:latin typeface="Arial"/>
              </a:rPr>
              <a:t>Brincadeira e convivência ligadas ao lugar, sem depender de tecnologia.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887745" y="1328894"/>
            <a:ext cx="2645597" cy="2828473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Picture 21" descr="Pátio em festa junina (Figura 29)"/>
          <p:cNvPicPr>
            <a:picLocks noChangeAspect="1"/>
          </p:cNvPicPr>
          <p:nvPr/>
        </p:nvPicPr>
        <p:blipFill>
          <a:blip r:embed="rId6"/>
          <a:srcRect l="17969" r="17969"/>
          <a:stretch>
            <a:fillRect/>
          </a:stretch>
        </p:blipFill>
        <p:spPr>
          <a:xfrm>
            <a:off x="8960895" y="1402044"/>
            <a:ext cx="2499297" cy="2194505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8960895" y="3608741"/>
            <a:ext cx="2499297" cy="487667"/>
          </a:xfrm>
          <a:prstGeom prst="rect">
            <a:avLst/>
          </a:prstGeom>
          <a:noFill/>
        </p:spPr>
        <p:txBody>
          <a:bodyPr wrap="square" lIns="12191" rIns="12191" tIns="12191" bIns="12191" anchor="ctr"/>
          <a:lstStyle/>
          <a:p>
            <a:pPr algn="l">
              <a:lnSpc>
                <a:spcPct val="100000"/>
              </a:lnSpc>
            </a:pPr>
            <a:r>
              <a:rPr sz="999" b="0">
                <a:solidFill>
                  <a:srgbClr val="1A1A1A"/>
                </a:solidFill>
                <a:latin typeface="Arial"/>
              </a:rPr>
              <a:t>Pátio em festa junina (Figura 29)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887745" y="4267093"/>
            <a:ext cx="2645597" cy="1371565"/>
          </a:xfrm>
          <a:prstGeom prst="roundRect">
            <a:avLst>
              <a:gd name="adj" fmla="val 6000"/>
            </a:avLst>
          </a:prstGeom>
          <a:solidFill>
            <a:srgbClr val="FFCE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960895" y="4297572"/>
            <a:ext cx="2499297" cy="1310607"/>
          </a:xfrm>
          <a:prstGeom prst="rect">
            <a:avLst/>
          </a:prstGeom>
          <a:noFill/>
        </p:spPr>
        <p:txBody>
          <a:bodyPr wrap="square" lIns="73150" rIns="73150" tIns="73150" bIns="73150" anchor="ctr"/>
          <a:lstStyle/>
          <a:p>
            <a:pPr algn="l">
              <a:lnSpc>
                <a:spcPct val="115000"/>
              </a:lnSpc>
            </a:pPr>
            <a:r>
              <a:rPr sz="1266" b="0">
                <a:solidFill>
                  <a:srgbClr val="1A1A1A"/>
                </a:solidFill>
                <a:latin typeface="Arial"/>
              </a:rPr>
              <a:t>Espaços coletivos de convivência e celebração.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48626" y="5760575"/>
            <a:ext cx="11094442" cy="579105"/>
          </a:xfrm>
          <a:prstGeom prst="roundRect">
            <a:avLst>
              <a:gd name="adj" fmla="val 30000"/>
            </a:avLst>
          </a:prstGeom>
          <a:solidFill>
            <a:srgbClr val="F1E7D9"/>
          </a:solidFill>
          <a:ln w="25399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31501" y="5760575"/>
            <a:ext cx="10728691" cy="579105"/>
          </a:xfrm>
          <a:prstGeom prst="rect">
            <a:avLst/>
          </a:prstGeom>
          <a:noFill/>
        </p:spPr>
        <p:txBody>
          <a:bodyPr wrap="square" lIns="73150" rIns="73150" tIns="73150" bIns="73150" anchor="ctr"/>
          <a:lstStyle/>
          <a:p>
            <a:pPr algn="ctr">
              <a:lnSpc>
                <a:spcPct val="100000"/>
              </a:lnSpc>
            </a:pPr>
            <a:r>
              <a:rPr sz="1333" b="0">
                <a:solidFill>
                  <a:srgbClr val="1A1A1A"/>
                </a:solidFill>
                <a:latin typeface="Arial"/>
              </a:rPr>
              <a:t>As condições materiais da escola vão além da ausência de recursos. Cabe ver como estão distribuídas.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09584" y="6431119"/>
            <a:ext cx="10972525" cy="304792"/>
          </a:xfrm>
          <a:prstGeom prst="rect">
            <a:avLst/>
          </a:prstGeom>
          <a:noFill/>
        </p:spPr>
        <p:txBody>
          <a:bodyPr wrap="square" lIns="73150" rIns="73150" tIns="73150" bIns="73150" anchor="ctr"/>
          <a:lstStyle/>
          <a:p>
            <a:pPr algn="l">
              <a:lnSpc>
                <a:spcPct val="100000"/>
              </a:lnSpc>
            </a:pPr>
            <a:r>
              <a:rPr sz="999" b="1">
                <a:solidFill>
                  <a:srgbClr val="FFFFFF"/>
                </a:solidFill>
                <a:latin typeface="Arial"/>
              </a:rPr>
              <a:t>Fundamentos: </a:t>
            </a:r>
            <a:r>
              <a:rPr sz="999" b="0">
                <a:solidFill>
                  <a:srgbClr val="FFFFFF"/>
                </a:solidFill>
                <a:latin typeface="Arial"/>
              </a:rPr>
              <a:t>Massey (2008); Santos (2006); Dornelles (2005): infâncias plurais. Fonte: acervo da pesquisa (2026).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7828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304792" y="152396"/>
            <a:ext cx="2804089" cy="365750"/>
          </a:xfrm>
          <a:prstGeom prst="roundRect">
            <a:avLst>
              <a:gd name="adj" fmla="val 40000"/>
            </a:avLst>
          </a:prstGeom>
          <a:solidFill>
            <a:srgbClr val="FFCE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04792" y="152396"/>
            <a:ext cx="2804089" cy="365750"/>
          </a:xfrm>
          <a:prstGeom prst="rect">
            <a:avLst/>
          </a:prstGeom>
          <a:noFill/>
        </p:spPr>
        <p:txBody>
          <a:bodyPr wrap="square" lIns="30479" rIns="30479" tIns="30479" bIns="30479" anchor="ctr"/>
          <a:lstStyle/>
          <a:p>
            <a:pPr algn="ctr">
              <a:lnSpc>
                <a:spcPct val="100000"/>
              </a:lnSpc>
            </a:pPr>
            <a:r>
              <a:rPr sz="1066" b="1">
                <a:solidFill>
                  <a:srgbClr val="1A1A1A"/>
                </a:solidFill>
                <a:latin typeface="Arial"/>
              </a:rPr>
              <a:t>6 · TERRITÓRIO: RESULTADOS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584" y="335271"/>
            <a:ext cx="10972525" cy="914377"/>
          </a:xfrm>
          <a:prstGeom prst="rect">
            <a:avLst/>
          </a:prstGeom>
          <a:noFill/>
        </p:spPr>
        <p:txBody>
          <a:bodyPr wrap="square" lIns="73150" rIns="73150" tIns="73150" bIns="73150" anchor="ctr"/>
          <a:lstStyle/>
          <a:p>
            <a:pPr algn="ctr">
              <a:lnSpc>
                <a:spcPct val="100000"/>
              </a:lnSpc>
            </a:pPr>
            <a:r>
              <a:rPr sz="3599" b="1">
                <a:solidFill>
                  <a:srgbClr val="FFFFFF"/>
                </a:solidFill>
                <a:latin typeface="Arial"/>
              </a:rPr>
              <a:t>ONDE ESTÃO OS RECURSOS?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75476" y="1298415"/>
            <a:ext cx="3559974" cy="2645597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Corredor administrativo (Figura 28)"/>
          <p:cNvPicPr>
            <a:picLocks noChangeAspect="1"/>
          </p:cNvPicPr>
          <p:nvPr/>
        </p:nvPicPr>
        <p:blipFill>
          <a:blip r:embed="rId3"/>
          <a:srcRect t="33426" b="33426"/>
          <a:stretch>
            <a:fillRect/>
          </a:stretch>
        </p:blipFill>
        <p:spPr>
          <a:xfrm>
            <a:off x="548626" y="1371565"/>
            <a:ext cx="3413674" cy="2011629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48626" y="3395387"/>
            <a:ext cx="3413674" cy="487667"/>
          </a:xfrm>
          <a:prstGeom prst="rect">
            <a:avLst/>
          </a:prstGeom>
          <a:noFill/>
        </p:spPr>
        <p:txBody>
          <a:bodyPr wrap="square" lIns="12191" rIns="12191" tIns="12191" bIns="12191" anchor="ctr"/>
          <a:lstStyle/>
          <a:p>
            <a:pPr algn="l">
              <a:lnSpc>
                <a:spcPct val="100000"/>
              </a:lnSpc>
            </a:pPr>
            <a:r>
              <a:rPr sz="999" b="0">
                <a:solidFill>
                  <a:srgbClr val="1A1A1A"/>
                </a:solidFill>
                <a:latin typeface="Arial"/>
              </a:rPr>
              <a:t>Corredor administrativo (Figura 28)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75476" y="3962300"/>
            <a:ext cx="3559974" cy="1493482"/>
          </a:xfrm>
          <a:prstGeom prst="roundRect">
            <a:avLst>
              <a:gd name="adj" fmla="val 6000"/>
            </a:avLst>
          </a:prstGeom>
          <a:solidFill>
            <a:srgbClr val="FFCE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26" y="3992780"/>
            <a:ext cx="3413674" cy="1432524"/>
          </a:xfrm>
          <a:prstGeom prst="rect">
            <a:avLst/>
          </a:prstGeom>
          <a:noFill/>
        </p:spPr>
        <p:txBody>
          <a:bodyPr wrap="square" lIns="73150" rIns="73150" tIns="73150" bIns="73150" anchor="ctr"/>
          <a:lstStyle/>
          <a:p>
            <a:pPr algn="l">
              <a:lnSpc>
                <a:spcPct val="115000"/>
              </a:lnSpc>
            </a:pPr>
            <a:r>
              <a:rPr sz="1199" b="0">
                <a:solidFill>
                  <a:srgbClr val="1A1A1A"/>
                </a:solidFill>
                <a:latin typeface="Arial"/>
              </a:rPr>
              <a:t>No enquadramento, há ar-condicionado nas salas da equipe; nos demais ambientes, nenhum aparelho. As razões, a fotografia não revela.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24422" y="1298415"/>
            <a:ext cx="3559974" cy="2645597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Sala dos professores (Figura 31)"/>
          <p:cNvPicPr>
            <a:picLocks noChangeAspect="1"/>
          </p:cNvPicPr>
          <p:nvPr/>
        </p:nvPicPr>
        <p:blipFill>
          <a:blip r:embed="rId4"/>
          <a:srcRect t="33426" b="33426"/>
          <a:stretch>
            <a:fillRect/>
          </a:stretch>
        </p:blipFill>
        <p:spPr>
          <a:xfrm>
            <a:off x="4297572" y="1371565"/>
            <a:ext cx="3413674" cy="2011629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4297572" y="3395387"/>
            <a:ext cx="3413674" cy="487667"/>
          </a:xfrm>
          <a:prstGeom prst="rect">
            <a:avLst/>
          </a:prstGeom>
          <a:noFill/>
        </p:spPr>
        <p:txBody>
          <a:bodyPr wrap="square" lIns="12191" rIns="12191" tIns="12191" bIns="12191" anchor="ctr"/>
          <a:lstStyle/>
          <a:p>
            <a:pPr algn="l">
              <a:lnSpc>
                <a:spcPct val="100000"/>
              </a:lnSpc>
            </a:pPr>
            <a:r>
              <a:rPr sz="999" b="0">
                <a:solidFill>
                  <a:srgbClr val="1A1A1A"/>
                </a:solidFill>
                <a:latin typeface="Arial"/>
              </a:rPr>
              <a:t>Sala dos professores (Figura 31)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24422" y="3962300"/>
            <a:ext cx="3559974" cy="1493482"/>
          </a:xfrm>
          <a:prstGeom prst="roundRect">
            <a:avLst>
              <a:gd name="adj" fmla="val 6000"/>
            </a:avLst>
          </a:prstGeom>
          <a:solidFill>
            <a:srgbClr val="FFCE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297572" y="3992780"/>
            <a:ext cx="3413674" cy="1432524"/>
          </a:xfrm>
          <a:prstGeom prst="rect">
            <a:avLst/>
          </a:prstGeom>
          <a:noFill/>
        </p:spPr>
        <p:txBody>
          <a:bodyPr wrap="square" lIns="73150" rIns="73150" tIns="73150" bIns="73150" anchor="ctr"/>
          <a:lstStyle/>
          <a:p>
            <a:pPr algn="l">
              <a:lnSpc>
                <a:spcPct val="115000"/>
              </a:lnSpc>
            </a:pPr>
            <a:r>
              <a:rPr sz="1199" b="0">
                <a:solidFill>
                  <a:srgbClr val="1A1A1A"/>
                </a:solidFill>
                <a:latin typeface="Arial"/>
              </a:rPr>
              <a:t>O único computador registrado está no espaço de trabalho da equipe. Nenhum equipamento semelhante aparece nas salas.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973368" y="1298415"/>
            <a:ext cx="3559974" cy="2645597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Laboratório (Figura 25)"/>
          <p:cNvPicPr>
            <a:picLocks noChangeAspect="1"/>
          </p:cNvPicPr>
          <p:nvPr/>
        </p:nvPicPr>
        <p:blipFill>
          <a:blip r:embed="rId5"/>
          <a:srcRect l="2273" r="2273"/>
          <a:stretch>
            <a:fillRect/>
          </a:stretch>
        </p:blipFill>
        <p:spPr>
          <a:xfrm>
            <a:off x="8046518" y="1371565"/>
            <a:ext cx="3413674" cy="2011629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8046518" y="3395387"/>
            <a:ext cx="3413674" cy="487667"/>
          </a:xfrm>
          <a:prstGeom prst="rect">
            <a:avLst/>
          </a:prstGeom>
          <a:noFill/>
        </p:spPr>
        <p:txBody>
          <a:bodyPr wrap="square" lIns="12191" rIns="12191" tIns="12191" bIns="12191" anchor="ctr"/>
          <a:lstStyle/>
          <a:p>
            <a:pPr algn="l">
              <a:lnSpc>
                <a:spcPct val="100000"/>
              </a:lnSpc>
            </a:pPr>
            <a:r>
              <a:rPr sz="999" b="0">
                <a:solidFill>
                  <a:srgbClr val="1A1A1A"/>
                </a:solidFill>
                <a:latin typeface="Arial"/>
              </a:rPr>
              <a:t>Laboratório (Figura 25)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973368" y="3962300"/>
            <a:ext cx="3559974" cy="1493482"/>
          </a:xfrm>
          <a:prstGeom prst="roundRect">
            <a:avLst>
              <a:gd name="adj" fmla="val 6000"/>
            </a:avLst>
          </a:prstGeom>
          <a:solidFill>
            <a:srgbClr val="FFCE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046518" y="3992780"/>
            <a:ext cx="3413674" cy="1432524"/>
          </a:xfrm>
          <a:prstGeom prst="rect">
            <a:avLst/>
          </a:prstGeom>
          <a:noFill/>
        </p:spPr>
        <p:txBody>
          <a:bodyPr wrap="square" lIns="73150" rIns="73150" tIns="73150" bIns="73150" anchor="ctr"/>
          <a:lstStyle/>
          <a:p>
            <a:pPr algn="l">
              <a:lnSpc>
                <a:spcPct val="115000"/>
              </a:lnSpc>
            </a:pPr>
            <a:r>
              <a:rPr sz="1199" b="0">
                <a:solidFill>
                  <a:srgbClr val="1A1A1A"/>
                </a:solidFill>
                <a:latin typeface="Arial"/>
              </a:rPr>
              <a:t>Equipamentos desligados no momento do registro. Montado pela Prefeitura em 2022, com recursos próprios (preliminar).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8626" y="5577700"/>
            <a:ext cx="11094442" cy="761980"/>
          </a:xfrm>
          <a:prstGeom prst="roundRect">
            <a:avLst>
              <a:gd name="adj" fmla="val 25000"/>
            </a:avLst>
          </a:prstGeom>
          <a:solidFill>
            <a:srgbClr val="FFCE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1501" y="5577700"/>
            <a:ext cx="10728691" cy="761980"/>
          </a:xfrm>
          <a:prstGeom prst="rect">
            <a:avLst/>
          </a:prstGeom>
          <a:noFill/>
        </p:spPr>
        <p:txBody>
          <a:bodyPr wrap="square" lIns="73150" rIns="73150" tIns="73150" bIns="73150" anchor="ctr"/>
          <a:lstStyle/>
          <a:p>
            <a:pPr algn="ctr">
              <a:lnSpc>
                <a:spcPct val="105000"/>
              </a:lnSpc>
            </a:pPr>
            <a:r>
              <a:rPr sz="1266" b="1">
                <a:solidFill>
                  <a:srgbClr val="1A1A1A"/>
                </a:solidFill>
                <a:latin typeface="Arial"/>
              </a:rPr>
              <a:t>A conexão chegou ao prédio; os dispositivos não chegaram às salas.</a:t>
            </a:r>
          </a:p>
          <a:p>
            <a:pPr algn="ctr">
              <a:lnSpc>
                <a:spcPct val="105000"/>
              </a:lnSpc>
            </a:pPr>
            <a:r>
              <a:rPr sz="1266" b="0">
                <a:solidFill>
                  <a:srgbClr val="1A1A1A"/>
                </a:solidFill>
                <a:latin typeface="Arial"/>
              </a:rPr>
              <a:t>PIEC: um repasse anual para conexão e equipamentos; um kit multimídia para toda a escola (preliminares).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09584" y="6431119"/>
            <a:ext cx="10972525" cy="304792"/>
          </a:xfrm>
          <a:prstGeom prst="rect">
            <a:avLst/>
          </a:prstGeom>
          <a:noFill/>
        </p:spPr>
        <p:txBody>
          <a:bodyPr wrap="square" lIns="73150" rIns="73150" tIns="73150" bIns="73150" anchor="ctr"/>
          <a:lstStyle/>
          <a:p>
            <a:pPr algn="l">
              <a:lnSpc>
                <a:spcPct val="100000"/>
              </a:lnSpc>
            </a:pPr>
            <a:r>
              <a:rPr sz="999" b="1">
                <a:solidFill>
                  <a:srgbClr val="FFFFFF"/>
                </a:solidFill>
                <a:latin typeface="Arial"/>
              </a:rPr>
              <a:t>Fundamentos: </a:t>
            </a:r>
            <a:r>
              <a:rPr sz="999" b="0">
                <a:solidFill>
                  <a:srgbClr val="FFFFFF"/>
                </a:solidFill>
                <a:latin typeface="Arial"/>
              </a:rPr>
              <a:t>Ball, Maguire e Braun (2016): dimensão material; Brasil (2017; 2021): PIEC. Fonte: acervo da pesquisa (2026).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7828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304792" y="152396"/>
            <a:ext cx="2804089" cy="365750"/>
          </a:xfrm>
          <a:prstGeom prst="roundRect">
            <a:avLst>
              <a:gd name="adj" fmla="val 40000"/>
            </a:avLst>
          </a:prstGeom>
          <a:solidFill>
            <a:srgbClr val="FFCE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04792" y="152396"/>
            <a:ext cx="2804089" cy="365750"/>
          </a:xfrm>
          <a:prstGeom prst="rect">
            <a:avLst/>
          </a:prstGeom>
          <a:noFill/>
        </p:spPr>
        <p:txBody>
          <a:bodyPr wrap="square" lIns="30479" rIns="30479" tIns="30479" bIns="30479" anchor="ctr"/>
          <a:lstStyle/>
          <a:p>
            <a:pPr algn="ctr">
              <a:lnSpc>
                <a:spcPct val="100000"/>
              </a:lnSpc>
            </a:pPr>
            <a:r>
              <a:rPr sz="1066" b="1">
                <a:solidFill>
                  <a:srgbClr val="1A1A1A"/>
                </a:solidFill>
                <a:latin typeface="Arial"/>
              </a:rPr>
              <a:t>6 · TERRITÓRIO: RESULTADOS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584" y="335271"/>
            <a:ext cx="10972525" cy="914377"/>
          </a:xfrm>
          <a:prstGeom prst="rect">
            <a:avLst/>
          </a:prstGeom>
          <a:noFill/>
        </p:spPr>
        <p:txBody>
          <a:bodyPr wrap="square" lIns="73150" rIns="73150" tIns="73150" bIns="73150" anchor="ctr"/>
          <a:lstStyle/>
          <a:p>
            <a:pPr algn="ctr">
              <a:lnSpc>
                <a:spcPct val="100000"/>
              </a:lnSpc>
            </a:pPr>
            <a:r>
              <a:rPr sz="3333" b="1">
                <a:solidFill>
                  <a:srgbClr val="FFFFFF"/>
                </a:solidFill>
                <a:latin typeface="Arial"/>
              </a:rPr>
              <a:t>AS SALAS: TUDO IMPRESSO OU FEITO À MÃO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75476" y="1328894"/>
            <a:ext cx="2950390" cy="2432243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Ambiente alfabetizador (Figura 32)"/>
          <p:cNvPicPr>
            <a:picLocks noChangeAspect="1"/>
          </p:cNvPicPr>
          <p:nvPr/>
        </p:nvPicPr>
        <p:blipFill>
          <a:blip r:embed="rId3"/>
          <a:srcRect l="6144" r="6144"/>
          <a:stretch>
            <a:fillRect/>
          </a:stretch>
        </p:blipFill>
        <p:spPr>
          <a:xfrm>
            <a:off x="548626" y="1402044"/>
            <a:ext cx="2804089" cy="1798275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48626" y="3212511"/>
            <a:ext cx="2804089" cy="487667"/>
          </a:xfrm>
          <a:prstGeom prst="rect">
            <a:avLst/>
          </a:prstGeom>
          <a:noFill/>
        </p:spPr>
        <p:txBody>
          <a:bodyPr wrap="square" lIns="12191" rIns="12191" tIns="12191" bIns="12191" anchor="ctr"/>
          <a:lstStyle/>
          <a:p>
            <a:pPr algn="l">
              <a:lnSpc>
                <a:spcPct val="100000"/>
              </a:lnSpc>
            </a:pPr>
            <a:r>
              <a:rPr sz="999" b="0">
                <a:solidFill>
                  <a:srgbClr val="1A1A1A"/>
                </a:solidFill>
                <a:latin typeface="Arial"/>
              </a:rPr>
              <a:t>Ambiente alfabetizador (Figura 32)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523399" y="1328894"/>
            <a:ext cx="2950390" cy="2432243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Disposição semicircular (Figura 34)"/>
          <p:cNvPicPr>
            <a:picLocks noChangeAspect="1"/>
          </p:cNvPicPr>
          <p:nvPr/>
        </p:nvPicPr>
        <p:blipFill>
          <a:blip r:embed="rId4"/>
          <a:srcRect l="6144" r="6144"/>
          <a:stretch>
            <a:fillRect/>
          </a:stretch>
        </p:blipFill>
        <p:spPr>
          <a:xfrm>
            <a:off x="3596550" y="1402044"/>
            <a:ext cx="2804089" cy="1798275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3596550" y="3212511"/>
            <a:ext cx="2804089" cy="487667"/>
          </a:xfrm>
          <a:prstGeom prst="rect">
            <a:avLst/>
          </a:prstGeom>
          <a:noFill/>
        </p:spPr>
        <p:txBody>
          <a:bodyPr wrap="square" lIns="12191" rIns="12191" tIns="12191" bIns="12191" anchor="ctr"/>
          <a:lstStyle/>
          <a:p>
            <a:pPr algn="l">
              <a:lnSpc>
                <a:spcPct val="100000"/>
              </a:lnSpc>
            </a:pPr>
            <a:r>
              <a:rPr sz="999" b="0">
                <a:solidFill>
                  <a:srgbClr val="1A1A1A"/>
                </a:solidFill>
                <a:latin typeface="Arial"/>
              </a:rPr>
              <a:t>Disposição semicircular (Figura 34)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75476" y="3767233"/>
            <a:ext cx="2950390" cy="2432243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Painel numérico (Figura 36)"/>
          <p:cNvPicPr>
            <a:picLocks noChangeAspect="1"/>
          </p:cNvPicPr>
          <p:nvPr/>
        </p:nvPicPr>
        <p:blipFill>
          <a:blip r:embed="rId5"/>
          <a:srcRect l="6144" r="6144"/>
          <a:stretch>
            <a:fillRect/>
          </a:stretch>
        </p:blipFill>
        <p:spPr>
          <a:xfrm>
            <a:off x="548626" y="3840383"/>
            <a:ext cx="2804089" cy="1798275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548626" y="5650850"/>
            <a:ext cx="2804089" cy="487667"/>
          </a:xfrm>
          <a:prstGeom prst="rect">
            <a:avLst/>
          </a:prstGeom>
          <a:noFill/>
        </p:spPr>
        <p:txBody>
          <a:bodyPr wrap="square" lIns="12191" rIns="12191" tIns="12191" bIns="12191" anchor="ctr"/>
          <a:lstStyle/>
          <a:p>
            <a:pPr algn="l">
              <a:lnSpc>
                <a:spcPct val="100000"/>
              </a:lnSpc>
            </a:pPr>
            <a:r>
              <a:rPr sz="999" b="0">
                <a:solidFill>
                  <a:srgbClr val="1A1A1A"/>
                </a:solidFill>
                <a:latin typeface="Arial"/>
              </a:rPr>
              <a:t>Painel numérico (Figura 36)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523399" y="3767233"/>
            <a:ext cx="2950390" cy="2432243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Alfabeto móvel (Figura 37)"/>
          <p:cNvPicPr>
            <a:picLocks noChangeAspect="1"/>
          </p:cNvPicPr>
          <p:nvPr/>
        </p:nvPicPr>
        <p:blipFill>
          <a:blip r:embed="rId6"/>
          <a:srcRect l="6144" r="6144"/>
          <a:stretch>
            <a:fillRect/>
          </a:stretch>
        </p:blipFill>
        <p:spPr>
          <a:xfrm>
            <a:off x="3596550" y="3840383"/>
            <a:ext cx="2804089" cy="1798275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3596550" y="5650850"/>
            <a:ext cx="2804089" cy="487667"/>
          </a:xfrm>
          <a:prstGeom prst="rect">
            <a:avLst/>
          </a:prstGeom>
          <a:noFill/>
        </p:spPr>
        <p:txBody>
          <a:bodyPr wrap="square" lIns="12191" rIns="12191" tIns="12191" bIns="12191" anchor="ctr"/>
          <a:lstStyle/>
          <a:p>
            <a:pPr algn="l">
              <a:lnSpc>
                <a:spcPct val="100000"/>
              </a:lnSpc>
            </a:pPr>
            <a:r>
              <a:rPr sz="999" b="0">
                <a:solidFill>
                  <a:srgbClr val="1A1A1A"/>
                </a:solidFill>
                <a:latin typeface="Arial"/>
              </a:rPr>
              <a:t>Alfabeto móvel (Figura 37)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674953" y="1328894"/>
            <a:ext cx="4968115" cy="4937636"/>
          </a:xfrm>
          <a:prstGeom prst="roundRect">
            <a:avLst>
              <a:gd name="adj" fmla="val 6000"/>
            </a:avLst>
          </a:prstGeom>
          <a:solidFill>
            <a:srgbClr val="FFCE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7828" y="1402044"/>
            <a:ext cx="4632844" cy="4815719"/>
          </a:xfrm>
          <a:prstGeom prst="rect">
            <a:avLst/>
          </a:prstGeom>
          <a:noFill/>
        </p:spPr>
        <p:txBody>
          <a:bodyPr wrap="square" lIns="73150" rIns="73150" tIns="73150" bIns="73150" anchor="t"/>
          <a:lstStyle/>
          <a:p>
            <a:pPr algn="l">
              <a:lnSpc>
                <a:spcPct val="115000"/>
              </a:lnSpc>
              <a:spcAft>
                <a:spcPts val="799"/>
              </a:spcAft>
            </a:pPr>
            <a:r>
              <a:rPr sz="1466" b="1">
                <a:solidFill>
                  <a:srgbClr val="1A1A1A"/>
                </a:solidFill>
                <a:latin typeface="Arial"/>
              </a:rPr>
              <a:t>Salas fotografadas: </a:t>
            </a:r>
            <a:r>
              <a:rPr sz="1466" b="0">
                <a:solidFill>
                  <a:srgbClr val="1A1A1A"/>
                </a:solidFill>
                <a:latin typeface="Arial"/>
              </a:rPr>
              <a:t>carteiras, ventiladores, murais e produções das crianças; nenhum computador, tela ou dispositivo digital.</a:t>
            </a:r>
          </a:p>
          <a:p>
            <a:pPr algn="l">
              <a:lnSpc>
                <a:spcPct val="115000"/>
              </a:lnSpc>
              <a:spcAft>
                <a:spcPts val="799"/>
              </a:spcAft>
            </a:pPr>
            <a:r>
              <a:rPr sz="1466" b="1">
                <a:solidFill>
                  <a:srgbClr val="1A1A1A"/>
                </a:solidFill>
                <a:latin typeface="Arial"/>
              </a:rPr>
              <a:t>Pensamento computacional: </a:t>
            </a:r>
            <a:r>
              <a:rPr sz="1466" b="0">
                <a:solidFill>
                  <a:srgbClr val="1A1A1A"/>
                </a:solidFill>
                <a:latin typeface="Arial"/>
              </a:rPr>
              <a:t>o painel remete a sequência e correspondência (art. 3º, I); a foto registra o painel, sem mostrar seu uso.</a:t>
            </a:r>
          </a:p>
          <a:p>
            <a:pPr algn="l">
              <a:lnSpc>
                <a:spcPct val="115000"/>
              </a:lnSpc>
              <a:spcAft>
                <a:spcPts val="799"/>
              </a:spcAft>
            </a:pPr>
            <a:r>
              <a:rPr sz="1466" b="1">
                <a:solidFill>
                  <a:srgbClr val="1A1A1A"/>
                </a:solidFill>
                <a:latin typeface="Arial"/>
              </a:rPr>
              <a:t>Com Soares (2020, p. 13): </a:t>
            </a:r>
            <a:r>
              <a:rPr sz="1466" b="0">
                <a:solidFill>
                  <a:srgbClr val="1A1A1A"/>
                </a:solidFill>
                <a:latin typeface="Arial"/>
              </a:rPr>
              <a:t>jogos e artefatos feitos com as crianças substituem tecnologias “com vantagem”.</a:t>
            </a:r>
          </a:p>
          <a:p>
            <a:pPr algn="l">
              <a:lnSpc>
                <a:spcPct val="115000"/>
              </a:lnSpc>
            </a:pPr>
            <a:r>
              <a:rPr sz="1466" b="1">
                <a:solidFill>
                  <a:srgbClr val="1A1A1A"/>
                </a:solidFill>
                <a:latin typeface="Arial"/>
              </a:rPr>
              <a:t>Cautela da tese: </a:t>
            </a:r>
            <a:r>
              <a:rPr sz="1466" b="0">
                <a:solidFill>
                  <a:srgbClr val="1A1A1A"/>
                </a:solidFill>
                <a:latin typeface="Arial"/>
              </a:rPr>
              <a:t>alguém os produziu, e em algum tempo. A que custo, só as narrativas dirão.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09584" y="6431119"/>
            <a:ext cx="10972525" cy="304792"/>
          </a:xfrm>
          <a:prstGeom prst="rect">
            <a:avLst/>
          </a:prstGeom>
          <a:noFill/>
        </p:spPr>
        <p:txBody>
          <a:bodyPr wrap="square" lIns="73150" rIns="73150" tIns="73150" bIns="73150" anchor="ctr"/>
          <a:lstStyle/>
          <a:p>
            <a:pPr algn="l">
              <a:lnSpc>
                <a:spcPct val="100000"/>
              </a:lnSpc>
            </a:pPr>
            <a:r>
              <a:rPr sz="999" b="1">
                <a:solidFill>
                  <a:srgbClr val="FFFFFF"/>
                </a:solidFill>
                <a:latin typeface="Arial"/>
              </a:rPr>
              <a:t>Fundamentos: </a:t>
            </a:r>
            <a:r>
              <a:rPr sz="999" b="0">
                <a:solidFill>
                  <a:srgbClr val="FFFFFF"/>
                </a:solidFill>
                <a:latin typeface="Arial"/>
              </a:rPr>
              <a:t>Valente (1999); Soares (2020); Brasil (2023). Fonte: acervo da pesquisa (2026).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7828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304792" y="152396"/>
            <a:ext cx="2804089" cy="365750"/>
          </a:xfrm>
          <a:prstGeom prst="roundRect">
            <a:avLst>
              <a:gd name="adj" fmla="val 40000"/>
            </a:avLst>
          </a:prstGeom>
          <a:solidFill>
            <a:srgbClr val="FFCE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04792" y="152396"/>
            <a:ext cx="2804089" cy="365750"/>
          </a:xfrm>
          <a:prstGeom prst="rect">
            <a:avLst/>
          </a:prstGeom>
          <a:noFill/>
        </p:spPr>
        <p:txBody>
          <a:bodyPr wrap="square" lIns="30479" rIns="30479" tIns="30479" bIns="30479" anchor="ctr"/>
          <a:lstStyle/>
          <a:p>
            <a:pPr algn="ctr">
              <a:lnSpc>
                <a:spcPct val="100000"/>
              </a:lnSpc>
            </a:pPr>
            <a:r>
              <a:rPr sz="1066" b="1">
                <a:solidFill>
                  <a:srgbClr val="1A1A1A"/>
                </a:solidFill>
                <a:latin typeface="Arial"/>
              </a:rPr>
              <a:t>6 · TERRITÓRIO: RESULTADOS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584" y="335271"/>
            <a:ext cx="10972525" cy="914377"/>
          </a:xfrm>
          <a:prstGeom prst="rect">
            <a:avLst/>
          </a:prstGeom>
          <a:noFill/>
        </p:spPr>
        <p:txBody>
          <a:bodyPr wrap="square" lIns="73150" rIns="73150" tIns="73150" bIns="73150" anchor="ctr"/>
          <a:lstStyle/>
          <a:p>
            <a:pPr algn="ctr">
              <a:lnSpc>
                <a:spcPct val="100000"/>
              </a:lnSpc>
            </a:pPr>
            <a:r>
              <a:rPr sz="3066" b="1">
                <a:solidFill>
                  <a:srgbClr val="FFFFFF"/>
                </a:solidFill>
                <a:latin typeface="Arial"/>
              </a:rPr>
              <a:t>RUGOSIDADE TECNOLÓGICA: PERDA OU AUSÊNCIA?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26" y="1188690"/>
            <a:ext cx="11094442" cy="731501"/>
          </a:xfrm>
          <a:prstGeom prst="rect">
            <a:avLst/>
          </a:prstGeom>
          <a:noFill/>
        </p:spPr>
        <p:txBody>
          <a:bodyPr wrap="square" lIns="73150" rIns="73150" tIns="73150" bIns="73150" anchor="ctr"/>
          <a:lstStyle/>
          <a:p>
            <a:pPr algn="ctr">
              <a:lnSpc>
                <a:spcPct val="115000"/>
              </a:lnSpc>
            </a:pPr>
            <a:r>
              <a:rPr sz="1399" b="0">
                <a:solidFill>
                  <a:srgbClr val="FFFFFF"/>
                </a:solidFill>
                <a:latin typeface="Arial"/>
              </a:rPr>
              <a:t>“As rugosidades – formas remanescentes dos períodos anteriores – devem ser levadas em conta quando uma sociedade procura impor novas funções” (SANTOS, 2012, p. 75).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76" y="2029917"/>
            <a:ext cx="2828473" cy="2462722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O cruzeiro (Figura 10)"/>
          <p:cNvPicPr>
            <a:picLocks noChangeAspect="1"/>
          </p:cNvPicPr>
          <p:nvPr/>
        </p:nvPicPr>
        <p:blipFill>
          <a:blip r:embed="rId3"/>
          <a:srcRect l="1213" r="1213"/>
          <a:stretch>
            <a:fillRect/>
          </a:stretch>
        </p:blipFill>
        <p:spPr>
          <a:xfrm>
            <a:off x="548626" y="2103067"/>
            <a:ext cx="2682172" cy="182875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48626" y="3944013"/>
            <a:ext cx="2682172" cy="487667"/>
          </a:xfrm>
          <a:prstGeom prst="rect">
            <a:avLst/>
          </a:prstGeom>
          <a:noFill/>
        </p:spPr>
        <p:txBody>
          <a:bodyPr wrap="square" lIns="12191" rIns="12191" tIns="12191" bIns="12191" anchor="ctr"/>
          <a:lstStyle/>
          <a:p>
            <a:pPr algn="l">
              <a:lnSpc>
                <a:spcPct val="100000"/>
              </a:lnSpc>
            </a:pPr>
            <a:r>
              <a:rPr sz="999" b="0">
                <a:solidFill>
                  <a:srgbClr val="1A1A1A"/>
                </a:solidFill>
                <a:latin typeface="Arial"/>
              </a:rPr>
              <a:t>O cruzeiro (Figura 10)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74633" y="2029917"/>
            <a:ext cx="2499297" cy="2407859"/>
          </a:xfrm>
          <a:prstGeom prst="roundRect">
            <a:avLst>
              <a:gd name="adj" fmla="val 8000"/>
            </a:avLst>
          </a:prstGeom>
          <a:solidFill>
            <a:srgbClr val="F1E7D9"/>
          </a:solidFill>
          <a:ln w="25399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96550" y="2103067"/>
            <a:ext cx="2255463" cy="2285942"/>
          </a:xfrm>
          <a:prstGeom prst="rect">
            <a:avLst/>
          </a:prstGeom>
          <a:noFill/>
        </p:spPr>
        <p:txBody>
          <a:bodyPr wrap="square" lIns="73150" rIns="73150" tIns="73150" bIns="73150" anchor="t"/>
          <a:lstStyle/>
          <a:p>
            <a:pPr algn="l">
              <a:lnSpc>
                <a:spcPct val="115000"/>
              </a:lnSpc>
              <a:spcAft>
                <a:spcPts val="533"/>
              </a:spcAft>
            </a:pPr>
            <a:r>
              <a:rPr sz="1399" b="1">
                <a:solidFill>
                  <a:srgbClr val="6C4FD8"/>
                </a:solidFill>
                <a:latin typeface="Arial"/>
              </a:rPr>
              <a:t>Por perda</a:t>
            </a:r>
          </a:p>
          <a:p>
            <a:pPr algn="l">
              <a:lnSpc>
                <a:spcPct val="115000"/>
              </a:lnSpc>
            </a:pPr>
            <a:r>
              <a:rPr sz="1399" b="0">
                <a:solidFill>
                  <a:srgbClr val="1A1A1A"/>
                </a:solidFill>
                <a:latin typeface="Arial"/>
              </a:rPr>
              <a:t>A forma sobrevive a uma função que existiu e cessou. Pede atualizar ou substituir.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05572" y="2029917"/>
            <a:ext cx="2828473" cy="2462722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O laboratório (Figura 25)"/>
          <p:cNvPicPr>
            <a:picLocks noChangeAspect="1"/>
          </p:cNvPicPr>
          <p:nvPr/>
        </p:nvPicPr>
        <p:blipFill>
          <a:blip r:embed="rId4"/>
          <a:srcRect l="8750" r="8750"/>
          <a:stretch>
            <a:fillRect/>
          </a:stretch>
        </p:blipFill>
        <p:spPr>
          <a:xfrm>
            <a:off x="6278723" y="2103067"/>
            <a:ext cx="2682172" cy="1828754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6278723" y="3944013"/>
            <a:ext cx="2682172" cy="487667"/>
          </a:xfrm>
          <a:prstGeom prst="rect">
            <a:avLst/>
          </a:prstGeom>
          <a:noFill/>
        </p:spPr>
        <p:txBody>
          <a:bodyPr wrap="square" lIns="12191" rIns="12191" tIns="12191" bIns="12191" anchor="ctr"/>
          <a:lstStyle/>
          <a:p>
            <a:pPr algn="l">
              <a:lnSpc>
                <a:spcPct val="100000"/>
              </a:lnSpc>
            </a:pPr>
            <a:r>
              <a:rPr sz="999" b="0">
                <a:solidFill>
                  <a:srgbClr val="1A1A1A"/>
                </a:solidFill>
                <a:latin typeface="Arial"/>
              </a:rPr>
              <a:t>O laboratório (Figura 25)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204729" y="2029917"/>
            <a:ext cx="2438339" cy="2407859"/>
          </a:xfrm>
          <a:prstGeom prst="roundRect">
            <a:avLst>
              <a:gd name="adj" fmla="val 8000"/>
            </a:avLst>
          </a:prstGeom>
          <a:solidFill>
            <a:srgbClr val="F1E7D9"/>
          </a:solidFill>
          <a:ln w="25399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326646" y="2103067"/>
            <a:ext cx="2194505" cy="2285942"/>
          </a:xfrm>
          <a:prstGeom prst="rect">
            <a:avLst/>
          </a:prstGeom>
          <a:noFill/>
        </p:spPr>
        <p:txBody>
          <a:bodyPr wrap="square" lIns="73150" rIns="73150" tIns="73150" bIns="73150" anchor="t"/>
          <a:lstStyle/>
          <a:p>
            <a:pPr algn="l">
              <a:lnSpc>
                <a:spcPct val="115000"/>
              </a:lnSpc>
              <a:spcAft>
                <a:spcPts val="533"/>
              </a:spcAft>
            </a:pPr>
            <a:r>
              <a:rPr sz="1399" b="1">
                <a:solidFill>
                  <a:srgbClr val="6C4FD8"/>
                </a:solidFill>
                <a:latin typeface="Arial"/>
              </a:rPr>
              <a:t>Por ausência</a:t>
            </a:r>
          </a:p>
          <a:p>
            <a:pPr algn="l">
              <a:lnSpc>
                <a:spcPct val="115000"/>
              </a:lnSpc>
            </a:pPr>
            <a:r>
              <a:rPr sz="1399" b="0">
                <a:solidFill>
                  <a:srgbClr val="1A1A1A"/>
                </a:solidFill>
                <a:latin typeface="Arial"/>
              </a:rPr>
              <a:t>A forma é instalada sem o sistema de ações que lhe daria função. Pede formação, suporte e tempo.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26" y="4724281"/>
            <a:ext cx="11094442" cy="1554441"/>
          </a:xfrm>
          <a:prstGeom prst="roundRect">
            <a:avLst>
              <a:gd name="adj" fmla="val 6000"/>
            </a:avLst>
          </a:prstGeom>
          <a:solidFill>
            <a:srgbClr val="FFCE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92460" y="4754761"/>
            <a:ext cx="10606774" cy="1493482"/>
          </a:xfrm>
          <a:prstGeom prst="rect">
            <a:avLst/>
          </a:prstGeom>
          <a:noFill/>
        </p:spPr>
        <p:txBody>
          <a:bodyPr wrap="square" lIns="73150" rIns="73150" tIns="73150" bIns="73150" anchor="ctr"/>
          <a:lstStyle/>
          <a:p>
            <a:pPr algn="l">
              <a:lnSpc>
                <a:spcPct val="115000"/>
              </a:lnSpc>
              <a:spcAft>
                <a:spcPts val="666"/>
              </a:spcAft>
            </a:pPr>
            <a:r>
              <a:rPr sz="1533" b="1">
                <a:solidFill>
                  <a:srgbClr val="1A1A1A"/>
                </a:solidFill>
                <a:latin typeface="Arial"/>
              </a:rPr>
              <a:t>O laboratório de 2022 </a:t>
            </a:r>
            <a:r>
              <a:rPr sz="1533" b="0">
                <a:solidFill>
                  <a:srgbClr val="1A1A1A"/>
                </a:solidFill>
                <a:latin typeface="Arial"/>
              </a:rPr>
              <a:t>é anterior à PNED e sem relação com programas federais extintos (preliminar).</a:t>
            </a:r>
          </a:p>
          <a:p>
            <a:pPr algn="l">
              <a:lnSpc>
                <a:spcPct val="115000"/>
              </a:lnSpc>
            </a:pPr>
            <a:r>
              <a:rPr sz="1533" b="1">
                <a:solidFill>
                  <a:srgbClr val="1A1A1A"/>
                </a:solidFill>
                <a:latin typeface="Arial"/>
              </a:rPr>
              <a:t>Se o Censo o registra </a:t>
            </a:r>
            <a:r>
              <a:rPr sz="1533" b="0">
                <a:solidFill>
                  <a:srgbClr val="1A1A1A"/>
                </a:solidFill>
                <a:latin typeface="Arial"/>
              </a:rPr>
              <a:t>e os cadernos de uso não, a forma conta nos números mesmo quando a função não se constituiu.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09584" y="6431119"/>
            <a:ext cx="10972525" cy="304792"/>
          </a:xfrm>
          <a:prstGeom prst="rect">
            <a:avLst/>
          </a:prstGeom>
          <a:noFill/>
        </p:spPr>
        <p:txBody>
          <a:bodyPr wrap="square" lIns="73150" rIns="73150" tIns="73150" bIns="73150" anchor="ctr"/>
          <a:lstStyle/>
          <a:p>
            <a:pPr algn="l">
              <a:lnSpc>
                <a:spcPct val="100000"/>
              </a:lnSpc>
            </a:pPr>
            <a:r>
              <a:rPr sz="999" b="1">
                <a:solidFill>
                  <a:srgbClr val="FFFFFF"/>
                </a:solidFill>
                <a:latin typeface="Arial"/>
              </a:rPr>
              <a:t>Fundamentos: </a:t>
            </a:r>
            <a:r>
              <a:rPr sz="999" b="0">
                <a:solidFill>
                  <a:srgbClr val="FFFFFF"/>
                </a:solidFill>
                <a:latin typeface="Arial"/>
              </a:rPr>
              <a:t>Santos (2006; 2012); rugosidade tecnológica como formulação própria da tese.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7828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304792" y="152396"/>
            <a:ext cx="2804089" cy="365750"/>
          </a:xfrm>
          <a:prstGeom prst="roundRect">
            <a:avLst>
              <a:gd name="adj" fmla="val 40000"/>
            </a:avLst>
          </a:prstGeom>
          <a:solidFill>
            <a:srgbClr val="FFCE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04792" y="152396"/>
            <a:ext cx="2804089" cy="365750"/>
          </a:xfrm>
          <a:prstGeom prst="rect">
            <a:avLst/>
          </a:prstGeom>
          <a:noFill/>
        </p:spPr>
        <p:txBody>
          <a:bodyPr wrap="square" lIns="30479" rIns="30479" tIns="30479" bIns="30479" anchor="ctr"/>
          <a:lstStyle/>
          <a:p>
            <a:pPr algn="ctr">
              <a:lnSpc>
                <a:spcPct val="100000"/>
              </a:lnSpc>
            </a:pPr>
            <a:r>
              <a:rPr sz="1066" b="1">
                <a:solidFill>
                  <a:srgbClr val="1A1A1A"/>
                </a:solidFill>
                <a:latin typeface="Arial"/>
              </a:rPr>
              <a:t>6 · TERRITÓRIO: RESULTADOS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584" y="335271"/>
            <a:ext cx="10972525" cy="914377"/>
          </a:xfrm>
          <a:prstGeom prst="rect">
            <a:avLst/>
          </a:prstGeom>
          <a:noFill/>
        </p:spPr>
        <p:txBody>
          <a:bodyPr wrap="square" lIns="73150" rIns="73150" tIns="73150" bIns="73150" anchor="ctr"/>
          <a:lstStyle/>
          <a:p>
            <a:pPr algn="ctr">
              <a:lnSpc>
                <a:spcPct val="100000"/>
              </a:lnSpc>
            </a:pPr>
            <a:r>
              <a:rPr sz="3333" b="1">
                <a:solidFill>
                  <a:srgbClr val="FFFFFF"/>
                </a:solidFill>
                <a:latin typeface="Arial"/>
              </a:rPr>
              <a:t>TERRITÓRIO DOCUMENTADO E PRESCRITO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26" y="1341086"/>
            <a:ext cx="2072588" cy="380990"/>
          </a:xfrm>
          <a:prstGeom prst="roundRect">
            <a:avLst>
              <a:gd name="adj" fmla="val 8000"/>
            </a:avLst>
          </a:prstGeom>
          <a:solidFill>
            <a:srgbClr val="6C4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26" y="1341086"/>
            <a:ext cx="2072588" cy="380990"/>
          </a:xfrm>
          <a:prstGeom prst="rect">
            <a:avLst/>
          </a:prstGeom>
          <a:noFill/>
        </p:spPr>
        <p:txBody>
          <a:bodyPr wrap="square" lIns="60958" rIns="60958" tIns="60958" bIns="60958" anchor="ctr"/>
          <a:lstStyle/>
          <a:p>
            <a:pPr algn="l">
              <a:lnSpc>
                <a:spcPct val="110000"/>
              </a:lnSpc>
            </a:pPr>
            <a:r>
              <a:rPr sz="1399" b="1">
                <a:solidFill>
                  <a:srgbClr val="FFFFFF"/>
                </a:solidFill>
                <a:latin typeface="Arial"/>
              </a:rPr>
              <a:t>Dimensão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657789" y="1341086"/>
            <a:ext cx="4632844" cy="380990"/>
          </a:xfrm>
          <a:prstGeom prst="roundRect">
            <a:avLst>
              <a:gd name="adj" fmla="val 8000"/>
            </a:avLst>
          </a:prstGeom>
          <a:solidFill>
            <a:srgbClr val="6C4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657789" y="1341086"/>
            <a:ext cx="4632844" cy="380990"/>
          </a:xfrm>
          <a:prstGeom prst="rect">
            <a:avLst/>
          </a:prstGeom>
          <a:noFill/>
        </p:spPr>
        <p:txBody>
          <a:bodyPr wrap="square" lIns="60958" rIns="60958" tIns="60958" bIns="60958" anchor="ctr"/>
          <a:lstStyle/>
          <a:p>
            <a:pPr algn="l">
              <a:lnSpc>
                <a:spcPct val="110000"/>
              </a:lnSpc>
            </a:pPr>
            <a:r>
              <a:rPr sz="1399" b="1">
                <a:solidFill>
                  <a:srgbClr val="FFFFFF"/>
                </a:solidFill>
                <a:latin typeface="Arial"/>
              </a:rPr>
              <a:t>Condições documentadas no território e na escola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27208" y="1341086"/>
            <a:ext cx="4267093" cy="380990"/>
          </a:xfrm>
          <a:prstGeom prst="roundRect">
            <a:avLst>
              <a:gd name="adj" fmla="val 8000"/>
            </a:avLst>
          </a:prstGeom>
          <a:solidFill>
            <a:srgbClr val="6C4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27208" y="1341086"/>
            <a:ext cx="4267093" cy="380990"/>
          </a:xfrm>
          <a:prstGeom prst="rect">
            <a:avLst/>
          </a:prstGeom>
          <a:noFill/>
        </p:spPr>
        <p:txBody>
          <a:bodyPr wrap="square" lIns="60958" rIns="60958" tIns="60958" bIns="60958" anchor="ctr"/>
          <a:lstStyle/>
          <a:p>
            <a:pPr algn="l">
              <a:lnSpc>
                <a:spcPct val="110000"/>
              </a:lnSpc>
            </a:pPr>
            <a:r>
              <a:rPr sz="1399" b="1">
                <a:solidFill>
                  <a:srgbClr val="FFFFFF"/>
                </a:solidFill>
                <a:latin typeface="Arial"/>
              </a:rPr>
              <a:t>O que a BNCC e a PNED orientam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26" y="1758652"/>
            <a:ext cx="2072588" cy="615680"/>
          </a:xfrm>
          <a:prstGeom prst="roundRect">
            <a:avLst>
              <a:gd name="adj" fmla="val 6000"/>
            </a:avLst>
          </a:prstGeom>
          <a:solidFill>
            <a:srgbClr val="F1E7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26" y="1758652"/>
            <a:ext cx="2072588" cy="615680"/>
          </a:xfrm>
          <a:prstGeom prst="rect">
            <a:avLst/>
          </a:prstGeom>
          <a:noFill/>
        </p:spPr>
        <p:txBody>
          <a:bodyPr wrap="square" lIns="60958" rIns="60958" tIns="60958" bIns="60958" anchor="ctr"/>
          <a:lstStyle/>
          <a:p>
            <a:pPr algn="l">
              <a:lnSpc>
                <a:spcPct val="110000"/>
              </a:lnSpc>
            </a:pPr>
            <a:r>
              <a:rPr sz="1399" b="1">
                <a:solidFill>
                  <a:srgbClr val="1A1A1A"/>
                </a:solidFill>
                <a:latin typeface="Arial"/>
              </a:rPr>
              <a:t>Acesso e conectividade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657789" y="1758652"/>
            <a:ext cx="4632844" cy="6156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657789" y="1758652"/>
            <a:ext cx="4632844" cy="615680"/>
          </a:xfrm>
          <a:prstGeom prst="rect">
            <a:avLst/>
          </a:prstGeom>
          <a:noFill/>
        </p:spPr>
        <p:txBody>
          <a:bodyPr wrap="square" lIns="60958" rIns="60958" tIns="60958" bIns="60958" anchor="ctr"/>
          <a:lstStyle/>
          <a:p>
            <a:pPr algn="l">
              <a:lnSpc>
                <a:spcPct val="110000"/>
              </a:lnSpc>
            </a:pPr>
            <a:r>
              <a:rPr sz="1399" b="0">
                <a:solidFill>
                  <a:srgbClr val="1A1A1A"/>
                </a:solidFill>
                <a:latin typeface="Arial"/>
              </a:rPr>
              <a:t>Tecnologias ligadas ao turismo e ao consumo; na escola, conexões com finalidades distintas (preliminar)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27208" y="1758652"/>
            <a:ext cx="4267093" cy="6156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27208" y="1758652"/>
            <a:ext cx="4267093" cy="615680"/>
          </a:xfrm>
          <a:prstGeom prst="rect">
            <a:avLst/>
          </a:prstGeom>
          <a:noFill/>
        </p:spPr>
        <p:txBody>
          <a:bodyPr wrap="square" lIns="60958" rIns="60958" tIns="60958" bIns="60958" anchor="ctr"/>
          <a:lstStyle/>
          <a:p>
            <a:pPr algn="l">
              <a:lnSpc>
                <a:spcPct val="110000"/>
              </a:lnSpc>
            </a:pPr>
            <a:r>
              <a:rPr sz="1399" b="0">
                <a:solidFill>
                  <a:srgbClr val="1A1A1A"/>
                </a:solidFill>
                <a:latin typeface="Arial"/>
              </a:rPr>
              <a:t>Ampliar o acesso à conectividade, aos dispositivos e aos recursos digitais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26" y="2410907"/>
            <a:ext cx="2072588" cy="850370"/>
          </a:xfrm>
          <a:prstGeom prst="roundRect">
            <a:avLst>
              <a:gd name="adj" fmla="val 6000"/>
            </a:avLst>
          </a:prstGeom>
          <a:solidFill>
            <a:srgbClr val="F1E7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8626" y="2410907"/>
            <a:ext cx="2072588" cy="850370"/>
          </a:xfrm>
          <a:prstGeom prst="rect">
            <a:avLst/>
          </a:prstGeom>
          <a:noFill/>
        </p:spPr>
        <p:txBody>
          <a:bodyPr wrap="square" lIns="60958" rIns="60958" tIns="60958" bIns="60958" anchor="ctr"/>
          <a:lstStyle/>
          <a:p>
            <a:pPr algn="l">
              <a:lnSpc>
                <a:spcPct val="110000"/>
              </a:lnSpc>
            </a:pPr>
            <a:r>
              <a:rPr sz="1399" b="1">
                <a:solidFill>
                  <a:srgbClr val="1A1A1A"/>
                </a:solidFill>
                <a:latin typeface="Arial"/>
              </a:rPr>
              <a:t>Cultura digital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657789" y="2410907"/>
            <a:ext cx="4632844" cy="85037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657789" y="2410907"/>
            <a:ext cx="4632844" cy="850370"/>
          </a:xfrm>
          <a:prstGeom prst="rect">
            <a:avLst/>
          </a:prstGeom>
          <a:noFill/>
        </p:spPr>
        <p:txBody>
          <a:bodyPr wrap="square" lIns="60958" rIns="60958" tIns="60958" bIns="60958" anchor="ctr"/>
          <a:lstStyle/>
          <a:p>
            <a:pPr algn="l">
              <a:lnSpc>
                <a:spcPct val="110000"/>
              </a:lnSpc>
            </a:pPr>
            <a:r>
              <a:rPr sz="1399" b="0">
                <a:solidFill>
                  <a:srgbClr val="1A1A1A"/>
                </a:solidFill>
                <a:latin typeface="Arial"/>
              </a:rPr>
              <a:t>Práticas digitais intensas no turismo, no comércio e nas famílias; nas salas, nenhum recurso visível para trabalhá-las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27208" y="2410907"/>
            <a:ext cx="4267093" cy="85037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327208" y="2410907"/>
            <a:ext cx="4267093" cy="850370"/>
          </a:xfrm>
          <a:prstGeom prst="rect">
            <a:avLst/>
          </a:prstGeom>
          <a:noFill/>
        </p:spPr>
        <p:txBody>
          <a:bodyPr wrap="square" lIns="60958" rIns="60958" tIns="60958" bIns="60958" anchor="ctr"/>
          <a:lstStyle/>
          <a:p>
            <a:pPr algn="l">
              <a:lnSpc>
                <a:spcPct val="110000"/>
              </a:lnSpc>
            </a:pPr>
            <a:r>
              <a:rPr sz="1399" b="0">
                <a:solidFill>
                  <a:srgbClr val="1A1A1A"/>
                </a:solidFill>
                <a:latin typeface="Arial"/>
              </a:rPr>
              <a:t>Conhecimentos, competências e práticas de cultura digital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48626" y="3297853"/>
            <a:ext cx="2072588" cy="615680"/>
          </a:xfrm>
          <a:prstGeom prst="roundRect">
            <a:avLst>
              <a:gd name="adj" fmla="val 6000"/>
            </a:avLst>
          </a:prstGeom>
          <a:solidFill>
            <a:srgbClr val="F1E7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48626" y="3297853"/>
            <a:ext cx="2072588" cy="615680"/>
          </a:xfrm>
          <a:prstGeom prst="rect">
            <a:avLst/>
          </a:prstGeom>
          <a:noFill/>
        </p:spPr>
        <p:txBody>
          <a:bodyPr wrap="square" lIns="60958" rIns="60958" tIns="60958" bIns="60958" anchor="ctr"/>
          <a:lstStyle/>
          <a:p>
            <a:pPr algn="l">
              <a:lnSpc>
                <a:spcPct val="110000"/>
              </a:lnSpc>
            </a:pPr>
            <a:r>
              <a:rPr sz="1399" b="1">
                <a:solidFill>
                  <a:srgbClr val="1A1A1A"/>
                </a:solidFill>
                <a:latin typeface="Arial"/>
              </a:rPr>
              <a:t>Linguagens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2657789" y="3297853"/>
            <a:ext cx="4632844" cy="6156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657789" y="3297853"/>
            <a:ext cx="4632844" cy="615680"/>
          </a:xfrm>
          <a:prstGeom prst="rect">
            <a:avLst/>
          </a:prstGeom>
          <a:noFill/>
        </p:spPr>
        <p:txBody>
          <a:bodyPr wrap="square" lIns="60958" rIns="60958" tIns="60958" bIns="60958" anchor="ctr"/>
          <a:lstStyle/>
          <a:p>
            <a:pPr algn="l">
              <a:lnSpc>
                <a:spcPct val="110000"/>
              </a:lnSpc>
            </a:pPr>
            <a:r>
              <a:rPr sz="1399" b="0">
                <a:solidFill>
                  <a:srgbClr val="1A1A1A"/>
                </a:solidFill>
                <a:latin typeface="Arial"/>
              </a:rPr>
              <a:t>Linguagens diversas ligadas ao turismo e à circulação no território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327208" y="3297853"/>
            <a:ext cx="4267093" cy="6156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327208" y="3297853"/>
            <a:ext cx="4267093" cy="615680"/>
          </a:xfrm>
          <a:prstGeom prst="rect">
            <a:avLst/>
          </a:prstGeom>
          <a:noFill/>
        </p:spPr>
        <p:txBody>
          <a:bodyPr wrap="square" lIns="60958" rIns="60958" tIns="60958" bIns="60958" anchor="ctr"/>
          <a:lstStyle/>
          <a:p>
            <a:pPr algn="l">
              <a:lnSpc>
                <a:spcPct val="110000"/>
              </a:lnSpc>
            </a:pPr>
            <a:r>
              <a:rPr sz="1399" b="0">
                <a:solidFill>
                  <a:srgbClr val="1A1A1A"/>
                </a:solidFill>
                <a:latin typeface="Arial"/>
              </a:rPr>
              <a:t>Integrar as tecnologias e as competências dos referenciais curriculares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48626" y="3950109"/>
            <a:ext cx="2072588" cy="615680"/>
          </a:xfrm>
          <a:prstGeom prst="roundRect">
            <a:avLst>
              <a:gd name="adj" fmla="val 6000"/>
            </a:avLst>
          </a:prstGeom>
          <a:solidFill>
            <a:srgbClr val="F1E7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48626" y="3950109"/>
            <a:ext cx="2072588" cy="615680"/>
          </a:xfrm>
          <a:prstGeom prst="rect">
            <a:avLst/>
          </a:prstGeom>
          <a:noFill/>
        </p:spPr>
        <p:txBody>
          <a:bodyPr wrap="square" lIns="60958" rIns="60958" tIns="60958" bIns="60958" anchor="ctr"/>
          <a:lstStyle/>
          <a:p>
            <a:pPr algn="l">
              <a:lnSpc>
                <a:spcPct val="110000"/>
              </a:lnSpc>
            </a:pPr>
            <a:r>
              <a:rPr sz="1399" b="1">
                <a:solidFill>
                  <a:srgbClr val="1A1A1A"/>
                </a:solidFill>
                <a:latin typeface="Arial"/>
              </a:rPr>
              <a:t>Mediação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2657789" y="3950109"/>
            <a:ext cx="4632844" cy="6156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657789" y="3950109"/>
            <a:ext cx="4632844" cy="615680"/>
          </a:xfrm>
          <a:prstGeom prst="rect">
            <a:avLst/>
          </a:prstGeom>
          <a:noFill/>
        </p:spPr>
        <p:txBody>
          <a:bodyPr wrap="square" lIns="60958" rIns="60958" tIns="60958" bIns="60958" anchor="ctr"/>
          <a:lstStyle/>
          <a:p>
            <a:pPr algn="l">
              <a:lnSpc>
                <a:spcPct val="110000"/>
              </a:lnSpc>
            </a:pPr>
            <a:r>
              <a:rPr sz="1399" b="0">
                <a:solidFill>
                  <a:srgbClr val="1A1A1A"/>
                </a:solidFill>
                <a:latin typeface="Arial"/>
              </a:rPr>
              <a:t>Não identificável pelos registros materiais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327208" y="3950109"/>
            <a:ext cx="4267093" cy="6156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327208" y="3950109"/>
            <a:ext cx="4267093" cy="615680"/>
          </a:xfrm>
          <a:prstGeom prst="rect">
            <a:avLst/>
          </a:prstGeom>
          <a:noFill/>
        </p:spPr>
        <p:txBody>
          <a:bodyPr wrap="square" lIns="60958" rIns="60958" tIns="60958" bIns="60958" anchor="ctr"/>
          <a:lstStyle/>
          <a:p>
            <a:pPr algn="l">
              <a:lnSpc>
                <a:spcPct val="110000"/>
              </a:lnSpc>
            </a:pPr>
            <a:r>
              <a:rPr sz="1399" b="0">
                <a:solidFill>
                  <a:srgbClr val="1A1A1A"/>
                </a:solidFill>
                <a:latin typeface="Arial"/>
              </a:rPr>
              <a:t>Apropriação crítica, ética e responsável das tecnologias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48626" y="4602364"/>
            <a:ext cx="2072588" cy="615680"/>
          </a:xfrm>
          <a:prstGeom prst="roundRect">
            <a:avLst>
              <a:gd name="adj" fmla="val 6000"/>
            </a:avLst>
          </a:prstGeom>
          <a:solidFill>
            <a:srgbClr val="F1E7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48626" y="4602364"/>
            <a:ext cx="2072588" cy="615680"/>
          </a:xfrm>
          <a:prstGeom prst="rect">
            <a:avLst/>
          </a:prstGeom>
          <a:noFill/>
        </p:spPr>
        <p:txBody>
          <a:bodyPr wrap="square" lIns="60958" rIns="60958" tIns="60958" bIns="60958" anchor="ctr"/>
          <a:lstStyle/>
          <a:p>
            <a:pPr algn="l">
              <a:lnSpc>
                <a:spcPct val="110000"/>
              </a:lnSpc>
            </a:pPr>
            <a:r>
              <a:rPr sz="1399" b="1">
                <a:solidFill>
                  <a:srgbClr val="1A1A1A"/>
                </a:solidFill>
                <a:latin typeface="Arial"/>
              </a:rPr>
              <a:t>Infraestrutura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2657789" y="4602364"/>
            <a:ext cx="4632844" cy="6156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657789" y="4602364"/>
            <a:ext cx="4632844" cy="615680"/>
          </a:xfrm>
          <a:prstGeom prst="rect">
            <a:avLst/>
          </a:prstGeom>
          <a:noFill/>
        </p:spPr>
        <p:txBody>
          <a:bodyPr wrap="square" lIns="60958" rIns="60958" tIns="60958" bIns="60958" anchor="ctr"/>
          <a:lstStyle/>
          <a:p>
            <a:pPr algn="l">
              <a:lnSpc>
                <a:spcPct val="110000"/>
              </a:lnSpc>
            </a:pPr>
            <a:r>
              <a:rPr sz="1399" b="0">
                <a:solidFill>
                  <a:srgbClr val="1A1A1A"/>
                </a:solidFill>
                <a:latin typeface="Arial"/>
              </a:rPr>
              <a:t>Laboratório e equipamentos em espaços específicos; nenhum dispositivo visível nas salas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7327208" y="4602364"/>
            <a:ext cx="4267093" cy="6156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327208" y="4602364"/>
            <a:ext cx="4267093" cy="615680"/>
          </a:xfrm>
          <a:prstGeom prst="rect">
            <a:avLst/>
          </a:prstGeom>
          <a:noFill/>
        </p:spPr>
        <p:txBody>
          <a:bodyPr wrap="square" lIns="60958" rIns="60958" tIns="60958" bIns="60958" anchor="ctr"/>
          <a:lstStyle/>
          <a:p>
            <a:pPr algn="l">
              <a:lnSpc>
                <a:spcPct val="110000"/>
              </a:lnSpc>
            </a:pPr>
            <a:r>
              <a:rPr sz="1399" b="0">
                <a:solidFill>
                  <a:srgbClr val="1A1A1A"/>
                </a:solidFill>
                <a:latin typeface="Arial"/>
              </a:rPr>
              <a:t>Condições e recursos para integrar as tecnologias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09584" y="6431119"/>
            <a:ext cx="10972525" cy="304792"/>
          </a:xfrm>
          <a:prstGeom prst="rect">
            <a:avLst/>
          </a:prstGeom>
          <a:noFill/>
        </p:spPr>
        <p:txBody>
          <a:bodyPr wrap="square" lIns="73150" rIns="73150" tIns="73150" bIns="73150" anchor="ctr"/>
          <a:lstStyle/>
          <a:p>
            <a:pPr algn="l">
              <a:lnSpc>
                <a:spcPct val="100000"/>
              </a:lnSpc>
            </a:pPr>
            <a:r>
              <a:rPr sz="999" b="1">
                <a:solidFill>
                  <a:srgbClr val="FFFFFF"/>
                </a:solidFill>
                <a:latin typeface="Arial"/>
              </a:rPr>
              <a:t>Fundamentos: </a:t>
            </a:r>
            <a:r>
              <a:rPr sz="999" b="0">
                <a:solidFill>
                  <a:srgbClr val="FFFFFF"/>
                </a:solidFill>
                <a:latin typeface="Arial"/>
              </a:rPr>
              <a:t>Quadro 18 (Cap. 6), sintetizado. Brasil (2018; 2022; 2023).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7828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304792" y="152396"/>
            <a:ext cx="2804089" cy="365750"/>
          </a:xfrm>
          <a:prstGeom prst="roundRect">
            <a:avLst>
              <a:gd name="adj" fmla="val 40000"/>
            </a:avLst>
          </a:prstGeom>
          <a:solidFill>
            <a:srgbClr val="FFCE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04792" y="152396"/>
            <a:ext cx="2804089" cy="365750"/>
          </a:xfrm>
          <a:prstGeom prst="rect">
            <a:avLst/>
          </a:prstGeom>
          <a:noFill/>
        </p:spPr>
        <p:txBody>
          <a:bodyPr wrap="square" lIns="30479" rIns="30479" tIns="30479" bIns="30479" anchor="ctr"/>
          <a:lstStyle/>
          <a:p>
            <a:pPr algn="ctr">
              <a:lnSpc>
                <a:spcPct val="100000"/>
              </a:lnSpc>
            </a:pPr>
            <a:r>
              <a:rPr sz="1066" b="1">
                <a:solidFill>
                  <a:srgbClr val="1A1A1A"/>
                </a:solidFill>
                <a:latin typeface="Arial"/>
              </a:rPr>
              <a:t>6 · TERRITÓRIO: RESULTADOS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584" y="335271"/>
            <a:ext cx="10972525" cy="914377"/>
          </a:xfrm>
          <a:prstGeom prst="rect">
            <a:avLst/>
          </a:prstGeom>
          <a:noFill/>
        </p:spPr>
        <p:txBody>
          <a:bodyPr wrap="square" lIns="73150" rIns="73150" tIns="73150" bIns="73150" anchor="ctr"/>
          <a:lstStyle/>
          <a:p>
            <a:pPr algn="ctr">
              <a:lnSpc>
                <a:spcPct val="100000"/>
              </a:lnSpc>
            </a:pPr>
            <a:r>
              <a:rPr sz="3599" b="1">
                <a:solidFill>
                  <a:srgbClr val="FFFFFF"/>
                </a:solidFill>
                <a:latin typeface="Arial"/>
              </a:rPr>
              <a:t>DOCUMENTADO E A VERIFICAR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26" y="1341086"/>
            <a:ext cx="5455783" cy="3748946"/>
          </a:xfrm>
          <a:prstGeom prst="roundRect">
            <a:avLst>
              <a:gd name="adj" fmla="val 6000"/>
            </a:avLst>
          </a:prstGeom>
          <a:solidFill>
            <a:srgbClr val="FFCE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01" y="1402044"/>
            <a:ext cx="5120511" cy="3627029"/>
          </a:xfrm>
          <a:prstGeom prst="rect">
            <a:avLst/>
          </a:prstGeom>
          <a:noFill/>
        </p:spPr>
        <p:txBody>
          <a:bodyPr wrap="square" lIns="73150" rIns="73150" tIns="73150" bIns="73150" anchor="t"/>
          <a:lstStyle/>
          <a:p>
            <a:pPr algn="l">
              <a:lnSpc>
                <a:spcPct val="115000"/>
              </a:lnSpc>
              <a:spcAft>
                <a:spcPts val="533"/>
              </a:spcAft>
            </a:pPr>
            <a:r>
              <a:rPr sz="1533" b="1">
                <a:solidFill>
                  <a:srgbClr val="6C4FD8"/>
                </a:solidFill>
                <a:latin typeface="Arial"/>
              </a:rPr>
              <a:t>DOCUMENTADO PELAS IMAGENS</a:t>
            </a:r>
          </a:p>
          <a:p>
            <a:pPr algn="l">
              <a:lnSpc>
                <a:spcPct val="115000"/>
              </a:lnSpc>
              <a:spcAft>
                <a:spcPts val="533"/>
              </a:spcAft>
            </a:pPr>
            <a:r>
              <a:rPr sz="1533" b="0">
                <a:solidFill>
                  <a:srgbClr val="1A1A1A"/>
                </a:solidFill>
                <a:latin typeface="Arial"/>
              </a:rPr>
              <a:t>Salas fotografadas sem dispositivo digital</a:t>
            </a:r>
          </a:p>
          <a:p>
            <a:pPr algn="l">
              <a:lnSpc>
                <a:spcPct val="115000"/>
              </a:lnSpc>
              <a:spcAft>
                <a:spcPts val="533"/>
              </a:spcAft>
            </a:pPr>
            <a:r>
              <a:rPr sz="1533" b="0">
                <a:solidFill>
                  <a:srgbClr val="1A1A1A"/>
                </a:solidFill>
                <a:latin typeface="Arial"/>
              </a:rPr>
              <a:t>Um computador, na sala dos professores</a:t>
            </a:r>
          </a:p>
          <a:p>
            <a:pPr algn="l">
              <a:lnSpc>
                <a:spcPct val="115000"/>
              </a:lnSpc>
              <a:spcAft>
                <a:spcPts val="533"/>
              </a:spcAft>
            </a:pPr>
            <a:r>
              <a:rPr sz="1533" b="0">
                <a:solidFill>
                  <a:srgbClr val="1A1A1A"/>
                </a:solidFill>
                <a:latin typeface="Arial"/>
              </a:rPr>
              <a:t>Laboratório com equipamentos desligados no registro</a:t>
            </a:r>
          </a:p>
          <a:p>
            <a:pPr algn="l">
              <a:lnSpc>
                <a:spcPct val="115000"/>
              </a:lnSpc>
              <a:spcAft>
                <a:spcPts val="533"/>
              </a:spcAft>
            </a:pPr>
            <a:r>
              <a:rPr sz="1533" b="0">
                <a:solidFill>
                  <a:srgbClr val="1A1A1A"/>
                </a:solidFill>
                <a:latin typeface="Arial"/>
              </a:rPr>
              <a:t>Climatização nas salas da equipe (Figura 28)</a:t>
            </a:r>
          </a:p>
          <a:p>
            <a:pPr algn="l">
              <a:lnSpc>
                <a:spcPct val="115000"/>
              </a:lnSpc>
              <a:spcAft>
                <a:spcPts val="533"/>
              </a:spcAft>
            </a:pPr>
            <a:r>
              <a:rPr sz="1533" b="0">
                <a:solidFill>
                  <a:srgbClr val="1A1A1A"/>
                </a:solidFill>
                <a:latin typeface="Arial"/>
              </a:rPr>
              <a:t>Recursos impressos e artesanais nas salas</a:t>
            </a:r>
          </a:p>
          <a:p>
            <a:pPr algn="l">
              <a:lnSpc>
                <a:spcPct val="115000"/>
              </a:lnSpc>
            </a:pPr>
            <a:r>
              <a:rPr sz="1533" b="0">
                <a:solidFill>
                  <a:srgbClr val="1A1A1A"/>
                </a:solidFill>
                <a:latin typeface="Arial"/>
              </a:rPr>
              <a:t>Acessibilidade, parque na restinga, pátio coletivo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87285" y="1341086"/>
            <a:ext cx="5455783" cy="3748946"/>
          </a:xfrm>
          <a:prstGeom prst="roundRect">
            <a:avLst>
              <a:gd name="adj" fmla="val 6000"/>
            </a:avLst>
          </a:prstGeom>
          <a:solidFill>
            <a:srgbClr val="F1E7D9"/>
          </a:solidFill>
          <a:ln w="25399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70160" y="1402044"/>
            <a:ext cx="5120511" cy="3627029"/>
          </a:xfrm>
          <a:prstGeom prst="rect">
            <a:avLst/>
          </a:prstGeom>
          <a:noFill/>
        </p:spPr>
        <p:txBody>
          <a:bodyPr wrap="square" lIns="73150" rIns="73150" tIns="73150" bIns="73150" anchor="t"/>
          <a:lstStyle/>
          <a:p>
            <a:pPr algn="l">
              <a:lnSpc>
                <a:spcPct val="115000"/>
              </a:lnSpc>
              <a:spcAft>
                <a:spcPts val="533"/>
              </a:spcAft>
            </a:pPr>
            <a:r>
              <a:rPr sz="1533" b="1">
                <a:solidFill>
                  <a:srgbClr val="6C4FD8"/>
                </a:solidFill>
                <a:latin typeface="Arial"/>
              </a:rPr>
              <a:t>PRELIMINAR, A VERIFICAR</a:t>
            </a:r>
          </a:p>
          <a:p>
            <a:pPr algn="l">
              <a:lnSpc>
                <a:spcPct val="115000"/>
              </a:lnSpc>
              <a:spcAft>
                <a:spcPts val="533"/>
              </a:spcAft>
            </a:pPr>
            <a:r>
              <a:rPr sz="1533" b="0">
                <a:solidFill>
                  <a:srgbClr val="1A1A1A"/>
                </a:solidFill>
                <a:latin typeface="Arial"/>
              </a:rPr>
              <a:t>Laboratório de 2022, com recursos da Prefeitura</a:t>
            </a:r>
          </a:p>
          <a:p>
            <a:pPr algn="l">
              <a:lnSpc>
                <a:spcPct val="115000"/>
              </a:lnSpc>
              <a:spcAft>
                <a:spcPts val="533"/>
              </a:spcAft>
            </a:pPr>
            <a:r>
              <a:rPr sz="1533" b="0">
                <a:solidFill>
                  <a:srgbClr val="1A1A1A"/>
                </a:solidFill>
                <a:latin typeface="Arial"/>
              </a:rPr>
              <a:t>Cadernos sem registro de uso no último ano letivo</a:t>
            </a:r>
          </a:p>
          <a:p>
            <a:pPr algn="l">
              <a:lnSpc>
                <a:spcPct val="115000"/>
              </a:lnSpc>
              <a:spcAft>
                <a:spcPts val="533"/>
              </a:spcAft>
            </a:pPr>
            <a:r>
              <a:rPr sz="1533" b="0">
                <a:solidFill>
                  <a:srgbClr val="1A1A1A"/>
                </a:solidFill>
                <a:latin typeface="Arial"/>
              </a:rPr>
              <a:t>Um kit multimídia para toda a escola</a:t>
            </a:r>
          </a:p>
          <a:p>
            <a:pPr algn="l">
              <a:lnSpc>
                <a:spcPct val="115000"/>
              </a:lnSpc>
              <a:spcAft>
                <a:spcPts val="533"/>
              </a:spcAft>
            </a:pPr>
            <a:r>
              <a:rPr sz="1533" b="0">
                <a:solidFill>
                  <a:srgbClr val="1A1A1A"/>
                </a:solidFill>
                <a:latin typeface="Arial"/>
              </a:rPr>
              <a:t>Valor e uso da verba anual do PIEC</a:t>
            </a:r>
          </a:p>
          <a:p>
            <a:pPr algn="l">
              <a:lnSpc>
                <a:spcPct val="115000"/>
              </a:lnSpc>
              <a:spcAft>
                <a:spcPts val="533"/>
              </a:spcAft>
            </a:pPr>
            <a:r>
              <a:rPr sz="1533" b="0">
                <a:solidFill>
                  <a:srgbClr val="1A1A1A"/>
                </a:solidFill>
                <a:latin typeface="Arial"/>
              </a:rPr>
              <a:t>Contrato de manutenção e suporte técnico</a:t>
            </a:r>
          </a:p>
          <a:p>
            <a:pPr algn="l">
              <a:lnSpc>
                <a:spcPct val="115000"/>
              </a:lnSpc>
            </a:pPr>
            <a:r>
              <a:rPr sz="1533" b="0">
                <a:solidFill>
                  <a:srgbClr val="1A1A1A"/>
                </a:solidFill>
                <a:latin typeface="Arial"/>
              </a:rPr>
              <a:t>O que a escola declara ao Censo Escolar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26" y="5303387"/>
            <a:ext cx="2529776" cy="731501"/>
          </a:xfrm>
          <a:prstGeom prst="roundRect">
            <a:avLst>
              <a:gd name="adj" fmla="val 30000"/>
            </a:avLst>
          </a:prstGeom>
          <a:solidFill>
            <a:srgbClr val="FFCE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26" y="5303387"/>
            <a:ext cx="2529776" cy="731501"/>
          </a:xfrm>
          <a:prstGeom prst="rect">
            <a:avLst/>
          </a:prstGeom>
          <a:noFill/>
        </p:spPr>
        <p:txBody>
          <a:bodyPr wrap="square" lIns="30479" rIns="30479" tIns="30479" bIns="30479" anchor="ctr"/>
          <a:lstStyle/>
          <a:p>
            <a:pPr algn="ctr">
              <a:lnSpc>
                <a:spcPct val="100000"/>
              </a:lnSpc>
            </a:pPr>
            <a:r>
              <a:rPr sz="1266" b="1">
                <a:solidFill>
                  <a:srgbClr val="1A1A1A"/>
                </a:solidFill>
                <a:latin typeface="Arial"/>
              </a:rPr>
              <a:t>Território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47923" y="5303387"/>
            <a:ext cx="335271" cy="731501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lnSpc>
                <a:spcPct val="100000"/>
              </a:lnSpc>
            </a:pPr>
            <a:r>
              <a:rPr sz="2399" b="1">
                <a:solidFill>
                  <a:srgbClr val="FFFFFF"/>
                </a:solidFill>
                <a:latin typeface="Arial"/>
              </a:rPr>
              <a:t>›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352716" y="5303387"/>
            <a:ext cx="2529776" cy="731501"/>
          </a:xfrm>
          <a:prstGeom prst="roundRect">
            <a:avLst>
              <a:gd name="adj" fmla="val 30000"/>
            </a:avLst>
          </a:prstGeom>
          <a:solidFill>
            <a:srgbClr val="FFCE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352716" y="5303387"/>
            <a:ext cx="2529776" cy="731501"/>
          </a:xfrm>
          <a:prstGeom prst="rect">
            <a:avLst/>
          </a:prstGeom>
          <a:noFill/>
        </p:spPr>
        <p:txBody>
          <a:bodyPr wrap="square" lIns="30479" rIns="30479" tIns="30479" bIns="30479" anchor="ctr"/>
          <a:lstStyle/>
          <a:p>
            <a:pPr algn="ctr">
              <a:lnSpc>
                <a:spcPct val="100000"/>
              </a:lnSpc>
            </a:pPr>
            <a:r>
              <a:rPr sz="1266" b="1">
                <a:solidFill>
                  <a:srgbClr val="1A1A1A"/>
                </a:solidFill>
                <a:latin typeface="Arial"/>
              </a:rPr>
              <a:t>Condições da escola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852013" y="5303387"/>
            <a:ext cx="335271" cy="731501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lnSpc>
                <a:spcPct val="100000"/>
              </a:lnSpc>
            </a:pPr>
            <a:r>
              <a:rPr sz="2399" b="1">
                <a:solidFill>
                  <a:srgbClr val="FFFFFF"/>
                </a:solidFill>
                <a:latin typeface="Arial"/>
              </a:rPr>
              <a:t>›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56806" y="5303387"/>
            <a:ext cx="2529776" cy="731501"/>
          </a:xfrm>
          <a:prstGeom prst="roundRect">
            <a:avLst>
              <a:gd name="adj" fmla="val 30000"/>
            </a:avLst>
          </a:prstGeom>
          <a:solidFill>
            <a:srgbClr val="FFCE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156806" y="5303387"/>
            <a:ext cx="2529776" cy="731501"/>
          </a:xfrm>
          <a:prstGeom prst="rect">
            <a:avLst/>
          </a:prstGeom>
          <a:noFill/>
        </p:spPr>
        <p:txBody>
          <a:bodyPr wrap="square" lIns="30479" rIns="30479" tIns="30479" bIns="30479" anchor="ctr"/>
          <a:lstStyle/>
          <a:p>
            <a:pPr algn="ctr">
              <a:lnSpc>
                <a:spcPct val="100000"/>
              </a:lnSpc>
            </a:pPr>
            <a:r>
              <a:rPr sz="1266" b="1">
                <a:solidFill>
                  <a:srgbClr val="1A1A1A"/>
                </a:solidFill>
                <a:latin typeface="Arial"/>
              </a:rPr>
              <a:t>Margens do trabalho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56103" y="5303387"/>
            <a:ext cx="335271" cy="731501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lnSpc>
                <a:spcPct val="100000"/>
              </a:lnSpc>
            </a:pPr>
            <a:r>
              <a:rPr sz="2399" b="1">
                <a:solidFill>
                  <a:srgbClr val="FFFFFF"/>
                </a:solidFill>
                <a:latin typeface="Arial"/>
              </a:rPr>
              <a:t>›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960895" y="5303387"/>
            <a:ext cx="2529776" cy="731501"/>
          </a:xfrm>
          <a:prstGeom prst="roundRect">
            <a:avLst>
              <a:gd name="adj" fmla="val 30000"/>
            </a:avLst>
          </a:prstGeom>
          <a:solidFill>
            <a:srgbClr val="FFCE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960895" y="5303387"/>
            <a:ext cx="2529776" cy="731501"/>
          </a:xfrm>
          <a:prstGeom prst="rect">
            <a:avLst/>
          </a:prstGeom>
          <a:noFill/>
        </p:spPr>
        <p:txBody>
          <a:bodyPr wrap="square" lIns="30479" rIns="30479" tIns="30479" bIns="30479" anchor="ctr"/>
          <a:lstStyle/>
          <a:p>
            <a:pPr algn="ctr">
              <a:lnSpc>
                <a:spcPct val="100000"/>
              </a:lnSpc>
            </a:pPr>
            <a:r>
              <a:rPr sz="1266" b="1">
                <a:solidFill>
                  <a:srgbClr val="1A1A1A"/>
                </a:solidFill>
                <a:latin typeface="Arial"/>
              </a:rPr>
              <a:t>Interpretar, decidir, atuar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09584" y="6187285"/>
            <a:ext cx="10972525" cy="304792"/>
          </a:xfrm>
          <a:prstGeom prst="rect">
            <a:avLst/>
          </a:prstGeom>
          <a:noFill/>
        </p:spPr>
        <p:txBody>
          <a:bodyPr wrap="square" lIns="73150" rIns="73150" tIns="73150" bIns="73150" anchor="ctr"/>
          <a:lstStyle/>
          <a:p>
            <a:pPr algn="l">
              <a:lnSpc>
                <a:spcPct val="100000"/>
              </a:lnSpc>
            </a:pPr>
            <a:r>
              <a:rPr sz="999" b="1">
                <a:solidFill>
                  <a:srgbClr val="FFFFFF"/>
                </a:solidFill>
                <a:latin typeface="Arial"/>
              </a:rPr>
              <a:t>Fundamentos: </a:t>
            </a:r>
            <a:r>
              <a:rPr sz="999" b="0">
                <a:solidFill>
                  <a:srgbClr val="FFFFFF"/>
                </a:solidFill>
                <a:latin typeface="Arial"/>
              </a:rPr>
              <a:t>Cadeia de mediações (seção 6.5). As informações preliminares não contam como dado (seção 4.1).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7828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304792" y="152396"/>
            <a:ext cx="2804089" cy="365750"/>
          </a:xfrm>
          <a:prstGeom prst="roundRect">
            <a:avLst>
              <a:gd name="adj" fmla="val 40000"/>
            </a:avLst>
          </a:prstGeom>
          <a:solidFill>
            <a:srgbClr val="FFCE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04792" y="152396"/>
            <a:ext cx="2804089" cy="365750"/>
          </a:xfrm>
          <a:prstGeom prst="rect">
            <a:avLst/>
          </a:prstGeom>
          <a:noFill/>
        </p:spPr>
        <p:txBody>
          <a:bodyPr wrap="square" lIns="30479" rIns="30479" tIns="30479" bIns="30479" anchor="ctr"/>
          <a:lstStyle/>
          <a:p>
            <a:pPr algn="ctr">
              <a:lnSpc>
                <a:spcPct val="100000"/>
              </a:lnSpc>
            </a:pPr>
            <a:r>
              <a:rPr sz="1066" b="1">
                <a:solidFill>
                  <a:srgbClr val="1A1A1A"/>
                </a:solidFill>
                <a:latin typeface="Arial"/>
              </a:rPr>
              <a:t>6 · TERRITÓRIO: RESULTADOS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584" y="335271"/>
            <a:ext cx="10972525" cy="914377"/>
          </a:xfrm>
          <a:prstGeom prst="rect">
            <a:avLst/>
          </a:prstGeom>
          <a:noFill/>
        </p:spPr>
        <p:txBody>
          <a:bodyPr wrap="square" lIns="73150" rIns="73150" tIns="73150" bIns="73150" anchor="ctr"/>
          <a:lstStyle/>
          <a:p>
            <a:pPr algn="ctr">
              <a:lnSpc>
                <a:spcPct val="100000"/>
              </a:lnSpc>
            </a:pPr>
            <a:r>
              <a:rPr sz="3599" b="1">
                <a:solidFill>
                  <a:srgbClr val="FFFFFF"/>
                </a:solidFill>
                <a:latin typeface="Arial"/>
              </a:rPr>
              <a:t>O TERRITÓRIO ATRAVESSA A TESE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26" y="1463003"/>
            <a:ext cx="3566070" cy="2072588"/>
          </a:xfrm>
          <a:prstGeom prst="roundRect">
            <a:avLst>
              <a:gd name="adj" fmla="val 8000"/>
            </a:avLst>
          </a:prstGeom>
          <a:solidFill>
            <a:srgbClr val="F1E7D9"/>
          </a:solidFill>
          <a:ln w="25399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01" y="1584920"/>
            <a:ext cx="3200319" cy="1828754"/>
          </a:xfrm>
          <a:prstGeom prst="rect">
            <a:avLst/>
          </a:prstGeom>
          <a:noFill/>
        </p:spPr>
        <p:txBody>
          <a:bodyPr wrap="square" lIns="73150" rIns="73150" tIns="73150" bIns="73150" anchor="t"/>
          <a:lstStyle/>
          <a:p>
            <a:pPr algn="l">
              <a:lnSpc>
                <a:spcPct val="115000"/>
              </a:lnSpc>
              <a:spcAft>
                <a:spcPts val="666"/>
              </a:spcAft>
            </a:pPr>
            <a:r>
              <a:rPr sz="1733" b="1">
                <a:solidFill>
                  <a:srgbClr val="6C4FD8"/>
                </a:solidFill>
                <a:latin typeface="Arial"/>
              </a:rPr>
              <a:t>Introdução</a:t>
            </a:r>
          </a:p>
          <a:p>
            <a:pPr algn="l">
              <a:lnSpc>
                <a:spcPct val="115000"/>
              </a:lnSpc>
            </a:pPr>
            <a:r>
              <a:rPr sz="1733" b="0">
                <a:solidFill>
                  <a:srgbClr val="1A1A1A"/>
                </a:solidFill>
                <a:latin typeface="Arial"/>
              </a:rPr>
              <a:t>Questão de pesquisa e ineditismo analítico-espacial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97572" y="1463003"/>
            <a:ext cx="3566070" cy="2072588"/>
          </a:xfrm>
          <a:prstGeom prst="roundRect">
            <a:avLst>
              <a:gd name="adj" fmla="val 8000"/>
            </a:avLst>
          </a:prstGeom>
          <a:solidFill>
            <a:srgbClr val="F1E7D9"/>
          </a:solidFill>
          <a:ln w="25399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80447" y="1584920"/>
            <a:ext cx="3200319" cy="1828754"/>
          </a:xfrm>
          <a:prstGeom prst="rect">
            <a:avLst/>
          </a:prstGeom>
          <a:noFill/>
        </p:spPr>
        <p:txBody>
          <a:bodyPr wrap="square" lIns="73150" rIns="73150" tIns="73150" bIns="73150" anchor="t"/>
          <a:lstStyle/>
          <a:p>
            <a:pPr algn="l">
              <a:lnSpc>
                <a:spcPct val="115000"/>
              </a:lnSpc>
              <a:spcAft>
                <a:spcPts val="666"/>
              </a:spcAft>
            </a:pPr>
            <a:r>
              <a:rPr sz="1733" b="1">
                <a:solidFill>
                  <a:srgbClr val="6C4FD8"/>
                </a:solidFill>
                <a:latin typeface="Arial"/>
              </a:rPr>
              <a:t>Cap. 2 · RSL</a:t>
            </a:r>
          </a:p>
          <a:p>
            <a:pPr algn="l">
              <a:lnSpc>
                <a:spcPct val="115000"/>
              </a:lnSpc>
            </a:pPr>
            <a:r>
              <a:rPr sz="1733" b="0">
                <a:solidFill>
                  <a:srgbClr val="1A1A1A"/>
                </a:solidFill>
                <a:latin typeface="Arial"/>
              </a:rPr>
              <a:t>Só contraste entre países; nenhuma rede pequena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518" y="1463003"/>
            <a:ext cx="3566070" cy="2072588"/>
          </a:xfrm>
          <a:prstGeom prst="roundRect">
            <a:avLst>
              <a:gd name="adj" fmla="val 8000"/>
            </a:avLst>
          </a:prstGeom>
          <a:solidFill>
            <a:srgbClr val="F1E7D9"/>
          </a:solidFill>
          <a:ln w="25399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394" y="1584920"/>
            <a:ext cx="3200319" cy="1828754"/>
          </a:xfrm>
          <a:prstGeom prst="rect">
            <a:avLst/>
          </a:prstGeom>
          <a:noFill/>
        </p:spPr>
        <p:txBody>
          <a:bodyPr wrap="square" lIns="73150" rIns="73150" tIns="73150" bIns="73150" anchor="t"/>
          <a:lstStyle/>
          <a:p>
            <a:pPr algn="l">
              <a:lnSpc>
                <a:spcPct val="115000"/>
              </a:lnSpc>
              <a:spcAft>
                <a:spcPts val="666"/>
              </a:spcAft>
            </a:pPr>
            <a:r>
              <a:rPr sz="1733" b="1">
                <a:solidFill>
                  <a:srgbClr val="6C4FD8"/>
                </a:solidFill>
                <a:latin typeface="Arial"/>
              </a:rPr>
              <a:t>Cap. 4 · Método</a:t>
            </a:r>
          </a:p>
          <a:p>
            <a:pPr algn="l">
              <a:lnSpc>
                <a:spcPct val="115000"/>
              </a:lnSpc>
            </a:pPr>
            <a:r>
              <a:rPr sz="1733" b="0">
                <a:solidFill>
                  <a:srgbClr val="1A1A1A"/>
                </a:solidFill>
                <a:latin typeface="Arial"/>
              </a:rPr>
              <a:t>Dimensão situacional, registro iconográfico, Bloco 3 e Eixo 3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26" y="3779425"/>
            <a:ext cx="3566070" cy="2072588"/>
          </a:xfrm>
          <a:prstGeom prst="roundRect">
            <a:avLst>
              <a:gd name="adj" fmla="val 8000"/>
            </a:avLst>
          </a:prstGeom>
          <a:solidFill>
            <a:srgbClr val="F1E7D9"/>
          </a:solidFill>
          <a:ln w="25399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01" y="3901342"/>
            <a:ext cx="3200319" cy="1828754"/>
          </a:xfrm>
          <a:prstGeom prst="rect">
            <a:avLst/>
          </a:prstGeom>
          <a:noFill/>
        </p:spPr>
        <p:txBody>
          <a:bodyPr wrap="square" lIns="73150" rIns="73150" tIns="73150" bIns="73150" anchor="t"/>
          <a:lstStyle/>
          <a:p>
            <a:pPr algn="l">
              <a:lnSpc>
                <a:spcPct val="115000"/>
              </a:lnSpc>
              <a:spcAft>
                <a:spcPts val="666"/>
              </a:spcAft>
            </a:pPr>
            <a:r>
              <a:rPr sz="1733" b="1">
                <a:solidFill>
                  <a:srgbClr val="6C4FD8"/>
                </a:solidFill>
                <a:latin typeface="Arial"/>
              </a:rPr>
              <a:t>Cap. 5 · Agenda e PNED</a:t>
            </a:r>
          </a:p>
          <a:p>
            <a:pPr algn="l">
              <a:lnSpc>
                <a:spcPct val="115000"/>
              </a:lnSpc>
            </a:pPr>
            <a:r>
              <a:rPr sz="1733" b="0">
                <a:solidFill>
                  <a:srgbClr val="1A1A1A"/>
                </a:solidFill>
                <a:latin typeface="Arial"/>
              </a:rPr>
              <a:t>Prioridade aos vulneráveis e meios por conta de cada ente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97572" y="3779425"/>
            <a:ext cx="3566070" cy="2072588"/>
          </a:xfrm>
          <a:prstGeom prst="roundRect">
            <a:avLst>
              <a:gd name="adj" fmla="val 8000"/>
            </a:avLst>
          </a:prstGeom>
          <a:solidFill>
            <a:srgbClr val="FFCE32"/>
          </a:solidFill>
          <a:ln w="25399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80447" y="3901342"/>
            <a:ext cx="3200319" cy="1828754"/>
          </a:xfrm>
          <a:prstGeom prst="rect">
            <a:avLst/>
          </a:prstGeom>
          <a:noFill/>
        </p:spPr>
        <p:txBody>
          <a:bodyPr wrap="square" lIns="73150" rIns="73150" tIns="73150" bIns="73150" anchor="t"/>
          <a:lstStyle/>
          <a:p>
            <a:pPr algn="l">
              <a:lnSpc>
                <a:spcPct val="115000"/>
              </a:lnSpc>
              <a:spcAft>
                <a:spcPts val="666"/>
              </a:spcAft>
            </a:pPr>
            <a:r>
              <a:rPr sz="1733" b="1">
                <a:solidFill>
                  <a:srgbClr val="1A1A1A"/>
                </a:solidFill>
                <a:latin typeface="Arial"/>
              </a:rPr>
              <a:t>Cap. 6 · Território</a:t>
            </a:r>
          </a:p>
          <a:p>
            <a:pPr algn="l">
              <a:lnSpc>
                <a:spcPct val="115000"/>
              </a:lnSpc>
            </a:pPr>
            <a:r>
              <a:rPr sz="1733" b="0">
                <a:solidFill>
                  <a:srgbClr val="1A1A1A"/>
                </a:solidFill>
                <a:latin typeface="Arial"/>
              </a:rPr>
              <a:t>Condições documentadas, habitar o digital, rugosidade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46518" y="3779425"/>
            <a:ext cx="3566070" cy="2072588"/>
          </a:xfrm>
          <a:prstGeom prst="roundRect">
            <a:avLst>
              <a:gd name="adj" fmla="val 8000"/>
            </a:avLst>
          </a:prstGeom>
          <a:solidFill>
            <a:srgbClr val="FFCE32"/>
          </a:solidFill>
          <a:ln w="25399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394" y="3901342"/>
            <a:ext cx="3200319" cy="1828754"/>
          </a:xfrm>
          <a:prstGeom prst="rect">
            <a:avLst/>
          </a:prstGeom>
          <a:noFill/>
        </p:spPr>
        <p:txBody>
          <a:bodyPr wrap="square" lIns="73150" rIns="73150" tIns="73150" bIns="73150" anchor="t"/>
          <a:lstStyle/>
          <a:p>
            <a:pPr algn="l">
              <a:lnSpc>
                <a:spcPct val="115000"/>
              </a:lnSpc>
              <a:spcAft>
                <a:spcPts val="666"/>
              </a:spcAft>
            </a:pPr>
            <a:r>
              <a:rPr sz="1733" b="1">
                <a:solidFill>
                  <a:srgbClr val="1A1A1A"/>
                </a:solidFill>
                <a:latin typeface="Arial"/>
              </a:rPr>
              <a:t>Cap. 7 · Narrativas</a:t>
            </a:r>
          </a:p>
          <a:p>
            <a:pPr algn="l">
              <a:lnSpc>
                <a:spcPct val="115000"/>
              </a:lnSpc>
            </a:pPr>
            <a:r>
              <a:rPr sz="1733" b="0">
                <a:solidFill>
                  <a:srgbClr val="1A1A1A"/>
                </a:solidFill>
                <a:latin typeface="Arial"/>
              </a:rPr>
              <a:t>Os quatro objetivos lidos em relação ao lugar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26" y="6156806"/>
            <a:ext cx="11094442" cy="487667"/>
          </a:xfrm>
          <a:prstGeom prst="rect">
            <a:avLst/>
          </a:prstGeom>
          <a:noFill/>
        </p:spPr>
        <p:txBody>
          <a:bodyPr wrap="square" lIns="73150" rIns="73150" tIns="73150" bIns="73150" anchor="ctr"/>
          <a:lstStyle/>
          <a:p>
            <a:pPr algn="ctr">
              <a:lnSpc>
                <a:spcPct val="115000"/>
              </a:lnSpc>
            </a:pPr>
            <a:r>
              <a:rPr sz="1399" b="0">
                <a:solidFill>
                  <a:srgbClr val="FFFFFF"/>
                </a:solidFill>
                <a:latin typeface="Arial"/>
              </a:rPr>
              <a:t>Pipa é parte constitutiva do contexto da prática, da pergunta às considerações finais (Quadro 19).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782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09584" y="335271"/>
            <a:ext cx="10972525" cy="914377"/>
          </a:xfrm>
          <a:prstGeom prst="rect">
            <a:avLst/>
          </a:prstGeom>
          <a:noFill/>
        </p:spPr>
        <p:txBody>
          <a:bodyPr wrap="square" lIns="73150" rIns="73150" tIns="73150" bIns="73150" anchor="ctr"/>
          <a:lstStyle/>
          <a:p>
            <a:pPr algn="ctr">
              <a:lnSpc>
                <a:spcPct val="100000"/>
              </a:lnSpc>
            </a:pPr>
            <a:r>
              <a:rPr sz="3733" b="1">
                <a:solidFill>
                  <a:srgbClr val="FFFFFF"/>
                </a:solidFill>
                <a:latin typeface="Arial"/>
              </a:rPr>
              <a:t>ONDE ESTAMOS E O QUE FALTA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26" y="1402044"/>
            <a:ext cx="5242428" cy="4815719"/>
          </a:xfrm>
          <a:prstGeom prst="roundRect">
            <a:avLst>
              <a:gd name="adj" fmla="val 6000"/>
            </a:avLst>
          </a:prstGeom>
          <a:solidFill>
            <a:srgbClr val="FFCE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92460" y="1523961"/>
            <a:ext cx="4754761" cy="4571885"/>
          </a:xfrm>
          <a:prstGeom prst="rect">
            <a:avLst/>
          </a:prstGeom>
          <a:noFill/>
        </p:spPr>
        <p:txBody>
          <a:bodyPr wrap="square" lIns="73150" rIns="73150" tIns="73150" bIns="73150" anchor="t"/>
          <a:lstStyle/>
          <a:p>
            <a:pPr algn="l">
              <a:lnSpc>
                <a:spcPct val="115000"/>
              </a:lnSpc>
              <a:spcAft>
                <a:spcPts val="933"/>
              </a:spcAft>
            </a:pPr>
            <a:r>
              <a:rPr sz="1733" b="1">
                <a:solidFill>
                  <a:srgbClr val="1A1A1A"/>
                </a:solidFill>
                <a:latin typeface="Arial"/>
              </a:rPr>
              <a:t>FEITO</a:t>
            </a:r>
          </a:p>
          <a:p>
            <a:pPr algn="l">
              <a:lnSpc>
                <a:spcPct val="115000"/>
              </a:lnSpc>
              <a:spcAft>
                <a:spcPts val="933"/>
              </a:spcAft>
            </a:pPr>
            <a:r>
              <a:rPr sz="1733" b="0">
                <a:solidFill>
                  <a:srgbClr val="1A1A1A"/>
                </a:solidFill>
                <a:latin typeface="Arial"/>
              </a:rPr>
              <a:t>Projeto reformulado e capítulos 1, 2, 4, 5 e 6 alinhados a ele</a:t>
            </a:r>
          </a:p>
          <a:p>
            <a:pPr algn="l">
              <a:lnSpc>
                <a:spcPct val="115000"/>
              </a:lnSpc>
              <a:spcAft>
                <a:spcPts val="933"/>
              </a:spcAft>
            </a:pPr>
            <a:r>
              <a:rPr sz="1733" b="0">
                <a:solidFill>
                  <a:srgbClr val="1A1A1A"/>
                </a:solidFill>
                <a:latin typeface="Arial"/>
              </a:rPr>
              <a:t>Revisão sistemática concluída (9 estudos)</a:t>
            </a:r>
          </a:p>
          <a:p>
            <a:pPr algn="l">
              <a:lnSpc>
                <a:spcPct val="115000"/>
              </a:lnSpc>
              <a:spcAft>
                <a:spcPts val="933"/>
              </a:spcAft>
            </a:pPr>
            <a:r>
              <a:rPr sz="1733" b="0">
                <a:solidFill>
                  <a:srgbClr val="1A1A1A"/>
                </a:solidFill>
                <a:latin typeface="Arial"/>
              </a:rPr>
              <a:t>Registro iconográfico e acervo histórico (Cap. 6)</a:t>
            </a:r>
          </a:p>
          <a:p>
            <a:pPr algn="l">
              <a:lnSpc>
                <a:spcPct val="115000"/>
              </a:lnSpc>
              <a:spcAft>
                <a:spcPts val="933"/>
              </a:spcAft>
            </a:pPr>
            <a:r>
              <a:rPr sz="1733" b="0">
                <a:solidFill>
                  <a:srgbClr val="1A1A1A"/>
                </a:solidFill>
                <a:latin typeface="Arial"/>
              </a:rPr>
              <a:t>15 turmas e 351 crianças do 1º ao 5º ano (SIGEduc, 2026)</a:t>
            </a:r>
          </a:p>
          <a:p>
            <a:pPr algn="l">
              <a:lnSpc>
                <a:spcPct val="115000"/>
              </a:lnSpc>
            </a:pPr>
            <a:r>
              <a:rPr sz="1733" b="0">
                <a:solidFill>
                  <a:srgbClr val="1A1A1A"/>
                </a:solidFill>
                <a:latin typeface="Arial"/>
              </a:rPr>
              <a:t>Capítulo 3 em construção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639" y="1402044"/>
            <a:ext cx="5242428" cy="4815719"/>
          </a:xfrm>
          <a:prstGeom prst="roundRect">
            <a:avLst>
              <a:gd name="adj" fmla="val 6000"/>
            </a:avLst>
          </a:prstGeom>
          <a:solidFill>
            <a:srgbClr val="F1E7D9"/>
          </a:solidFill>
          <a:ln w="25399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644473" y="1523961"/>
            <a:ext cx="4754761" cy="4571885"/>
          </a:xfrm>
          <a:prstGeom prst="rect">
            <a:avLst/>
          </a:prstGeom>
          <a:noFill/>
        </p:spPr>
        <p:txBody>
          <a:bodyPr wrap="square" lIns="73150" rIns="73150" tIns="73150" bIns="73150" anchor="t"/>
          <a:lstStyle/>
          <a:p>
            <a:pPr algn="l">
              <a:lnSpc>
                <a:spcPct val="115000"/>
              </a:lnSpc>
              <a:spcAft>
                <a:spcPts val="666"/>
              </a:spcAft>
            </a:pPr>
            <a:r>
              <a:rPr sz="1666" b="1">
                <a:solidFill>
                  <a:srgbClr val="6C4FD8"/>
                </a:solidFill>
                <a:latin typeface="Arial"/>
              </a:rPr>
              <a:t>ANTES DO CAMPO</a:t>
            </a:r>
          </a:p>
          <a:p>
            <a:pPr algn="l">
              <a:lnSpc>
                <a:spcPct val="115000"/>
              </a:lnSpc>
              <a:spcAft>
                <a:spcPts val="666"/>
              </a:spcAft>
            </a:pPr>
            <a:r>
              <a:rPr sz="1666" b="0">
                <a:solidFill>
                  <a:srgbClr val="1A1A1A"/>
                </a:solidFill>
                <a:latin typeface="Arial"/>
              </a:rPr>
              <a:t>Emenda ao CEP com questionário e roteiro</a:t>
            </a:r>
          </a:p>
          <a:p>
            <a:pPr algn="l">
              <a:lnSpc>
                <a:spcPct val="115000"/>
              </a:lnSpc>
              <a:spcAft>
                <a:spcPts val="666"/>
              </a:spcAft>
            </a:pPr>
            <a:r>
              <a:rPr sz="1666" b="0">
                <a:solidFill>
                  <a:srgbClr val="1A1A1A"/>
                </a:solidFill>
                <a:latin typeface="Arial"/>
              </a:rPr>
              <a:t>Critérios de leitura datados antes da 1ª entrevista</a:t>
            </a:r>
          </a:p>
          <a:p>
            <a:pPr algn="l">
              <a:lnSpc>
                <a:spcPct val="115000"/>
              </a:lnSpc>
              <a:spcAft>
                <a:spcPts val="666"/>
              </a:spcAft>
            </a:pPr>
            <a:r>
              <a:rPr sz="1666" b="0">
                <a:solidFill>
                  <a:srgbClr val="1A1A1A"/>
                </a:solidFill>
                <a:latin typeface="Arial"/>
              </a:rPr>
              <a:t>Análise documental: aquisição, PIEC, Censo, formação</a:t>
            </a:r>
          </a:p>
          <a:p>
            <a:pPr algn="l">
              <a:lnSpc>
                <a:spcPct val="115000"/>
              </a:lnSpc>
              <a:spcAft>
                <a:spcPts val="666"/>
              </a:spcAft>
            </a:pPr>
            <a:r>
              <a:rPr sz="1666" b="0">
                <a:solidFill>
                  <a:srgbClr val="1A1A1A"/>
                </a:solidFill>
                <a:latin typeface="Arial"/>
              </a:rPr>
              <a:t>Receita e gasto em educação do município</a:t>
            </a:r>
          </a:p>
          <a:p>
            <a:pPr algn="l">
              <a:lnSpc>
                <a:spcPct val="115000"/>
              </a:lnSpc>
              <a:spcAft>
                <a:spcPts val="666"/>
              </a:spcAft>
            </a:pPr>
            <a:r>
              <a:rPr sz="1666" b="0">
                <a:solidFill>
                  <a:srgbClr val="1A1A1A"/>
                </a:solidFill>
                <a:latin typeface="Arial"/>
              </a:rPr>
              <a:t>Testes de velocidade da conexão nas salas</a:t>
            </a:r>
          </a:p>
          <a:p>
            <a:pPr algn="l">
              <a:lnSpc>
                <a:spcPct val="115000"/>
              </a:lnSpc>
            </a:pPr>
            <a:r>
              <a:rPr sz="1666" b="0">
                <a:solidFill>
                  <a:srgbClr val="1A1A1A"/>
                </a:solidFill>
                <a:latin typeface="Arial"/>
              </a:rPr>
              <a:t>Número de participantes por função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584" y="6431119"/>
            <a:ext cx="10972525" cy="304792"/>
          </a:xfrm>
          <a:prstGeom prst="rect">
            <a:avLst/>
          </a:prstGeom>
          <a:noFill/>
        </p:spPr>
        <p:txBody>
          <a:bodyPr wrap="square" lIns="73150" rIns="73150" tIns="73150" bIns="73150" anchor="ctr"/>
          <a:lstStyle/>
          <a:p>
            <a:pPr algn="l">
              <a:lnSpc>
                <a:spcPct val="100000"/>
              </a:lnSpc>
            </a:pPr>
            <a:r>
              <a:rPr sz="999" b="1">
                <a:solidFill>
                  <a:srgbClr val="FFFFFF"/>
                </a:solidFill>
                <a:latin typeface="Arial"/>
              </a:rPr>
              <a:t>Fundamentos: </a:t>
            </a:r>
            <a:r>
              <a:rPr sz="999" b="0">
                <a:solidFill>
                  <a:srgbClr val="FFFFFF"/>
                </a:solidFill>
                <a:latin typeface="Arial"/>
              </a:rPr>
              <a:t>Yin (2001); Resoluções CNS nº 466/2012 e 510/2016.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782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09584" y="335271"/>
            <a:ext cx="10972525" cy="914377"/>
          </a:xfrm>
          <a:prstGeom prst="rect">
            <a:avLst/>
          </a:prstGeom>
          <a:noFill/>
        </p:spPr>
        <p:txBody>
          <a:bodyPr wrap="square" lIns="73150" rIns="73150" tIns="73150" bIns="73150" anchor="ctr"/>
          <a:lstStyle/>
          <a:p>
            <a:pPr algn="ctr">
              <a:lnSpc>
                <a:spcPct val="100000"/>
              </a:lnSpc>
            </a:pPr>
            <a:r>
              <a:rPr sz="3599" b="1">
                <a:solidFill>
                  <a:srgbClr val="FFFFFF"/>
                </a:solidFill>
                <a:latin typeface="Arial"/>
              </a:rPr>
              <a:t>REFERÊNCIAS PRINCIPAIS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26" y="1341086"/>
            <a:ext cx="11094442" cy="5242428"/>
          </a:xfrm>
          <a:prstGeom prst="roundRect">
            <a:avLst>
              <a:gd name="adj" fmla="val 3000"/>
            </a:avLst>
          </a:prstGeom>
          <a:solidFill>
            <a:srgbClr val="F1E7D9"/>
          </a:solidFill>
          <a:ln w="25399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01" y="1463003"/>
            <a:ext cx="5364345" cy="5059553"/>
          </a:xfrm>
          <a:prstGeom prst="rect">
            <a:avLst/>
          </a:prstGeom>
          <a:noFill/>
        </p:spPr>
        <p:txBody>
          <a:bodyPr wrap="square" lIns="73150" rIns="73150" tIns="73150" bIns="73150" anchor="t"/>
          <a:lstStyle/>
          <a:p>
            <a:pPr algn="l">
              <a:lnSpc>
                <a:spcPct val="105000"/>
              </a:lnSpc>
              <a:spcAft>
                <a:spcPts val="599"/>
              </a:spcAft>
            </a:pPr>
            <a:r>
              <a:rPr sz="1199" b="0">
                <a:solidFill>
                  <a:srgbClr val="1A1A1A"/>
                </a:solidFill>
                <a:latin typeface="Arial"/>
              </a:rPr>
              <a:t>BALL, S. J. Reformar escolas/reformar professores e os terrores da performatividade. Revista Portuguesa de Educação, v. 15, n. 2, p. 3-23, 2002.</a:t>
            </a:r>
          </a:p>
          <a:p>
            <a:pPr algn="l">
              <a:lnSpc>
                <a:spcPct val="105000"/>
              </a:lnSpc>
              <a:spcAft>
                <a:spcPts val="599"/>
              </a:spcAft>
            </a:pPr>
            <a:r>
              <a:rPr sz="1199" b="0">
                <a:solidFill>
                  <a:srgbClr val="1A1A1A"/>
                </a:solidFill>
                <a:latin typeface="Arial"/>
              </a:rPr>
              <a:t>BALL, S. J.; MAGUIRE, M.; BRAUN, A. Como as escolas fazem as políticas. Ponta Grossa: UEPG, 2016.</a:t>
            </a:r>
          </a:p>
          <a:p>
            <a:pPr algn="l">
              <a:lnSpc>
                <a:spcPct val="105000"/>
              </a:lnSpc>
              <a:spcAft>
                <a:spcPts val="599"/>
              </a:spcAft>
            </a:pPr>
            <a:r>
              <a:rPr sz="1199" b="0">
                <a:solidFill>
                  <a:srgbClr val="1A1A1A"/>
                </a:solidFill>
                <a:latin typeface="Arial"/>
              </a:rPr>
              <a:t>BOWE, R.; BALL, S. J.; GOLD, A. Reforming education and changing schools. London: Routledge, 1992.</a:t>
            </a:r>
          </a:p>
          <a:p>
            <a:pPr algn="l">
              <a:lnSpc>
                <a:spcPct val="105000"/>
              </a:lnSpc>
              <a:spcAft>
                <a:spcPts val="599"/>
              </a:spcAft>
            </a:pPr>
            <a:r>
              <a:rPr sz="1199" b="0">
                <a:solidFill>
                  <a:srgbClr val="1A1A1A"/>
                </a:solidFill>
                <a:latin typeface="Arial"/>
              </a:rPr>
              <a:t>BRASIL. Lei nº 14.533, de 11 de janeiro de 2023. Institui a Política Nacional de Educação Digital. Brasília, DF, 2023.</a:t>
            </a:r>
          </a:p>
          <a:p>
            <a:pPr algn="l">
              <a:lnSpc>
                <a:spcPct val="105000"/>
              </a:lnSpc>
              <a:spcAft>
                <a:spcPts val="599"/>
              </a:spcAft>
            </a:pPr>
            <a:r>
              <a:rPr sz="1199" b="0">
                <a:solidFill>
                  <a:srgbClr val="1A1A1A"/>
                </a:solidFill>
                <a:latin typeface="Arial"/>
              </a:rPr>
              <a:t>BRAUN, V.; CLARKE, V. Using thematic analysis in psychology. Qualitative Research in Psychology, v. 3, n. 2, p. 77-101, 2006.</a:t>
            </a:r>
          </a:p>
          <a:p>
            <a:pPr algn="l">
              <a:lnSpc>
                <a:spcPct val="105000"/>
              </a:lnSpc>
              <a:spcAft>
                <a:spcPts val="599"/>
              </a:spcAft>
            </a:pPr>
            <a:r>
              <a:rPr sz="1199" b="0">
                <a:solidFill>
                  <a:srgbClr val="1A1A1A"/>
                </a:solidFill>
                <a:latin typeface="Arial"/>
              </a:rPr>
              <a:t>CASTELLS, M. A galáxia da internet. Rio de Janeiro: Zahar, 2003.</a:t>
            </a:r>
          </a:p>
          <a:p>
            <a:pPr algn="l">
              <a:lnSpc>
                <a:spcPct val="105000"/>
              </a:lnSpc>
              <a:spcAft>
                <a:spcPts val="599"/>
              </a:spcAft>
            </a:pPr>
            <a:r>
              <a:rPr sz="1199" b="0">
                <a:solidFill>
                  <a:srgbClr val="1A1A1A"/>
                </a:solidFill>
                <a:latin typeface="Arial"/>
              </a:rPr>
              <a:t>CGI.BR. TIC Educação 2024. São Paulo: Comitê Gestor da Internet no Brasil, 2025.</a:t>
            </a:r>
          </a:p>
          <a:p>
            <a:pPr algn="l">
              <a:lnSpc>
                <a:spcPct val="105000"/>
              </a:lnSpc>
              <a:spcAft>
                <a:spcPts val="599"/>
              </a:spcAft>
            </a:pPr>
            <a:r>
              <a:rPr sz="1199" b="0">
                <a:solidFill>
                  <a:srgbClr val="1A1A1A"/>
                </a:solidFill>
                <a:latin typeface="Arial"/>
              </a:rPr>
              <a:t>DI FELICE, M. Paisagens pós-urbanas. São Paulo: Annablume, 2009.</a:t>
            </a:r>
          </a:p>
          <a:p>
            <a:pPr algn="l">
              <a:lnSpc>
                <a:spcPct val="105000"/>
              </a:lnSpc>
              <a:spcAft>
                <a:spcPts val="599"/>
              </a:spcAft>
            </a:pPr>
            <a:r>
              <a:rPr sz="1199" b="0">
                <a:solidFill>
                  <a:srgbClr val="1A1A1A"/>
                </a:solidFill>
                <a:latin typeface="Arial"/>
              </a:rPr>
              <a:t>DORNELLES, L. V. Infâncias que nos escapam. Petrópolis: Vozes, 2005.</a:t>
            </a:r>
          </a:p>
          <a:p>
            <a:pPr algn="l">
              <a:lnSpc>
                <a:spcPct val="105000"/>
              </a:lnSpc>
            </a:pPr>
            <a:r>
              <a:rPr sz="1199" b="0">
                <a:solidFill>
                  <a:srgbClr val="1A1A1A"/>
                </a:solidFill>
                <a:latin typeface="Arial"/>
              </a:rPr>
              <a:t>HARGREAVES, A. Profesorado, cultura y postmodernidad. 5. ed. Madrid: Morata, 2005.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56806" y="1463003"/>
            <a:ext cx="5364345" cy="5059553"/>
          </a:xfrm>
          <a:prstGeom prst="rect">
            <a:avLst/>
          </a:prstGeom>
          <a:noFill/>
        </p:spPr>
        <p:txBody>
          <a:bodyPr wrap="square" lIns="73150" rIns="73150" tIns="73150" bIns="73150" anchor="t"/>
          <a:lstStyle/>
          <a:p>
            <a:pPr algn="l">
              <a:lnSpc>
                <a:spcPct val="105000"/>
              </a:lnSpc>
              <a:spcAft>
                <a:spcPts val="599"/>
              </a:spcAft>
            </a:pPr>
            <a:r>
              <a:rPr sz="1199" b="0">
                <a:solidFill>
                  <a:srgbClr val="1A1A1A"/>
                </a:solidFill>
                <a:latin typeface="Arial"/>
              </a:rPr>
              <a:t>MAINARDES, J. Abordagem do ciclo de políticas. Educação &amp; Sociedade, v. 27, n. 94, p. 47-69, 2006.</a:t>
            </a:r>
          </a:p>
          <a:p>
            <a:pPr algn="l">
              <a:lnSpc>
                <a:spcPct val="105000"/>
              </a:lnSpc>
              <a:spcAft>
                <a:spcPts val="599"/>
              </a:spcAft>
            </a:pPr>
            <a:r>
              <a:rPr sz="1199" b="0">
                <a:solidFill>
                  <a:srgbClr val="1A1A1A"/>
                </a:solidFill>
                <a:latin typeface="Arial"/>
              </a:rPr>
              <a:t>MASSEY, D. Pelo espaço: uma nova política da espacialidade. Rio de Janeiro: Bertrand Brasil, 2008.</a:t>
            </a:r>
          </a:p>
          <a:p>
            <a:pPr algn="l">
              <a:lnSpc>
                <a:spcPct val="105000"/>
              </a:lnSpc>
              <a:spcAft>
                <a:spcPts val="599"/>
              </a:spcAft>
            </a:pPr>
            <a:r>
              <a:rPr sz="1199" b="0">
                <a:solidFill>
                  <a:srgbClr val="1A1A1A"/>
                </a:solidFill>
                <a:latin typeface="Arial"/>
              </a:rPr>
              <a:t>MINAYO, M. C. S. (org.). Pesquisa social: teoria, método e criatividade. 28. ed. Petrópolis: Vozes, 2009.</a:t>
            </a:r>
          </a:p>
          <a:p>
            <a:pPr algn="l">
              <a:lnSpc>
                <a:spcPct val="105000"/>
              </a:lnSpc>
              <a:spcAft>
                <a:spcPts val="599"/>
              </a:spcAft>
            </a:pPr>
            <a:r>
              <a:rPr sz="1199" b="0">
                <a:solidFill>
                  <a:srgbClr val="1A1A1A"/>
                </a:solidFill>
                <a:latin typeface="Arial"/>
              </a:rPr>
              <a:t>ONU. Comitê dos Direitos da Criança. Comentário Geral nº 25 (2021). Genebra: ONU, 2021.</a:t>
            </a:r>
          </a:p>
          <a:p>
            <a:pPr algn="l">
              <a:lnSpc>
                <a:spcPct val="105000"/>
              </a:lnSpc>
              <a:spcAft>
                <a:spcPts val="599"/>
              </a:spcAft>
            </a:pPr>
            <a:r>
              <a:rPr sz="1199" b="0">
                <a:solidFill>
                  <a:srgbClr val="1A1A1A"/>
                </a:solidFill>
                <a:latin typeface="Arial"/>
              </a:rPr>
              <a:t>SANTOS, M. O território e o saber local. Cadernos IPPUR, ano 13, n. 2, p. 15-26, 1999.</a:t>
            </a:r>
          </a:p>
          <a:p>
            <a:pPr algn="l">
              <a:lnSpc>
                <a:spcPct val="105000"/>
              </a:lnSpc>
              <a:spcAft>
                <a:spcPts val="599"/>
              </a:spcAft>
            </a:pPr>
            <a:r>
              <a:rPr sz="1199" b="0">
                <a:solidFill>
                  <a:srgbClr val="1A1A1A"/>
                </a:solidFill>
                <a:latin typeface="Arial"/>
              </a:rPr>
              <a:t>SANTOS, M. A natureza do espaço. 4. ed. São Paulo: Edusp, 2006.</a:t>
            </a:r>
          </a:p>
          <a:p>
            <a:pPr algn="l">
              <a:lnSpc>
                <a:spcPct val="105000"/>
              </a:lnSpc>
              <a:spcAft>
                <a:spcPts val="599"/>
              </a:spcAft>
            </a:pPr>
            <a:r>
              <a:rPr sz="1199" b="0">
                <a:solidFill>
                  <a:srgbClr val="1A1A1A"/>
                </a:solidFill>
                <a:latin typeface="Arial"/>
              </a:rPr>
              <a:t>SANTOS, M. Espaço e método. 5. ed. São Paulo: Edusp, 2012.</a:t>
            </a:r>
          </a:p>
          <a:p>
            <a:pPr algn="l">
              <a:lnSpc>
                <a:spcPct val="105000"/>
              </a:lnSpc>
              <a:spcAft>
                <a:spcPts val="599"/>
              </a:spcAft>
            </a:pPr>
            <a:r>
              <a:rPr sz="1199" b="0">
                <a:solidFill>
                  <a:srgbClr val="1A1A1A"/>
                </a:solidFill>
                <a:latin typeface="Arial"/>
              </a:rPr>
              <a:t>SCHLEMMER, E. et al. (org.). O habitar do ensinar e do aprender OnLIFE. São Leopoldo: Casa Leiria, 2021.</a:t>
            </a:r>
          </a:p>
          <a:p>
            <a:pPr algn="l">
              <a:lnSpc>
                <a:spcPct val="105000"/>
              </a:lnSpc>
              <a:spcAft>
                <a:spcPts val="599"/>
              </a:spcAft>
            </a:pPr>
            <a:r>
              <a:rPr sz="1199" b="0">
                <a:solidFill>
                  <a:srgbClr val="1A1A1A"/>
                </a:solidFill>
                <a:latin typeface="Arial"/>
              </a:rPr>
              <a:t>VALENTE, J. A. (org.). O computador na sociedade do conhecimento. Campinas: Unicamp/NIED, 1999.</a:t>
            </a:r>
          </a:p>
          <a:p>
            <a:pPr algn="l">
              <a:lnSpc>
                <a:spcPct val="105000"/>
              </a:lnSpc>
            </a:pPr>
            <a:r>
              <a:rPr sz="1199" b="0">
                <a:solidFill>
                  <a:srgbClr val="1A1A1A"/>
                </a:solidFill>
                <a:latin typeface="Arial"/>
              </a:rPr>
              <a:t>YIN, R. K. Estudo de caso: planejamento e métodos. 2. ed. Porto Alegre: Bookman, 2001.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7828"/>
          </a:xfrm>
          <a:prstGeom prst="rect">
            <a:avLst/>
          </a:prstGeom>
        </p:spPr>
      </p:pic>
      <p:pic>
        <p:nvPicPr>
          <p:cNvPr id="3" name="Picture 2" descr="Ilustração decorativa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50" y="304792"/>
            <a:ext cx="1950671" cy="2060168"/>
          </a:xfrm>
          <a:prstGeom prst="rect">
            <a:avLst/>
          </a:prstGeom>
        </p:spPr>
      </p:pic>
      <p:pic>
        <p:nvPicPr>
          <p:cNvPr id="4" name="Picture 3" descr="Ilustração decorativa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01982" y="4023259"/>
            <a:ext cx="1584920" cy="2163610"/>
          </a:xfrm>
          <a:prstGeom prst="rect">
            <a:avLst/>
          </a:prstGeom>
        </p:spPr>
      </p:pic>
      <p:pic>
        <p:nvPicPr>
          <p:cNvPr id="5" name="Picture 4" descr="Ilustração decorativa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6709" y="3901342"/>
            <a:ext cx="2072588" cy="2455673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438339" y="487667"/>
            <a:ext cx="7315017" cy="1463003"/>
          </a:xfrm>
          <a:prstGeom prst="rect">
            <a:avLst/>
          </a:prstGeom>
          <a:noFill/>
        </p:spPr>
        <p:txBody>
          <a:bodyPr wrap="square" lIns="73150" rIns="73150" tIns="73150" bIns="73150" anchor="ctr"/>
          <a:lstStyle/>
          <a:p>
            <a:pPr algn="ctr">
              <a:lnSpc>
                <a:spcPct val="100000"/>
              </a:lnSpc>
            </a:pPr>
            <a:r>
              <a:rPr sz="5599" b="1">
                <a:solidFill>
                  <a:srgbClr val="FFFFFF"/>
                </a:solidFill>
                <a:latin typeface="Arial"/>
              </a:rPr>
              <a:t>MUITO OBRIGADA!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560255" y="2194505"/>
            <a:ext cx="7071183" cy="2804089"/>
          </a:xfrm>
          <a:prstGeom prst="roundRect">
            <a:avLst>
              <a:gd name="adj" fmla="val 6000"/>
            </a:avLst>
          </a:prstGeom>
          <a:solidFill>
            <a:srgbClr val="FFCE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804089" y="2316422"/>
            <a:ext cx="6583515" cy="2560255"/>
          </a:xfrm>
          <a:prstGeom prst="rect">
            <a:avLst/>
          </a:prstGeom>
          <a:noFill/>
        </p:spPr>
        <p:txBody>
          <a:bodyPr wrap="square" lIns="73150" rIns="73150" tIns="73150" bIns="73150" anchor="ctr"/>
          <a:lstStyle/>
          <a:p>
            <a:pPr algn="l">
              <a:lnSpc>
                <a:spcPct val="115000"/>
              </a:lnSpc>
              <a:spcAft>
                <a:spcPts val="799"/>
              </a:spcAft>
            </a:pPr>
            <a:r>
              <a:rPr sz="1666" b="1">
                <a:solidFill>
                  <a:srgbClr val="1A1A1A"/>
                </a:solidFill>
                <a:latin typeface="Arial"/>
              </a:rPr>
              <a:t>A questão que fica aberta para o campo</a:t>
            </a:r>
          </a:p>
          <a:p>
            <a:pPr algn="l">
              <a:lnSpc>
                <a:spcPct val="115000"/>
              </a:lnSpc>
            </a:pPr>
            <a:r>
              <a:rPr sz="1666" b="0">
                <a:solidFill>
                  <a:srgbClr val="1A1A1A"/>
                </a:solidFill>
                <a:latin typeface="Arial"/>
              </a:rPr>
              <a:t>Quando a política não faz chegar o equipamento nem a formação, quem paga, no cotidiano da escola, o preço dessa ausência? E o que isso significa para os direitos que a lei prometeu às crianças?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38339" y="5303387"/>
            <a:ext cx="7315017" cy="975335"/>
          </a:xfrm>
          <a:prstGeom prst="rect">
            <a:avLst/>
          </a:prstGeom>
          <a:noFill/>
        </p:spPr>
        <p:txBody>
          <a:bodyPr wrap="square" lIns="73150" rIns="73150" tIns="73150" bIns="73150" anchor="t"/>
          <a:lstStyle/>
          <a:p>
            <a:pPr algn="ctr">
              <a:lnSpc>
                <a:spcPct val="115000"/>
              </a:lnSpc>
              <a:spcAft>
                <a:spcPts val="266"/>
              </a:spcAft>
            </a:pPr>
            <a:r>
              <a:rPr sz="1466" b="1">
                <a:solidFill>
                  <a:srgbClr val="FFFFFF"/>
                </a:solidFill>
                <a:latin typeface="Arial"/>
              </a:rPr>
              <a:t>Yzynya Silva Rezende Machado</a:t>
            </a:r>
          </a:p>
          <a:p>
            <a:pPr algn="ctr">
              <a:lnSpc>
                <a:spcPct val="115000"/>
              </a:lnSpc>
            </a:pPr>
            <a:r>
              <a:rPr sz="1466" b="0">
                <a:solidFill>
                  <a:srgbClr val="FFFFFF"/>
                </a:solidFill>
                <a:latin typeface="Arial"/>
              </a:rPr>
              <a:t>Orientadora: Profa. Dra. Maria Cristina Leandro de Paiva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