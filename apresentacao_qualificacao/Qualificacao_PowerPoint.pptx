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78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 tarde a todas e a todos. Agradeço à banca pela leitura e à minha orientadora, professora Maria Cristina, pelo acompanhamento. Apresento hoje a tese A encenação da Política Nacional de Educação Digital em Pipa, que investiga como uma política nacional ganha forma numa escola situada, a partir de quem trabalha nela, das condições que ela tem e do território em que está.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apresentação tem seis partes. Começo pela proposta, com o problema, o objeto, os objetivos, as relevâncias e o ineditismo. Depois mostro o que a revisão sistemática responde, os fundamentos teóricos e metodológicos, os cinco movimentos da pesquisa e a agenda territorial da política. Termino com o capítulo do território, que já traz resultados.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problema nasce de uma distância. A lei fez da educação digital um direito, um dever do Estado e um componente curricular, com implementação obrigatória a partir de 2026. Na sala, encontramos turmas dos anos iniciais sem tela, um laboratório cujo uso ainda precisa ser verificado e uma formação que a lei prevê apenas como promoção. É nessa distância que os profissionais precisam encenar a política.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objeto é a encenação da PNED, em seu eixo Educação Digital Escolar, pelos profissionais da educação do primeiro ao quinto ano da Escola Municipal Domitila Castelo da Silva. Escuto docentes, coordenação, direção e demais profissionais, porque todos constroem a política. A questão foi formulada para manter o resultado em aberto: queremos saber como encenam e recontextualizam a PNED e como culturas profissionais, condições da escola e território atravessam esse processo.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objetivo geral é analisar essa encenação considerando a política, as culturas profissionais, as condições materiais e institucionais e o território. Os quatro objetivos específicos seguem o caminho da própria política até as crianças: como ela é lida, como é traduzida nas condições da escola e do lugar, que formas de atuação os profissionais produzem e que implicações isso tem para a provisão, a proteção e a participação das crianças no ambiente digital.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pesquisa tem quatro relevâncias. A primeira está no que o eixo promete às crianças: participação consciente e democrática e proteção de dados, e, nos anos iniciais, a escola é para muitas delas o primeiro espaço público para conversar sobre o digital com alguém que ensina. A segunda está em quem faz a política acontecer, os profissionais, cada um de uma posição. A terceira está no território: o distrito que vende pousadas e passeios pela internet é o mesmo de onde as crianças saem para salas sem tela. A quarta está no debate sobre desigualdade. Pela TIC Educação 2024, a conexão chegou a quase todas as escolas, enquanto os computadores para os alunos ficaram estáveis no total e caíram nas escolas rurais. Castells lembra que ser excluído dessas redes é uma das formas mais danosas de exclusão.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ineditismo tem três dimensões. A empírico-temporal: a pesquisa acompanha a PNED no momento em que o componente se torna obrigatório, e nenhum estudo da revisão trata dela ou de rede municipal de pequeno porte. A analítico-espacial: Pipa entra como parte do contexto da prática. A teórico-conceitual: a articulação entre teoria da atuação, culturas profissionais, dimensão material e território, com a noção de habitar o digital.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tese de partida é que a PNED chega à escola como orientação a ser lida e interpretada, e que a forma que ela assume no cotidiano resulta da relação entre o que prescreve e as condições em que os profissionais atuam. Nenhuma forma de atuação é pressuposta. A pergunta que move a pesquisa é o que acontece com uma política de educação digital quando encontra uma escola, seus profissionais, suas condições e um território específico.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sistemática partiu de uma questão: o que a produção científica evidencia sobre a implementação de políticas de educação digital nos anos iniciais. Seguimos o PRISMA 2020 em sete bases. Dos 176 registros, 39 foram buscados para leitura integral, 35 foram lidos e 9 compõem o corpus, publicado entre 2021 e 2024. A resposta é que a atuação dessas políticas depende da articulação entre recursos, condições institucionais e trabalho interpretativo dos profissionais. O corpus responde com mais consistência às condições e ao papel dos profissionais e tem apoio mais restrito quanto à formação dirigida às crianças.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se compõe de três subperguntas. Sobre os condicionantes, o corpus converge: além de equipamentos e conexão, pesam a formação continuada, a estabilidade das equipes, o tempo de trabalho e a própria norma, que pode restringir práticas. O território aparece só como contraste entre países. Sobre o papel dos profissionais, a convergência é ainda maior: eles interpretam e decidem, embora as razões desse trabalho sejam pouco examinadas. Sobre cultura digital e cidadania, o apoio é frágil. Daí as lacunas que a tese assume: a PNED, o ciclo de alfabetização, o funcionamento ordinário da escola, a rede municipal de pequeno porte e o que os profissionais fazem quando a formação não chega.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fundamentos teóricos acompanham o caminho da política. A Abordagem do Ciclo de Políticas mostra que a política é recriada no contexto da prática. A teoria da atuação de Ball, Maguire e Braun traz as dimensões do contexto. Hargreaves ajuda a ler as culturas profissionais; Ball, a performatividade e as fabricações. Santos e Massey inscrevem o território na análise. Schlemmer e colaboradores e Di Felice sustentam a noção de habitar o digital, com o habitar como experiência relacional e o habitar atópico transformado pelas redes. O Comentário Geral número 25 organiza a leitura dos direitos das crianças. Da ACP com a teoria da atuação construímos a categoria integradora da tese, a recontextualização.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Habitar o digital é uma formulação desta tese. Ela parte do habitar como experiência relacional, em Schlemmer e colaboradores, passa pelo habitar atópico de Di Felice e encontra a distribuição desigual dos objetos técnicos, em Santos, e o lugar como encontro de trajetórias, em Massey. Em Pipa, a expressão nomeia a assimetria entre a alta densidade tecnológica dos circuitos do turismo e a disponibilidade restrita de tecnologia nos espaços pedagógicos da escola.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fundamentos metodológicos são seis. A abordagem é qualitativa, porque a tese trabalha com significados, motivos e valores, como em Minayo e em Bogdan e Biklen. A estratégia é o estudo de caso único, no sentido de Yin, com a advertência de André contra o estudo apenas pontual. A ACP é operacionalizada com as questões analíticas de Mainardes, e a recontextualização integra a leitura. Os participantes são escolhidos de forma intencional, pela posição que ocupam no arranjo da política, e a análise segue a abordagem temática reflexiva de Braun e Clarke, com triangulação.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dados são construídos em cinco movimentos. A análise documental acompanha todo o percurso. O registro iconográfico já foi realizado e sustenta o capítulo seis. O questionário situa os participantes antes das entrevistas, que são o principal momento de escuta. O quinto movimento é a análise, com triangulação e devolutiva à escola e à Secretaria.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primeiro movimento, os documentos formam dois conjuntos. O pedagógico reúne o PPP, os planos, as atas e os cadernos de uso do laboratório e do kit multimídia. O administrativo reúne a contratação da conexão, os termos de doação e tombamento, a execução do PIEC, os contratos de manutenção e o Censo. No segundo movimento, o registro iconográfico reúne trinta e oito figuras e duas peças cartográficas, lidas em duas etapas: primeiro o que está no enquadramento, depois a interpretação. Não fotografamos rostos de crianças e não observamos aulas.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questionário tem cinco blocos, do perfil profissional às concepções sobre os direitos da criança, e serve para situar as pessoas e ajustar as conversas. As entrevistas têm seis eixos, da trajetória ao habitar o digital, com perguntas abertas antes das diretas. A análise passa pela familiarização, pela codificação com oito dimensões sensibilizadoras e pela interpretação com triangulação, em diálogo com as cinco categorias da perspectiva comparada, e termina com a devolutiva.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formas de atuação que podem aparecer vão da adesão à resistência, passando por acomodação, adaptação, omissão seletiva, negociação e ressignificação. Nenhuma é pressuposta. Para que uma forma vire achado, ela precisa aparecer de modo recorrente e sem indução pela pergunta. Quando não há alternativa, o que se vê é custo transferido ao trabalhador, e assim será nomeado. As categorias não serão ditas aos participantes.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agenda territorial começa no contexto de influência. A UNESCO lembra que uma em cada quatro escolas primárias do mundo não tem eletricidade e que a tecnologia deve complementar a interação com os professores. A OCDE mostra efeitos no máximo mistos dos computadores sobre o desempenho, e o Banco Mundial pergunta qual é o problema educacional antes de escolher a tecnologia. Os três deslocam o foco da presença dos recursos para as condições, os usos e as finalidades.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perspectiva comparada percorreu dezenove experiências na Europa e nas Américas, além do Brasil. O mapa mostra, pela cor, a categoria que cada experiência mais informa: governança, formação, infraestrutura, continuidade institucional e cultura digital. A comparação mostra como referências parecidas mudam de forma quando encontram outros sistemas e outros territórios.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Dessas experiências saem cinco categorias que orientam o olhar do campo. Cada uma leva uma pergunta para Pipa: o que chega da União e do estado à rede, que formação chegou à escola, com que equipamentos se trabalha, que continuidade a rede teve e o que se faz com crianças de seis a dez anos. Nenhuma experiência descreve Pipa, e fica a pergunta que nenhum caso responde: o que acontece quando parte das condições não chega?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escala nacional, a leitura da lei mostra o que chamamos de vazio material. A PNED se define como instância de articulação, condiciona a inclusão digital aos limites orçamentários de cada ente, não cria fundo próprio nem repasse obrigatório aos municípios e trata a formação como promoção. Na escala do território, isso significa que a chegada dos meios à escola depende da capacidade de um município de pequeno porte.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Chego ao capítulo do território, que já traz resultados. Ali, o território funciona como categoria de análise em quatro dimensões: histórica, socioeconômica, tecnológica e institucional. Cada uma documenta algo e leva uma pergunta ao campo. A formação, quinta categoria da perspectiva comparada, fica para o capítulo sete, porque o registro iconográfico não a alcança.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capítulo começa com dois mapas do mesmo lugar. O institucional situa Tibau do Sul e Pipa por referências político-administrativas, e é por essa estrutura que a política chega à escola. O turístico organiza o distrito pela circulação do visitante. Os dois desenhos introduzem Pipa como território usado, no sentido de Milton Santos.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registro iconográfico segue pela antiga Pipa. As imagens do Museu Digital mostram trabalho, moradia e mar articulados: a construção artesanal de embarcações, os barcos na enseada, o mutirão do curral de pesca e o cruzeiro em sua localização original. Com Santos, lemos a paisagem como registro dos meios de trabalho de cada tempo; com Massey, evitamos congelar a vila num passado idealizado.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partir dos anos 1990, o turismo ligado ao surfe, os investimentos imobiliários, a chegada de trabalhadores para o setor de serviços e, mais recentemente, o trabalho remoto transformaram o distrito. A Pipa de hoje resulta da sobreposição dessas trajetórias, e os novos usos dividem o território com os antigos.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Pipa de hoje, a rua turística se enche à noite, as pousadas ocupam as falésias, os passeios cruzam a baía e o pescador segue descarregando o pescado na enseada. Hotelaria, reservas e pagamentos dependem da conexão. Dessa presença das tecnologias no território, porém, não se presume que a escola tenha condições equivalentes para o uso pedagógico.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quadro sintetiza a comparação entre a Pipa histórica e a contemporânea em seis dimensões e diz o que cada uma traz para a escola. A coluna da direita é a que interessa à tese: temporalidades diferentes, trabalhos diferentes, repertórios diferentes, tecnologia presente no território sem uso pedagógico equivalente e infâncias com condições desiguais de acesso. Esse é o ponto de partida da Educação Digital na escola.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escola, as imagens mostram mais do que faltas. Há piso tátil na entrada e nos percursos, corredor coberto com coleta seletiva, um parque dentro da restinga, onde as crianças brincam e convivem, e um pátio usado nas festas. Com Dornelles, lembramos que as infâncias são plurais. A pergunta passa a ser como as condições materiais estão distribuídas.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distribuição é o achado mais forte do capítulo. No corredor administrativo, o ar-condicionado aparece nas salas da equipe e nos demais ambientes do enquadramento não aparece; as razões, a fotografia não diz. O único computador registrado está na sala dos professores, e o laboratório, segundo informações preliminares montado pela Prefeitura em 2022, tinha os equipamentos desligados no momento do registro. A escola recebe pelo PIEC uma verba anual para conexão e equipamentos e teria um único kit multimídia; ambos os dados são preliminares e serão verificados. A síntese é esta: a conexão chegou ao prédio; os dispositivos não chegaram às salas.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 salas fotografadas, tudo é impresso ou feito à mão: carteiras, ventiladores, murais, produções das crianças, o painel numérico e o alfabeto móvel. Nenhum computador, tela ou dispositivo. O painel remete a sequência e correspondência, operações próximas do pensamento computacional que a lei define, mas a foto não mostra seu uso. Soares valoriza os artefatos feitos com as crianças; a tese guarda uma cautela: alguém os produziu, em algum tempo, e o custo disso só as narrativas vão mostrar.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noção de rugosidade, de Milton Santos, ajuda a ler o laboratório. Proponho distinguir a rugosidade por perda, quando a forma sobrevive a uma função que existiu, como seria o caso do cruzeiro, da rugosidade por ausência, quando a forma é instalada sem o sistema de ações que lhe daria função. Cada caso pede uma resposta de política diferente. O laboratório é anterior à PNED, e, se o Censo o registra enquanto os cadernos não registram uso, a forma conta nos números mesmo sem função constituída.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quadro põe lado a lado o território documentado e o território prescrito pela BNCC e pela PNED. Em cada dimensão, a política orienta acesso, cultura digital, linguagens, mediação crítica e infraestrutura; o território mostra tecnologia intensa nos circuitos econômicos e, nas salas, nenhum recurso visível. A mediação pedagógica não aparece nas imagens, e por isso depende das narrativas.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ser rigorosa com o que afirmo, separo o que as imagens documentam do que ainda é preliminar. Está documentado: salas sem dispositivo digital, um computador na sala dos professores, o laboratório desligado no registro, a climatização nas salas da equipe e os recursos artesanais. Está por verificar: a data e a origem do laboratório, os cadernos de uso, o kit multimídia, a verba do PIEC, a manutenção e o Censo. O capítulo fecha com uma cadeia de mediações: o território participa das condições da escola, que delimitam as margens do trabalho, dentro das quais os profissionais interpretam, decidem e atuam.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isso o território atravessa toda a tese. Está na questão e no ineditismo, aparece como lacuna na revisão, entra no método como dimensão situacional, aparece pelo avesso na lei, que deixa os meios por conta de cada ente, é documentado no capítulo seis e será lido em relação aos quatro objetivos no capítulo sete.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Até aqui, o projeto foi reformulado e os capítulos um, dois, quatro, cinco e seis foram alinhados a ele; a revisão sistemática e o registro iconográfico estão concluídos, os dados de matrícula de 2026 já foram levantados, com quinze turmas e 351 crianças do primeiro ao quinto ano, e o capítulo três está em construção. Antes do campo, falta aprovar a emenda no Comitê de Ética, datar os critérios de leitura, fazer a análise documental, reunir os dados fiscais do município e realizar os testes de conexão.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são as referências principais mobilizadas na apresentação. A lista completa está nos capítulos.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Encerro com a pergunta que fica aberta para o campo: quando a política não faz chegar o equipamento nem a formação, quem paga, no cotidiano da escola, o preço dessa ausência? E o que isso significa para os direitos prometidos às crianças? Agradeço a atenção e fico à disposição da banca.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 Id="rId4" Type="http://schemas.openxmlformats.org/officeDocument/2006/relationships/image" Target="../media/image9.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3.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png"/><Relationship Id="rId6" Type="http://schemas.openxmlformats.org/officeDocument/2006/relationships/image" Target="../media/image27.jp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8.jpg"/><Relationship Id="rId4" Type="http://schemas.openxmlformats.org/officeDocument/2006/relationships/image" Target="../media/image29.png"/><Relationship Id="rId5" Type="http://schemas.openxmlformats.org/officeDocument/2006/relationships/image" Target="../media/image30.jpg"/><Relationship Id="rId6" Type="http://schemas.openxmlformats.org/officeDocument/2006/relationships/image" Target="../media/image31.jp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9.jp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0.jpg"/><Relationship Id="rId4" Type="http://schemas.openxmlformats.org/officeDocument/2006/relationships/image" Target="../media/image34.jp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8.png"/><Relationship Id="rId4" Type="http://schemas.openxmlformats.org/officeDocument/2006/relationships/image" Target="../media/image10.png"/><Relationship Id="rId5" Type="http://schemas.openxmlformats.org/officeDocument/2006/relationships/image" Target="../media/image39.png"/><Relationship Id="rId6"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304792" y="243833"/>
            <a:ext cx="2194505" cy="1996999"/>
          </a:xfrm>
          <a:prstGeom prst="rect">
            <a:avLst/>
          </a:prstGeom>
        </p:spPr>
      </p:pic>
      <p:pic>
        <p:nvPicPr>
          <p:cNvPr id="4" name="Picture 3" descr="Ilustração decorativa"/>
          <p:cNvPicPr>
            <a:picLocks noChangeAspect="1"/>
          </p:cNvPicPr>
          <p:nvPr/>
        </p:nvPicPr>
        <p:blipFill>
          <a:blip r:embed="rId4"/>
          <a:stretch>
            <a:fillRect/>
          </a:stretch>
        </p:blipFill>
        <p:spPr>
          <a:xfrm>
            <a:off x="365750" y="4389010"/>
            <a:ext cx="1828754" cy="2355597"/>
          </a:xfrm>
          <a:prstGeom prst="rect">
            <a:avLst/>
          </a:prstGeom>
        </p:spPr>
      </p:pic>
      <p:pic>
        <p:nvPicPr>
          <p:cNvPr id="5" name="Picture 4" descr="Ilustração decorativa"/>
          <p:cNvPicPr>
            <a:picLocks noChangeAspect="1"/>
          </p:cNvPicPr>
          <p:nvPr/>
        </p:nvPicPr>
        <p:blipFill>
          <a:blip r:embed="rId5"/>
          <a:stretch>
            <a:fillRect/>
          </a:stretch>
        </p:blipFill>
        <p:spPr>
          <a:xfrm>
            <a:off x="10058148" y="304792"/>
            <a:ext cx="1828754" cy="1931407"/>
          </a:xfrm>
          <a:prstGeom prst="rect">
            <a:avLst/>
          </a:prstGeom>
        </p:spPr>
      </p:pic>
      <p:pic>
        <p:nvPicPr>
          <p:cNvPr id="6" name="Picture 5" descr="Ilustração decorativa"/>
          <p:cNvPicPr>
            <a:picLocks noChangeAspect="1"/>
          </p:cNvPicPr>
          <p:nvPr/>
        </p:nvPicPr>
        <p:blipFill>
          <a:blip r:embed="rId6"/>
          <a:stretch>
            <a:fillRect/>
          </a:stretch>
        </p:blipFill>
        <p:spPr>
          <a:xfrm>
            <a:off x="9936231" y="3901342"/>
            <a:ext cx="2072588" cy="2313481"/>
          </a:xfrm>
          <a:prstGeom prst="rect">
            <a:avLst/>
          </a:prstGeom>
        </p:spPr>
      </p:pic>
      <p:sp>
        <p:nvSpPr>
          <p:cNvPr id="7" name="TextBox 6"/>
          <p:cNvSpPr txBox="1"/>
          <p:nvPr/>
        </p:nvSpPr>
        <p:spPr>
          <a:xfrm>
            <a:off x="2194505" y="914377"/>
            <a:ext cx="7802684" cy="2560255"/>
          </a:xfrm>
          <a:prstGeom prst="rect">
            <a:avLst/>
          </a:prstGeom>
          <a:noFill/>
        </p:spPr>
        <p:txBody>
          <a:bodyPr wrap="square" lIns="73150" rIns="73150" tIns="73150" bIns="73150" anchor="ctr"/>
          <a:lstStyle/>
          <a:p>
            <a:pPr algn="ctr">
              <a:lnSpc>
                <a:spcPct val="100000"/>
              </a:lnSpc>
            </a:pPr>
            <a:r>
              <a:rPr sz="3866" b="1">
                <a:solidFill>
                  <a:srgbClr val="FFFFFF"/>
                </a:solidFill>
                <a:latin typeface="Arial"/>
              </a:rPr>
              <a:t>A ENCENAÇÃO DA POLÍTICA NACIONAL DE EDUCAÇÃO DIGITAL EM PIPA/RN</a:t>
            </a:r>
          </a:p>
        </p:txBody>
      </p:sp>
      <p:sp>
        <p:nvSpPr>
          <p:cNvPr id="8" name="Rounded Rectangle 7"/>
          <p:cNvSpPr/>
          <p:nvPr/>
        </p:nvSpPr>
        <p:spPr>
          <a:xfrm>
            <a:off x="2438339" y="3627029"/>
            <a:ext cx="7315017" cy="822939"/>
          </a:xfrm>
          <a:prstGeom prst="roundRect">
            <a:avLst>
              <a:gd name="adj" fmla="val 25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38339" y="3627029"/>
            <a:ext cx="7315017" cy="822939"/>
          </a:xfrm>
          <a:prstGeom prst="rect">
            <a:avLst/>
          </a:prstGeom>
          <a:noFill/>
        </p:spPr>
        <p:txBody>
          <a:bodyPr wrap="square" lIns="73150" rIns="73150" tIns="73150" bIns="73150" anchor="ctr"/>
          <a:lstStyle/>
          <a:p>
            <a:pPr algn="ctr">
              <a:lnSpc>
                <a:spcPct val="100000"/>
              </a:lnSpc>
            </a:pPr>
            <a:r>
              <a:rPr sz="1866" b="1">
                <a:solidFill>
                  <a:srgbClr val="1A1A1A"/>
                </a:solidFill>
                <a:latin typeface="Arial"/>
              </a:rPr>
              <a:t>Culturas profissionais, território e resistências no contexto da prática</a:t>
            </a:r>
          </a:p>
        </p:txBody>
      </p:sp>
      <p:sp>
        <p:nvSpPr>
          <p:cNvPr id="10" name="TextBox 9"/>
          <p:cNvSpPr txBox="1"/>
          <p:nvPr/>
        </p:nvSpPr>
        <p:spPr>
          <a:xfrm>
            <a:off x="2133546" y="4724281"/>
            <a:ext cx="7924601" cy="1463003"/>
          </a:xfrm>
          <a:prstGeom prst="rect">
            <a:avLst/>
          </a:prstGeom>
          <a:noFill/>
        </p:spPr>
        <p:txBody>
          <a:bodyPr wrap="square" lIns="73150" rIns="73150" tIns="73150" bIns="73150" anchor="t"/>
          <a:lstStyle/>
          <a:p>
            <a:pPr algn="ctr">
              <a:lnSpc>
                <a:spcPct val="110000"/>
              </a:lnSpc>
              <a:spcAft>
                <a:spcPts val="266"/>
              </a:spcAft>
            </a:pPr>
            <a:r>
              <a:rPr sz="1599" b="1">
                <a:solidFill>
                  <a:srgbClr val="FFFFFF"/>
                </a:solidFill>
                <a:latin typeface="Arial"/>
              </a:rPr>
              <a:t>Yzynya Silva Rezende Machado</a:t>
            </a:r>
          </a:p>
          <a:p>
            <a:pPr algn="ctr">
              <a:lnSpc>
                <a:spcPct val="110000"/>
              </a:lnSpc>
              <a:spcAft>
                <a:spcPts val="266"/>
              </a:spcAft>
            </a:pPr>
            <a:r>
              <a:rPr sz="1599" b="0">
                <a:solidFill>
                  <a:srgbClr val="FFFFFF"/>
                </a:solidFill>
                <a:latin typeface="Arial"/>
              </a:rPr>
              <a:t>Orientadora: Profa. Dra. Maria Cristina Leandro de Paiva</a:t>
            </a:r>
          </a:p>
          <a:p>
            <a:pPr algn="ctr">
              <a:lnSpc>
                <a:spcPct val="110000"/>
              </a:lnSpc>
            </a:pPr>
            <a:r>
              <a:rPr sz="1599" b="0">
                <a:solidFill>
                  <a:srgbClr val="FFFFFF"/>
                </a:solidFill>
                <a:latin typeface="Arial"/>
              </a:rPr>
              <a:t>Qualificação de doutorado · PPGEd/UFRN · Natal,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65750"/>
            <a:ext cx="10972525" cy="914377"/>
          </a:xfrm>
          <a:prstGeom prst="rect">
            <a:avLst/>
          </a:prstGeom>
          <a:noFill/>
        </p:spPr>
        <p:txBody>
          <a:bodyPr wrap="square" lIns="73150" rIns="73150" tIns="73150" bIns="73150" anchor="ctr"/>
          <a:lstStyle/>
          <a:p>
            <a:pPr algn="ctr">
              <a:lnSpc>
                <a:spcPct val="100000"/>
              </a:lnSpc>
            </a:pPr>
            <a:r>
              <a:rPr sz="3999" b="1">
                <a:solidFill>
                  <a:srgbClr val="FFFFFF"/>
                </a:solidFill>
                <a:latin typeface="Arial"/>
              </a:rPr>
              <a:t>PERCURSO DA APRESENTAÇÃO</a:t>
            </a:r>
          </a:p>
        </p:txBody>
      </p:sp>
      <p:pic>
        <p:nvPicPr>
          <p:cNvPr id="4" name="Picture 3" descr="Ilustração decorativa"/>
          <p:cNvPicPr>
            <a:picLocks noChangeAspect="1"/>
          </p:cNvPicPr>
          <p:nvPr/>
        </p:nvPicPr>
        <p:blipFill>
          <a:blip r:embed="rId3"/>
          <a:stretch>
            <a:fillRect/>
          </a:stretch>
        </p:blipFill>
        <p:spPr>
          <a:xfrm>
            <a:off x="365750" y="243833"/>
            <a:ext cx="853418" cy="1383698"/>
          </a:xfrm>
          <a:prstGeom prst="rect">
            <a:avLst/>
          </a:prstGeom>
        </p:spPr>
      </p:pic>
      <p:pic>
        <p:nvPicPr>
          <p:cNvPr id="5" name="Picture 4" descr="Ilustração decorativa"/>
          <p:cNvPicPr>
            <a:picLocks noChangeAspect="1"/>
          </p:cNvPicPr>
          <p:nvPr/>
        </p:nvPicPr>
        <p:blipFill>
          <a:blip r:embed="rId4"/>
          <a:stretch>
            <a:fillRect/>
          </a:stretch>
        </p:blipFill>
        <p:spPr>
          <a:xfrm>
            <a:off x="10911567" y="182875"/>
            <a:ext cx="975335" cy="1088292"/>
          </a:xfrm>
          <a:prstGeom prst="rect">
            <a:avLst/>
          </a:prstGeom>
        </p:spPr>
      </p:pic>
      <p:sp>
        <p:nvSpPr>
          <p:cNvPr id="6" name="Rounded Rectangle 5"/>
          <p:cNvSpPr/>
          <p:nvPr/>
        </p:nvSpPr>
        <p:spPr>
          <a:xfrm>
            <a:off x="548626"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1</a:t>
            </a:r>
          </a:p>
        </p:txBody>
      </p:sp>
      <p:sp>
        <p:nvSpPr>
          <p:cNvPr id="8" name="TextBox 7"/>
          <p:cNvSpPr txBox="1"/>
          <p:nvPr/>
        </p:nvSpPr>
        <p:spPr>
          <a:xfrm>
            <a:off x="731501"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A proposta: problema, objetivos, relevâncias e ineditismo</a:t>
            </a:r>
          </a:p>
        </p:txBody>
      </p:sp>
      <p:sp>
        <p:nvSpPr>
          <p:cNvPr id="9" name="Rounded Rectangle 8"/>
          <p:cNvSpPr/>
          <p:nvPr/>
        </p:nvSpPr>
        <p:spPr>
          <a:xfrm>
            <a:off x="4297572"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447"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2</a:t>
            </a:r>
          </a:p>
        </p:txBody>
      </p:sp>
      <p:sp>
        <p:nvSpPr>
          <p:cNvPr id="11" name="TextBox 10"/>
          <p:cNvSpPr txBox="1"/>
          <p:nvPr/>
        </p:nvSpPr>
        <p:spPr>
          <a:xfrm>
            <a:off x="4480447"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 que a revisão sistemática responde</a:t>
            </a:r>
          </a:p>
        </p:txBody>
      </p:sp>
      <p:sp>
        <p:nvSpPr>
          <p:cNvPr id="12" name="Rounded Rectangle 11"/>
          <p:cNvSpPr/>
          <p:nvPr/>
        </p:nvSpPr>
        <p:spPr>
          <a:xfrm>
            <a:off x="8046518"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394"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3</a:t>
            </a:r>
          </a:p>
        </p:txBody>
      </p:sp>
      <p:sp>
        <p:nvSpPr>
          <p:cNvPr id="14" name="TextBox 13"/>
          <p:cNvSpPr txBox="1"/>
          <p:nvPr/>
        </p:nvSpPr>
        <p:spPr>
          <a:xfrm>
            <a:off x="8229394"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Fundamentos teóricos e metodológicos</a:t>
            </a:r>
          </a:p>
        </p:txBody>
      </p:sp>
      <p:sp>
        <p:nvSpPr>
          <p:cNvPr id="15" name="Rounded Rectangle 14"/>
          <p:cNvSpPr/>
          <p:nvPr/>
        </p:nvSpPr>
        <p:spPr>
          <a:xfrm>
            <a:off x="548626"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01"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4</a:t>
            </a:r>
          </a:p>
        </p:txBody>
      </p:sp>
      <p:sp>
        <p:nvSpPr>
          <p:cNvPr id="17" name="TextBox 16"/>
          <p:cNvSpPr txBox="1"/>
          <p:nvPr/>
        </p:nvSpPr>
        <p:spPr>
          <a:xfrm>
            <a:off x="731501"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Os cinco movimentos da pesquisa</a:t>
            </a:r>
          </a:p>
        </p:txBody>
      </p:sp>
      <p:sp>
        <p:nvSpPr>
          <p:cNvPr id="18" name="Rounded Rectangle 17"/>
          <p:cNvSpPr/>
          <p:nvPr/>
        </p:nvSpPr>
        <p:spPr>
          <a:xfrm>
            <a:off x="4297572"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447"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5</a:t>
            </a:r>
          </a:p>
        </p:txBody>
      </p:sp>
      <p:sp>
        <p:nvSpPr>
          <p:cNvPr id="20" name="TextBox 19"/>
          <p:cNvSpPr txBox="1"/>
          <p:nvPr/>
        </p:nvSpPr>
        <p:spPr>
          <a:xfrm>
            <a:off x="4480447"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A agenda territorial da política</a:t>
            </a:r>
          </a:p>
        </p:txBody>
      </p:sp>
      <p:sp>
        <p:nvSpPr>
          <p:cNvPr id="21" name="Rounded Rectangle 20"/>
          <p:cNvSpPr/>
          <p:nvPr/>
        </p:nvSpPr>
        <p:spPr>
          <a:xfrm>
            <a:off x="8046518"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394"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6</a:t>
            </a:r>
          </a:p>
        </p:txBody>
      </p:sp>
      <p:sp>
        <p:nvSpPr>
          <p:cNvPr id="23" name="TextBox 22"/>
          <p:cNvSpPr txBox="1"/>
          <p:nvPr/>
        </p:nvSpPr>
        <p:spPr>
          <a:xfrm>
            <a:off x="8229394"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 território de Pipa: primeiros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 DIREITO CHEGA ANTES DOS MEIOS</a:t>
            </a:r>
          </a:p>
        </p:txBody>
      </p:sp>
      <p:sp>
        <p:nvSpPr>
          <p:cNvPr id="6" name="Rounded Rectangle 5"/>
          <p:cNvSpPr/>
          <p:nvPr/>
        </p:nvSpPr>
        <p:spPr>
          <a:xfrm>
            <a:off x="548626" y="1463003"/>
            <a:ext cx="7071183" cy="21945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460" y="1584920"/>
            <a:ext cx="6644473" cy="2011629"/>
          </a:xfrm>
          <a:prstGeom prst="rect">
            <a:avLst/>
          </a:prstGeom>
          <a:noFill/>
        </p:spPr>
        <p:txBody>
          <a:bodyPr wrap="square" lIns="73150" rIns="73150" tIns="73150" bIns="73150" anchor="t"/>
          <a:lstStyle/>
          <a:p>
            <a:pPr algn="l">
              <a:lnSpc>
                <a:spcPct val="115000"/>
              </a:lnSpc>
              <a:spcAft>
                <a:spcPts val="666"/>
              </a:spcAft>
            </a:pPr>
            <a:r>
              <a:rPr sz="1666" b="1">
                <a:solidFill>
                  <a:srgbClr val="1A1A1A"/>
                </a:solidFill>
                <a:latin typeface="Arial"/>
              </a:rPr>
              <a:t>A LEI PROMETE</a:t>
            </a:r>
          </a:p>
          <a:p>
            <a:pPr algn="l">
              <a:lnSpc>
                <a:spcPct val="115000"/>
              </a:lnSpc>
            </a:pPr>
            <a:r>
              <a:rPr sz="1666" b="0">
                <a:solidFill>
                  <a:srgbClr val="1A1A1A"/>
                </a:solidFill>
                <a:latin typeface="Arial"/>
              </a:rPr>
              <a:t>Educação digital como direito, dever do Estado e componente curricular, com implementação obrigatória a partir de 2026 (Lei nº 14.533/2023; Resolução CNE/CEB nº 2/2025).</a:t>
            </a:r>
          </a:p>
        </p:txBody>
      </p:sp>
      <p:sp>
        <p:nvSpPr>
          <p:cNvPr id="8" name="Rounded Rectangle 7"/>
          <p:cNvSpPr/>
          <p:nvPr/>
        </p:nvSpPr>
        <p:spPr>
          <a:xfrm>
            <a:off x="4571885" y="3901342"/>
            <a:ext cx="7071183" cy="21945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719" y="4023259"/>
            <a:ext cx="6644473" cy="2011629"/>
          </a:xfrm>
          <a:prstGeom prst="rect">
            <a:avLst/>
          </a:prstGeom>
          <a:noFill/>
        </p:spPr>
        <p:txBody>
          <a:bodyPr wrap="square" lIns="73150" rIns="73150" tIns="73150" bIns="73150" anchor="t"/>
          <a:lstStyle/>
          <a:p>
            <a:pPr algn="l">
              <a:lnSpc>
                <a:spcPct val="115000"/>
              </a:lnSpc>
              <a:spcAft>
                <a:spcPts val="666"/>
              </a:spcAft>
            </a:pPr>
            <a:r>
              <a:rPr sz="1666" b="1">
                <a:solidFill>
                  <a:srgbClr val="1A1A1A"/>
                </a:solidFill>
                <a:latin typeface="Arial"/>
              </a:rPr>
              <a:t>A SALA RECEBE</a:t>
            </a:r>
          </a:p>
          <a:p>
            <a:pPr algn="l">
              <a:lnSpc>
                <a:spcPct val="115000"/>
              </a:lnSpc>
            </a:pPr>
            <a:r>
              <a:rPr sz="1666" b="0">
                <a:solidFill>
                  <a:srgbClr val="1A1A1A"/>
                </a:solidFill>
                <a:latin typeface="Arial"/>
              </a:rPr>
              <a:t>Salas dos anos iniciais sem tela, um laboratório com uso a verificar, formação prevista como simples promoção e meios que dependem de cada ente federado.</a:t>
            </a:r>
          </a:p>
        </p:txBody>
      </p:sp>
      <p:pic>
        <p:nvPicPr>
          <p:cNvPr id="10" name="Picture 9" descr="Ilustração decorativa"/>
          <p:cNvPicPr>
            <a:picLocks noChangeAspect="1"/>
          </p:cNvPicPr>
          <p:nvPr/>
        </p:nvPicPr>
        <p:blipFill>
          <a:blip r:embed="rId3"/>
          <a:stretch>
            <a:fillRect/>
          </a:stretch>
        </p:blipFill>
        <p:spPr>
          <a:xfrm>
            <a:off x="8290352" y="1402044"/>
            <a:ext cx="2194505" cy="1984253"/>
          </a:xfrm>
          <a:prstGeom prst="rect">
            <a:avLst/>
          </a:prstGeom>
        </p:spPr>
      </p:pic>
      <p:sp>
        <p:nvSpPr>
          <p:cNvPr id="11" name="Rounded Rectangle 10"/>
          <p:cNvSpPr/>
          <p:nvPr/>
        </p:nvSpPr>
        <p:spPr>
          <a:xfrm>
            <a:off x="658351" y="3950109"/>
            <a:ext cx="3438058" cy="197505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fabeto móvel feito à mão numa sala dos anos iniciais (Figura 37)"/>
          <p:cNvPicPr>
            <a:picLocks noChangeAspect="1"/>
          </p:cNvPicPr>
          <p:nvPr/>
        </p:nvPicPr>
        <p:blipFill>
          <a:blip r:embed="rId4"/>
          <a:srcRect t="617" b="617"/>
          <a:stretch>
            <a:fillRect/>
          </a:stretch>
        </p:blipFill>
        <p:spPr>
          <a:xfrm>
            <a:off x="731501" y="4023259"/>
            <a:ext cx="3291757" cy="1828754"/>
          </a:xfrm>
          <a:prstGeom prst="rect">
            <a:avLst/>
          </a:prstGeom>
        </p:spPr>
      </p:pic>
      <p:sp>
        <p:nvSpPr>
          <p:cNvPr id="13" name="TextBox 1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Lei nº 14.533/2023; Mainardes (2006); Ball, Maguire e Braun (2016).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OBJETO E QUESTÃO DE PESQUISA</a:t>
            </a:r>
          </a:p>
        </p:txBody>
      </p:sp>
      <p:sp>
        <p:nvSpPr>
          <p:cNvPr id="6" name="Rounded Rectangle 5"/>
          <p:cNvSpPr/>
          <p:nvPr/>
        </p:nvSpPr>
        <p:spPr>
          <a:xfrm>
            <a:off x="548626"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460" y="1584920"/>
            <a:ext cx="4754761" cy="4510927"/>
          </a:xfrm>
          <a:prstGeom prst="rect">
            <a:avLst/>
          </a:prstGeom>
          <a:noFill/>
        </p:spPr>
        <p:txBody>
          <a:bodyPr wrap="square" lIns="73150" rIns="73150" tIns="73150" bIns="73150" anchor="t"/>
          <a:lstStyle/>
          <a:p>
            <a:pPr algn="l">
              <a:lnSpc>
                <a:spcPct val="115000"/>
              </a:lnSpc>
              <a:spcAft>
                <a:spcPts val="1066"/>
              </a:spcAft>
            </a:pPr>
            <a:r>
              <a:rPr sz="1933" b="1">
                <a:solidFill>
                  <a:srgbClr val="1A1A1A"/>
                </a:solidFill>
                <a:latin typeface="Arial"/>
              </a:rPr>
              <a:t>OBJETO</a:t>
            </a:r>
          </a:p>
          <a:p>
            <a:pPr algn="l">
              <a:lnSpc>
                <a:spcPct val="115000"/>
              </a:lnSpc>
              <a:spcAft>
                <a:spcPts val="1066"/>
              </a:spcAft>
            </a:pPr>
            <a:r>
              <a:rPr sz="1933" b="0">
                <a:solidFill>
                  <a:srgbClr val="1A1A1A"/>
                </a:solidFill>
                <a:latin typeface="Arial"/>
              </a:rPr>
              <a:t>A encenação da PNED, em seu eixo Educação Digital Escolar, pelos profissionais da educação do 1º ao 5º ano da Escola Municipal Domitila Castelo da Silva, em Pipa, Tibau do Sul (RN).</a:t>
            </a:r>
          </a:p>
          <a:p>
            <a:pPr algn="l">
              <a:lnSpc>
                <a:spcPct val="115000"/>
              </a:lnSpc>
            </a:pPr>
            <a:r>
              <a:rPr sz="1933" b="0">
                <a:solidFill>
                  <a:srgbClr val="1A1A1A"/>
                </a:solidFill>
                <a:latin typeface="Arial"/>
              </a:rPr>
              <a:t>Todos constroem a política: docentes, coordenação, direção e demais profissionais ligados ao trabalho pedagógico.</a:t>
            </a:r>
          </a:p>
        </p:txBody>
      </p:sp>
      <p:sp>
        <p:nvSpPr>
          <p:cNvPr id="8" name="Rounded Rectangle 7"/>
          <p:cNvSpPr/>
          <p:nvPr/>
        </p:nvSpPr>
        <p:spPr>
          <a:xfrm>
            <a:off x="6400639"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44473" y="1584920"/>
            <a:ext cx="4754761" cy="4510927"/>
          </a:xfrm>
          <a:prstGeom prst="rect">
            <a:avLst/>
          </a:prstGeom>
          <a:noFill/>
        </p:spPr>
        <p:txBody>
          <a:bodyPr wrap="square" lIns="73150" rIns="73150" tIns="73150" bIns="73150" anchor="t"/>
          <a:lstStyle/>
          <a:p>
            <a:pPr algn="l">
              <a:lnSpc>
                <a:spcPct val="115000"/>
              </a:lnSpc>
              <a:spcAft>
                <a:spcPts val="933"/>
              </a:spcAft>
            </a:pPr>
            <a:r>
              <a:rPr sz="1733" b="1">
                <a:solidFill>
                  <a:srgbClr val="1A1A1A"/>
                </a:solidFill>
                <a:latin typeface="Arial"/>
              </a:rPr>
              <a:t>QUESTÃO</a:t>
            </a:r>
          </a:p>
          <a:p>
            <a:pPr algn="l">
              <a:lnSpc>
                <a:spcPct val="115000"/>
              </a:lnSpc>
            </a:pPr>
            <a:r>
              <a:rPr sz="1733" b="0">
                <a:solidFill>
                  <a:srgbClr val="1A1A1A"/>
                </a:solidFill>
                <a:latin typeface="Arial"/>
              </a:rPr>
              <a:t>Como os profissionais da educação encenam e recontextualizam a PNED no contexto da prática da Escola Municipal Domitila Castelo da Silva, em Pipa (RN), e como as culturas profissionais, as condições materiais e institucionais da escola e as especificidades socioespaciais do território atravessam esse processo, produzindo diferentes formas de atuação, entre as quais podem emergir acomodações, negociações, ressignificações e resistências?</a:t>
            </a:r>
          </a:p>
        </p:txBody>
      </p:sp>
      <p:pic>
        <p:nvPicPr>
          <p:cNvPr id="10" name="Picture 9" descr="Ilustração decorativa"/>
          <p:cNvPicPr>
            <a:picLocks noChangeAspect="1"/>
          </p:cNvPicPr>
          <p:nvPr/>
        </p:nvPicPr>
        <p:blipFill>
          <a:blip r:embed="rId3"/>
          <a:stretch>
            <a:fillRect/>
          </a:stretch>
        </p:blipFill>
        <p:spPr>
          <a:xfrm>
            <a:off x="11155401" y="243833"/>
            <a:ext cx="792460" cy="1081805"/>
          </a:xfrm>
          <a:prstGeom prst="rect">
            <a:avLst/>
          </a:prstGeom>
        </p:spPr>
      </p:pic>
      <p:sp>
        <p:nvSpPr>
          <p:cNvPr id="11" name="TextBox 10"/>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Bowe, Ball e Gold (1992); Mainardes (2006); Ball, Maguire e Braun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243833"/>
            <a:ext cx="10972525" cy="914377"/>
          </a:xfrm>
          <a:prstGeom prst="rect">
            <a:avLst/>
          </a:prstGeom>
          <a:noFill/>
        </p:spPr>
        <p:txBody>
          <a:bodyPr wrap="square" lIns="73150" rIns="73150" tIns="73150" bIns="73150" anchor="ctr"/>
          <a:lstStyle/>
          <a:p>
            <a:pPr algn="ctr">
              <a:lnSpc>
                <a:spcPct val="100000"/>
              </a:lnSpc>
            </a:pPr>
            <a:r>
              <a:rPr sz="3999" b="1">
                <a:solidFill>
                  <a:srgbClr val="FFFFFF"/>
                </a:solidFill>
                <a:latin typeface="Arial"/>
              </a:rPr>
              <a:t>OBJETIVOS</a:t>
            </a:r>
          </a:p>
        </p:txBody>
      </p:sp>
      <p:sp>
        <p:nvSpPr>
          <p:cNvPr id="6" name="TextBox 5"/>
          <p:cNvSpPr txBox="1"/>
          <p:nvPr/>
        </p:nvSpPr>
        <p:spPr>
          <a:xfrm>
            <a:off x="609584" y="1097252"/>
            <a:ext cx="10972525" cy="1036294"/>
          </a:xfrm>
          <a:prstGeom prst="rect">
            <a:avLst/>
          </a:prstGeom>
          <a:noFill/>
        </p:spPr>
        <p:txBody>
          <a:bodyPr wrap="square" lIns="73150" rIns="73150" tIns="73150" bIns="73150" anchor="ctr"/>
          <a:lstStyle/>
          <a:p>
            <a:pPr algn="ctr">
              <a:lnSpc>
                <a:spcPct val="115000"/>
              </a:lnSpc>
            </a:pPr>
            <a:r>
              <a:rPr sz="1533" b="1">
                <a:solidFill>
                  <a:srgbClr val="FFFFFF"/>
                </a:solidFill>
                <a:latin typeface="Arial"/>
              </a:rPr>
              <a:t>Geral: </a:t>
            </a:r>
            <a:r>
              <a:rPr sz="1533" b="0">
                <a:solidFill>
                  <a:srgbClr val="FFFFFF"/>
                </a:solidFill>
                <a:latin typeface="Arial"/>
              </a:rPr>
              <a:t>analisar como os profissionais da educação encenam e recontextualizam a PNED no contexto da prática da escola, considerando as relações entre a política, as culturas profissionais, as condições materiais e institucionais e o território.</a:t>
            </a:r>
          </a:p>
        </p:txBody>
      </p:sp>
      <p:sp>
        <p:nvSpPr>
          <p:cNvPr id="7" name="Rounded Rectangle 6"/>
          <p:cNvSpPr/>
          <p:nvPr/>
        </p:nvSpPr>
        <p:spPr>
          <a:xfrm>
            <a:off x="548626"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1022"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a</a:t>
            </a:r>
          </a:p>
        </p:txBody>
      </p:sp>
      <p:sp>
        <p:nvSpPr>
          <p:cNvPr id="9" name="TextBox 8"/>
          <p:cNvSpPr txBox="1"/>
          <p:nvPr/>
        </p:nvSpPr>
        <p:spPr>
          <a:xfrm>
            <a:off x="701022"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Compreender como os profissionais interpretam a PNED a partir de experiências, crenças, valores e formas de organizar o trabalho.</a:t>
            </a:r>
          </a:p>
        </p:txBody>
      </p:sp>
      <p:sp>
        <p:nvSpPr>
          <p:cNvPr id="10" name="Rounded Rectangle 9"/>
          <p:cNvSpPr/>
          <p:nvPr/>
        </p:nvSpPr>
        <p:spPr>
          <a:xfrm>
            <a:off x="3364907"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7304"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b</a:t>
            </a:r>
          </a:p>
        </p:txBody>
      </p:sp>
      <p:sp>
        <p:nvSpPr>
          <p:cNvPr id="12" name="TextBox 11"/>
          <p:cNvSpPr txBox="1"/>
          <p:nvPr/>
        </p:nvSpPr>
        <p:spPr>
          <a:xfrm>
            <a:off x="3517304"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Analisar como as condições materiais e institucionais da escola e o território atravessam a tradução da política.</a:t>
            </a:r>
          </a:p>
        </p:txBody>
      </p:sp>
      <p:sp>
        <p:nvSpPr>
          <p:cNvPr id="13" name="Rounded Rectangle 12"/>
          <p:cNvSpPr/>
          <p:nvPr/>
        </p:nvSpPr>
        <p:spPr>
          <a:xfrm>
            <a:off x="6181189"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3585"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c</a:t>
            </a:r>
          </a:p>
        </p:txBody>
      </p:sp>
      <p:sp>
        <p:nvSpPr>
          <p:cNvPr id="15" name="TextBox 14"/>
          <p:cNvSpPr txBox="1"/>
          <p:nvPr/>
        </p:nvSpPr>
        <p:spPr>
          <a:xfrm>
            <a:off x="6333585"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Identificar formas de atuação: adesão, acomodação, adaptação, omissão seletiva, negociação, ressignificação ou resistência.</a:t>
            </a:r>
          </a:p>
        </p:txBody>
      </p:sp>
      <p:sp>
        <p:nvSpPr>
          <p:cNvPr id="16" name="Rounded Rectangle 15"/>
          <p:cNvSpPr/>
          <p:nvPr/>
        </p:nvSpPr>
        <p:spPr>
          <a:xfrm>
            <a:off x="8997471"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9867"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d</a:t>
            </a:r>
          </a:p>
        </p:txBody>
      </p:sp>
      <p:sp>
        <p:nvSpPr>
          <p:cNvPr id="18" name="TextBox 17"/>
          <p:cNvSpPr txBox="1"/>
          <p:nvPr/>
        </p:nvSpPr>
        <p:spPr>
          <a:xfrm>
            <a:off x="9149867"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Discutir as implicações para as crianças: provisão, proteção e participação no ambiente digital.</a:t>
            </a:r>
          </a:p>
        </p:txBody>
      </p:sp>
      <p:sp>
        <p:nvSpPr>
          <p:cNvPr id="19" name="TextBox 18"/>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Hargreaves (2005); Ball, Maguire e Braun (2016); ONU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RELEVÂNCIAS DA PESQUISA</a:t>
            </a:r>
          </a:p>
        </p:txBody>
      </p:sp>
      <p:sp>
        <p:nvSpPr>
          <p:cNvPr id="6" name="Rounded Rectangle 5"/>
          <p:cNvSpPr/>
          <p:nvPr/>
        </p:nvSpPr>
        <p:spPr>
          <a:xfrm>
            <a:off x="548626" y="1402044"/>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as crianças</a:t>
            </a:r>
          </a:p>
          <a:p>
            <a:pPr algn="l">
              <a:lnSpc>
                <a:spcPct val="115000"/>
              </a:lnSpc>
            </a:pPr>
            <a:r>
              <a:rPr sz="1399" b="0">
                <a:solidFill>
                  <a:srgbClr val="1A1A1A"/>
                </a:solidFill>
                <a:latin typeface="Arial"/>
              </a:rPr>
              <a:t>O eixo associa a cultura digital à “participação consciente e democrática” e os direitos digitais à proteção dos dados de crianças (art. 3º, III e IV). Nos anos iniciais, a escola é, para muitas, o primeiro espaço público para discutir o digital com quem ensina.</a:t>
            </a:r>
          </a:p>
        </p:txBody>
      </p:sp>
      <p:sp>
        <p:nvSpPr>
          <p:cNvPr id="8" name="Rounded Rectangle 7"/>
          <p:cNvSpPr/>
          <p:nvPr/>
        </p:nvSpPr>
        <p:spPr>
          <a:xfrm>
            <a:off x="6156806" y="1402044"/>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9681" y="1493482"/>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quem faz a política</a:t>
            </a:r>
          </a:p>
          <a:p>
            <a:pPr algn="l">
              <a:lnSpc>
                <a:spcPct val="115000"/>
              </a:lnSpc>
            </a:pPr>
            <a:r>
              <a:rPr sz="1399" b="0">
                <a:solidFill>
                  <a:srgbClr val="1A1A1A"/>
                </a:solidFill>
                <a:latin typeface="Arial"/>
              </a:rPr>
              <a:t>Docentes, coordenação, direção e demais profissionais encenam a PNED de posições diferentes, com margens de decisão e responsabilidades próprias. A lei prevê sua formação continuada (art. 3º, § 1º, X).</a:t>
            </a:r>
          </a:p>
        </p:txBody>
      </p:sp>
      <p:sp>
        <p:nvSpPr>
          <p:cNvPr id="10" name="Rounded Rectangle 9"/>
          <p:cNvSpPr/>
          <p:nvPr/>
        </p:nvSpPr>
        <p:spPr>
          <a:xfrm>
            <a:off x="548626" y="3566070"/>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01" y="3657508"/>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o território</a:t>
            </a:r>
          </a:p>
          <a:p>
            <a:pPr algn="l">
              <a:lnSpc>
                <a:spcPct val="115000"/>
              </a:lnSpc>
            </a:pPr>
            <a:r>
              <a:rPr sz="1399" b="0">
                <a:solidFill>
                  <a:srgbClr val="1A1A1A"/>
                </a:solidFill>
                <a:latin typeface="Arial"/>
              </a:rPr>
              <a:t>O distrito onde pousadas, restaurantes e passeios se vendem pela internet é o mesmo de onde as crianças saem para salas com alfabeto móvel feito à mão e nenhuma tela.</a:t>
            </a:r>
          </a:p>
        </p:txBody>
      </p:sp>
      <p:sp>
        <p:nvSpPr>
          <p:cNvPr id="12" name="Rounded Rectangle 11"/>
          <p:cNvSpPr/>
          <p:nvPr/>
        </p:nvSpPr>
        <p:spPr>
          <a:xfrm>
            <a:off x="6156806" y="3566070"/>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9681" y="3657508"/>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o debate sobre desigualdade</a:t>
            </a:r>
          </a:p>
          <a:p>
            <a:pPr algn="l">
              <a:lnSpc>
                <a:spcPct val="115000"/>
              </a:lnSpc>
            </a:pPr>
            <a:r>
              <a:rPr sz="1399" b="0">
                <a:solidFill>
                  <a:srgbClr val="1A1A1A"/>
                </a:solidFill>
                <a:latin typeface="Arial"/>
              </a:rPr>
              <a:t>TIC Educação 2024: internet em 94% das escolas municipais; computadores para os alunos em 59% das escolas (60% em 2020) e em 28% das rurais (36% em 2020).</a:t>
            </a:r>
          </a:p>
        </p:txBody>
      </p:sp>
      <p:sp>
        <p:nvSpPr>
          <p:cNvPr id="14" name="Rounded Rectangle 13"/>
          <p:cNvSpPr/>
          <p:nvPr/>
        </p:nvSpPr>
        <p:spPr>
          <a:xfrm>
            <a:off x="548626" y="5791055"/>
            <a:ext cx="11094442" cy="5791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01" y="5791055"/>
            <a:ext cx="10728691" cy="579105"/>
          </a:xfrm>
          <a:prstGeom prst="rect">
            <a:avLst/>
          </a:prstGeom>
          <a:noFill/>
        </p:spPr>
        <p:txBody>
          <a:bodyPr wrap="square" lIns="73150" rIns="73150" tIns="73150" bIns="73150" anchor="ctr"/>
          <a:lstStyle/>
          <a:p>
            <a:pPr algn="l">
              <a:lnSpc>
                <a:spcPct val="100000"/>
              </a:lnSpc>
            </a:pPr>
            <a:r>
              <a:rPr sz="1199" b="0">
                <a:solidFill>
                  <a:srgbClr val="1A1A1A"/>
                </a:solidFill>
                <a:latin typeface="Arial"/>
              </a:rPr>
              <a:t>“Ser excluído dessas redes é sofrer uma das formas mais danosas de exclusão em nossa economia e em nossa cultura” </a:t>
            </a:r>
            <a:r>
              <a:rPr sz="1199" b="1">
                <a:solidFill>
                  <a:srgbClr val="1A1A1A"/>
                </a:solidFill>
                <a:latin typeface="Arial"/>
              </a:rPr>
              <a:t>(CASTELLS, 2003, p. 8).</a:t>
            </a:r>
          </a:p>
        </p:txBody>
      </p:sp>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Brasil (2023); ONU (2021); Lei nº 15.211/2025 (ECA Digital); CGI.br (2025a).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INEDITISMO EM TRÊS DIMENSÕES</a:t>
            </a:r>
          </a:p>
        </p:txBody>
      </p:sp>
      <p:sp>
        <p:nvSpPr>
          <p:cNvPr id="6" name="Rounded Rectangle 5"/>
          <p:cNvSpPr/>
          <p:nvPr/>
        </p:nvSpPr>
        <p:spPr>
          <a:xfrm>
            <a:off x="548626"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EMPÍRICO-TEMPORAL</a:t>
            </a:r>
          </a:p>
        </p:txBody>
      </p:sp>
      <p:sp>
        <p:nvSpPr>
          <p:cNvPr id="8" name="TextBox 7"/>
          <p:cNvSpPr txBox="1"/>
          <p:nvPr/>
        </p:nvSpPr>
        <p:spPr>
          <a:xfrm>
            <a:off x="731501"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A PNED chega à escola quando o componente se torna obrigatório, em 2026. Nenhum dos 9 estudos da RSL trata dela nem de rede municipal de pequeno porte.</a:t>
            </a:r>
          </a:p>
        </p:txBody>
      </p:sp>
      <p:sp>
        <p:nvSpPr>
          <p:cNvPr id="9" name="Rounded Rectangle 8"/>
          <p:cNvSpPr/>
          <p:nvPr/>
        </p:nvSpPr>
        <p:spPr>
          <a:xfrm>
            <a:off x="4297572"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447"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ANALÍTICO-ESPACIAL</a:t>
            </a:r>
          </a:p>
        </p:txBody>
      </p:sp>
      <p:sp>
        <p:nvSpPr>
          <p:cNvPr id="11" name="TextBox 10"/>
          <p:cNvSpPr txBox="1"/>
          <p:nvPr/>
        </p:nvSpPr>
        <p:spPr>
          <a:xfrm>
            <a:off x="4480447"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Pipa como dimensão constitutiva do contexto da prática, que atravessa toda a tese (SANTOS, 1999; MASSEY, 2008).</a:t>
            </a:r>
          </a:p>
        </p:txBody>
      </p:sp>
      <p:sp>
        <p:nvSpPr>
          <p:cNvPr id="12" name="Rounded Rectangle 11"/>
          <p:cNvSpPr/>
          <p:nvPr/>
        </p:nvSpPr>
        <p:spPr>
          <a:xfrm>
            <a:off x="8046518"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394"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TEÓRICO-CONCEITUAL</a:t>
            </a:r>
          </a:p>
        </p:txBody>
      </p:sp>
      <p:sp>
        <p:nvSpPr>
          <p:cNvPr id="14" name="TextBox 13"/>
          <p:cNvSpPr txBox="1"/>
          <p:nvPr/>
        </p:nvSpPr>
        <p:spPr>
          <a:xfrm>
            <a:off x="8229394"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Teoria da atuação, culturas profissionais, dimensão material e território articulados, com a noção de habitar o digital.</a:t>
            </a:r>
          </a:p>
        </p:txBody>
      </p:sp>
      <p:pic>
        <p:nvPicPr>
          <p:cNvPr id="15" name="Picture 14" descr="Ilustração decorativa"/>
          <p:cNvPicPr>
            <a:picLocks noChangeAspect="1"/>
          </p:cNvPicPr>
          <p:nvPr/>
        </p:nvPicPr>
        <p:blipFill>
          <a:blip r:embed="rId3"/>
          <a:stretch>
            <a:fillRect/>
          </a:stretch>
        </p:blipFill>
        <p:spPr>
          <a:xfrm>
            <a:off x="11094442" y="182875"/>
            <a:ext cx="853418" cy="952255"/>
          </a:xfrm>
          <a:prstGeom prst="rect">
            <a:avLst/>
          </a:prstGeom>
        </p:spPr>
      </p:pic>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Revisão sistemática (Cap. 2); Ball, Maguire e Braun (2016); Hargreaves (2005).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487667" y="1341086"/>
            <a:ext cx="4023259" cy="5233340"/>
          </a:xfrm>
          <a:prstGeom prst="rect">
            <a:avLst/>
          </a:prstGeom>
        </p:spPr>
      </p:pic>
      <p:sp>
        <p:nvSpPr>
          <p:cNvPr id="4" name="TextBox 3"/>
          <p:cNvSpPr txBox="1"/>
          <p:nvPr/>
        </p:nvSpPr>
        <p:spPr>
          <a:xfrm>
            <a:off x="4998595" y="335271"/>
            <a:ext cx="6705432" cy="914377"/>
          </a:xfrm>
          <a:prstGeom prst="rect">
            <a:avLst/>
          </a:prstGeom>
          <a:noFill/>
        </p:spPr>
        <p:txBody>
          <a:bodyPr wrap="square" lIns="73150" rIns="73150" tIns="73150" bIns="73150" anchor="ctr"/>
          <a:lstStyle/>
          <a:p>
            <a:pPr algn="l">
              <a:lnSpc>
                <a:spcPct val="100000"/>
              </a:lnSpc>
            </a:pPr>
            <a:r>
              <a:rPr sz="3999" b="1">
                <a:solidFill>
                  <a:srgbClr val="FFFFFF"/>
                </a:solidFill>
                <a:latin typeface="Arial"/>
              </a:rPr>
              <a:t>TESE DE PARTIDA</a:t>
            </a:r>
          </a:p>
        </p:txBody>
      </p:sp>
      <p:sp>
        <p:nvSpPr>
          <p:cNvPr id="5" name="Rounded Rectangle 4"/>
          <p:cNvSpPr/>
          <p:nvPr/>
        </p:nvSpPr>
        <p:spPr>
          <a:xfrm>
            <a:off x="4998595" y="1402044"/>
            <a:ext cx="6644473" cy="304792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2428" y="1523961"/>
            <a:ext cx="6156806" cy="2804089"/>
          </a:xfrm>
          <a:prstGeom prst="rect">
            <a:avLst/>
          </a:prstGeom>
          <a:noFill/>
        </p:spPr>
        <p:txBody>
          <a:bodyPr wrap="square" lIns="73150" rIns="73150" tIns="73150" bIns="73150" anchor="ctr"/>
          <a:lstStyle/>
          <a:p>
            <a:pPr algn="l">
              <a:lnSpc>
                <a:spcPct val="115000"/>
              </a:lnSpc>
            </a:pPr>
            <a:r>
              <a:rPr sz="1666" b="0">
                <a:solidFill>
                  <a:srgbClr val="1A1A1A"/>
                </a:solidFill>
                <a:latin typeface="Arial"/>
              </a:rPr>
              <a:t>A PNED chega à escola como orientação a ser lida e interpretada. A forma que assume no cotidiano resulta da relação entre o que prescreve e as condições em que os profissionais precisam atuar, atravessadas pelas culturas profissionais e pelo território. Nenhuma forma de atuação é pressuposta.</a:t>
            </a:r>
          </a:p>
        </p:txBody>
      </p:sp>
      <p:sp>
        <p:nvSpPr>
          <p:cNvPr id="7" name="TextBox 6"/>
          <p:cNvSpPr txBox="1"/>
          <p:nvPr/>
        </p:nvSpPr>
        <p:spPr>
          <a:xfrm>
            <a:off x="4998595" y="4632844"/>
            <a:ext cx="6644473" cy="1584920"/>
          </a:xfrm>
          <a:prstGeom prst="rect">
            <a:avLst/>
          </a:prstGeom>
          <a:noFill/>
        </p:spPr>
        <p:txBody>
          <a:bodyPr wrap="square" lIns="73150" rIns="73150" tIns="73150" bIns="73150" anchor="t"/>
          <a:lstStyle/>
          <a:p>
            <a:pPr algn="l">
              <a:lnSpc>
                <a:spcPct val="115000"/>
              </a:lnSpc>
            </a:pPr>
            <a:r>
              <a:rPr sz="1599" b="1">
                <a:solidFill>
                  <a:srgbClr val="FFFFFF"/>
                </a:solidFill>
                <a:latin typeface="Arial"/>
              </a:rPr>
              <a:t>Pergunta de fundo: </a:t>
            </a:r>
            <a:r>
              <a:rPr sz="1599" b="0">
                <a:solidFill>
                  <a:srgbClr val="FFFFFF"/>
                </a:solidFill>
                <a:latin typeface="Arial"/>
              </a:rPr>
              <a:t>o que acontece com uma política de educação digital quando encontra uma escola, seus profissionais, suas condições materiais e um território específico?</a:t>
            </a:r>
          </a:p>
        </p:txBody>
      </p:sp>
      <p:sp>
        <p:nvSpPr>
          <p:cNvPr id="8" name="TextBox 7"/>
          <p:cNvSpPr txBox="1"/>
          <p:nvPr/>
        </p:nvSpPr>
        <p:spPr>
          <a:xfrm>
            <a:off x="4998595" y="6431119"/>
            <a:ext cx="6644473"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Bowe, Ball e Gold (1992); Mainardes (2006); Ball, Maguire e Braun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2 · REVISÃO SISTEMÁTICA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 RESPOSTA À QUESTÃO NORTEADORA</a:t>
            </a:r>
          </a:p>
        </p:txBody>
      </p:sp>
      <p:sp>
        <p:nvSpPr>
          <p:cNvPr id="6" name="Rounded Rectangle 5"/>
          <p:cNvSpPr/>
          <p:nvPr/>
        </p:nvSpPr>
        <p:spPr>
          <a:xfrm>
            <a:off x="548626" y="1341086"/>
            <a:ext cx="11094442" cy="944856"/>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341086"/>
            <a:ext cx="10728691" cy="944856"/>
          </a:xfrm>
          <a:prstGeom prst="rect">
            <a:avLst/>
          </a:prstGeom>
          <a:noFill/>
        </p:spPr>
        <p:txBody>
          <a:bodyPr wrap="square" lIns="73150" rIns="73150" tIns="73150" bIns="73150" anchor="ctr"/>
          <a:lstStyle/>
          <a:p>
            <a:pPr algn="l">
              <a:lnSpc>
                <a:spcPct val="115000"/>
              </a:lnSpc>
            </a:pPr>
            <a:r>
              <a:rPr sz="1399" b="1">
                <a:solidFill>
                  <a:srgbClr val="6C4FD8"/>
                </a:solidFill>
                <a:latin typeface="Arial"/>
              </a:rPr>
              <a:t>Questão: </a:t>
            </a:r>
            <a:r>
              <a:rPr sz="1399" b="0">
                <a:solidFill>
                  <a:srgbClr val="1A1A1A"/>
                </a:solidFill>
                <a:latin typeface="Arial"/>
              </a:rPr>
              <a:t>o que a produção científica nacional e internacional evidencia sobre a implementação de políticas públicas de educação digital nos anos iniciais do Ensino Fundamental?</a:t>
            </a:r>
          </a:p>
        </p:txBody>
      </p:sp>
      <p:sp>
        <p:nvSpPr>
          <p:cNvPr id="8" name="Rounded Rectangle 7"/>
          <p:cNvSpPr/>
          <p:nvPr/>
        </p:nvSpPr>
        <p:spPr>
          <a:xfrm>
            <a:off x="548626"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26"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176</a:t>
            </a:r>
          </a:p>
        </p:txBody>
      </p:sp>
      <p:sp>
        <p:nvSpPr>
          <p:cNvPr id="10" name="TextBox 9"/>
          <p:cNvSpPr txBox="1"/>
          <p:nvPr/>
        </p:nvSpPr>
        <p:spPr>
          <a:xfrm>
            <a:off x="548626"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registros</a:t>
            </a:r>
          </a:p>
        </p:txBody>
      </p:sp>
      <p:sp>
        <p:nvSpPr>
          <p:cNvPr id="11" name="Rounded Rectangle 10"/>
          <p:cNvSpPr/>
          <p:nvPr/>
        </p:nvSpPr>
        <p:spPr>
          <a:xfrm>
            <a:off x="2804089"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4089"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171</a:t>
            </a:r>
          </a:p>
        </p:txBody>
      </p:sp>
      <p:sp>
        <p:nvSpPr>
          <p:cNvPr id="13" name="TextBox 12"/>
          <p:cNvSpPr txBox="1"/>
          <p:nvPr/>
        </p:nvSpPr>
        <p:spPr>
          <a:xfrm>
            <a:off x="2804089"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sem duplicatas</a:t>
            </a:r>
          </a:p>
        </p:txBody>
      </p:sp>
      <p:sp>
        <p:nvSpPr>
          <p:cNvPr id="14" name="Rounded Rectangle 13"/>
          <p:cNvSpPr/>
          <p:nvPr/>
        </p:nvSpPr>
        <p:spPr>
          <a:xfrm>
            <a:off x="5059553"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9553"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39</a:t>
            </a:r>
          </a:p>
        </p:txBody>
      </p:sp>
      <p:sp>
        <p:nvSpPr>
          <p:cNvPr id="16" name="TextBox 15"/>
          <p:cNvSpPr txBox="1"/>
          <p:nvPr/>
        </p:nvSpPr>
        <p:spPr>
          <a:xfrm>
            <a:off x="5059553"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buscados</a:t>
            </a:r>
          </a:p>
        </p:txBody>
      </p:sp>
      <p:sp>
        <p:nvSpPr>
          <p:cNvPr id="17" name="Rounded Rectangle 16"/>
          <p:cNvSpPr/>
          <p:nvPr/>
        </p:nvSpPr>
        <p:spPr>
          <a:xfrm>
            <a:off x="7315017"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017"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35</a:t>
            </a:r>
          </a:p>
        </p:txBody>
      </p:sp>
      <p:sp>
        <p:nvSpPr>
          <p:cNvPr id="19" name="TextBox 18"/>
          <p:cNvSpPr txBox="1"/>
          <p:nvPr/>
        </p:nvSpPr>
        <p:spPr>
          <a:xfrm>
            <a:off x="7315017"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lidos na íntegra</a:t>
            </a:r>
          </a:p>
        </p:txBody>
      </p:sp>
      <p:sp>
        <p:nvSpPr>
          <p:cNvPr id="20" name="Rounded Rectangle 19"/>
          <p:cNvSpPr/>
          <p:nvPr/>
        </p:nvSpPr>
        <p:spPr>
          <a:xfrm>
            <a:off x="9570480" y="2468818"/>
            <a:ext cx="2011629" cy="1066773"/>
          </a:xfrm>
          <a:prstGeom prst="roundRect">
            <a:avLst>
              <a:gd name="adj" fmla="val 12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70480" y="2499297"/>
            <a:ext cx="2011629" cy="609584"/>
          </a:xfrm>
          <a:prstGeom prst="rect">
            <a:avLst/>
          </a:prstGeom>
          <a:noFill/>
        </p:spPr>
        <p:txBody>
          <a:bodyPr wrap="square" lIns="73150" rIns="73150" tIns="73150" bIns="73150" anchor="ctr"/>
          <a:lstStyle/>
          <a:p>
            <a:pPr algn="ctr">
              <a:lnSpc>
                <a:spcPct val="100000"/>
              </a:lnSpc>
            </a:pPr>
            <a:r>
              <a:rPr sz="2933" b="1">
                <a:solidFill>
                  <a:srgbClr val="1A1A1A"/>
                </a:solidFill>
                <a:latin typeface="Arial"/>
              </a:rPr>
              <a:t>9</a:t>
            </a:r>
          </a:p>
        </p:txBody>
      </p:sp>
      <p:sp>
        <p:nvSpPr>
          <p:cNvPr id="22" name="TextBox 21"/>
          <p:cNvSpPr txBox="1"/>
          <p:nvPr/>
        </p:nvSpPr>
        <p:spPr>
          <a:xfrm>
            <a:off x="9570480"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estudos incluídos</a:t>
            </a:r>
          </a:p>
        </p:txBody>
      </p:sp>
      <p:sp>
        <p:nvSpPr>
          <p:cNvPr id="23" name="Rounded Rectangle 22"/>
          <p:cNvSpPr/>
          <p:nvPr/>
        </p:nvSpPr>
        <p:spPr>
          <a:xfrm>
            <a:off x="548626" y="3718467"/>
            <a:ext cx="11094442" cy="1828754"/>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60" y="3779425"/>
            <a:ext cx="10606774" cy="1706837"/>
          </a:xfrm>
          <a:prstGeom prst="rect">
            <a:avLst/>
          </a:prstGeom>
          <a:noFill/>
        </p:spPr>
        <p:txBody>
          <a:bodyPr wrap="square" lIns="73150" rIns="73150" tIns="73150" bIns="73150" anchor="ctr"/>
          <a:lstStyle/>
          <a:p>
            <a:pPr algn="l">
              <a:lnSpc>
                <a:spcPct val="115000"/>
              </a:lnSpc>
            </a:pPr>
            <a:r>
              <a:rPr sz="1533" b="1">
                <a:solidFill>
                  <a:srgbClr val="1A1A1A"/>
                </a:solidFill>
                <a:latin typeface="Arial"/>
              </a:rPr>
              <a:t>Resposta: </a:t>
            </a:r>
            <a:r>
              <a:rPr sz="1533" b="0">
                <a:solidFill>
                  <a:srgbClr val="1A1A1A"/>
                </a:solidFill>
                <a:latin typeface="Arial"/>
              </a:rPr>
              <a:t>a atuação dessas políticas depende da articulação entre recursos disponíveis, condições institucionais e trabalho dos profissionais da educação, que participam de sua interpretação diante das condições do cotidiano escolar. O corpus responde com mais consistência às condições e ao papel dos profissionais do que à formação dirigida às crianças.</a:t>
            </a:r>
          </a:p>
        </p:txBody>
      </p:sp>
      <p:sp>
        <p:nvSpPr>
          <p:cNvPr id="25" name="TextBox 24"/>
          <p:cNvSpPr txBox="1"/>
          <p:nvPr/>
        </p:nvSpPr>
        <p:spPr>
          <a:xfrm>
            <a:off x="548626" y="5638659"/>
            <a:ext cx="11094442" cy="670543"/>
          </a:xfrm>
          <a:prstGeom prst="rect">
            <a:avLst/>
          </a:prstGeom>
          <a:noFill/>
        </p:spPr>
        <p:txBody>
          <a:bodyPr wrap="square" lIns="73150" rIns="73150" tIns="73150" bIns="73150" anchor="ctr"/>
          <a:lstStyle/>
          <a:p>
            <a:pPr algn="ctr">
              <a:lnSpc>
                <a:spcPct val="115000"/>
              </a:lnSpc>
            </a:pPr>
            <a:r>
              <a:rPr sz="1266" b="0">
                <a:solidFill>
                  <a:srgbClr val="FFFFFF"/>
                </a:solidFill>
                <a:latin typeface="Arial"/>
              </a:rPr>
              <a:t>Corpus de 2021 a 2024: Brasil (Fortaleza, Passo Fundo, Aracaju), México, Turquia, Espanha, Cuba, Luxemburgo e Escócia.</a:t>
            </a:r>
          </a:p>
        </p:txBody>
      </p:sp>
      <p:sp>
        <p:nvSpPr>
          <p:cNvPr id="26" name="TextBox 25"/>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PRISMA 2020; sete bases; buscas de 2019 a setembro de 2026; MMAT 2018 e protocolo próprio para estudos documentais.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2 · REVISÃO SISTEMÁTICA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O QUE O CORPUS RESPONDE E O QUE FALTA</a:t>
            </a:r>
          </a:p>
        </p:txBody>
      </p:sp>
      <p:sp>
        <p:nvSpPr>
          <p:cNvPr id="6" name="Rounded Rectangle 5"/>
          <p:cNvSpPr/>
          <p:nvPr/>
        </p:nvSpPr>
        <p:spPr>
          <a:xfrm>
            <a:off x="548626"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a) Condicionantes</a:t>
            </a:r>
          </a:p>
        </p:txBody>
      </p:sp>
      <p:sp>
        <p:nvSpPr>
          <p:cNvPr id="8" name="Rounded Rectangle 7"/>
          <p:cNvSpPr/>
          <p:nvPr/>
        </p:nvSpPr>
        <p:spPr>
          <a:xfrm>
            <a:off x="701022"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1022"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RESPOSTA CONVERGENTE</a:t>
            </a:r>
          </a:p>
        </p:txBody>
      </p:sp>
      <p:sp>
        <p:nvSpPr>
          <p:cNvPr id="10" name="TextBox 9"/>
          <p:cNvSpPr txBox="1"/>
          <p:nvPr/>
        </p:nvSpPr>
        <p:spPr>
          <a:xfrm>
            <a:off x="701022"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Equipamentos e conectividade, formação continuada e situada, estabilidade das equipes e do suporte, tempo de trabalho e a própria norma como fonte de restrição (Brown et al., 2021). O território aparece só como contraste entre países.</a:t>
            </a:r>
          </a:p>
        </p:txBody>
      </p:sp>
      <p:sp>
        <p:nvSpPr>
          <p:cNvPr id="11" name="Rounded Rectangle 10"/>
          <p:cNvSpPr/>
          <p:nvPr/>
        </p:nvSpPr>
        <p:spPr>
          <a:xfrm>
            <a:off x="4297572"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9968"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b) Papel dos profissionais</a:t>
            </a:r>
          </a:p>
        </p:txBody>
      </p:sp>
      <p:sp>
        <p:nvSpPr>
          <p:cNvPr id="13" name="Rounded Rectangle 12"/>
          <p:cNvSpPr/>
          <p:nvPr/>
        </p:nvSpPr>
        <p:spPr>
          <a:xfrm>
            <a:off x="4449968"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9968"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A MAIS CONVERGENTE</a:t>
            </a:r>
          </a:p>
        </p:txBody>
      </p:sp>
      <p:sp>
        <p:nvSpPr>
          <p:cNvPr id="15" name="TextBox 14"/>
          <p:cNvSpPr txBox="1"/>
          <p:nvPr/>
        </p:nvSpPr>
        <p:spPr>
          <a:xfrm>
            <a:off x="4449968"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Interpretação e decisões situadas: ACP em Pereira (2022), terceiro espaço em Brown et al. (2021), custo do trabalho em Gómez-Nashiki e Quijada-Lovatón (2021). As razões desse trabalho seguem pouco examinadas.</a:t>
            </a:r>
          </a:p>
        </p:txBody>
      </p:sp>
      <p:sp>
        <p:nvSpPr>
          <p:cNvPr id="16" name="Rounded Rectangle 15"/>
          <p:cNvSpPr/>
          <p:nvPr/>
        </p:nvSpPr>
        <p:spPr>
          <a:xfrm>
            <a:off x="8046518"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8915"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c) Cultura digital e cidadania</a:t>
            </a:r>
          </a:p>
        </p:txBody>
      </p:sp>
      <p:sp>
        <p:nvSpPr>
          <p:cNvPr id="18" name="Rounded Rectangle 17"/>
          <p:cNvSpPr/>
          <p:nvPr/>
        </p:nvSpPr>
        <p:spPr>
          <a:xfrm>
            <a:off x="8198915"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8915"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APOIO FRÁGIL</a:t>
            </a:r>
          </a:p>
        </p:txBody>
      </p:sp>
      <p:sp>
        <p:nvSpPr>
          <p:cNvPr id="20" name="TextBox 19"/>
          <p:cNvSpPr txBox="1"/>
          <p:nvPr/>
        </p:nvSpPr>
        <p:spPr>
          <a:xfrm>
            <a:off x="8198915"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Williams (2022) trata a cultura digital como conteúdo com progressão própria; Karaferye (2022) sugere sentidos reorganizados pela pandemia. Nenhum estudo examina o que as crianças aprendem a ser.</a:t>
            </a:r>
          </a:p>
        </p:txBody>
      </p:sp>
      <p:sp>
        <p:nvSpPr>
          <p:cNvPr id="21" name="Rounded Rectangle 20"/>
          <p:cNvSpPr/>
          <p:nvPr/>
        </p:nvSpPr>
        <p:spPr>
          <a:xfrm>
            <a:off x="548626" y="4998595"/>
            <a:ext cx="11094442" cy="131060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2460" y="5029074"/>
            <a:ext cx="10606774" cy="1249648"/>
          </a:xfrm>
          <a:prstGeom prst="rect">
            <a:avLst/>
          </a:prstGeom>
          <a:noFill/>
        </p:spPr>
        <p:txBody>
          <a:bodyPr wrap="square" lIns="73150" rIns="73150" tIns="73150" bIns="73150" anchor="ctr"/>
          <a:lstStyle/>
          <a:p>
            <a:pPr algn="l">
              <a:lnSpc>
                <a:spcPct val="115000"/>
              </a:lnSpc>
            </a:pPr>
            <a:r>
              <a:rPr sz="1333" b="1">
                <a:solidFill>
                  <a:srgbClr val="1A1A1A"/>
                </a:solidFill>
                <a:latin typeface="Arial"/>
              </a:rPr>
              <a:t>Lacunas que a tese assume: </a:t>
            </a:r>
            <a:r>
              <a:rPr sz="1333" b="0">
                <a:solidFill>
                  <a:srgbClr val="1A1A1A"/>
                </a:solidFill>
                <a:latin typeface="Arial"/>
              </a:rPr>
              <a:t>nenhum estudo examina a PNED; o ciclo de alfabetização aparece delimitado só em Nunes (2024); predomina o contexto emergencial da pandemia; nenhuma rede municipal de pequeno porte; falta estudo sobre o que os profissionais fazem quando a formação prevista não chega e a exigência curricular permanece.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FUNDAMENTOS TEÓRICOS</a:t>
            </a:r>
          </a:p>
        </p:txBody>
      </p:sp>
      <p:sp>
        <p:nvSpPr>
          <p:cNvPr id="6" name="Rounded Rectangle 5"/>
          <p:cNvSpPr/>
          <p:nvPr/>
        </p:nvSpPr>
        <p:spPr>
          <a:xfrm>
            <a:off x="548626"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Ciclo de Políticas</a:t>
            </a:r>
          </a:p>
          <a:p>
            <a:pPr algn="l">
              <a:lnSpc>
                <a:spcPct val="115000"/>
              </a:lnSpc>
            </a:pPr>
            <a:r>
              <a:rPr sz="1466" b="0">
                <a:solidFill>
                  <a:srgbClr val="1A1A1A"/>
                </a:solidFill>
                <a:latin typeface="Arial"/>
              </a:rPr>
              <a:t>Bowe, Ball e Gold (1992); Mainardes (2006). A política é interpretada e recriada no contexto da prática.</a:t>
            </a:r>
          </a:p>
        </p:txBody>
      </p:sp>
      <p:sp>
        <p:nvSpPr>
          <p:cNvPr id="8" name="Rounded Rectangle 7"/>
          <p:cNvSpPr/>
          <p:nvPr/>
        </p:nvSpPr>
        <p:spPr>
          <a:xfrm>
            <a:off x="3371003"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3399"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Teoria da atuação</a:t>
            </a:r>
          </a:p>
          <a:p>
            <a:pPr algn="l">
              <a:lnSpc>
                <a:spcPct val="115000"/>
              </a:lnSpc>
            </a:pPr>
            <a:r>
              <a:rPr sz="1466" b="0">
                <a:solidFill>
                  <a:srgbClr val="1A1A1A"/>
                </a:solidFill>
                <a:latin typeface="Arial"/>
              </a:rPr>
              <a:t>Ball, Maguire e Braun (2016). Dimensões situacional, profissional, material e externa do contexto.</a:t>
            </a:r>
          </a:p>
        </p:txBody>
      </p:sp>
      <p:sp>
        <p:nvSpPr>
          <p:cNvPr id="10" name="Rounded Rectangle 9"/>
          <p:cNvSpPr/>
          <p:nvPr/>
        </p:nvSpPr>
        <p:spPr>
          <a:xfrm>
            <a:off x="6193381"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777"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Culturas profissionais</a:t>
            </a:r>
          </a:p>
          <a:p>
            <a:pPr algn="l">
              <a:lnSpc>
                <a:spcPct val="115000"/>
              </a:lnSpc>
            </a:pPr>
            <a:r>
              <a:rPr sz="1466" b="0">
                <a:solidFill>
                  <a:srgbClr val="1A1A1A"/>
                </a:solidFill>
                <a:latin typeface="Arial"/>
              </a:rPr>
              <a:t>Hargreaves (2005). Conteúdo e forma das culturas do trabalho docente.</a:t>
            </a:r>
          </a:p>
        </p:txBody>
      </p:sp>
      <p:sp>
        <p:nvSpPr>
          <p:cNvPr id="12" name="Rounded Rectangle 11"/>
          <p:cNvSpPr/>
          <p:nvPr/>
        </p:nvSpPr>
        <p:spPr>
          <a:xfrm>
            <a:off x="9015758"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68154"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Performatividade</a:t>
            </a:r>
          </a:p>
          <a:p>
            <a:pPr algn="l">
              <a:lnSpc>
                <a:spcPct val="115000"/>
              </a:lnSpc>
            </a:pPr>
            <a:r>
              <a:rPr sz="1466" b="0">
                <a:solidFill>
                  <a:srgbClr val="1A1A1A"/>
                </a:solidFill>
                <a:latin typeface="Arial"/>
              </a:rPr>
              <a:t>Ball (2002; 2004). Metas, registros e fabricações que acompanham a política.</a:t>
            </a:r>
          </a:p>
        </p:txBody>
      </p:sp>
      <p:sp>
        <p:nvSpPr>
          <p:cNvPr id="14" name="Rounded Rectangle 13"/>
          <p:cNvSpPr/>
          <p:nvPr/>
        </p:nvSpPr>
        <p:spPr>
          <a:xfrm>
            <a:off x="548626" y="3870863"/>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022"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Território e lugar</a:t>
            </a:r>
          </a:p>
          <a:p>
            <a:pPr algn="l">
              <a:lnSpc>
                <a:spcPct val="115000"/>
              </a:lnSpc>
            </a:pPr>
            <a:r>
              <a:rPr sz="1466" b="0">
                <a:solidFill>
                  <a:srgbClr val="1A1A1A"/>
                </a:solidFill>
                <a:latin typeface="Arial"/>
              </a:rPr>
              <a:t>Santos (1999; 2006; 2012); Massey (2008). Território usado, rugosidade, encontro de trajetórias.</a:t>
            </a:r>
          </a:p>
        </p:txBody>
      </p:sp>
      <p:sp>
        <p:nvSpPr>
          <p:cNvPr id="16" name="Rounded Rectangle 15"/>
          <p:cNvSpPr/>
          <p:nvPr/>
        </p:nvSpPr>
        <p:spPr>
          <a:xfrm>
            <a:off x="3371003" y="3870863"/>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3399"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Habitar o digital</a:t>
            </a:r>
          </a:p>
          <a:p>
            <a:pPr algn="l">
              <a:lnSpc>
                <a:spcPct val="115000"/>
              </a:lnSpc>
            </a:pPr>
            <a:r>
              <a:rPr sz="1466" b="0">
                <a:solidFill>
                  <a:srgbClr val="1A1A1A"/>
                </a:solidFill>
                <a:latin typeface="Arial"/>
              </a:rPr>
              <a:t>Schlemmer et al. (2021); Di Felice (2009). Habitar relacional e atópico, transformado pelas redes digitais.</a:t>
            </a:r>
          </a:p>
        </p:txBody>
      </p:sp>
      <p:sp>
        <p:nvSpPr>
          <p:cNvPr id="18" name="Rounded Rectangle 17"/>
          <p:cNvSpPr/>
          <p:nvPr/>
        </p:nvSpPr>
        <p:spPr>
          <a:xfrm>
            <a:off x="6193381" y="3870863"/>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777"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Direitos da criança</a:t>
            </a:r>
          </a:p>
          <a:p>
            <a:pPr algn="l">
              <a:lnSpc>
                <a:spcPct val="115000"/>
              </a:lnSpc>
            </a:pPr>
            <a:r>
              <a:rPr sz="1466" b="0">
                <a:solidFill>
                  <a:srgbClr val="1A1A1A"/>
                </a:solidFill>
                <a:latin typeface="Arial"/>
              </a:rPr>
              <a:t>ONU (2021). Provisão, proteção e participação no ambiente digital.</a:t>
            </a:r>
          </a:p>
        </p:txBody>
      </p:sp>
      <p:sp>
        <p:nvSpPr>
          <p:cNvPr id="20" name="Rounded Rectangle 19"/>
          <p:cNvSpPr/>
          <p:nvPr/>
        </p:nvSpPr>
        <p:spPr>
          <a:xfrm>
            <a:off x="9015758" y="3870863"/>
            <a:ext cx="2621214" cy="231642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68154"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Recontextualização</a:t>
            </a:r>
          </a:p>
          <a:p>
            <a:pPr algn="l">
              <a:lnSpc>
                <a:spcPct val="115000"/>
              </a:lnSpc>
            </a:pPr>
            <a:r>
              <a:rPr sz="1466" b="0">
                <a:solidFill>
                  <a:srgbClr val="1A1A1A"/>
                </a:solidFill>
                <a:latin typeface="Arial"/>
              </a:rPr>
              <a:t>Categoria integradora da tese, que reúne a ACP e a teoria da atuação.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HABITAR O DIGITAL: UMA FORMULAÇÃO DA TESE</a:t>
            </a:r>
          </a:p>
        </p:txBody>
      </p:sp>
      <p:sp>
        <p:nvSpPr>
          <p:cNvPr id="6" name="Rounded Rectangle 5"/>
          <p:cNvSpPr/>
          <p:nvPr/>
        </p:nvSpPr>
        <p:spPr>
          <a:xfrm>
            <a:off x="548626" y="1402044"/>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50811"/>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Schlemmer et al. (2021)</a:t>
            </a:r>
          </a:p>
          <a:p>
            <a:pPr algn="l">
              <a:lnSpc>
                <a:spcPct val="105000"/>
              </a:lnSpc>
            </a:pPr>
            <a:r>
              <a:rPr sz="1333" b="0">
                <a:solidFill>
                  <a:srgbClr val="1A1A1A"/>
                </a:solidFill>
                <a:latin typeface="Arial"/>
              </a:rPr>
              <a:t>Habitar como experiência relacional entre sujeitos, ambientes, tecnologias e redes.</a:t>
            </a:r>
          </a:p>
        </p:txBody>
      </p:sp>
      <p:sp>
        <p:nvSpPr>
          <p:cNvPr id="8" name="Rounded Rectangle 7"/>
          <p:cNvSpPr/>
          <p:nvPr/>
        </p:nvSpPr>
        <p:spPr>
          <a:xfrm>
            <a:off x="548626" y="2529776"/>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1022" y="2578543"/>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Di Felice (2009)</a:t>
            </a:r>
          </a:p>
          <a:p>
            <a:pPr algn="l">
              <a:lnSpc>
                <a:spcPct val="105000"/>
              </a:lnSpc>
            </a:pPr>
            <a:r>
              <a:rPr sz="1333" b="0">
                <a:solidFill>
                  <a:srgbClr val="1A1A1A"/>
                </a:solidFill>
                <a:latin typeface="Arial"/>
              </a:rPr>
              <a:t>O habitar transformado pelas redes digitais: o habitar atópico.</a:t>
            </a:r>
          </a:p>
        </p:txBody>
      </p:sp>
      <p:sp>
        <p:nvSpPr>
          <p:cNvPr id="10" name="Rounded Rectangle 9"/>
          <p:cNvSpPr/>
          <p:nvPr/>
        </p:nvSpPr>
        <p:spPr>
          <a:xfrm>
            <a:off x="548626" y="3657508"/>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1022" y="3706275"/>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Santos (2006)</a:t>
            </a:r>
          </a:p>
          <a:p>
            <a:pPr algn="l">
              <a:lnSpc>
                <a:spcPct val="105000"/>
              </a:lnSpc>
            </a:pPr>
            <a:r>
              <a:rPr sz="1333" b="0">
                <a:solidFill>
                  <a:srgbClr val="1A1A1A"/>
                </a:solidFill>
                <a:latin typeface="Arial"/>
              </a:rPr>
              <a:t>Objetos técnicos distribuídos de modo desigual, com idades e funções diferentes.</a:t>
            </a:r>
          </a:p>
        </p:txBody>
      </p:sp>
      <p:sp>
        <p:nvSpPr>
          <p:cNvPr id="12" name="Rounded Rectangle 11"/>
          <p:cNvSpPr/>
          <p:nvPr/>
        </p:nvSpPr>
        <p:spPr>
          <a:xfrm>
            <a:off x="548626" y="4785240"/>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1022" y="4834007"/>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Massey (2008)</a:t>
            </a:r>
          </a:p>
          <a:p>
            <a:pPr algn="l">
              <a:lnSpc>
                <a:spcPct val="105000"/>
              </a:lnSpc>
            </a:pPr>
            <a:r>
              <a:rPr sz="1333" b="0">
                <a:solidFill>
                  <a:srgbClr val="1A1A1A"/>
                </a:solidFill>
                <a:latin typeface="Arial"/>
              </a:rPr>
              <a:t>O lugar como encontro de trajetórias.</a:t>
            </a:r>
          </a:p>
        </p:txBody>
      </p:sp>
      <p:sp>
        <p:nvSpPr>
          <p:cNvPr id="14" name="Rounded Rectangle 13"/>
          <p:cNvSpPr/>
          <p:nvPr/>
        </p:nvSpPr>
        <p:spPr>
          <a:xfrm>
            <a:off x="548626" y="5943451"/>
            <a:ext cx="5730096" cy="701022"/>
          </a:xfrm>
          <a:prstGeom prst="roundRect">
            <a:avLst>
              <a:gd name="adj" fmla="val 2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543" y="5943451"/>
            <a:ext cx="5486262" cy="701022"/>
          </a:xfrm>
          <a:prstGeom prst="rect">
            <a:avLst/>
          </a:prstGeom>
          <a:noFill/>
        </p:spPr>
        <p:txBody>
          <a:bodyPr wrap="square" lIns="73150" rIns="73150" tIns="73150" bIns="73150" anchor="ctr"/>
          <a:lstStyle/>
          <a:p>
            <a:pPr algn="l">
              <a:lnSpc>
                <a:spcPct val="100000"/>
              </a:lnSpc>
            </a:pPr>
            <a:r>
              <a:rPr sz="1266" b="1">
                <a:solidFill>
                  <a:srgbClr val="1A1A1A"/>
                </a:solidFill>
                <a:latin typeface="Arial"/>
              </a:rPr>
              <a:t>Maneiras desiguais de acesso, participação e apropriação do digital num território</a:t>
            </a:r>
          </a:p>
        </p:txBody>
      </p:sp>
      <p:sp>
        <p:nvSpPr>
          <p:cNvPr id="16" name="Rounded Rectangle 15"/>
          <p:cNvSpPr/>
          <p:nvPr/>
        </p:nvSpPr>
        <p:spPr>
          <a:xfrm>
            <a:off x="6632282" y="1389853"/>
            <a:ext cx="5022978" cy="416955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sta aérea contemporânea de Pipa (Figura 15). Acervo da pesquisa (2026)."/>
          <p:cNvPicPr>
            <a:picLocks noChangeAspect="1"/>
          </p:cNvPicPr>
          <p:nvPr/>
        </p:nvPicPr>
        <p:blipFill>
          <a:blip r:embed="rId3"/>
          <a:srcRect t="850" b="850"/>
          <a:stretch>
            <a:fillRect/>
          </a:stretch>
        </p:blipFill>
        <p:spPr>
          <a:xfrm>
            <a:off x="6705432" y="1463003"/>
            <a:ext cx="4876678" cy="3535591"/>
          </a:xfrm>
          <a:prstGeom prst="rect">
            <a:avLst/>
          </a:prstGeom>
        </p:spPr>
      </p:pic>
      <p:sp>
        <p:nvSpPr>
          <p:cNvPr id="18" name="TextBox 17"/>
          <p:cNvSpPr txBox="1"/>
          <p:nvPr/>
        </p:nvSpPr>
        <p:spPr>
          <a:xfrm>
            <a:off x="6705432" y="5010786"/>
            <a:ext cx="4876678"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Vista aérea contemporânea de Pipa (Figura 15). Acervo da pesquisa (2026).</a:t>
            </a:r>
          </a:p>
        </p:txBody>
      </p:sp>
      <p:sp>
        <p:nvSpPr>
          <p:cNvPr id="19" name="TextBox 18"/>
          <p:cNvSpPr txBox="1"/>
          <p:nvPr/>
        </p:nvSpPr>
        <p:spPr>
          <a:xfrm>
            <a:off x="6705432" y="5699617"/>
            <a:ext cx="4876678" cy="914377"/>
          </a:xfrm>
          <a:prstGeom prst="rect">
            <a:avLst/>
          </a:prstGeom>
          <a:noFill/>
        </p:spPr>
        <p:txBody>
          <a:bodyPr wrap="square" lIns="73150" rIns="73150" tIns="73150" bIns="73150" anchor="t"/>
          <a:lstStyle/>
          <a:p>
            <a:pPr algn="l">
              <a:lnSpc>
                <a:spcPct val="115000"/>
              </a:lnSpc>
            </a:pPr>
            <a:r>
              <a:rPr sz="1399" b="0">
                <a:solidFill>
                  <a:srgbClr val="FFFFFF"/>
                </a:solidFill>
                <a:latin typeface="Arial"/>
              </a:rPr>
              <a:t>Em Pipa: alta densidade tecnológica nos circuitos do turismo e disponibilidade restrita nos espaços pedagógicos da escola.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FUNDAMENTOS METODOLÓGICOS</a:t>
            </a:r>
          </a:p>
        </p:txBody>
      </p:sp>
      <p:sp>
        <p:nvSpPr>
          <p:cNvPr id="6" name="Rounded Rectangle 5"/>
          <p:cNvSpPr/>
          <p:nvPr/>
        </p:nvSpPr>
        <p:spPr>
          <a:xfrm>
            <a:off x="548626"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Abordagem qualitativa</a:t>
            </a:r>
          </a:p>
          <a:p>
            <a:pPr algn="l">
              <a:lnSpc>
                <a:spcPct val="115000"/>
              </a:lnSpc>
            </a:pPr>
            <a:r>
              <a:rPr sz="1466" b="0">
                <a:solidFill>
                  <a:srgbClr val="1A1A1A"/>
                </a:solidFill>
                <a:latin typeface="Arial"/>
              </a:rPr>
              <a:t>O universo dos significados, motivos, crenças e valores (MINAYO, 2009); compreender como as pessoas constroem significados (BOGDAN; BIKLEN, 2007).</a:t>
            </a:r>
          </a:p>
        </p:txBody>
      </p:sp>
      <p:sp>
        <p:nvSpPr>
          <p:cNvPr id="8" name="Rounded Rectangle 7"/>
          <p:cNvSpPr/>
          <p:nvPr/>
        </p:nvSpPr>
        <p:spPr>
          <a:xfrm>
            <a:off x="4297572"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Estudo de caso único</a:t>
            </a:r>
          </a:p>
          <a:p>
            <a:pPr algn="l">
              <a:lnSpc>
                <a:spcPct val="115000"/>
              </a:lnSpc>
            </a:pPr>
            <a:r>
              <a:rPr sz="1466" b="0">
                <a:solidFill>
                  <a:srgbClr val="1A1A1A"/>
                </a:solidFill>
                <a:latin typeface="Arial"/>
              </a:rPr>
              <a:t>Fenômeno contemporâneo em contexto real, de limites pouco nítidos (YIN, 2001), com a cautela de André (2005) sobre o “estudo de um caso”.</a:t>
            </a:r>
          </a:p>
        </p:txBody>
      </p:sp>
      <p:sp>
        <p:nvSpPr>
          <p:cNvPr id="10" name="Rounded Rectangle 9"/>
          <p:cNvSpPr/>
          <p:nvPr/>
        </p:nvSpPr>
        <p:spPr>
          <a:xfrm>
            <a:off x="8046518"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ACP operacionalizada</a:t>
            </a:r>
          </a:p>
          <a:p>
            <a:pPr algn="l">
              <a:lnSpc>
                <a:spcPct val="115000"/>
              </a:lnSpc>
            </a:pPr>
            <a:r>
              <a:rPr sz="1466" b="0">
                <a:solidFill>
                  <a:srgbClr val="1A1A1A"/>
                </a:solidFill>
                <a:latin typeface="Arial"/>
              </a:rPr>
              <a:t>Contextos de influência, de produção do texto e da prática, com as questões analíticas de Mainardes (2006, p. 67-68).</a:t>
            </a:r>
          </a:p>
        </p:txBody>
      </p:sp>
      <p:sp>
        <p:nvSpPr>
          <p:cNvPr id="12" name="Rounded Rectangle 11"/>
          <p:cNvSpPr/>
          <p:nvPr/>
        </p:nvSpPr>
        <p:spPr>
          <a:xfrm>
            <a:off x="548626"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Recontextualização</a:t>
            </a:r>
          </a:p>
          <a:p>
            <a:pPr algn="l">
              <a:lnSpc>
                <a:spcPct val="115000"/>
              </a:lnSpc>
            </a:pPr>
            <a:r>
              <a:rPr sz="1466" b="0">
                <a:solidFill>
                  <a:srgbClr val="1A1A1A"/>
                </a:solidFill>
                <a:latin typeface="Arial"/>
              </a:rPr>
              <a:t>A política ganha sentidos particulares ao encontrar pessoas, instituições, recursos e limites de um lugar.</a:t>
            </a:r>
          </a:p>
        </p:txBody>
      </p:sp>
      <p:sp>
        <p:nvSpPr>
          <p:cNvPr id="14" name="Rounded Rectangle 13"/>
          <p:cNvSpPr/>
          <p:nvPr/>
        </p:nvSpPr>
        <p:spPr>
          <a:xfrm>
            <a:off x="4297572"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Seleção intencional</a:t>
            </a:r>
          </a:p>
          <a:p>
            <a:pPr algn="l">
              <a:lnSpc>
                <a:spcPct val="115000"/>
              </a:lnSpc>
            </a:pPr>
            <a:r>
              <a:rPr sz="1466" b="0">
                <a:solidFill>
                  <a:srgbClr val="1A1A1A"/>
                </a:solidFill>
                <a:latin typeface="Arial"/>
              </a:rPr>
              <a:t>Profissionais escolhidos pela posição no arranjo da política (MARCONI; LAKATOS, 2007), com um técnico da Secretaria.</a:t>
            </a:r>
          </a:p>
        </p:txBody>
      </p:sp>
      <p:sp>
        <p:nvSpPr>
          <p:cNvPr id="16" name="Rounded Rectangle 15"/>
          <p:cNvSpPr/>
          <p:nvPr/>
        </p:nvSpPr>
        <p:spPr>
          <a:xfrm>
            <a:off x="8046518"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Análise temática reflexiva</a:t>
            </a:r>
          </a:p>
          <a:p>
            <a:pPr algn="l">
              <a:lnSpc>
                <a:spcPct val="115000"/>
              </a:lnSpc>
            </a:pPr>
            <a:r>
              <a:rPr sz="1466" b="0">
                <a:solidFill>
                  <a:srgbClr val="1A1A1A"/>
                </a:solidFill>
                <a:latin typeface="Arial"/>
              </a:rPr>
              <a:t>Temas construídos entre dados, referencial e reflexividade (BRAUN; CLARKE, 2006; 2019), com triangulação no ATLAS.ti.</a:t>
            </a:r>
          </a:p>
        </p:txBody>
      </p:sp>
      <p:sp>
        <p:nvSpPr>
          <p:cNvPr id="18" name="TextBox 1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Resoluções CNS nº 466/2012 e 510/2016: compromissos éticos; critérios de leitura datados antes da 1ª entrevista.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OS CINCO MOVIMENTOS DA PESQUISA</a:t>
            </a:r>
          </a:p>
        </p:txBody>
      </p:sp>
      <p:sp>
        <p:nvSpPr>
          <p:cNvPr id="6" name="TextBox 5"/>
          <p:cNvSpPr txBox="1"/>
          <p:nvPr/>
        </p:nvSpPr>
        <p:spPr>
          <a:xfrm>
            <a:off x="548626" y="1188690"/>
            <a:ext cx="11094442" cy="670543"/>
          </a:xfrm>
          <a:prstGeom prst="rect">
            <a:avLst/>
          </a:prstGeom>
          <a:noFill/>
        </p:spPr>
        <p:txBody>
          <a:bodyPr wrap="square" lIns="73150" rIns="73150" tIns="73150" bIns="73150" anchor="ctr"/>
          <a:lstStyle/>
          <a:p>
            <a:pPr algn="ctr">
              <a:lnSpc>
                <a:spcPct val="115000"/>
              </a:lnSpc>
            </a:pPr>
            <a:r>
              <a:rPr sz="1466" b="0">
                <a:solidFill>
                  <a:srgbClr val="FFFFFF"/>
                </a:solidFill>
                <a:latin typeface="Arial"/>
              </a:rPr>
              <a:t>Quatro fontes de evidência, organizadas em cinco movimentos e confrontadas por triangulação</a:t>
            </a:r>
          </a:p>
        </p:txBody>
      </p:sp>
      <p:sp>
        <p:nvSpPr>
          <p:cNvPr id="7" name="Rounded Rectangle 6"/>
          <p:cNvSpPr/>
          <p:nvPr/>
        </p:nvSpPr>
        <p:spPr>
          <a:xfrm>
            <a:off x="548626"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43"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1</a:t>
            </a:r>
          </a:p>
        </p:txBody>
      </p:sp>
      <p:sp>
        <p:nvSpPr>
          <p:cNvPr id="9" name="TextBox 8"/>
          <p:cNvSpPr txBox="1"/>
          <p:nvPr/>
        </p:nvSpPr>
        <p:spPr>
          <a:xfrm>
            <a:off x="670543"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Análise documental</a:t>
            </a:r>
          </a:p>
        </p:txBody>
      </p:sp>
      <p:sp>
        <p:nvSpPr>
          <p:cNvPr id="10" name="TextBox 9"/>
          <p:cNvSpPr txBox="1"/>
          <p:nvPr/>
        </p:nvSpPr>
        <p:spPr>
          <a:xfrm>
            <a:off x="670543"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Lei, Resolução CNE/CEB nº 2/2025, PPP, planos, atas, aquisição, PIEC e Censo</a:t>
            </a:r>
          </a:p>
        </p:txBody>
      </p:sp>
      <p:sp>
        <p:nvSpPr>
          <p:cNvPr id="11" name="Rounded Rectangle 10"/>
          <p:cNvSpPr/>
          <p:nvPr/>
        </p:nvSpPr>
        <p:spPr>
          <a:xfrm>
            <a:off x="640063"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63"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Da entrada no campo ao fim</a:t>
            </a:r>
          </a:p>
        </p:txBody>
      </p:sp>
      <p:sp>
        <p:nvSpPr>
          <p:cNvPr id="13" name="Rounded Rectangle 12"/>
          <p:cNvSpPr/>
          <p:nvPr/>
        </p:nvSpPr>
        <p:spPr>
          <a:xfrm>
            <a:off x="2804089"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06"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2</a:t>
            </a:r>
          </a:p>
        </p:txBody>
      </p:sp>
      <p:sp>
        <p:nvSpPr>
          <p:cNvPr id="15" name="TextBox 14"/>
          <p:cNvSpPr txBox="1"/>
          <p:nvPr/>
        </p:nvSpPr>
        <p:spPr>
          <a:xfrm>
            <a:off x="2926006"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Registro iconográfico</a:t>
            </a:r>
          </a:p>
        </p:txBody>
      </p:sp>
      <p:sp>
        <p:nvSpPr>
          <p:cNvPr id="16" name="TextBox 15"/>
          <p:cNvSpPr txBox="1"/>
          <p:nvPr/>
        </p:nvSpPr>
        <p:spPr>
          <a:xfrm>
            <a:off x="2926006"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38 figuras e 2 peças cartográficas, lidas com Santos e Massey</a:t>
            </a:r>
          </a:p>
        </p:txBody>
      </p:sp>
      <p:sp>
        <p:nvSpPr>
          <p:cNvPr id="17" name="Rounded Rectangle 16"/>
          <p:cNvSpPr/>
          <p:nvPr/>
        </p:nvSpPr>
        <p:spPr>
          <a:xfrm>
            <a:off x="2895527" y="5333866"/>
            <a:ext cx="1889712" cy="609584"/>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95527"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Realizado · Cap. 6</a:t>
            </a:r>
          </a:p>
        </p:txBody>
      </p:sp>
      <p:sp>
        <p:nvSpPr>
          <p:cNvPr id="19" name="Rounded Rectangle 18"/>
          <p:cNvSpPr/>
          <p:nvPr/>
        </p:nvSpPr>
        <p:spPr>
          <a:xfrm>
            <a:off x="5059553"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1470"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3</a:t>
            </a:r>
          </a:p>
        </p:txBody>
      </p:sp>
      <p:sp>
        <p:nvSpPr>
          <p:cNvPr id="21" name="TextBox 20"/>
          <p:cNvSpPr txBox="1"/>
          <p:nvPr/>
        </p:nvSpPr>
        <p:spPr>
          <a:xfrm>
            <a:off x="5181470"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Questionário</a:t>
            </a:r>
          </a:p>
        </p:txBody>
      </p:sp>
      <p:sp>
        <p:nvSpPr>
          <p:cNvPr id="22" name="TextBox 21"/>
          <p:cNvSpPr txBox="1"/>
          <p:nvPr/>
        </p:nvSpPr>
        <p:spPr>
          <a:xfrm>
            <a:off x="5181470"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Perfil e percepções, em cinco blocos, aplicado presencialmente</a:t>
            </a:r>
          </a:p>
        </p:txBody>
      </p:sp>
      <p:sp>
        <p:nvSpPr>
          <p:cNvPr id="23" name="Rounded Rectangle 22"/>
          <p:cNvSpPr/>
          <p:nvPr/>
        </p:nvSpPr>
        <p:spPr>
          <a:xfrm>
            <a:off x="5150991"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50991"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Antes das entrevistas</a:t>
            </a:r>
          </a:p>
        </p:txBody>
      </p:sp>
      <p:sp>
        <p:nvSpPr>
          <p:cNvPr id="25" name="Rounded Rectangle 24"/>
          <p:cNvSpPr/>
          <p:nvPr/>
        </p:nvSpPr>
        <p:spPr>
          <a:xfrm>
            <a:off x="7315017"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6934"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4</a:t>
            </a:r>
          </a:p>
        </p:txBody>
      </p:sp>
      <p:sp>
        <p:nvSpPr>
          <p:cNvPr id="27" name="TextBox 26"/>
          <p:cNvSpPr txBox="1"/>
          <p:nvPr/>
        </p:nvSpPr>
        <p:spPr>
          <a:xfrm>
            <a:off x="7436934"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Entrevistas</a:t>
            </a:r>
          </a:p>
        </p:txBody>
      </p:sp>
      <p:sp>
        <p:nvSpPr>
          <p:cNvPr id="28" name="TextBox 27"/>
          <p:cNvSpPr txBox="1"/>
          <p:nvPr/>
        </p:nvSpPr>
        <p:spPr>
          <a:xfrm>
            <a:off x="7436934"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Individuais, seis eixos, de 60 a 90 minutos; técnico da Secretaria</a:t>
            </a:r>
          </a:p>
        </p:txBody>
      </p:sp>
      <p:sp>
        <p:nvSpPr>
          <p:cNvPr id="29" name="Rounded Rectangle 28"/>
          <p:cNvSpPr/>
          <p:nvPr/>
        </p:nvSpPr>
        <p:spPr>
          <a:xfrm>
            <a:off x="7406454"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454"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Principal escuta · Cap. 7</a:t>
            </a:r>
          </a:p>
        </p:txBody>
      </p:sp>
      <p:sp>
        <p:nvSpPr>
          <p:cNvPr id="31" name="Rounded Rectangle 30"/>
          <p:cNvSpPr/>
          <p:nvPr/>
        </p:nvSpPr>
        <p:spPr>
          <a:xfrm>
            <a:off x="9570480"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397"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5</a:t>
            </a:r>
          </a:p>
        </p:txBody>
      </p:sp>
      <p:sp>
        <p:nvSpPr>
          <p:cNvPr id="33" name="TextBox 32"/>
          <p:cNvSpPr txBox="1"/>
          <p:nvPr/>
        </p:nvSpPr>
        <p:spPr>
          <a:xfrm>
            <a:off x="9692397"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Análise e devolutiva</a:t>
            </a:r>
          </a:p>
        </p:txBody>
      </p:sp>
      <p:sp>
        <p:nvSpPr>
          <p:cNvPr id="34" name="TextBox 33"/>
          <p:cNvSpPr txBox="1"/>
          <p:nvPr/>
        </p:nvSpPr>
        <p:spPr>
          <a:xfrm>
            <a:off x="9692397"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Análise temática reflexiva, triangulação e retorno à escola e à Secretaria</a:t>
            </a:r>
          </a:p>
        </p:txBody>
      </p:sp>
      <p:sp>
        <p:nvSpPr>
          <p:cNvPr id="35" name="Rounded Rectangle 34"/>
          <p:cNvSpPr/>
          <p:nvPr/>
        </p:nvSpPr>
        <p:spPr>
          <a:xfrm>
            <a:off x="9661918"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61918"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Após o campo · Caps. 7 e 8</a:t>
            </a:r>
          </a:p>
        </p:txBody>
      </p:sp>
      <p:sp>
        <p:nvSpPr>
          <p:cNvPr id="37" name="TextBox 36"/>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Yin (2001); Braun e Clarke (2006; 2019); Resoluções CNS nº 466/2012 e 510/2016.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1º E 2º MOVIMENTOS: DOCUMENTOS E IMAGENS</a:t>
            </a:r>
          </a:p>
        </p:txBody>
      </p:sp>
      <p:sp>
        <p:nvSpPr>
          <p:cNvPr id="6" name="Rounded Rectangle 5"/>
          <p:cNvSpPr/>
          <p:nvPr/>
        </p:nvSpPr>
        <p:spPr>
          <a:xfrm>
            <a:off x="548626" y="1341086"/>
            <a:ext cx="5455783" cy="4937636"/>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32524"/>
            <a:ext cx="5120511" cy="4785240"/>
          </a:xfrm>
          <a:prstGeom prst="rect">
            <a:avLst/>
          </a:prstGeom>
          <a:noFill/>
        </p:spPr>
        <p:txBody>
          <a:bodyPr wrap="square" lIns="73150" rIns="73150" tIns="73150" bIns="73150" anchor="t"/>
          <a:lstStyle/>
          <a:p>
            <a:pPr algn="l">
              <a:lnSpc>
                <a:spcPct val="115000"/>
              </a:lnSpc>
              <a:spcAft>
                <a:spcPts val="933"/>
              </a:spcAft>
            </a:pPr>
            <a:r>
              <a:rPr sz="1599" b="1">
                <a:solidFill>
                  <a:srgbClr val="6C4FD8"/>
                </a:solidFill>
                <a:latin typeface="Arial"/>
              </a:rPr>
              <a:t>1 · Análise documental</a:t>
            </a:r>
          </a:p>
          <a:p>
            <a:pPr algn="l">
              <a:lnSpc>
                <a:spcPct val="115000"/>
              </a:lnSpc>
              <a:spcAft>
                <a:spcPts val="933"/>
              </a:spcAft>
            </a:pPr>
            <a:r>
              <a:rPr sz="1599" b="1">
                <a:solidFill>
                  <a:srgbClr val="1A1A1A"/>
                </a:solidFill>
                <a:latin typeface="Arial"/>
              </a:rPr>
              <a:t>Pedagógico e institucional: </a:t>
            </a:r>
            <a:r>
              <a:rPr sz="1599" b="0">
                <a:solidFill>
                  <a:srgbClr val="1A1A1A"/>
                </a:solidFill>
                <a:latin typeface="Arial"/>
              </a:rPr>
              <a:t>PPP, planos de aula do 1º ao 5º ano, atas e cadernos de uso do laboratório e do kit multimídia.</a:t>
            </a:r>
          </a:p>
          <a:p>
            <a:pPr algn="l">
              <a:lnSpc>
                <a:spcPct val="115000"/>
              </a:lnSpc>
              <a:spcAft>
                <a:spcPts val="933"/>
              </a:spcAft>
            </a:pPr>
            <a:r>
              <a:rPr sz="1599" b="1">
                <a:solidFill>
                  <a:srgbClr val="1A1A1A"/>
                </a:solidFill>
                <a:latin typeface="Arial"/>
              </a:rPr>
              <a:t>Administrativo e de aquisição: </a:t>
            </a:r>
            <a:r>
              <a:rPr sz="1599" b="0">
                <a:solidFill>
                  <a:srgbClr val="1A1A1A"/>
                </a:solidFill>
                <a:latin typeface="Arial"/>
              </a:rPr>
              <a:t>contratação da conectividade, doação e tombamento dos equipamentos, execução do PIEC, contratos de manutenção e respostas ao Censo Escolar.</a:t>
            </a:r>
          </a:p>
          <a:p>
            <a:pPr algn="l">
              <a:lnSpc>
                <a:spcPct val="115000"/>
              </a:lnSpc>
            </a:pPr>
            <a:r>
              <a:rPr sz="1599" b="1">
                <a:solidFill>
                  <a:srgbClr val="1A1A1A"/>
                </a:solidFill>
                <a:latin typeface="Arial"/>
              </a:rPr>
              <a:t>Leitura: </a:t>
            </a:r>
            <a:r>
              <a:rPr sz="1599" b="0">
                <a:solidFill>
                  <a:srgbClr val="1A1A1A"/>
                </a:solidFill>
                <a:latin typeface="Arial"/>
              </a:rPr>
              <a:t>matriz temática prévia, crítica às condições de produção de cada documento; registros no ATLAS.ti.</a:t>
            </a:r>
          </a:p>
        </p:txBody>
      </p:sp>
      <p:sp>
        <p:nvSpPr>
          <p:cNvPr id="8" name="Rounded Rectangle 7"/>
          <p:cNvSpPr/>
          <p:nvPr/>
        </p:nvSpPr>
        <p:spPr>
          <a:xfrm>
            <a:off x="6187285" y="1341086"/>
            <a:ext cx="5455783" cy="4937636"/>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0" y="1432524"/>
            <a:ext cx="5120511" cy="4785240"/>
          </a:xfrm>
          <a:prstGeom prst="rect">
            <a:avLst/>
          </a:prstGeom>
          <a:noFill/>
        </p:spPr>
        <p:txBody>
          <a:bodyPr wrap="square" lIns="73150" rIns="73150" tIns="73150" bIns="73150" anchor="t"/>
          <a:lstStyle/>
          <a:p>
            <a:pPr algn="l">
              <a:lnSpc>
                <a:spcPct val="115000"/>
              </a:lnSpc>
              <a:spcAft>
                <a:spcPts val="933"/>
              </a:spcAft>
            </a:pPr>
            <a:r>
              <a:rPr sz="1599" b="1">
                <a:solidFill>
                  <a:srgbClr val="6C4FD8"/>
                </a:solidFill>
                <a:latin typeface="Arial"/>
              </a:rPr>
              <a:t>2 · Registro iconográfico</a:t>
            </a:r>
          </a:p>
          <a:p>
            <a:pPr algn="l">
              <a:lnSpc>
                <a:spcPct val="115000"/>
              </a:lnSpc>
              <a:spcAft>
                <a:spcPts val="933"/>
              </a:spcAft>
            </a:pPr>
            <a:r>
              <a:rPr sz="1599" b="1">
                <a:solidFill>
                  <a:srgbClr val="1A1A1A"/>
                </a:solidFill>
                <a:latin typeface="Arial"/>
              </a:rPr>
              <a:t>Corpus: </a:t>
            </a:r>
            <a:r>
              <a:rPr sz="1599" b="0">
                <a:solidFill>
                  <a:srgbClr val="1A1A1A"/>
                </a:solidFill>
                <a:latin typeface="Arial"/>
              </a:rPr>
              <a:t>38 figuras e 2 peças cartográficas (Apêndice A), de três procedências: Museu Digital de Pipa, fotografias da pesquisa e divulgação turística.</a:t>
            </a:r>
          </a:p>
          <a:p>
            <a:pPr algn="l">
              <a:lnSpc>
                <a:spcPct val="115000"/>
              </a:lnSpc>
              <a:spcAft>
                <a:spcPts val="933"/>
              </a:spcAft>
            </a:pPr>
            <a:r>
              <a:rPr sz="1599" b="1">
                <a:solidFill>
                  <a:srgbClr val="1A1A1A"/>
                </a:solidFill>
                <a:latin typeface="Arial"/>
              </a:rPr>
              <a:t>Duas etapas: </a:t>
            </a:r>
            <a:r>
              <a:rPr sz="1599" b="0">
                <a:solidFill>
                  <a:srgbClr val="1A1A1A"/>
                </a:solidFill>
                <a:latin typeface="Arial"/>
              </a:rPr>
              <a:t>descrição do que está no enquadramento; depois, interpretação com as categorias da tese.</a:t>
            </a:r>
          </a:p>
          <a:p>
            <a:pPr algn="l">
              <a:lnSpc>
                <a:spcPct val="115000"/>
              </a:lnSpc>
            </a:pPr>
            <a:r>
              <a:rPr sz="1599" b="1">
                <a:solidFill>
                  <a:srgbClr val="1A1A1A"/>
                </a:solidFill>
                <a:latin typeface="Arial"/>
              </a:rPr>
              <a:t>Cuidados: </a:t>
            </a:r>
            <a:r>
              <a:rPr sz="1599" b="0">
                <a:solidFill>
                  <a:srgbClr val="1A1A1A"/>
                </a:solidFill>
                <a:latin typeface="Arial"/>
              </a:rPr>
              <a:t>nenhum rosto de criança; sem observação de aulas; testes de velocidade da conexão nas salas e no laboratório, a fazer.</a:t>
            </a:r>
          </a:p>
        </p:txBody>
      </p:sp>
      <p:sp>
        <p:nvSpPr>
          <p:cNvPr id="10" name="TextBox 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Marconi e Lakatos (2007); Santos (2012, p. 73): o passado técnico da forma.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3º, 4º E 5º MOVIMENTOS: ESCUTAR E ANALISAR</a:t>
            </a:r>
          </a:p>
        </p:txBody>
      </p:sp>
      <p:sp>
        <p:nvSpPr>
          <p:cNvPr id="6" name="Rounded Rectangle 5"/>
          <p:cNvSpPr/>
          <p:nvPr/>
        </p:nvSpPr>
        <p:spPr>
          <a:xfrm>
            <a:off x="548626"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3 · Questionário</a:t>
            </a:r>
          </a:p>
        </p:txBody>
      </p:sp>
      <p:sp>
        <p:nvSpPr>
          <p:cNvPr id="8" name="TextBox 7"/>
          <p:cNvSpPr txBox="1"/>
          <p:nvPr/>
        </p:nvSpPr>
        <p:spPr>
          <a:xfrm>
            <a:off x="701022"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Perfil e trajetória profissional</a:t>
            </a:r>
          </a:p>
          <a:p>
            <a:pPr algn="l">
              <a:lnSpc>
                <a:spcPct val="108000"/>
              </a:lnSpc>
              <a:spcAft>
                <a:spcPts val="599"/>
              </a:spcAft>
            </a:pPr>
            <a:r>
              <a:rPr sz="1466" b="0">
                <a:solidFill>
                  <a:srgbClr val="1A1A1A"/>
                </a:solidFill>
                <a:latin typeface="Arial"/>
              </a:rPr>
              <a:t>· Formação e relação com o digital</a:t>
            </a:r>
          </a:p>
          <a:p>
            <a:pPr algn="l">
              <a:lnSpc>
                <a:spcPct val="108000"/>
              </a:lnSpc>
              <a:spcAft>
                <a:spcPts val="599"/>
              </a:spcAft>
            </a:pPr>
            <a:r>
              <a:rPr sz="1466" b="0">
                <a:solidFill>
                  <a:srgbClr val="1A1A1A"/>
                </a:solidFill>
                <a:latin typeface="Arial"/>
              </a:rPr>
              <a:t>· Condições materiais e território</a:t>
            </a:r>
          </a:p>
          <a:p>
            <a:pPr algn="l">
              <a:lnSpc>
                <a:spcPct val="108000"/>
              </a:lnSpc>
              <a:spcAft>
                <a:spcPts val="599"/>
              </a:spcAft>
            </a:pPr>
            <a:r>
              <a:rPr sz="1466" b="0">
                <a:solidFill>
                  <a:srgbClr val="1A1A1A"/>
                </a:solidFill>
                <a:latin typeface="Arial"/>
              </a:rPr>
              <a:t>· A PNED e as exigências de registro</a:t>
            </a:r>
          </a:p>
          <a:p>
            <a:pPr algn="l">
              <a:lnSpc>
                <a:spcPct val="108000"/>
              </a:lnSpc>
            </a:pPr>
            <a:r>
              <a:rPr sz="1466" b="0">
                <a:solidFill>
                  <a:srgbClr val="1A1A1A"/>
                </a:solidFill>
                <a:latin typeface="Arial"/>
              </a:rPr>
              <a:t>· Concepções e direitos da criança</a:t>
            </a:r>
          </a:p>
        </p:txBody>
      </p:sp>
      <p:sp>
        <p:nvSpPr>
          <p:cNvPr id="9" name="Rounded Rectangle 8"/>
          <p:cNvSpPr/>
          <p:nvPr/>
        </p:nvSpPr>
        <p:spPr>
          <a:xfrm>
            <a:off x="4297572"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68"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4 · Entrevistas</a:t>
            </a:r>
          </a:p>
        </p:txBody>
      </p:sp>
      <p:sp>
        <p:nvSpPr>
          <p:cNvPr id="11" name="TextBox 10"/>
          <p:cNvSpPr txBox="1"/>
          <p:nvPr/>
        </p:nvSpPr>
        <p:spPr>
          <a:xfrm>
            <a:off x="4449968"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Trajetória e culturas profissionais</a:t>
            </a:r>
          </a:p>
          <a:p>
            <a:pPr algn="l">
              <a:lnSpc>
                <a:spcPct val="108000"/>
              </a:lnSpc>
              <a:spcAft>
                <a:spcPts val="599"/>
              </a:spcAft>
            </a:pPr>
            <a:r>
              <a:rPr sz="1466" b="0">
                <a:solidFill>
                  <a:srgbClr val="1A1A1A"/>
                </a:solidFill>
                <a:latin typeface="Arial"/>
              </a:rPr>
              <a:t>· Interpretação da política</a:t>
            </a:r>
          </a:p>
          <a:p>
            <a:pPr algn="l">
              <a:lnSpc>
                <a:spcPct val="108000"/>
              </a:lnSpc>
              <a:spcAft>
                <a:spcPts val="599"/>
              </a:spcAft>
            </a:pPr>
            <a:r>
              <a:rPr sz="1466" b="0">
                <a:solidFill>
                  <a:srgbClr val="1A1A1A"/>
                </a:solidFill>
                <a:latin typeface="Arial"/>
              </a:rPr>
              <a:t>· Tradução: dimensão material e território</a:t>
            </a:r>
          </a:p>
          <a:p>
            <a:pPr algn="l">
              <a:lnSpc>
                <a:spcPct val="108000"/>
              </a:lnSpc>
              <a:spcAft>
                <a:spcPts val="599"/>
              </a:spcAft>
            </a:pPr>
            <a:r>
              <a:rPr sz="1466" b="0">
                <a:solidFill>
                  <a:srgbClr val="1A1A1A"/>
                </a:solidFill>
                <a:latin typeface="Arial"/>
              </a:rPr>
              <a:t>· Performatividade: registros e cobranças</a:t>
            </a:r>
          </a:p>
          <a:p>
            <a:pPr algn="l">
              <a:lnSpc>
                <a:spcPct val="108000"/>
              </a:lnSpc>
              <a:spcAft>
                <a:spcPts val="599"/>
              </a:spcAft>
            </a:pPr>
            <a:r>
              <a:rPr sz="1466" b="0">
                <a:solidFill>
                  <a:srgbClr val="1A1A1A"/>
                </a:solidFill>
                <a:latin typeface="Arial"/>
              </a:rPr>
              <a:t>· Formas de atuação</a:t>
            </a:r>
          </a:p>
          <a:p>
            <a:pPr algn="l">
              <a:lnSpc>
                <a:spcPct val="108000"/>
              </a:lnSpc>
            </a:pPr>
            <a:r>
              <a:rPr sz="1466" b="0">
                <a:solidFill>
                  <a:srgbClr val="1A1A1A"/>
                </a:solidFill>
                <a:latin typeface="Arial"/>
              </a:rPr>
              <a:t>· Habitar o digital e direitos da criança</a:t>
            </a:r>
          </a:p>
        </p:txBody>
      </p:sp>
      <p:sp>
        <p:nvSpPr>
          <p:cNvPr id="12" name="Rounded Rectangle 11"/>
          <p:cNvSpPr/>
          <p:nvPr/>
        </p:nvSpPr>
        <p:spPr>
          <a:xfrm>
            <a:off x="8046518"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8915"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5 · Análise e devolutiva</a:t>
            </a:r>
          </a:p>
        </p:txBody>
      </p:sp>
      <p:sp>
        <p:nvSpPr>
          <p:cNvPr id="14" name="TextBox 13"/>
          <p:cNvSpPr txBox="1"/>
          <p:nvPr/>
        </p:nvSpPr>
        <p:spPr>
          <a:xfrm>
            <a:off x="8198915"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Familiarização com todo o material</a:t>
            </a:r>
          </a:p>
          <a:p>
            <a:pPr algn="l">
              <a:lnSpc>
                <a:spcPct val="108000"/>
              </a:lnSpc>
              <a:spcAft>
                <a:spcPts val="599"/>
              </a:spcAft>
            </a:pPr>
            <a:r>
              <a:rPr sz="1466" b="0">
                <a:solidFill>
                  <a:srgbClr val="1A1A1A"/>
                </a:solidFill>
                <a:latin typeface="Arial"/>
              </a:rPr>
              <a:t>· Codificação com oito dimensões sensibilizadoras</a:t>
            </a:r>
          </a:p>
          <a:p>
            <a:pPr algn="l">
              <a:lnSpc>
                <a:spcPct val="108000"/>
              </a:lnSpc>
              <a:spcAft>
                <a:spcPts val="599"/>
              </a:spcAft>
            </a:pPr>
            <a:r>
              <a:rPr sz="1466" b="0">
                <a:solidFill>
                  <a:srgbClr val="1A1A1A"/>
                </a:solidFill>
                <a:latin typeface="Arial"/>
              </a:rPr>
              <a:t>· Interpretação com triangulação, por participante e entre posições</a:t>
            </a:r>
          </a:p>
          <a:p>
            <a:pPr algn="l">
              <a:lnSpc>
                <a:spcPct val="108000"/>
              </a:lnSpc>
              <a:spcAft>
                <a:spcPts val="599"/>
              </a:spcAft>
            </a:pPr>
            <a:r>
              <a:rPr sz="1466" b="0">
                <a:solidFill>
                  <a:srgbClr val="1A1A1A"/>
                </a:solidFill>
                <a:latin typeface="Arial"/>
              </a:rPr>
              <a:t>· Diálogo com as cinco categorias do Cap. 5</a:t>
            </a:r>
          </a:p>
          <a:p>
            <a:pPr algn="l">
              <a:lnSpc>
                <a:spcPct val="108000"/>
              </a:lnSpc>
            </a:pPr>
            <a:r>
              <a:rPr sz="1466" b="0">
                <a:solidFill>
                  <a:srgbClr val="1A1A1A"/>
                </a:solidFill>
                <a:latin typeface="Arial"/>
              </a:rPr>
              <a:t>· Devolutiva à escola e à Secretaria</a:t>
            </a:r>
          </a:p>
        </p:txBody>
      </p:sp>
      <p:sp>
        <p:nvSpPr>
          <p:cNvPr id="15" name="Rounded Rectangle 14"/>
          <p:cNvSpPr/>
          <p:nvPr/>
        </p:nvSpPr>
        <p:spPr>
          <a:xfrm>
            <a:off x="548626" y="5852013"/>
            <a:ext cx="11094442" cy="51814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01" y="5852013"/>
            <a:ext cx="10728691" cy="518147"/>
          </a:xfrm>
          <a:prstGeom prst="rect">
            <a:avLst/>
          </a:prstGeom>
          <a:noFill/>
        </p:spPr>
        <p:txBody>
          <a:bodyPr wrap="square" lIns="73150" rIns="73150" tIns="73150" bIns="73150" anchor="ctr"/>
          <a:lstStyle/>
          <a:p>
            <a:pPr algn="ctr">
              <a:lnSpc>
                <a:spcPct val="100000"/>
              </a:lnSpc>
            </a:pPr>
            <a:r>
              <a:rPr sz="1266" b="0">
                <a:solidFill>
                  <a:srgbClr val="1A1A1A"/>
                </a:solidFill>
                <a:latin typeface="Arial"/>
              </a:rPr>
              <a:t>As perguntas abertas vêm antes das diretas, e as categorias não são ditas aos participantes.</a:t>
            </a:r>
          </a:p>
        </p:txBody>
      </p:sp>
      <p:sp>
        <p:nvSpPr>
          <p:cNvPr id="17" name="TextBox 16"/>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Braun e Clarke (2006; 2019); Hargreaves (2005); Ball (2004).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FORMAS DE ATUAÇÃO E COMO SERÃO LIDAS</a:t>
            </a:r>
          </a:p>
        </p:txBody>
      </p:sp>
      <p:sp>
        <p:nvSpPr>
          <p:cNvPr id="6" name="Rounded Rectangle 5"/>
          <p:cNvSpPr/>
          <p:nvPr/>
        </p:nvSpPr>
        <p:spPr>
          <a:xfrm>
            <a:off x="548626" y="146300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46300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Adesão</a:t>
            </a:r>
          </a:p>
        </p:txBody>
      </p:sp>
      <p:sp>
        <p:nvSpPr>
          <p:cNvPr id="8" name="Rounded Rectangle 7"/>
          <p:cNvSpPr/>
          <p:nvPr/>
        </p:nvSpPr>
        <p:spPr>
          <a:xfrm>
            <a:off x="3078403" y="146300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78403" y="146300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Acomodação</a:t>
            </a:r>
          </a:p>
        </p:txBody>
      </p:sp>
      <p:sp>
        <p:nvSpPr>
          <p:cNvPr id="10" name="Rounded Rectangle 9"/>
          <p:cNvSpPr/>
          <p:nvPr/>
        </p:nvSpPr>
        <p:spPr>
          <a:xfrm>
            <a:off x="548626" y="2529776"/>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26" y="2529776"/>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Adaptação</a:t>
            </a:r>
          </a:p>
        </p:txBody>
      </p:sp>
      <p:sp>
        <p:nvSpPr>
          <p:cNvPr id="12" name="Rounded Rectangle 11"/>
          <p:cNvSpPr/>
          <p:nvPr/>
        </p:nvSpPr>
        <p:spPr>
          <a:xfrm>
            <a:off x="3078403" y="2529776"/>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78403" y="2529776"/>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Omissão seletiva</a:t>
            </a:r>
          </a:p>
        </p:txBody>
      </p:sp>
      <p:sp>
        <p:nvSpPr>
          <p:cNvPr id="14" name="Rounded Rectangle 13"/>
          <p:cNvSpPr/>
          <p:nvPr/>
        </p:nvSpPr>
        <p:spPr>
          <a:xfrm>
            <a:off x="548626" y="3596550"/>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26" y="3596550"/>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Negociação</a:t>
            </a:r>
          </a:p>
        </p:txBody>
      </p:sp>
      <p:sp>
        <p:nvSpPr>
          <p:cNvPr id="16" name="Rounded Rectangle 15"/>
          <p:cNvSpPr/>
          <p:nvPr/>
        </p:nvSpPr>
        <p:spPr>
          <a:xfrm>
            <a:off x="3078403" y="3596550"/>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78403" y="3596550"/>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Ressignificação</a:t>
            </a:r>
          </a:p>
        </p:txBody>
      </p:sp>
      <p:sp>
        <p:nvSpPr>
          <p:cNvPr id="18" name="Rounded Rectangle 17"/>
          <p:cNvSpPr/>
          <p:nvPr/>
        </p:nvSpPr>
        <p:spPr>
          <a:xfrm>
            <a:off x="548626" y="466332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26" y="466332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Resistência</a:t>
            </a:r>
          </a:p>
        </p:txBody>
      </p:sp>
      <p:sp>
        <p:nvSpPr>
          <p:cNvPr id="20" name="TextBox 19"/>
          <p:cNvSpPr txBox="1"/>
          <p:nvPr/>
        </p:nvSpPr>
        <p:spPr>
          <a:xfrm>
            <a:off x="548626" y="5730096"/>
            <a:ext cx="4876678" cy="609584"/>
          </a:xfrm>
          <a:prstGeom prst="rect">
            <a:avLst/>
          </a:prstGeom>
          <a:noFill/>
        </p:spPr>
        <p:txBody>
          <a:bodyPr wrap="square" lIns="73150" rIns="73150" tIns="73150" bIns="73150" anchor="t"/>
          <a:lstStyle/>
          <a:p>
            <a:pPr algn="l">
              <a:lnSpc>
                <a:spcPct val="115000"/>
              </a:lnSpc>
            </a:pPr>
            <a:r>
              <a:rPr sz="1266" b="0">
                <a:solidFill>
                  <a:srgbClr val="FFFFFF"/>
                </a:solidFill>
                <a:latin typeface="Arial"/>
              </a:rPr>
              <a:t>Nenhuma forma é pressuposta; outras podem surgir do material.</a:t>
            </a:r>
          </a:p>
        </p:txBody>
      </p:sp>
      <p:sp>
        <p:nvSpPr>
          <p:cNvPr id="21" name="Rounded Rectangle 20"/>
          <p:cNvSpPr/>
          <p:nvPr/>
        </p:nvSpPr>
        <p:spPr>
          <a:xfrm>
            <a:off x="5852013" y="1463003"/>
            <a:ext cx="5791055" cy="4815719"/>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584920"/>
            <a:ext cx="5303387" cy="4571885"/>
          </a:xfrm>
          <a:prstGeom prst="rect">
            <a:avLst/>
          </a:prstGeom>
          <a:noFill/>
        </p:spPr>
        <p:txBody>
          <a:bodyPr wrap="square" lIns="73150" rIns="73150" tIns="73150" bIns="73150" anchor="t"/>
          <a:lstStyle/>
          <a:p>
            <a:pPr algn="l">
              <a:lnSpc>
                <a:spcPct val="115000"/>
              </a:lnSpc>
              <a:spcAft>
                <a:spcPts val="1066"/>
              </a:spcAft>
            </a:pPr>
            <a:r>
              <a:rPr sz="1733" b="1">
                <a:solidFill>
                  <a:srgbClr val="1A1A1A"/>
                </a:solidFill>
                <a:latin typeface="Arial"/>
              </a:rPr>
              <a:t>Recorrência. </a:t>
            </a:r>
            <a:r>
              <a:rPr sz="1733" b="0">
                <a:solidFill>
                  <a:srgbClr val="1A1A1A"/>
                </a:solidFill>
                <a:latin typeface="Arial"/>
              </a:rPr>
              <a:t>Uma forma só vira achado quando aparece de modo recorrente e sem indução pela pergunta.</a:t>
            </a:r>
          </a:p>
          <a:p>
            <a:pPr algn="l">
              <a:lnSpc>
                <a:spcPct val="115000"/>
              </a:lnSpc>
              <a:spcAft>
                <a:spcPts val="1066"/>
              </a:spcAft>
            </a:pPr>
            <a:r>
              <a:rPr sz="1733" b="1">
                <a:solidFill>
                  <a:srgbClr val="1A1A1A"/>
                </a:solidFill>
                <a:latin typeface="Arial"/>
              </a:rPr>
              <a:t>Posição. </a:t>
            </a:r>
            <a:r>
              <a:rPr sz="1733" b="0">
                <a:solidFill>
                  <a:srgbClr val="1A1A1A"/>
                </a:solidFill>
                <a:latin typeface="Arial"/>
              </a:rPr>
              <a:t>As formas podem variar entre docência, coordenação, direção, apoio e Secretaria.</a:t>
            </a:r>
          </a:p>
          <a:p>
            <a:pPr algn="l">
              <a:lnSpc>
                <a:spcPct val="115000"/>
              </a:lnSpc>
              <a:spcAft>
                <a:spcPts val="1066"/>
              </a:spcAft>
            </a:pPr>
            <a:r>
              <a:rPr sz="1733" b="1">
                <a:solidFill>
                  <a:srgbClr val="1A1A1A"/>
                </a:solidFill>
                <a:latin typeface="Arial"/>
              </a:rPr>
              <a:t>Nome justo. </a:t>
            </a:r>
            <a:r>
              <a:rPr sz="1733" b="0">
                <a:solidFill>
                  <a:srgbClr val="1A1A1A"/>
                </a:solidFill>
                <a:latin typeface="Arial"/>
              </a:rPr>
              <a:t>Quando não há alternativa, o que se vê é custo transferido ao trabalhador, e assim será nomeado.</a:t>
            </a:r>
          </a:p>
          <a:p>
            <a:pPr algn="l">
              <a:lnSpc>
                <a:spcPct val="115000"/>
              </a:lnSpc>
            </a:pPr>
            <a:r>
              <a:rPr sz="1733" b="1">
                <a:solidFill>
                  <a:srgbClr val="1A1A1A"/>
                </a:solidFill>
                <a:latin typeface="Arial"/>
              </a:rPr>
              <a:t>Sem antecipar. </a:t>
            </a:r>
            <a:r>
              <a:rPr sz="1733" b="0">
                <a:solidFill>
                  <a:srgbClr val="1A1A1A"/>
                </a:solidFill>
                <a:latin typeface="Arial"/>
              </a:rPr>
              <a:t>As categorias não são ditas aos participantes; os critérios são datados antes da 1ª entrevista.</a:t>
            </a:r>
          </a:p>
        </p:txBody>
      </p:sp>
      <p:sp>
        <p:nvSpPr>
          <p:cNvPr id="23" name="TextBox 2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Ball (2002; 2004); Hargreaves (2005); Ball, Maguire e Braun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A AGENDA INTERNACIONAL</a:t>
            </a:r>
          </a:p>
        </p:txBody>
      </p:sp>
      <p:sp>
        <p:nvSpPr>
          <p:cNvPr id="6" name="Rounded Rectangle 5"/>
          <p:cNvSpPr/>
          <p:nvPr/>
        </p:nvSpPr>
        <p:spPr>
          <a:xfrm>
            <a:off x="548626"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UNESCO (2023)</a:t>
            </a:r>
          </a:p>
          <a:p>
            <a:pPr algn="l">
              <a:lnSpc>
                <a:spcPct val="115000"/>
              </a:lnSpc>
              <a:spcAft>
                <a:spcPts val="799"/>
              </a:spcAft>
            </a:pPr>
            <a:r>
              <a:rPr sz="1533" b="1">
                <a:solidFill>
                  <a:srgbClr val="1A1A1A"/>
                </a:solidFill>
                <a:latin typeface="Arial"/>
              </a:rPr>
              <a:t>Relatório de Monitoramento Global da Educação</a:t>
            </a:r>
          </a:p>
          <a:p>
            <a:pPr algn="l">
              <a:lnSpc>
                <a:spcPct val="115000"/>
              </a:lnSpc>
            </a:pPr>
            <a:r>
              <a:rPr sz="1533" b="0">
                <a:solidFill>
                  <a:srgbClr val="1A1A1A"/>
                </a:solidFill>
                <a:latin typeface="Arial"/>
              </a:rPr>
              <a:t>“Uma em cada quatro escolas primárias do mundo não dispõe de eletricidade” (p. 126, tradução nossa). A tecnologia deve complementar a interação com os professores.</a:t>
            </a:r>
          </a:p>
        </p:txBody>
      </p:sp>
      <p:sp>
        <p:nvSpPr>
          <p:cNvPr id="8" name="Rounded Rectangle 7"/>
          <p:cNvSpPr/>
          <p:nvPr/>
        </p:nvSpPr>
        <p:spPr>
          <a:xfrm>
            <a:off x="4297572"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OCDE (2015)</a:t>
            </a:r>
          </a:p>
          <a:p>
            <a:pPr algn="l">
              <a:lnSpc>
                <a:spcPct val="115000"/>
              </a:lnSpc>
              <a:spcAft>
                <a:spcPts val="799"/>
              </a:spcAft>
            </a:pPr>
            <a:r>
              <a:rPr sz="1533" b="1">
                <a:solidFill>
                  <a:srgbClr val="1A1A1A"/>
                </a:solidFill>
                <a:latin typeface="Arial"/>
              </a:rPr>
              <a:t>Students, Computers and Learning</a:t>
            </a:r>
          </a:p>
          <a:p>
            <a:pPr algn="l">
              <a:lnSpc>
                <a:spcPct val="115000"/>
              </a:lnSpc>
            </a:pPr>
            <a:r>
              <a:rPr sz="1533" b="0">
                <a:solidFill>
                  <a:srgbClr val="1A1A1A"/>
                </a:solidFill>
                <a:latin typeface="Arial"/>
              </a:rPr>
              <a:t>Mesmo onde os computadores são usados em sala, seu impacto sobre o desempenho é, “na melhor das hipóteses, misto” (p. 3, tradução nossa).</a:t>
            </a:r>
          </a:p>
        </p:txBody>
      </p:sp>
      <p:sp>
        <p:nvSpPr>
          <p:cNvPr id="10" name="Rounded Rectangle 9"/>
          <p:cNvSpPr/>
          <p:nvPr/>
        </p:nvSpPr>
        <p:spPr>
          <a:xfrm>
            <a:off x="8046518"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Banco Mundial (2020)</a:t>
            </a:r>
          </a:p>
          <a:p>
            <a:pPr algn="l">
              <a:lnSpc>
                <a:spcPct val="115000"/>
              </a:lnSpc>
              <a:spcAft>
                <a:spcPts val="799"/>
              </a:spcAft>
            </a:pPr>
            <a:r>
              <a:rPr sz="1533" b="1">
                <a:solidFill>
                  <a:srgbClr val="1A1A1A"/>
                </a:solidFill>
                <a:latin typeface="Arial"/>
              </a:rPr>
              <a:t>Reimagining Human Connections</a:t>
            </a:r>
          </a:p>
          <a:p>
            <a:pPr algn="l">
              <a:lnSpc>
                <a:spcPct val="115000"/>
              </a:lnSpc>
            </a:pPr>
            <a:r>
              <a:rPr sz="1533" b="0">
                <a:solidFill>
                  <a:srgbClr val="1A1A1A"/>
                </a:solidFill>
                <a:latin typeface="Arial"/>
              </a:rPr>
              <a:t>“Se a tecnologia é a resposta, qual é a pergunta?” Primeiro se define o problema educacional; depois se escolhe a tecnologia.</a:t>
            </a:r>
          </a:p>
        </p:txBody>
      </p:sp>
      <p:sp>
        <p:nvSpPr>
          <p:cNvPr id="12" name="Rounded Rectangle 11"/>
          <p:cNvSpPr/>
          <p:nvPr/>
        </p:nvSpPr>
        <p:spPr>
          <a:xfrm>
            <a:off x="548626" y="5272908"/>
            <a:ext cx="11094442" cy="97533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460" y="5272908"/>
            <a:ext cx="10606774" cy="975335"/>
          </a:xfrm>
          <a:prstGeom prst="rect">
            <a:avLst/>
          </a:prstGeom>
          <a:noFill/>
        </p:spPr>
        <p:txBody>
          <a:bodyPr wrap="square" lIns="73150" rIns="73150" tIns="73150" bIns="73150" anchor="ctr"/>
          <a:lstStyle/>
          <a:p>
            <a:pPr algn="l">
              <a:lnSpc>
                <a:spcPct val="115000"/>
              </a:lnSpc>
            </a:pPr>
            <a:r>
              <a:rPr sz="1466" b="1">
                <a:solidFill>
                  <a:srgbClr val="1A1A1A"/>
                </a:solidFill>
                <a:latin typeface="Arial"/>
              </a:rPr>
              <a:t>Ponto em comum: </a:t>
            </a:r>
            <a:r>
              <a:rPr sz="1466" b="0">
                <a:solidFill>
                  <a:srgbClr val="1A1A1A"/>
                </a:solidFill>
                <a:latin typeface="Arial"/>
              </a:rPr>
              <a:t>os três documentos tiram o foco da simples presença dos recursos e o colocam nas condições, nos usos e nas finalidades. Sem condições materiais, o uso não acontece.</a:t>
            </a:r>
          </a:p>
        </p:txBody>
      </p:sp>
      <p:sp>
        <p:nvSpPr>
          <p:cNvPr id="14" name="TextBox 13"/>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Mainardes (2006): contexto de influência; Ball (2004): performatividade.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 QUE OUTROS TERRITÓRIOS NOS ENSINAM</a:t>
            </a:r>
          </a:p>
        </p:txBody>
      </p:sp>
      <p:sp>
        <p:nvSpPr>
          <p:cNvPr id="6" name="Rounded Rectangle 5"/>
          <p:cNvSpPr/>
          <p:nvPr/>
        </p:nvSpPr>
        <p:spPr>
          <a:xfrm>
            <a:off x="475476" y="1328894"/>
            <a:ext cx="6973649" cy="42609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a das políticas de educação digital nas Américas e na Europa"/>
          <p:cNvPicPr>
            <a:picLocks noChangeAspect="1"/>
          </p:cNvPicPr>
          <p:nvPr/>
        </p:nvPicPr>
        <p:blipFill>
          <a:blip r:embed="rId3"/>
          <a:stretch>
            <a:fillRect/>
          </a:stretch>
        </p:blipFill>
        <p:spPr>
          <a:xfrm>
            <a:off x="548626" y="1402044"/>
            <a:ext cx="6827349" cy="4011067"/>
          </a:xfrm>
          <a:prstGeom prst="rect">
            <a:avLst/>
          </a:prstGeom>
        </p:spPr>
      </p:pic>
      <p:sp>
        <p:nvSpPr>
          <p:cNvPr id="8" name="TextBox 7"/>
          <p:cNvSpPr txBox="1"/>
          <p:nvPr/>
        </p:nvSpPr>
        <p:spPr>
          <a:xfrm>
            <a:off x="548626" y="5638659"/>
            <a:ext cx="6827349" cy="365750"/>
          </a:xfrm>
          <a:prstGeom prst="rect">
            <a:avLst/>
          </a:prstGeom>
          <a:noFill/>
        </p:spPr>
        <p:txBody>
          <a:bodyPr wrap="square" lIns="73150" rIns="73150" tIns="73150" bIns="73150" anchor="t"/>
          <a:lstStyle/>
          <a:p>
            <a:pPr algn="l">
              <a:lnSpc>
                <a:spcPct val="115000"/>
              </a:lnSpc>
            </a:pPr>
            <a:r>
              <a:rPr sz="999" b="0">
                <a:solidFill>
                  <a:srgbClr val="FFFFFF"/>
                </a:solidFill>
                <a:latin typeface="Arial"/>
              </a:rPr>
              <a:t>Fonte: elaborado a partir dos quadros do Capítulo 5; base cartográfica Natural Earth.</a:t>
            </a:r>
          </a:p>
        </p:txBody>
      </p:sp>
      <p:sp>
        <p:nvSpPr>
          <p:cNvPr id="9" name="Rounded Rectangle 8"/>
          <p:cNvSpPr/>
          <p:nvPr/>
        </p:nvSpPr>
        <p:spPr>
          <a:xfrm>
            <a:off x="7680767" y="1328894"/>
            <a:ext cx="3962300" cy="4876678"/>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643" y="1402044"/>
            <a:ext cx="3657508" cy="365750"/>
          </a:xfrm>
          <a:prstGeom prst="rect">
            <a:avLst/>
          </a:prstGeom>
          <a:noFill/>
        </p:spPr>
        <p:txBody>
          <a:bodyPr wrap="square" lIns="73150" rIns="73150" tIns="73150" bIns="73150" anchor="t"/>
          <a:lstStyle/>
          <a:p>
            <a:pPr algn="l">
              <a:lnSpc>
                <a:spcPct val="100000"/>
              </a:lnSpc>
            </a:pPr>
            <a:r>
              <a:rPr sz="1133" b="1">
                <a:solidFill>
                  <a:srgbClr val="1A1A1A"/>
                </a:solidFill>
                <a:latin typeface="Arial"/>
              </a:rPr>
              <a:t>A cor indica a categoria principal</a:t>
            </a:r>
          </a:p>
        </p:txBody>
      </p:sp>
      <p:sp>
        <p:nvSpPr>
          <p:cNvPr id="11" name="Rounded Rectangle 10"/>
          <p:cNvSpPr/>
          <p:nvPr/>
        </p:nvSpPr>
        <p:spPr>
          <a:xfrm>
            <a:off x="7894122" y="1901904"/>
            <a:ext cx="195067" cy="195067"/>
          </a:xfrm>
          <a:prstGeom prst="roundRect">
            <a:avLst>
              <a:gd name="adj" fmla="val 50000"/>
            </a:avLst>
          </a:prstGeom>
          <a:solidFill>
            <a:srgbClr val="2A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68435" y="1859233"/>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Governança</a:t>
            </a:r>
          </a:p>
        </p:txBody>
      </p:sp>
      <p:sp>
        <p:nvSpPr>
          <p:cNvPr id="13" name="Rounded Rectangle 12"/>
          <p:cNvSpPr/>
          <p:nvPr/>
        </p:nvSpPr>
        <p:spPr>
          <a:xfrm>
            <a:off x="7894122" y="2206696"/>
            <a:ext cx="195067" cy="195067"/>
          </a:xfrm>
          <a:prstGeom prst="roundRect">
            <a:avLst>
              <a:gd name="adj" fmla="val 50000"/>
            </a:avLst>
          </a:prstGeom>
          <a:solidFill>
            <a:srgbClr val="C98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8435" y="2164025"/>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Formação</a:t>
            </a:r>
          </a:p>
        </p:txBody>
      </p:sp>
      <p:sp>
        <p:nvSpPr>
          <p:cNvPr id="15" name="Rounded Rectangle 14"/>
          <p:cNvSpPr/>
          <p:nvPr/>
        </p:nvSpPr>
        <p:spPr>
          <a:xfrm>
            <a:off x="7894122" y="2511489"/>
            <a:ext cx="195067" cy="195067"/>
          </a:xfrm>
          <a:prstGeom prst="roundRect">
            <a:avLst>
              <a:gd name="adj" fmla="val 50000"/>
            </a:avLst>
          </a:prstGeom>
          <a:solidFill>
            <a:srgbClr val="4F7C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68435" y="2468818"/>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Infraestrutura</a:t>
            </a:r>
          </a:p>
        </p:txBody>
      </p:sp>
      <p:sp>
        <p:nvSpPr>
          <p:cNvPr id="17" name="Rounded Rectangle 16"/>
          <p:cNvSpPr/>
          <p:nvPr/>
        </p:nvSpPr>
        <p:spPr>
          <a:xfrm>
            <a:off x="7894122" y="2816281"/>
            <a:ext cx="195067" cy="195067"/>
          </a:xfrm>
          <a:prstGeom prst="roundRect">
            <a:avLst>
              <a:gd name="adj" fmla="val 50000"/>
            </a:avLst>
          </a:prstGeom>
          <a:solidFill>
            <a:srgbClr val="8A5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68435" y="2773610"/>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Continuidade institucional</a:t>
            </a:r>
          </a:p>
        </p:txBody>
      </p:sp>
      <p:sp>
        <p:nvSpPr>
          <p:cNvPr id="19" name="Rounded Rectangle 18"/>
          <p:cNvSpPr/>
          <p:nvPr/>
        </p:nvSpPr>
        <p:spPr>
          <a:xfrm>
            <a:off x="7894122" y="3121073"/>
            <a:ext cx="195067" cy="195067"/>
          </a:xfrm>
          <a:prstGeom prst="roundRect">
            <a:avLst>
              <a:gd name="adj" fmla="val 50000"/>
            </a:avLst>
          </a:prstGeom>
          <a:solidFill>
            <a:srgbClr val="D96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68435" y="3078403"/>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Cultura digital</a:t>
            </a:r>
          </a:p>
        </p:txBody>
      </p:sp>
      <p:sp>
        <p:nvSpPr>
          <p:cNvPr id="21" name="TextBox 20"/>
          <p:cNvSpPr txBox="1"/>
          <p:nvPr/>
        </p:nvSpPr>
        <p:spPr>
          <a:xfrm>
            <a:off x="7863643" y="3444153"/>
            <a:ext cx="3657508" cy="2743131"/>
          </a:xfrm>
          <a:prstGeom prst="rect">
            <a:avLst/>
          </a:prstGeom>
          <a:noFill/>
        </p:spPr>
        <p:txBody>
          <a:bodyPr wrap="square" lIns="73150" rIns="73150" tIns="73150" bIns="73150" anchor="t"/>
          <a:lstStyle/>
          <a:p>
            <a:pPr algn="l">
              <a:lnSpc>
                <a:spcPct val="105000"/>
              </a:lnSpc>
              <a:spcAft>
                <a:spcPts val="666"/>
              </a:spcAft>
            </a:pPr>
            <a:r>
              <a:rPr sz="1066" b="1">
                <a:solidFill>
                  <a:srgbClr val="6C4FD8"/>
                </a:solidFill>
                <a:latin typeface="Arial"/>
              </a:rPr>
              <a:t>Américas: </a:t>
            </a:r>
            <a:r>
              <a:rPr sz="1066" b="0">
                <a:solidFill>
                  <a:srgbClr val="1A1A1A"/>
                </a:solidFill>
                <a:latin typeface="Arial"/>
              </a:rPr>
              <a:t>1 EUA · Ed. Technology Plan · 2 Canadá · Digital Literacy (BC) · 3 México · @prende 2.0 · 4 Costa Rica · PRONIE · 5 Colômbia · Computadores para Educar · 6 Peru · Una Laptop por Niño · 7 Chile · Red Enlaces · 8 Argentina · Conectar Igualdad · 9 Uruguai · Plan Ceibal · Brasil · PNED (2023)</a:t>
            </a:r>
          </a:p>
          <a:p>
            <a:pPr algn="l">
              <a:lnSpc>
                <a:spcPct val="105000"/>
              </a:lnSpc>
            </a:pPr>
            <a:r>
              <a:rPr sz="1066" b="1">
                <a:solidFill>
                  <a:srgbClr val="6C4FD8"/>
                </a:solidFill>
                <a:latin typeface="Arial"/>
              </a:rPr>
              <a:t>Europa: </a:t>
            </a:r>
            <a:r>
              <a:rPr sz="1066" b="0">
                <a:solidFill>
                  <a:srgbClr val="1A1A1A"/>
                </a:solidFill>
                <a:latin typeface="Arial"/>
              </a:rPr>
              <a:t>10 União Europeia · DigComp · 11 Portugal · PTE e INCoDe · 12 Espanha · Comp. Digital Docente · 13 Irlanda · Digital Strategy · 14 Reino Unido · 15 França · Stratégie du numérique · 16 Países Baixos · 17 Alemanha · DigitalPakt · 18 Itália · PNSD · 19 Finlândia · Currículo (2014)</a:t>
            </a:r>
          </a:p>
        </p:txBody>
      </p:sp>
      <p:sp>
        <p:nvSpPr>
          <p:cNvPr id="22" name="TextBox 21"/>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Mainardes (2006): contexto de influência.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O QUE ESSAS EXPERIÊNCIAS TRAZEM PARA A TESE</a:t>
            </a:r>
          </a:p>
        </p:txBody>
      </p:sp>
      <p:sp>
        <p:nvSpPr>
          <p:cNvPr id="6" name="Rounded Rectangle 5"/>
          <p:cNvSpPr/>
          <p:nvPr/>
        </p:nvSpPr>
        <p:spPr>
          <a:xfrm>
            <a:off x="548626"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70543" y="1523961"/>
            <a:ext cx="1828754" cy="487667"/>
          </a:xfrm>
          <a:prstGeom prst="roundRect">
            <a:avLst>
              <a:gd name="adj" fmla="val 30000"/>
            </a:avLst>
          </a:prstGeom>
          <a:solidFill>
            <a:srgbClr val="2A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43"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Governança</a:t>
            </a:r>
          </a:p>
        </p:txBody>
      </p:sp>
      <p:sp>
        <p:nvSpPr>
          <p:cNvPr id="9" name="TextBox 8"/>
          <p:cNvSpPr txBox="1"/>
          <p:nvPr/>
        </p:nvSpPr>
        <p:spPr>
          <a:xfrm>
            <a:off x="670543"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Coordenar escalas faz parte da política (Alemanha, Finlândia, UE).</a:t>
            </a:r>
          </a:p>
        </p:txBody>
      </p:sp>
      <p:sp>
        <p:nvSpPr>
          <p:cNvPr id="10" name="TextBox 9"/>
          <p:cNvSpPr txBox="1"/>
          <p:nvPr/>
        </p:nvSpPr>
        <p:spPr>
          <a:xfrm>
            <a:off x="670543"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O que chega da União e do estado à rede, e o que a Secretaria repassa à escola?</a:t>
            </a:r>
          </a:p>
        </p:txBody>
      </p:sp>
      <p:sp>
        <p:nvSpPr>
          <p:cNvPr id="11" name="Rounded Rectangle 10"/>
          <p:cNvSpPr/>
          <p:nvPr/>
        </p:nvSpPr>
        <p:spPr>
          <a:xfrm>
            <a:off x="2804089"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26006" y="1523961"/>
            <a:ext cx="1828754" cy="487667"/>
          </a:xfrm>
          <a:prstGeom prst="roundRect">
            <a:avLst>
              <a:gd name="adj" fmla="val 30000"/>
            </a:avLst>
          </a:prstGeom>
          <a:solidFill>
            <a:srgbClr val="C98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06"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Formação</a:t>
            </a:r>
          </a:p>
        </p:txBody>
      </p:sp>
      <p:sp>
        <p:nvSpPr>
          <p:cNvPr id="14" name="TextBox 13"/>
          <p:cNvSpPr txBox="1"/>
          <p:nvPr/>
        </p:nvSpPr>
        <p:spPr>
          <a:xfrm>
            <a:off x="2926006"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A mediação dos profissionais é condição do uso; tempo e apoio contam.</a:t>
            </a:r>
          </a:p>
        </p:txBody>
      </p:sp>
      <p:sp>
        <p:nvSpPr>
          <p:cNvPr id="15" name="TextBox 14"/>
          <p:cNvSpPr txBox="1"/>
          <p:nvPr/>
        </p:nvSpPr>
        <p:spPr>
          <a:xfrm>
            <a:off x="2926006"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Que formação chegou à escola, e quando?</a:t>
            </a:r>
          </a:p>
        </p:txBody>
      </p:sp>
      <p:sp>
        <p:nvSpPr>
          <p:cNvPr id="16" name="Rounded Rectangle 15"/>
          <p:cNvSpPr/>
          <p:nvPr/>
        </p:nvSpPr>
        <p:spPr>
          <a:xfrm>
            <a:off x="5059553"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81470" y="1523961"/>
            <a:ext cx="1828754" cy="487667"/>
          </a:xfrm>
          <a:prstGeom prst="roundRect">
            <a:avLst>
              <a:gd name="adj" fmla="val 30000"/>
            </a:avLst>
          </a:prstGeom>
          <a:solidFill>
            <a:srgbClr val="4F7C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70"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Infraestrutura</a:t>
            </a:r>
          </a:p>
        </p:txBody>
      </p:sp>
      <p:sp>
        <p:nvSpPr>
          <p:cNvPr id="19" name="TextBox 18"/>
          <p:cNvSpPr txBox="1"/>
          <p:nvPr/>
        </p:nvSpPr>
        <p:spPr>
          <a:xfrm>
            <a:off x="5181470"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Equalizar equipamentos não equalizou usos (Itália, Peru).</a:t>
            </a:r>
          </a:p>
        </p:txBody>
      </p:sp>
      <p:sp>
        <p:nvSpPr>
          <p:cNvPr id="20" name="TextBox 19"/>
          <p:cNvSpPr txBox="1"/>
          <p:nvPr/>
        </p:nvSpPr>
        <p:spPr>
          <a:xfrm>
            <a:off x="5181470"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Com que equipamentos se trabalha?</a:t>
            </a:r>
          </a:p>
        </p:txBody>
      </p:sp>
      <p:sp>
        <p:nvSpPr>
          <p:cNvPr id="21" name="Rounded Rectangle 20"/>
          <p:cNvSpPr/>
          <p:nvPr/>
        </p:nvSpPr>
        <p:spPr>
          <a:xfrm>
            <a:off x="7315017"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36934" y="1523961"/>
            <a:ext cx="1828754" cy="487667"/>
          </a:xfrm>
          <a:prstGeom prst="roundRect">
            <a:avLst>
              <a:gd name="adj" fmla="val 30000"/>
            </a:avLst>
          </a:prstGeom>
          <a:solidFill>
            <a:srgbClr val="8A5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36934"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Continuidade</a:t>
            </a:r>
          </a:p>
        </p:txBody>
      </p:sp>
      <p:sp>
        <p:nvSpPr>
          <p:cNvPr id="24" name="TextBox 23"/>
          <p:cNvSpPr txBox="1"/>
          <p:nvPr/>
        </p:nvSpPr>
        <p:spPr>
          <a:xfrm>
            <a:off x="7436934"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O Ceibal atravessou governos; a Argentina teve três reversões em quinze anos.</a:t>
            </a:r>
          </a:p>
        </p:txBody>
      </p:sp>
      <p:sp>
        <p:nvSpPr>
          <p:cNvPr id="25" name="TextBox 24"/>
          <p:cNvSpPr txBox="1"/>
          <p:nvPr/>
        </p:nvSpPr>
        <p:spPr>
          <a:xfrm>
            <a:off x="7436934"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Que continuidade a rede municipal teve?</a:t>
            </a:r>
          </a:p>
        </p:txBody>
      </p:sp>
      <p:sp>
        <p:nvSpPr>
          <p:cNvPr id="26" name="Rounded Rectangle 25"/>
          <p:cNvSpPr/>
          <p:nvPr/>
        </p:nvSpPr>
        <p:spPr>
          <a:xfrm>
            <a:off x="9570480"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692397" y="1523961"/>
            <a:ext cx="1828754" cy="487667"/>
          </a:xfrm>
          <a:prstGeom prst="roundRect">
            <a:avLst>
              <a:gd name="adj" fmla="val 30000"/>
            </a:avLst>
          </a:prstGeom>
          <a:solidFill>
            <a:srgbClr val="D96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397"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Cultura digital</a:t>
            </a:r>
          </a:p>
        </p:txBody>
      </p:sp>
      <p:sp>
        <p:nvSpPr>
          <p:cNvPr id="29" name="TextBox 28"/>
          <p:cNvSpPr txBox="1"/>
          <p:nvPr/>
        </p:nvSpPr>
        <p:spPr>
          <a:xfrm>
            <a:off x="9692397"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Educação digital ligada à cidadania e à proteção das crianças (França, BIK+).</a:t>
            </a:r>
          </a:p>
        </p:txBody>
      </p:sp>
      <p:sp>
        <p:nvSpPr>
          <p:cNvPr id="30" name="TextBox 29"/>
          <p:cNvSpPr txBox="1"/>
          <p:nvPr/>
        </p:nvSpPr>
        <p:spPr>
          <a:xfrm>
            <a:off x="9692397"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O que se faz com crianças de seis a dez anos?</a:t>
            </a:r>
          </a:p>
        </p:txBody>
      </p:sp>
      <p:sp>
        <p:nvSpPr>
          <p:cNvPr id="31" name="Rounded Rectangle 30"/>
          <p:cNvSpPr/>
          <p:nvPr/>
        </p:nvSpPr>
        <p:spPr>
          <a:xfrm>
            <a:off x="548626" y="5760575"/>
            <a:ext cx="11094442" cy="609584"/>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01" y="5760575"/>
            <a:ext cx="10728691" cy="609584"/>
          </a:xfrm>
          <a:prstGeom prst="rect">
            <a:avLst/>
          </a:prstGeom>
          <a:noFill/>
        </p:spPr>
        <p:txBody>
          <a:bodyPr wrap="square" lIns="73150" rIns="73150" tIns="73150" bIns="73150" anchor="ctr"/>
          <a:lstStyle/>
          <a:p>
            <a:pPr algn="l">
              <a:lnSpc>
                <a:spcPct val="100000"/>
              </a:lnSpc>
            </a:pPr>
            <a:r>
              <a:rPr sz="1333" b="0">
                <a:solidFill>
                  <a:srgbClr val="1A1A1A"/>
                </a:solidFill>
                <a:latin typeface="Arial"/>
              </a:rPr>
              <a:t>Nenhuma experiência descreve Pipa. Fica a pergunta que nenhum caso responde: o que acontece quando parte das condições não chega?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 TEXTO DA POLÍTICA: O VAZIO MATERIAL</a:t>
            </a:r>
          </a:p>
        </p:txBody>
      </p:sp>
      <p:sp>
        <p:nvSpPr>
          <p:cNvPr id="6" name="Rounded Rectangle 5"/>
          <p:cNvSpPr/>
          <p:nvPr/>
        </p:nvSpPr>
        <p:spPr>
          <a:xfrm>
            <a:off x="548626" y="1402044"/>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1º, § 3º</a:t>
            </a:r>
          </a:p>
          <a:p>
            <a:pPr algn="l">
              <a:lnSpc>
                <a:spcPct val="115000"/>
              </a:lnSpc>
            </a:pPr>
            <a:r>
              <a:rPr sz="1599" b="0">
                <a:solidFill>
                  <a:srgbClr val="1A1A1A"/>
                </a:solidFill>
                <a:latin typeface="Arial"/>
              </a:rPr>
              <a:t>A PNED se define como “instância de articulação” das políticas de infraestrutura e conectividade já existentes.</a:t>
            </a:r>
          </a:p>
        </p:txBody>
      </p:sp>
      <p:sp>
        <p:nvSpPr>
          <p:cNvPr id="8" name="Rounded Rectangle 7"/>
          <p:cNvSpPr/>
          <p:nvPr/>
        </p:nvSpPr>
        <p:spPr>
          <a:xfrm>
            <a:off x="6156806" y="1402044"/>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9681" y="1493482"/>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2º</a:t>
            </a:r>
          </a:p>
          <a:p>
            <a:pPr algn="l">
              <a:lnSpc>
                <a:spcPct val="115000"/>
              </a:lnSpc>
            </a:pPr>
            <a:r>
              <a:rPr sz="1599" b="0">
                <a:solidFill>
                  <a:srgbClr val="1A1A1A"/>
                </a:solidFill>
                <a:latin typeface="Arial"/>
              </a:rPr>
              <a:t>A inclusão digital, onde está a conectividade das escolas, segue “dentro dos limites orçamentários” de cada ente.</a:t>
            </a:r>
          </a:p>
        </p:txBody>
      </p:sp>
      <p:sp>
        <p:nvSpPr>
          <p:cNvPr id="10" name="Rounded Rectangle 9"/>
          <p:cNvSpPr/>
          <p:nvPr/>
        </p:nvSpPr>
        <p:spPr>
          <a:xfrm>
            <a:off x="548626" y="3291757"/>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01" y="3383195"/>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11</a:t>
            </a:r>
          </a:p>
          <a:p>
            <a:pPr algn="l">
              <a:lnSpc>
                <a:spcPct val="115000"/>
              </a:lnSpc>
            </a:pPr>
            <a:r>
              <a:rPr sz="1599" b="0">
                <a:solidFill>
                  <a:srgbClr val="1A1A1A"/>
                </a:solidFill>
                <a:latin typeface="Arial"/>
              </a:rPr>
              <a:t>Dotações dos entes, doações, Fust e Funttel: nenhum fundo próprio, nenhum repasse obrigatório aos municípios.</a:t>
            </a:r>
          </a:p>
        </p:txBody>
      </p:sp>
      <p:sp>
        <p:nvSpPr>
          <p:cNvPr id="12" name="Rounded Rectangle 11"/>
          <p:cNvSpPr/>
          <p:nvPr/>
        </p:nvSpPr>
        <p:spPr>
          <a:xfrm>
            <a:off x="6156806" y="3291757"/>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9681" y="3383195"/>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3º, § 1º, IX e X</a:t>
            </a:r>
          </a:p>
          <a:p>
            <a:pPr algn="l">
              <a:lnSpc>
                <a:spcPct val="115000"/>
              </a:lnSpc>
            </a:pPr>
            <a:r>
              <a:rPr sz="1599" b="0">
                <a:solidFill>
                  <a:srgbClr val="1A1A1A"/>
                </a:solidFill>
                <a:latin typeface="Arial"/>
              </a:rPr>
              <a:t>A formação de professores aparece como promoção, sem responsáveis, prazos, carga horária ou custeio.</a:t>
            </a:r>
          </a:p>
        </p:txBody>
      </p:sp>
      <p:sp>
        <p:nvSpPr>
          <p:cNvPr id="14" name="Rounded Rectangle 13"/>
          <p:cNvSpPr/>
          <p:nvPr/>
        </p:nvSpPr>
        <p:spPr>
          <a:xfrm>
            <a:off x="548626" y="5242428"/>
            <a:ext cx="11033484" cy="106677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2460" y="5242428"/>
            <a:ext cx="10545816" cy="1066773"/>
          </a:xfrm>
          <a:prstGeom prst="rect">
            <a:avLst/>
          </a:prstGeom>
          <a:noFill/>
        </p:spPr>
        <p:txBody>
          <a:bodyPr wrap="square" lIns="73150" rIns="73150" tIns="73150" bIns="73150" anchor="ctr"/>
          <a:lstStyle/>
          <a:p>
            <a:pPr algn="l">
              <a:lnSpc>
                <a:spcPct val="115000"/>
              </a:lnSpc>
            </a:pPr>
            <a:r>
              <a:rPr sz="1466" b="1">
                <a:solidFill>
                  <a:srgbClr val="1A1A1A"/>
                </a:solidFill>
                <a:latin typeface="Arial"/>
              </a:rPr>
              <a:t>Na escala do território: </a:t>
            </a:r>
            <a:r>
              <a:rPr sz="1466" b="0">
                <a:solidFill>
                  <a:srgbClr val="1A1A1A"/>
                </a:solidFill>
                <a:latin typeface="Arial"/>
              </a:rPr>
              <a:t>a lei declara o direito e deixa a chegada dos meios à escola na dependência da capacidade de cada ente. Em Pipa, essa capacidade é a de um município de pequeno porte.</a:t>
            </a:r>
          </a:p>
        </p:txBody>
      </p:sp>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Brasil (2023); Brasil (2025); Mainardes (2006); Ball (2004).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O TERRITÓRIO COMO CATEGORIA DE ANÁLISE</a:t>
            </a:r>
          </a:p>
        </p:txBody>
      </p:sp>
      <p:sp>
        <p:nvSpPr>
          <p:cNvPr id="6" name="TextBox 5"/>
          <p:cNvSpPr txBox="1"/>
          <p:nvPr/>
        </p:nvSpPr>
        <p:spPr>
          <a:xfrm>
            <a:off x="548626" y="1188690"/>
            <a:ext cx="11094442" cy="548626"/>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Capítulo 6: o que o registro iconográfico e o acervo histórico já documentam</a:t>
            </a:r>
          </a:p>
        </p:txBody>
      </p:sp>
      <p:sp>
        <p:nvSpPr>
          <p:cNvPr id="7" name="Rounded Rectangle 6"/>
          <p:cNvSpPr/>
          <p:nvPr/>
        </p:nvSpPr>
        <p:spPr>
          <a:xfrm>
            <a:off x="54862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7054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054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Histórica</a:t>
            </a:r>
          </a:p>
        </p:txBody>
      </p:sp>
      <p:sp>
        <p:nvSpPr>
          <p:cNvPr id="10" name="TextBox 9"/>
          <p:cNvSpPr txBox="1"/>
          <p:nvPr/>
        </p:nvSpPr>
        <p:spPr>
          <a:xfrm>
            <a:off x="67054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Permanências e transformações; formas herdadas que sobrevivem à função que as criou</a:t>
            </a:r>
          </a:p>
        </p:txBody>
      </p:sp>
      <p:sp>
        <p:nvSpPr>
          <p:cNvPr id="11" name="TextBox 10"/>
          <p:cNvSpPr txBox="1"/>
          <p:nvPr/>
        </p:nvSpPr>
        <p:spPr>
          <a:xfrm>
            <a:off x="67054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Que camadas do território a política encontra ao chegar?</a:t>
            </a:r>
          </a:p>
        </p:txBody>
      </p:sp>
      <p:sp>
        <p:nvSpPr>
          <p:cNvPr id="12" name="Rounded Rectangle 11"/>
          <p:cNvSpPr/>
          <p:nvPr/>
        </p:nvSpPr>
        <p:spPr>
          <a:xfrm>
            <a:off x="335271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63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63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Socioeconômica</a:t>
            </a:r>
          </a:p>
        </p:txBody>
      </p:sp>
      <p:sp>
        <p:nvSpPr>
          <p:cNvPr id="15" name="TextBox 14"/>
          <p:cNvSpPr txBox="1"/>
          <p:nvPr/>
        </p:nvSpPr>
        <p:spPr>
          <a:xfrm>
            <a:off x="347463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Turismo, trabalho, mobilidade, valorização fundiária e desigualdades</a:t>
            </a:r>
          </a:p>
        </p:txBody>
      </p:sp>
      <p:sp>
        <p:nvSpPr>
          <p:cNvPr id="16" name="TextBox 15"/>
          <p:cNvSpPr txBox="1"/>
          <p:nvPr/>
        </p:nvSpPr>
        <p:spPr>
          <a:xfrm>
            <a:off x="347463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 dinâmica econômica e suas desigualdades atravessam a rotina da escola?</a:t>
            </a:r>
          </a:p>
        </p:txBody>
      </p:sp>
      <p:sp>
        <p:nvSpPr>
          <p:cNvPr id="17" name="Rounded Rectangle 16"/>
          <p:cNvSpPr/>
          <p:nvPr/>
        </p:nvSpPr>
        <p:spPr>
          <a:xfrm>
            <a:off x="615680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7872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Tecnológica</a:t>
            </a:r>
          </a:p>
        </p:txBody>
      </p:sp>
      <p:sp>
        <p:nvSpPr>
          <p:cNvPr id="20" name="TextBox 19"/>
          <p:cNvSpPr txBox="1"/>
          <p:nvPr/>
        </p:nvSpPr>
        <p:spPr>
          <a:xfrm>
            <a:off x="627872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Circulação, acesso e apropriação das tecnologias no território e na escola</a:t>
            </a:r>
          </a:p>
        </p:txBody>
      </p:sp>
      <p:sp>
        <p:nvSpPr>
          <p:cNvPr id="21" name="TextBox 20"/>
          <p:cNvSpPr txBox="1"/>
          <p:nvPr/>
        </p:nvSpPr>
        <p:spPr>
          <a:xfrm>
            <a:off x="627872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 distribuição da infraestrutura participa das possibilidades de uso pedagógico?</a:t>
            </a:r>
          </a:p>
        </p:txBody>
      </p:sp>
      <p:sp>
        <p:nvSpPr>
          <p:cNvPr id="22" name="Rounded Rectangle 21"/>
          <p:cNvSpPr/>
          <p:nvPr/>
        </p:nvSpPr>
        <p:spPr>
          <a:xfrm>
            <a:off x="8960895"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82812"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82812"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Institucional</a:t>
            </a:r>
          </a:p>
        </p:txBody>
      </p:sp>
      <p:sp>
        <p:nvSpPr>
          <p:cNvPr id="25" name="TextBox 24"/>
          <p:cNvSpPr txBox="1"/>
          <p:nvPr/>
        </p:nvSpPr>
        <p:spPr>
          <a:xfrm>
            <a:off x="9082812"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Infraestrutura escolar, alocação de recursos, gestão e condições profissionais</a:t>
            </a:r>
          </a:p>
        </p:txBody>
      </p:sp>
      <p:sp>
        <p:nvSpPr>
          <p:cNvPr id="26" name="TextBox 25"/>
          <p:cNvSpPr txBox="1"/>
          <p:nvPr/>
        </p:nvSpPr>
        <p:spPr>
          <a:xfrm>
            <a:off x="9082812"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as decisões institucionais ampliam ou restringem as margens na ponta?</a:t>
            </a:r>
          </a:p>
        </p:txBody>
      </p:sp>
      <p:sp>
        <p:nvSpPr>
          <p:cNvPr id="27" name="TextBox 26"/>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17 (Cap. 6); Santos (1999; 2006); Massey (2008). A formação fica para o Cap. 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UM TERRITÓRIO, DOIS DESENHOS</a:t>
            </a:r>
          </a:p>
        </p:txBody>
      </p:sp>
      <p:sp>
        <p:nvSpPr>
          <p:cNvPr id="6" name="Rounded Rectangle 5"/>
          <p:cNvSpPr/>
          <p:nvPr/>
        </p:nvSpPr>
        <p:spPr>
          <a:xfrm>
            <a:off x="536434" y="1359374"/>
            <a:ext cx="2950390" cy="4291476"/>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a de localização de Tibau do Sul e Pipa"/>
          <p:cNvPicPr>
            <a:picLocks noChangeAspect="1"/>
          </p:cNvPicPr>
          <p:nvPr/>
        </p:nvPicPr>
        <p:blipFill>
          <a:blip r:embed="rId3"/>
          <a:srcRect l="7298" r="7298"/>
          <a:stretch>
            <a:fillRect/>
          </a:stretch>
        </p:blipFill>
        <p:spPr>
          <a:xfrm>
            <a:off x="609584" y="1432524"/>
            <a:ext cx="2804089" cy="3657508"/>
          </a:xfrm>
          <a:prstGeom prst="rect">
            <a:avLst/>
          </a:prstGeom>
        </p:spPr>
      </p:pic>
      <p:sp>
        <p:nvSpPr>
          <p:cNvPr id="8" name="TextBox 7"/>
          <p:cNvSpPr txBox="1"/>
          <p:nvPr/>
        </p:nvSpPr>
        <p:spPr>
          <a:xfrm>
            <a:off x="609584" y="5102224"/>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Tibau do Sul e Pipa (Figura 1)</a:t>
            </a:r>
          </a:p>
        </p:txBody>
      </p:sp>
      <p:sp>
        <p:nvSpPr>
          <p:cNvPr id="9" name="Rounded Rectangle 8"/>
          <p:cNvSpPr/>
          <p:nvPr/>
        </p:nvSpPr>
        <p:spPr>
          <a:xfrm>
            <a:off x="3706275" y="1359374"/>
            <a:ext cx="4413393" cy="4291476"/>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a turístico do núcleo urbano de Pipa"/>
          <p:cNvPicPr>
            <a:picLocks noChangeAspect="1"/>
          </p:cNvPicPr>
          <p:nvPr/>
        </p:nvPicPr>
        <p:blipFill>
          <a:blip r:embed="rId4"/>
          <a:srcRect l="32817" r="32817"/>
          <a:stretch>
            <a:fillRect/>
          </a:stretch>
        </p:blipFill>
        <p:spPr>
          <a:xfrm>
            <a:off x="3779425" y="1432524"/>
            <a:ext cx="4267093" cy="3657508"/>
          </a:xfrm>
          <a:prstGeom prst="rect">
            <a:avLst/>
          </a:prstGeom>
        </p:spPr>
      </p:pic>
      <p:sp>
        <p:nvSpPr>
          <p:cNvPr id="11" name="TextBox 10"/>
          <p:cNvSpPr txBox="1"/>
          <p:nvPr/>
        </p:nvSpPr>
        <p:spPr>
          <a:xfrm>
            <a:off x="3779425" y="5102224"/>
            <a:ext cx="4267093"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Mapa turístico de Pipa (Figura 2)</a:t>
            </a:r>
          </a:p>
        </p:txBody>
      </p:sp>
      <p:sp>
        <p:nvSpPr>
          <p:cNvPr id="12" name="Rounded Rectangle 11"/>
          <p:cNvSpPr/>
          <p:nvPr/>
        </p:nvSpPr>
        <p:spPr>
          <a:xfrm>
            <a:off x="8381790" y="1359374"/>
            <a:ext cx="3261278" cy="426709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34186" y="1432524"/>
            <a:ext cx="2986965" cy="4145176"/>
          </a:xfrm>
          <a:prstGeom prst="rect">
            <a:avLst/>
          </a:prstGeom>
          <a:noFill/>
        </p:spPr>
        <p:txBody>
          <a:bodyPr wrap="square" lIns="73150" rIns="73150" tIns="73150" bIns="73150" anchor="t"/>
          <a:lstStyle/>
          <a:p>
            <a:pPr algn="l">
              <a:lnSpc>
                <a:spcPct val="115000"/>
              </a:lnSpc>
              <a:spcAft>
                <a:spcPts val="933"/>
              </a:spcAft>
            </a:pPr>
            <a:r>
              <a:rPr sz="1399" b="1">
                <a:solidFill>
                  <a:srgbClr val="1A1A1A"/>
                </a:solidFill>
                <a:latin typeface="Arial"/>
              </a:rPr>
              <a:t>Institucional: </a:t>
            </a:r>
            <a:r>
              <a:rPr sz="1399" b="0">
                <a:solidFill>
                  <a:srgbClr val="1A1A1A"/>
                </a:solidFill>
                <a:latin typeface="Arial"/>
              </a:rPr>
              <a:t>organiza Pipa por referências político-administrativas; a política chega pela rede municipal.</a:t>
            </a:r>
          </a:p>
          <a:p>
            <a:pPr algn="l">
              <a:lnSpc>
                <a:spcPct val="115000"/>
              </a:lnSpc>
              <a:spcAft>
                <a:spcPts val="933"/>
              </a:spcAft>
            </a:pPr>
            <a:r>
              <a:rPr sz="1399" b="1">
                <a:solidFill>
                  <a:srgbClr val="1A1A1A"/>
                </a:solidFill>
                <a:latin typeface="Arial"/>
              </a:rPr>
              <a:t>Turístico: </a:t>
            </a:r>
            <a:r>
              <a:rPr sz="1399" b="0">
                <a:solidFill>
                  <a:srgbClr val="1A1A1A"/>
                </a:solidFill>
                <a:latin typeface="Arial"/>
              </a:rPr>
              <a:t>organiza o mesmo lugar pela circulação e pela experiência do visitante.</a:t>
            </a:r>
          </a:p>
          <a:p>
            <a:pPr algn="l">
              <a:lnSpc>
                <a:spcPct val="115000"/>
              </a:lnSpc>
            </a:pPr>
            <a:r>
              <a:rPr sz="1399" b="0">
                <a:solidFill>
                  <a:srgbClr val="1A1A1A"/>
                </a:solidFill>
                <a:latin typeface="Arial"/>
              </a:rPr>
              <a:t>“A categoria de análise é o território usado” (SANTOS, 1999, p. 18).</a:t>
            </a:r>
          </a:p>
        </p:txBody>
      </p:sp>
      <p:sp>
        <p:nvSpPr>
          <p:cNvPr id="14" name="TextBox 13"/>
          <p:cNvSpPr txBox="1"/>
          <p:nvPr/>
        </p:nvSpPr>
        <p:spPr>
          <a:xfrm>
            <a:off x="609584" y="6065368"/>
            <a:ext cx="10972525" cy="304792"/>
          </a:xfrm>
          <a:prstGeom prst="rect">
            <a:avLst/>
          </a:prstGeom>
          <a:noFill/>
        </p:spPr>
        <p:txBody>
          <a:bodyPr wrap="square" lIns="73150" rIns="73150" tIns="73150" bIns="73150" anchor="ctr"/>
          <a:lstStyle/>
          <a:p>
            <a:pPr algn="l">
              <a:lnSpc>
                <a:spcPct val="100000"/>
              </a:lnSpc>
            </a:pPr>
            <a:r>
              <a:rPr sz="999" b="0">
                <a:solidFill>
                  <a:srgbClr val="FFFFFF"/>
                </a:solidFill>
                <a:latin typeface="Arial"/>
              </a:rPr>
              <a:t>Fontes: base cartográfica IBGE, adaptada pela autora (2026); material de divulgação turística de Pipa.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 ANTIGA PIPA: TRABALHO, MORADIA E MAR</a:t>
            </a:r>
          </a:p>
        </p:txBody>
      </p:sp>
      <p:sp>
        <p:nvSpPr>
          <p:cNvPr id="6" name="Rounded Rectangle 5"/>
          <p:cNvSpPr/>
          <p:nvPr/>
        </p:nvSpPr>
        <p:spPr>
          <a:xfrm>
            <a:off x="475476" y="1328894"/>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nstrução artesanal de embarcação (Figura 3)"/>
          <p:cNvPicPr>
            <a:picLocks noChangeAspect="1"/>
          </p:cNvPicPr>
          <p:nvPr/>
        </p:nvPicPr>
        <p:blipFill>
          <a:blip r:embed="rId3"/>
          <a:srcRect t="11879" b="11879"/>
          <a:stretch>
            <a:fillRect/>
          </a:stretch>
        </p:blipFill>
        <p:spPr>
          <a:xfrm>
            <a:off x="548626" y="1402044"/>
            <a:ext cx="3413674" cy="1889712"/>
          </a:xfrm>
          <a:prstGeom prst="rect">
            <a:avLst/>
          </a:prstGeom>
        </p:spPr>
      </p:pic>
      <p:sp>
        <p:nvSpPr>
          <p:cNvPr id="8" name="TextBox 7"/>
          <p:cNvSpPr txBox="1"/>
          <p:nvPr/>
        </p:nvSpPr>
        <p:spPr>
          <a:xfrm>
            <a:off x="548626" y="3303949"/>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Construção artesanal de embarcação (Figura 3)</a:t>
            </a:r>
          </a:p>
        </p:txBody>
      </p:sp>
      <p:sp>
        <p:nvSpPr>
          <p:cNvPr id="9" name="Rounded Rectangle 8"/>
          <p:cNvSpPr/>
          <p:nvPr/>
        </p:nvSpPr>
        <p:spPr>
          <a:xfrm>
            <a:off x="4132984" y="1328894"/>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mbarcações de pesca na enseada (Figura 7)"/>
          <p:cNvPicPr>
            <a:picLocks noChangeAspect="1"/>
          </p:cNvPicPr>
          <p:nvPr/>
        </p:nvPicPr>
        <p:blipFill>
          <a:blip r:embed="rId4"/>
          <a:srcRect t="8532" b="8532"/>
          <a:stretch>
            <a:fillRect/>
          </a:stretch>
        </p:blipFill>
        <p:spPr>
          <a:xfrm>
            <a:off x="4206134" y="1402044"/>
            <a:ext cx="3413674" cy="1889712"/>
          </a:xfrm>
          <a:prstGeom prst="rect">
            <a:avLst/>
          </a:prstGeom>
        </p:spPr>
      </p:pic>
      <p:sp>
        <p:nvSpPr>
          <p:cNvPr id="11" name="TextBox 10"/>
          <p:cNvSpPr txBox="1"/>
          <p:nvPr/>
        </p:nvSpPr>
        <p:spPr>
          <a:xfrm>
            <a:off x="4206134" y="3303949"/>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Embarcações de pesca na enseada (Figura 7)</a:t>
            </a:r>
          </a:p>
        </p:txBody>
      </p:sp>
      <p:sp>
        <p:nvSpPr>
          <p:cNvPr id="12" name="Rounded Rectangle 11"/>
          <p:cNvSpPr/>
          <p:nvPr/>
        </p:nvSpPr>
        <p:spPr>
          <a:xfrm>
            <a:off x="475476" y="3858671"/>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utirão para curral de pesca (Figura 9)"/>
          <p:cNvPicPr>
            <a:picLocks noChangeAspect="1"/>
          </p:cNvPicPr>
          <p:nvPr/>
        </p:nvPicPr>
        <p:blipFill>
          <a:blip r:embed="rId5"/>
          <a:srcRect t="15617" b="15617"/>
          <a:stretch>
            <a:fillRect/>
          </a:stretch>
        </p:blipFill>
        <p:spPr>
          <a:xfrm>
            <a:off x="548626" y="3931821"/>
            <a:ext cx="3413674" cy="1889712"/>
          </a:xfrm>
          <a:prstGeom prst="rect">
            <a:avLst/>
          </a:prstGeom>
        </p:spPr>
      </p:pic>
      <p:sp>
        <p:nvSpPr>
          <p:cNvPr id="14" name="TextBox 13"/>
          <p:cNvSpPr txBox="1"/>
          <p:nvPr/>
        </p:nvSpPr>
        <p:spPr>
          <a:xfrm>
            <a:off x="548626" y="5833726"/>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Mutirão para curral de pesca (Figura 9)</a:t>
            </a:r>
          </a:p>
        </p:txBody>
      </p:sp>
      <p:sp>
        <p:nvSpPr>
          <p:cNvPr id="15" name="Rounded Rectangle 14"/>
          <p:cNvSpPr/>
          <p:nvPr/>
        </p:nvSpPr>
        <p:spPr>
          <a:xfrm>
            <a:off x="4132984" y="3858671"/>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 cruzeiro em sua localização original (Figura 10)"/>
          <p:cNvPicPr>
            <a:picLocks noChangeAspect="1"/>
          </p:cNvPicPr>
          <p:nvPr/>
        </p:nvPicPr>
        <p:blipFill>
          <a:blip r:embed="rId6"/>
          <a:srcRect t="8395" b="8395"/>
          <a:stretch>
            <a:fillRect/>
          </a:stretch>
        </p:blipFill>
        <p:spPr>
          <a:xfrm>
            <a:off x="4206134" y="3931821"/>
            <a:ext cx="3413674" cy="1889712"/>
          </a:xfrm>
          <a:prstGeom prst="rect">
            <a:avLst/>
          </a:prstGeom>
        </p:spPr>
      </p:pic>
      <p:sp>
        <p:nvSpPr>
          <p:cNvPr id="17" name="TextBox 16"/>
          <p:cNvSpPr txBox="1"/>
          <p:nvPr/>
        </p:nvSpPr>
        <p:spPr>
          <a:xfrm>
            <a:off x="4206134" y="5833726"/>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cruzeiro em sua localização original (Figura 10)</a:t>
            </a:r>
          </a:p>
        </p:txBody>
      </p:sp>
      <p:sp>
        <p:nvSpPr>
          <p:cNvPr id="18" name="Rounded Rectangle 17"/>
          <p:cNvSpPr/>
          <p:nvPr/>
        </p:nvSpPr>
        <p:spPr>
          <a:xfrm>
            <a:off x="7863643" y="1328894"/>
            <a:ext cx="3779425" cy="490715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518" y="1432524"/>
            <a:ext cx="3413674" cy="4693802"/>
          </a:xfrm>
          <a:prstGeom prst="rect">
            <a:avLst/>
          </a:prstGeom>
          <a:noFill/>
        </p:spPr>
        <p:txBody>
          <a:bodyPr wrap="square" lIns="73150" rIns="73150" tIns="73150" bIns="73150" anchor="t"/>
          <a:lstStyle/>
          <a:p>
            <a:pPr algn="l">
              <a:lnSpc>
                <a:spcPct val="115000"/>
              </a:lnSpc>
              <a:spcAft>
                <a:spcPts val="799"/>
              </a:spcAft>
            </a:pPr>
            <a:r>
              <a:rPr sz="1399" b="1">
                <a:solidFill>
                  <a:srgbClr val="1A1A1A"/>
                </a:solidFill>
                <a:latin typeface="Arial"/>
              </a:rPr>
              <a:t>O que as imagens registram</a:t>
            </a:r>
          </a:p>
          <a:p>
            <a:pPr algn="l">
              <a:lnSpc>
                <a:spcPct val="115000"/>
              </a:lnSpc>
              <a:spcAft>
                <a:spcPts val="799"/>
              </a:spcAft>
            </a:pPr>
            <a:r>
              <a:rPr sz="1399" b="0">
                <a:solidFill>
                  <a:srgbClr val="1A1A1A"/>
                </a:solidFill>
                <a:latin typeface="Arial"/>
              </a:rPr>
              <a:t>Trabalho, moradia e atividade marítima articulados no mesmo território.</a:t>
            </a:r>
          </a:p>
          <a:p>
            <a:pPr algn="l">
              <a:lnSpc>
                <a:spcPct val="115000"/>
              </a:lnSpc>
              <a:spcAft>
                <a:spcPts val="799"/>
              </a:spcAft>
            </a:pPr>
            <a:r>
              <a:rPr sz="1399" b="0">
                <a:solidFill>
                  <a:srgbClr val="1A1A1A"/>
                </a:solidFill>
                <a:latin typeface="Arial"/>
              </a:rPr>
              <a:t>Um saber aprendido no próprio fazer, em trabalho coletivo, como no mutirão.</a:t>
            </a:r>
          </a:p>
          <a:p>
            <a:pPr algn="l">
              <a:lnSpc>
                <a:spcPct val="115000"/>
              </a:lnSpc>
              <a:spcAft>
                <a:spcPts val="799"/>
              </a:spcAft>
            </a:pPr>
            <a:r>
              <a:rPr sz="1399" b="0">
                <a:solidFill>
                  <a:srgbClr val="1A1A1A"/>
                </a:solidFill>
                <a:latin typeface="Arial"/>
              </a:rPr>
              <a:t>Com Santos, a paisagem guarda as marcas dos meios de trabalho de cada tempo.</a:t>
            </a:r>
          </a:p>
          <a:p>
            <a:pPr algn="l">
              <a:lnSpc>
                <a:spcPct val="115000"/>
              </a:lnSpc>
            </a:pPr>
            <a:r>
              <a:rPr sz="1399" b="0">
                <a:solidFill>
                  <a:srgbClr val="1A1A1A"/>
                </a:solidFill>
                <a:latin typeface="Arial"/>
              </a:rPr>
              <a:t>Com Massey, evitamos congelar a vila de pescadores num passado idealizado.</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(2006, p. 92): rugosidade; Massey (2008). Imagens: Museu Digital de Pipa / acervo da pesquisa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AS TRANSFORMAÇÕES: DE VILA A POLO TURÍSTICO</a:t>
            </a:r>
          </a:p>
        </p:txBody>
      </p:sp>
      <p:sp>
        <p:nvSpPr>
          <p:cNvPr id="6" name="Rounded Rectangle 5"/>
          <p:cNvSpPr/>
          <p:nvPr/>
        </p:nvSpPr>
        <p:spPr>
          <a:xfrm>
            <a:off x="475476"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rbanização da orla (Figura 11)"/>
          <p:cNvPicPr>
            <a:picLocks noChangeAspect="1"/>
          </p:cNvPicPr>
          <p:nvPr/>
        </p:nvPicPr>
        <p:blipFill>
          <a:blip r:embed="rId3"/>
          <a:srcRect t="3192" b="3192"/>
          <a:stretch>
            <a:fillRect/>
          </a:stretch>
        </p:blipFill>
        <p:spPr>
          <a:xfrm>
            <a:off x="548626" y="1402044"/>
            <a:ext cx="3413674" cy="2194505"/>
          </a:xfrm>
          <a:prstGeom prst="rect">
            <a:avLst/>
          </a:prstGeom>
        </p:spPr>
      </p:pic>
      <p:sp>
        <p:nvSpPr>
          <p:cNvPr id="8" name="TextBox 7"/>
          <p:cNvSpPr txBox="1"/>
          <p:nvPr/>
        </p:nvSpPr>
        <p:spPr>
          <a:xfrm>
            <a:off x="548626"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Urbanização da orla (Figura 11)</a:t>
            </a:r>
          </a:p>
        </p:txBody>
      </p:sp>
      <p:sp>
        <p:nvSpPr>
          <p:cNvPr id="9" name="Rounded Rectangle 8"/>
          <p:cNvSpPr/>
          <p:nvPr/>
        </p:nvSpPr>
        <p:spPr>
          <a:xfrm>
            <a:off x="4224422"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urfistas e pranchas, abril de 1991 (Figura 12)"/>
          <p:cNvPicPr>
            <a:picLocks noChangeAspect="1"/>
          </p:cNvPicPr>
          <p:nvPr/>
        </p:nvPicPr>
        <p:blipFill>
          <a:blip r:embed="rId4"/>
          <a:srcRect t="9420" b="9420"/>
          <a:stretch>
            <a:fillRect/>
          </a:stretch>
        </p:blipFill>
        <p:spPr>
          <a:xfrm>
            <a:off x="4297572" y="1402044"/>
            <a:ext cx="3413674" cy="2194505"/>
          </a:xfrm>
          <a:prstGeom prst="rect">
            <a:avLst/>
          </a:prstGeom>
        </p:spPr>
      </p:pic>
      <p:sp>
        <p:nvSpPr>
          <p:cNvPr id="11" name="TextBox 10"/>
          <p:cNvSpPr txBox="1"/>
          <p:nvPr/>
        </p:nvSpPr>
        <p:spPr>
          <a:xfrm>
            <a:off x="4297572"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Surfistas e pranchas, abril de 1991 (Figura 12)</a:t>
            </a:r>
          </a:p>
        </p:txBody>
      </p:sp>
      <p:sp>
        <p:nvSpPr>
          <p:cNvPr id="12" name="Rounded Rectangle 11"/>
          <p:cNvSpPr/>
          <p:nvPr/>
        </p:nvSpPr>
        <p:spPr>
          <a:xfrm>
            <a:off x="7973368"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mércio e transporte na vila (Figura 13)"/>
          <p:cNvPicPr>
            <a:picLocks noChangeAspect="1"/>
          </p:cNvPicPr>
          <p:nvPr/>
        </p:nvPicPr>
        <p:blipFill>
          <a:blip r:embed="rId5"/>
          <a:srcRect t="1635" b="1635"/>
          <a:stretch>
            <a:fillRect/>
          </a:stretch>
        </p:blipFill>
        <p:spPr>
          <a:xfrm>
            <a:off x="8046518" y="1402044"/>
            <a:ext cx="3413674" cy="2194505"/>
          </a:xfrm>
          <a:prstGeom prst="rect">
            <a:avLst/>
          </a:prstGeom>
        </p:spPr>
      </p:pic>
      <p:sp>
        <p:nvSpPr>
          <p:cNvPr id="14" name="TextBox 13"/>
          <p:cNvSpPr txBox="1"/>
          <p:nvPr/>
        </p:nvSpPr>
        <p:spPr>
          <a:xfrm>
            <a:off x="8046518"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Comércio e transporte na vila (Figura 13)</a:t>
            </a:r>
          </a:p>
        </p:txBody>
      </p:sp>
      <p:sp>
        <p:nvSpPr>
          <p:cNvPr id="15" name="Rounded Rectangle 14"/>
          <p:cNvSpPr/>
          <p:nvPr/>
        </p:nvSpPr>
        <p:spPr>
          <a:xfrm>
            <a:off x="54862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54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a) </a:t>
            </a:r>
            <a:r>
              <a:rPr sz="1266" b="0">
                <a:solidFill>
                  <a:srgbClr val="1A1A1A"/>
                </a:solidFill>
                <a:latin typeface="Arial"/>
              </a:rPr>
              <a:t>turismo associado ao surfe, a partir dos anos 1990</a:t>
            </a:r>
          </a:p>
        </p:txBody>
      </p:sp>
      <p:sp>
        <p:nvSpPr>
          <p:cNvPr id="17" name="Rounded Rectangle 16"/>
          <p:cNvSpPr/>
          <p:nvPr/>
        </p:nvSpPr>
        <p:spPr>
          <a:xfrm>
            <a:off x="335271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63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b) </a:t>
            </a:r>
            <a:r>
              <a:rPr sz="1266" b="0">
                <a:solidFill>
                  <a:srgbClr val="1A1A1A"/>
                </a:solidFill>
                <a:latin typeface="Arial"/>
              </a:rPr>
              <a:t>investimentos imobiliários nacionais e estrangeiros</a:t>
            </a:r>
          </a:p>
        </p:txBody>
      </p:sp>
      <p:sp>
        <p:nvSpPr>
          <p:cNvPr id="19" name="Rounded Rectangle 18"/>
          <p:cNvSpPr/>
          <p:nvPr/>
        </p:nvSpPr>
        <p:spPr>
          <a:xfrm>
            <a:off x="615680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c) </a:t>
            </a:r>
            <a:r>
              <a:rPr sz="1266" b="0">
                <a:solidFill>
                  <a:srgbClr val="1A1A1A"/>
                </a:solidFill>
                <a:latin typeface="Arial"/>
              </a:rPr>
              <a:t>migração de trabalhadores para o setor de serviços</a:t>
            </a:r>
          </a:p>
        </p:txBody>
      </p:sp>
      <p:sp>
        <p:nvSpPr>
          <p:cNvPr id="21" name="Rounded Rectangle 20"/>
          <p:cNvSpPr/>
          <p:nvPr/>
        </p:nvSpPr>
        <p:spPr>
          <a:xfrm>
            <a:off x="8960895"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2812"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d) </a:t>
            </a:r>
            <a:r>
              <a:rPr sz="1266" b="0">
                <a:solidFill>
                  <a:srgbClr val="1A1A1A"/>
                </a:solidFill>
                <a:latin typeface="Arial"/>
              </a:rPr>
              <a:t>mais recentemente, o trabalho remoto</a:t>
            </a:r>
          </a:p>
        </p:txBody>
      </p:sp>
      <p:sp>
        <p:nvSpPr>
          <p:cNvPr id="23" name="TextBox 22"/>
          <p:cNvSpPr txBox="1"/>
          <p:nvPr/>
        </p:nvSpPr>
        <p:spPr>
          <a:xfrm>
            <a:off x="548626" y="5455783"/>
            <a:ext cx="11094442" cy="731501"/>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A Pipa contemporânea resulta da sobreposição de trajetórias: os novos usos dividem o território com os antigos, sem apagá-los.</a:t>
            </a:r>
          </a:p>
        </p:txBody>
      </p:sp>
      <p:sp>
        <p:nvSpPr>
          <p:cNvPr id="24" name="TextBox 23"/>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Castells (2013); Bauman (1999); Massey (2008). Imagens: Museu Digital de Pipa / acervo da pesquisa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A PIPA DE HOJE: O ANTIGO E O CONECTADO JUNTOS</a:t>
            </a:r>
          </a:p>
        </p:txBody>
      </p:sp>
      <p:sp>
        <p:nvSpPr>
          <p:cNvPr id="6" name="Rounded Rectangle 5"/>
          <p:cNvSpPr/>
          <p:nvPr/>
        </p:nvSpPr>
        <p:spPr>
          <a:xfrm>
            <a:off x="475476" y="1328894"/>
            <a:ext cx="3316141"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ua turística à noite (Figura 16)"/>
          <p:cNvPicPr>
            <a:picLocks noChangeAspect="1"/>
          </p:cNvPicPr>
          <p:nvPr/>
        </p:nvPicPr>
        <p:blipFill>
          <a:blip r:embed="rId3"/>
          <a:srcRect t="6427" b="6427"/>
          <a:stretch>
            <a:fillRect/>
          </a:stretch>
        </p:blipFill>
        <p:spPr>
          <a:xfrm>
            <a:off x="548626" y="1402044"/>
            <a:ext cx="3169840" cy="1828754"/>
          </a:xfrm>
          <a:prstGeom prst="rect">
            <a:avLst/>
          </a:prstGeom>
        </p:spPr>
      </p:pic>
      <p:sp>
        <p:nvSpPr>
          <p:cNvPr id="8" name="TextBox 7"/>
          <p:cNvSpPr txBox="1"/>
          <p:nvPr/>
        </p:nvSpPr>
        <p:spPr>
          <a:xfrm>
            <a:off x="548626" y="3242990"/>
            <a:ext cx="3169840"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Rua turística à noite (Figura 16)</a:t>
            </a:r>
          </a:p>
        </p:txBody>
      </p:sp>
      <p:sp>
        <p:nvSpPr>
          <p:cNvPr id="9" name="Rounded Rectangle 8"/>
          <p:cNvSpPr/>
          <p:nvPr/>
        </p:nvSpPr>
        <p:spPr>
          <a:xfrm>
            <a:off x="475476" y="3828192"/>
            <a:ext cx="3316141"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asseios na baía (Figura 20)"/>
          <p:cNvPicPr>
            <a:picLocks noChangeAspect="1"/>
          </p:cNvPicPr>
          <p:nvPr/>
        </p:nvPicPr>
        <p:blipFill>
          <a:blip r:embed="rId4"/>
          <a:srcRect t="10871" b="10871"/>
          <a:stretch>
            <a:fillRect/>
          </a:stretch>
        </p:blipFill>
        <p:spPr>
          <a:xfrm>
            <a:off x="548626" y="3901342"/>
            <a:ext cx="3169840" cy="1828754"/>
          </a:xfrm>
          <a:prstGeom prst="rect">
            <a:avLst/>
          </a:prstGeom>
        </p:spPr>
      </p:pic>
      <p:sp>
        <p:nvSpPr>
          <p:cNvPr id="11" name="TextBox 10"/>
          <p:cNvSpPr txBox="1"/>
          <p:nvPr/>
        </p:nvSpPr>
        <p:spPr>
          <a:xfrm>
            <a:off x="548626" y="5742288"/>
            <a:ext cx="3169840"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Passeios na baía (Figura 20)</a:t>
            </a:r>
          </a:p>
        </p:txBody>
      </p:sp>
      <p:sp>
        <p:nvSpPr>
          <p:cNvPr id="12" name="Rounded Rectangle 11"/>
          <p:cNvSpPr/>
          <p:nvPr/>
        </p:nvSpPr>
        <p:spPr>
          <a:xfrm>
            <a:off x="3950109" y="1328894"/>
            <a:ext cx="2340805" cy="496201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ousadas junto às falésias (Figura 19)"/>
          <p:cNvPicPr>
            <a:picLocks noChangeAspect="1"/>
          </p:cNvPicPr>
          <p:nvPr/>
        </p:nvPicPr>
        <p:blipFill>
          <a:blip r:embed="rId5"/>
          <a:srcRect l="5024" r="5024"/>
          <a:stretch>
            <a:fillRect/>
          </a:stretch>
        </p:blipFill>
        <p:spPr>
          <a:xfrm>
            <a:off x="4023259" y="1402044"/>
            <a:ext cx="2194505" cy="4328051"/>
          </a:xfrm>
          <a:prstGeom prst="rect">
            <a:avLst/>
          </a:prstGeom>
        </p:spPr>
      </p:pic>
      <p:sp>
        <p:nvSpPr>
          <p:cNvPr id="14" name="TextBox 13"/>
          <p:cNvSpPr txBox="1"/>
          <p:nvPr/>
        </p:nvSpPr>
        <p:spPr>
          <a:xfrm>
            <a:off x="4023259" y="5742288"/>
            <a:ext cx="2194505"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Pousadas junto às falésias (Figura 19)</a:t>
            </a:r>
          </a:p>
        </p:txBody>
      </p:sp>
      <p:sp>
        <p:nvSpPr>
          <p:cNvPr id="15" name="Rounded Rectangle 14"/>
          <p:cNvSpPr/>
          <p:nvPr/>
        </p:nvSpPr>
        <p:spPr>
          <a:xfrm>
            <a:off x="6449406" y="1328894"/>
            <a:ext cx="2706556" cy="496201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scador descarregando o pescado (Figura 21)"/>
          <p:cNvPicPr>
            <a:picLocks noChangeAspect="1"/>
          </p:cNvPicPr>
          <p:nvPr/>
        </p:nvPicPr>
        <p:blipFill>
          <a:blip r:embed="rId6"/>
          <a:srcRect l="11022" r="11022"/>
          <a:stretch>
            <a:fillRect/>
          </a:stretch>
        </p:blipFill>
        <p:spPr>
          <a:xfrm>
            <a:off x="6522556" y="1402044"/>
            <a:ext cx="2560255" cy="4328051"/>
          </a:xfrm>
          <a:prstGeom prst="rect">
            <a:avLst/>
          </a:prstGeom>
        </p:spPr>
      </p:pic>
      <p:sp>
        <p:nvSpPr>
          <p:cNvPr id="17" name="TextBox 16"/>
          <p:cNvSpPr txBox="1"/>
          <p:nvPr/>
        </p:nvSpPr>
        <p:spPr>
          <a:xfrm>
            <a:off x="6522556" y="5742288"/>
            <a:ext cx="2560255"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Pescador descarregando o pescado (Figura 21)</a:t>
            </a:r>
          </a:p>
        </p:txBody>
      </p:sp>
      <p:sp>
        <p:nvSpPr>
          <p:cNvPr id="18" name="Rounded Rectangle 17"/>
          <p:cNvSpPr/>
          <p:nvPr/>
        </p:nvSpPr>
        <p:spPr>
          <a:xfrm>
            <a:off x="9387605" y="1328894"/>
            <a:ext cx="2255463" cy="4876678"/>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522" y="1402044"/>
            <a:ext cx="2011629" cy="4754761"/>
          </a:xfrm>
          <a:prstGeom prst="rect">
            <a:avLst/>
          </a:prstGeom>
          <a:noFill/>
        </p:spPr>
        <p:txBody>
          <a:bodyPr wrap="square" lIns="73150" rIns="73150" tIns="73150" bIns="73150" anchor="ctr"/>
          <a:lstStyle/>
          <a:p>
            <a:pPr algn="l">
              <a:lnSpc>
                <a:spcPct val="115000"/>
              </a:lnSpc>
              <a:spcAft>
                <a:spcPts val="799"/>
              </a:spcAft>
            </a:pPr>
            <a:r>
              <a:rPr sz="1333" b="1">
                <a:solidFill>
                  <a:srgbClr val="1A1A1A"/>
                </a:solidFill>
                <a:latin typeface="Arial"/>
              </a:rPr>
              <a:t>Hotelaria, reservas e pagamentos dependem da conexão.</a:t>
            </a:r>
          </a:p>
          <a:p>
            <a:pPr algn="l">
              <a:lnSpc>
                <a:spcPct val="115000"/>
              </a:lnSpc>
            </a:pPr>
            <a:r>
              <a:rPr sz="1333" b="0">
                <a:solidFill>
                  <a:srgbClr val="1A1A1A"/>
                </a:solidFill>
                <a:latin typeface="Arial"/>
              </a:rPr>
              <a:t>A pesca segue no mesmo mar. Da presença das tecnologias no território não se presume seu uso pedagógico na escola.</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(1999): território usado; Massey (2008): encontro de trajetórias. Fonte: acervo da pesquisa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ONTEM, HOJE E O QUE CHEGA À ESCOLA</a:t>
            </a:r>
          </a:p>
        </p:txBody>
      </p:sp>
      <p:sp>
        <p:nvSpPr>
          <p:cNvPr id="6" name="Rounded Rectangle 5"/>
          <p:cNvSpPr/>
          <p:nvPr/>
        </p:nvSpPr>
        <p:spPr>
          <a:xfrm>
            <a:off x="548626" y="1310607"/>
            <a:ext cx="1584920"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310607"/>
            <a:ext cx="1584920"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Dimensão</a:t>
            </a:r>
          </a:p>
        </p:txBody>
      </p:sp>
      <p:sp>
        <p:nvSpPr>
          <p:cNvPr id="8" name="Rounded Rectangle 7"/>
          <p:cNvSpPr/>
          <p:nvPr/>
        </p:nvSpPr>
        <p:spPr>
          <a:xfrm>
            <a:off x="2170121" y="1310607"/>
            <a:ext cx="2986965"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0121" y="1310607"/>
            <a:ext cx="2986965"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Pipa histórica</a:t>
            </a:r>
          </a:p>
        </p:txBody>
      </p:sp>
      <p:sp>
        <p:nvSpPr>
          <p:cNvPr id="10" name="Rounded Rectangle 9"/>
          <p:cNvSpPr/>
          <p:nvPr/>
        </p:nvSpPr>
        <p:spPr>
          <a:xfrm>
            <a:off x="5193662" y="1310607"/>
            <a:ext cx="3108882"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662" y="1310607"/>
            <a:ext cx="3108882"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Pipa contemporânea</a:t>
            </a:r>
          </a:p>
        </p:txBody>
      </p:sp>
      <p:sp>
        <p:nvSpPr>
          <p:cNvPr id="12" name="Rounded Rectangle 11"/>
          <p:cNvSpPr/>
          <p:nvPr/>
        </p:nvSpPr>
        <p:spPr>
          <a:xfrm>
            <a:off x="8339119" y="1310607"/>
            <a:ext cx="3291757"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119" y="1310607"/>
            <a:ext cx="3291757"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Repercussão para a escola</a:t>
            </a:r>
          </a:p>
        </p:txBody>
      </p:sp>
      <p:sp>
        <p:nvSpPr>
          <p:cNvPr id="14" name="Rounded Rectangle 13"/>
          <p:cNvSpPr/>
          <p:nvPr/>
        </p:nvSpPr>
        <p:spPr>
          <a:xfrm>
            <a:off x="548626" y="1728172"/>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26" y="1728172"/>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Território</a:t>
            </a:r>
          </a:p>
        </p:txBody>
      </p:sp>
      <p:sp>
        <p:nvSpPr>
          <p:cNvPr id="16" name="Rounded Rectangle 15"/>
          <p:cNvSpPr/>
          <p:nvPr/>
        </p:nvSpPr>
        <p:spPr>
          <a:xfrm>
            <a:off x="2170121" y="1728172"/>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70121" y="1728172"/>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Vila da pesca e da circulação local</a:t>
            </a:r>
          </a:p>
        </p:txBody>
      </p:sp>
      <p:sp>
        <p:nvSpPr>
          <p:cNvPr id="18" name="Rounded Rectangle 17"/>
          <p:cNvSpPr/>
          <p:nvPr/>
        </p:nvSpPr>
        <p:spPr>
          <a:xfrm>
            <a:off x="5193662" y="1728172"/>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3662" y="1728172"/>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Distrito integrado a circuitos turísticos e fluxos amplos</a:t>
            </a:r>
          </a:p>
        </p:txBody>
      </p:sp>
      <p:sp>
        <p:nvSpPr>
          <p:cNvPr id="20" name="Rounded Rectangle 19"/>
          <p:cNvSpPr/>
          <p:nvPr/>
        </p:nvSpPr>
        <p:spPr>
          <a:xfrm>
            <a:off x="8339119" y="1728172"/>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119" y="1728172"/>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Temporalidades e usos diferentes compõem o contexto da escola</a:t>
            </a:r>
          </a:p>
        </p:txBody>
      </p:sp>
      <p:sp>
        <p:nvSpPr>
          <p:cNvPr id="22" name="Rounded Rectangle 21"/>
          <p:cNvSpPr/>
          <p:nvPr/>
        </p:nvSpPr>
        <p:spPr>
          <a:xfrm>
            <a:off x="548626" y="2358077"/>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26" y="2358077"/>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Economia</a:t>
            </a:r>
          </a:p>
        </p:txBody>
      </p:sp>
      <p:sp>
        <p:nvSpPr>
          <p:cNvPr id="24" name="Rounded Rectangle 23"/>
          <p:cNvSpPr/>
          <p:nvPr/>
        </p:nvSpPr>
        <p:spPr>
          <a:xfrm>
            <a:off x="2170121" y="2358077"/>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70121" y="2358077"/>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Pesca artesanal, comércio local, trabalho ligado ao mar</a:t>
            </a:r>
          </a:p>
        </p:txBody>
      </p:sp>
      <p:sp>
        <p:nvSpPr>
          <p:cNvPr id="26" name="Rounded Rectangle 25"/>
          <p:cNvSpPr/>
          <p:nvPr/>
        </p:nvSpPr>
        <p:spPr>
          <a:xfrm>
            <a:off x="5193662" y="2358077"/>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93662" y="2358077"/>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Turismo, serviços e atividades articuladas a redes digitais</a:t>
            </a:r>
          </a:p>
        </p:txBody>
      </p:sp>
      <p:sp>
        <p:nvSpPr>
          <p:cNvPr id="28" name="Rounded Rectangle 27"/>
          <p:cNvSpPr/>
          <p:nvPr/>
        </p:nvSpPr>
        <p:spPr>
          <a:xfrm>
            <a:off x="8339119" y="2358077"/>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119" y="2358077"/>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Formas de trabalho e condições de acesso às tecnologias coexistem</a:t>
            </a:r>
          </a:p>
        </p:txBody>
      </p:sp>
      <p:sp>
        <p:nvSpPr>
          <p:cNvPr id="30" name="Rounded Rectangle 29"/>
          <p:cNvSpPr/>
          <p:nvPr/>
        </p:nvSpPr>
        <p:spPr>
          <a:xfrm>
            <a:off x="548626" y="2987981"/>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26" y="2987981"/>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Cultura</a:t>
            </a:r>
          </a:p>
        </p:txBody>
      </p:sp>
      <p:sp>
        <p:nvSpPr>
          <p:cNvPr id="32" name="Rounded Rectangle 31"/>
          <p:cNvSpPr/>
          <p:nvPr/>
        </p:nvSpPr>
        <p:spPr>
          <a:xfrm>
            <a:off x="2170121" y="2987981"/>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70121" y="2987981"/>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Repertórios transmitidos na convivência comunitária</a:t>
            </a:r>
          </a:p>
        </p:txBody>
      </p:sp>
      <p:sp>
        <p:nvSpPr>
          <p:cNvPr id="34" name="Rounded Rectangle 33"/>
          <p:cNvSpPr/>
          <p:nvPr/>
        </p:nvSpPr>
        <p:spPr>
          <a:xfrm>
            <a:off x="5193662" y="2987981"/>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93662" y="2987981"/>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Diversidade de trajetórias e práticas culturais</a:t>
            </a:r>
          </a:p>
        </p:txBody>
      </p:sp>
      <p:sp>
        <p:nvSpPr>
          <p:cNvPr id="36" name="Rounded Rectangle 35"/>
          <p:cNvSpPr/>
          <p:nvPr/>
        </p:nvSpPr>
        <p:spPr>
          <a:xfrm>
            <a:off x="8339119" y="2987981"/>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9119" y="2987981"/>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Repertórios diferentes integram o cotidiano escolar</a:t>
            </a:r>
          </a:p>
        </p:txBody>
      </p:sp>
      <p:sp>
        <p:nvSpPr>
          <p:cNvPr id="38" name="Rounded Rectangle 37"/>
          <p:cNvSpPr/>
          <p:nvPr/>
        </p:nvSpPr>
        <p:spPr>
          <a:xfrm>
            <a:off x="548626" y="3617885"/>
            <a:ext cx="1584920" cy="816843"/>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26" y="3617885"/>
            <a:ext cx="1584920" cy="816843"/>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Tecnologia</a:t>
            </a:r>
          </a:p>
        </p:txBody>
      </p:sp>
      <p:sp>
        <p:nvSpPr>
          <p:cNvPr id="40" name="Rounded Rectangle 39"/>
          <p:cNvSpPr/>
          <p:nvPr/>
        </p:nvSpPr>
        <p:spPr>
          <a:xfrm>
            <a:off x="2170121" y="3617885"/>
            <a:ext cx="2986965"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70121" y="3617885"/>
            <a:ext cx="2986965"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Presença reduzida nas atividades registradas</a:t>
            </a:r>
          </a:p>
        </p:txBody>
      </p:sp>
      <p:sp>
        <p:nvSpPr>
          <p:cNvPr id="42" name="Rounded Rectangle 41"/>
          <p:cNvSpPr/>
          <p:nvPr/>
        </p:nvSpPr>
        <p:spPr>
          <a:xfrm>
            <a:off x="5193662" y="3617885"/>
            <a:ext cx="3108882"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93662" y="3617885"/>
            <a:ext cx="3108882"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Tecnologias nas atividades econômicas, sociais e comunicacionais</a:t>
            </a:r>
          </a:p>
        </p:txBody>
      </p:sp>
      <p:sp>
        <p:nvSpPr>
          <p:cNvPr id="44" name="Rounded Rectangle 43"/>
          <p:cNvSpPr/>
          <p:nvPr/>
        </p:nvSpPr>
        <p:spPr>
          <a:xfrm>
            <a:off x="8339119" y="3617885"/>
            <a:ext cx="3291757"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9119" y="3617885"/>
            <a:ext cx="3291757"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Presença no território não implica uso pedagógico equivalente</a:t>
            </a:r>
          </a:p>
        </p:txBody>
      </p:sp>
      <p:sp>
        <p:nvSpPr>
          <p:cNvPr id="46" name="Rounded Rectangle 45"/>
          <p:cNvSpPr/>
          <p:nvPr/>
        </p:nvSpPr>
        <p:spPr>
          <a:xfrm>
            <a:off x="548626" y="4471304"/>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26" y="4471304"/>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Demografia</a:t>
            </a:r>
          </a:p>
        </p:txBody>
      </p:sp>
      <p:sp>
        <p:nvSpPr>
          <p:cNvPr id="48" name="Rounded Rectangle 47"/>
          <p:cNvSpPr/>
          <p:nvPr/>
        </p:nvSpPr>
        <p:spPr>
          <a:xfrm>
            <a:off x="2170121" y="4471304"/>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70121" y="4471304"/>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Moradores ligados às trajetórias da vila</a:t>
            </a:r>
          </a:p>
        </p:txBody>
      </p:sp>
      <p:sp>
        <p:nvSpPr>
          <p:cNvPr id="50" name="Rounded Rectangle 49"/>
          <p:cNvSpPr/>
          <p:nvPr/>
        </p:nvSpPr>
        <p:spPr>
          <a:xfrm>
            <a:off x="5193662" y="4471304"/>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662" y="4471304"/>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Mais diversidade de moradores, trabalhadores e visitantes</a:t>
            </a:r>
          </a:p>
        </p:txBody>
      </p:sp>
      <p:sp>
        <p:nvSpPr>
          <p:cNvPr id="52" name="Rounded Rectangle 51"/>
          <p:cNvSpPr/>
          <p:nvPr/>
        </p:nvSpPr>
        <p:spPr>
          <a:xfrm>
            <a:off x="8339119" y="4471304"/>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39119" y="4471304"/>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Diversidade social, linguística e cultural na escola</a:t>
            </a:r>
          </a:p>
        </p:txBody>
      </p:sp>
      <p:sp>
        <p:nvSpPr>
          <p:cNvPr id="54" name="Rounded Rectangle 53"/>
          <p:cNvSpPr/>
          <p:nvPr/>
        </p:nvSpPr>
        <p:spPr>
          <a:xfrm>
            <a:off x="548626" y="5101208"/>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26" y="5101208"/>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Infância</a:t>
            </a:r>
          </a:p>
        </p:txBody>
      </p:sp>
      <p:sp>
        <p:nvSpPr>
          <p:cNvPr id="56" name="Rounded Rectangle 55"/>
          <p:cNvSpPr/>
          <p:nvPr/>
        </p:nvSpPr>
        <p:spPr>
          <a:xfrm>
            <a:off x="2170121" y="5101208"/>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70121" y="5101208"/>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Experiências no espaço público local</a:t>
            </a:r>
          </a:p>
        </p:txBody>
      </p:sp>
      <p:sp>
        <p:nvSpPr>
          <p:cNvPr id="58" name="Rounded Rectangle 57"/>
          <p:cNvSpPr/>
          <p:nvPr/>
        </p:nvSpPr>
        <p:spPr>
          <a:xfrm>
            <a:off x="5193662" y="5101208"/>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93662" y="5101208"/>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Experiências atravessadas por mediações digitais</a:t>
            </a:r>
          </a:p>
        </p:txBody>
      </p:sp>
      <p:sp>
        <p:nvSpPr>
          <p:cNvPr id="60" name="Rounded Rectangle 59"/>
          <p:cNvSpPr/>
          <p:nvPr/>
        </p:nvSpPr>
        <p:spPr>
          <a:xfrm>
            <a:off x="8339119" y="5101208"/>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119" y="5101208"/>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Condições desiguais de acesso são o ponto de partida da Educação Digital</a:t>
            </a:r>
          </a:p>
        </p:txBody>
      </p:sp>
      <p:sp>
        <p:nvSpPr>
          <p:cNvPr id="62" name="TextBox 61"/>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16 (Cap. 6), sintetizado. Santos (2006); Massey (2008); Castells (2013).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A ESCOLA: O QUE AS IMAGENS MOSTRAM</a:t>
            </a:r>
          </a:p>
        </p:txBody>
      </p:sp>
      <p:sp>
        <p:nvSpPr>
          <p:cNvPr id="6" name="Rounded Rectangle 5"/>
          <p:cNvSpPr/>
          <p:nvPr/>
        </p:nvSpPr>
        <p:spPr>
          <a:xfrm>
            <a:off x="475476"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chada (Figura 22)"/>
          <p:cNvPicPr>
            <a:picLocks noChangeAspect="1"/>
          </p:cNvPicPr>
          <p:nvPr/>
        </p:nvPicPr>
        <p:blipFill>
          <a:blip r:embed="rId3"/>
          <a:srcRect l="17969" r="17969"/>
          <a:stretch>
            <a:fillRect/>
          </a:stretch>
        </p:blipFill>
        <p:spPr>
          <a:xfrm>
            <a:off x="548626" y="1402044"/>
            <a:ext cx="2499297" cy="2194505"/>
          </a:xfrm>
          <a:prstGeom prst="rect">
            <a:avLst/>
          </a:prstGeom>
        </p:spPr>
      </p:pic>
      <p:sp>
        <p:nvSpPr>
          <p:cNvPr id="8" name="TextBox 7"/>
          <p:cNvSpPr txBox="1"/>
          <p:nvPr/>
        </p:nvSpPr>
        <p:spPr>
          <a:xfrm>
            <a:off x="54862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Fachada (Figura 22)</a:t>
            </a:r>
          </a:p>
        </p:txBody>
      </p:sp>
      <p:sp>
        <p:nvSpPr>
          <p:cNvPr id="9" name="Rounded Rectangle 8"/>
          <p:cNvSpPr/>
          <p:nvPr/>
        </p:nvSpPr>
        <p:spPr>
          <a:xfrm>
            <a:off x="475476"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2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Piso tátil na entrada; a placa situa a escola na rede de Tibau do Sul.</a:t>
            </a:r>
          </a:p>
        </p:txBody>
      </p:sp>
      <p:sp>
        <p:nvSpPr>
          <p:cNvPr id="11" name="Rounded Rectangle 10"/>
          <p:cNvSpPr/>
          <p:nvPr/>
        </p:nvSpPr>
        <p:spPr>
          <a:xfrm>
            <a:off x="3279566"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rredor coberto (Figura 23)"/>
          <p:cNvPicPr>
            <a:picLocks noChangeAspect="1"/>
          </p:cNvPicPr>
          <p:nvPr/>
        </p:nvPicPr>
        <p:blipFill>
          <a:blip r:embed="rId4"/>
          <a:srcRect t="25362" b="25362"/>
          <a:stretch>
            <a:fillRect/>
          </a:stretch>
        </p:blipFill>
        <p:spPr>
          <a:xfrm>
            <a:off x="3352716" y="1402044"/>
            <a:ext cx="2499297" cy="2194505"/>
          </a:xfrm>
          <a:prstGeom prst="rect">
            <a:avLst/>
          </a:prstGeom>
        </p:spPr>
      </p:pic>
      <p:sp>
        <p:nvSpPr>
          <p:cNvPr id="13" name="TextBox 12"/>
          <p:cNvSpPr txBox="1"/>
          <p:nvPr/>
        </p:nvSpPr>
        <p:spPr>
          <a:xfrm>
            <a:off x="335271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Corredor coberto (Figura 23)</a:t>
            </a:r>
          </a:p>
        </p:txBody>
      </p:sp>
      <p:sp>
        <p:nvSpPr>
          <p:cNvPr id="14" name="Rounded Rectangle 13"/>
          <p:cNvSpPr/>
          <p:nvPr/>
        </p:nvSpPr>
        <p:spPr>
          <a:xfrm>
            <a:off x="3279566"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5271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Acessibilidade, cobogós e coleta seletiva no percurso.</a:t>
            </a:r>
          </a:p>
        </p:txBody>
      </p:sp>
      <p:sp>
        <p:nvSpPr>
          <p:cNvPr id="16" name="Rounded Rectangle 15"/>
          <p:cNvSpPr/>
          <p:nvPr/>
        </p:nvSpPr>
        <p:spPr>
          <a:xfrm>
            <a:off x="6083655"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rque na restinga (Figura 24)"/>
          <p:cNvPicPr>
            <a:picLocks noChangeAspect="1"/>
          </p:cNvPicPr>
          <p:nvPr/>
        </p:nvPicPr>
        <p:blipFill>
          <a:blip r:embed="rId5"/>
          <a:srcRect t="25305" b="25305"/>
          <a:stretch>
            <a:fillRect/>
          </a:stretch>
        </p:blipFill>
        <p:spPr>
          <a:xfrm>
            <a:off x="6156806" y="1402044"/>
            <a:ext cx="2499297" cy="2194505"/>
          </a:xfrm>
          <a:prstGeom prst="rect">
            <a:avLst/>
          </a:prstGeom>
        </p:spPr>
      </p:pic>
      <p:sp>
        <p:nvSpPr>
          <p:cNvPr id="18" name="TextBox 17"/>
          <p:cNvSpPr txBox="1"/>
          <p:nvPr/>
        </p:nvSpPr>
        <p:spPr>
          <a:xfrm>
            <a:off x="615680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Parque na restinga (Figura 24)</a:t>
            </a:r>
          </a:p>
        </p:txBody>
      </p:sp>
      <p:sp>
        <p:nvSpPr>
          <p:cNvPr id="19" name="Rounded Rectangle 18"/>
          <p:cNvSpPr/>
          <p:nvPr/>
        </p:nvSpPr>
        <p:spPr>
          <a:xfrm>
            <a:off x="6083655"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5680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Brincadeira e convivência ligadas ao lugar, sem depender de tecnologia.</a:t>
            </a:r>
          </a:p>
        </p:txBody>
      </p:sp>
      <p:sp>
        <p:nvSpPr>
          <p:cNvPr id="21" name="Rounded Rectangle 20"/>
          <p:cNvSpPr/>
          <p:nvPr/>
        </p:nvSpPr>
        <p:spPr>
          <a:xfrm>
            <a:off x="8887745"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Pátio em festa junina (Figura 29)"/>
          <p:cNvPicPr>
            <a:picLocks noChangeAspect="1"/>
          </p:cNvPicPr>
          <p:nvPr/>
        </p:nvPicPr>
        <p:blipFill>
          <a:blip r:embed="rId6"/>
          <a:srcRect l="17969" r="17969"/>
          <a:stretch>
            <a:fillRect/>
          </a:stretch>
        </p:blipFill>
        <p:spPr>
          <a:xfrm>
            <a:off x="8960895" y="1402044"/>
            <a:ext cx="2499297" cy="2194505"/>
          </a:xfrm>
          <a:prstGeom prst="rect">
            <a:avLst/>
          </a:prstGeom>
        </p:spPr>
      </p:pic>
      <p:sp>
        <p:nvSpPr>
          <p:cNvPr id="23" name="TextBox 22"/>
          <p:cNvSpPr txBox="1"/>
          <p:nvPr/>
        </p:nvSpPr>
        <p:spPr>
          <a:xfrm>
            <a:off x="8960895"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Pátio em festa junina (Figura 29)</a:t>
            </a:r>
          </a:p>
        </p:txBody>
      </p:sp>
      <p:sp>
        <p:nvSpPr>
          <p:cNvPr id="24" name="Rounded Rectangle 23"/>
          <p:cNvSpPr/>
          <p:nvPr/>
        </p:nvSpPr>
        <p:spPr>
          <a:xfrm>
            <a:off x="8887745"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0895"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Espaços coletivos de convivência e celebração.</a:t>
            </a:r>
          </a:p>
        </p:txBody>
      </p:sp>
      <p:sp>
        <p:nvSpPr>
          <p:cNvPr id="26" name="Rounded Rectangle 25"/>
          <p:cNvSpPr/>
          <p:nvPr/>
        </p:nvSpPr>
        <p:spPr>
          <a:xfrm>
            <a:off x="548626" y="5760575"/>
            <a:ext cx="11094442" cy="579105"/>
          </a:xfrm>
          <a:prstGeom prst="roundRect">
            <a:avLst>
              <a:gd name="adj" fmla="val 3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01" y="5760575"/>
            <a:ext cx="10728691" cy="579105"/>
          </a:xfrm>
          <a:prstGeom prst="rect">
            <a:avLst/>
          </a:prstGeom>
          <a:noFill/>
        </p:spPr>
        <p:txBody>
          <a:bodyPr wrap="square" lIns="73150" rIns="73150" tIns="73150" bIns="73150" anchor="ctr"/>
          <a:lstStyle/>
          <a:p>
            <a:pPr algn="ctr">
              <a:lnSpc>
                <a:spcPct val="100000"/>
              </a:lnSpc>
            </a:pPr>
            <a:r>
              <a:rPr sz="1333" b="0">
                <a:solidFill>
                  <a:srgbClr val="1A1A1A"/>
                </a:solidFill>
                <a:latin typeface="Arial"/>
              </a:rPr>
              <a:t>As condições materiais da escola vão além da ausência de recursos. Cabe ver como estão distribuídas.</a:t>
            </a:r>
          </a:p>
        </p:txBody>
      </p:sp>
      <p:sp>
        <p:nvSpPr>
          <p:cNvPr id="28" name="TextBox 2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Massey (2008); Santos (2006); Dornelles (2005): infâncias plurais. Fonte: acervo da pesquisa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ONDE ESTÃO OS RECURSOS?</a:t>
            </a:r>
          </a:p>
        </p:txBody>
      </p:sp>
      <p:sp>
        <p:nvSpPr>
          <p:cNvPr id="6" name="Rounded Rectangle 5"/>
          <p:cNvSpPr/>
          <p:nvPr/>
        </p:nvSpPr>
        <p:spPr>
          <a:xfrm>
            <a:off x="475476"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rredor administrativo (Figura 28)"/>
          <p:cNvPicPr>
            <a:picLocks noChangeAspect="1"/>
          </p:cNvPicPr>
          <p:nvPr/>
        </p:nvPicPr>
        <p:blipFill>
          <a:blip r:embed="rId3"/>
          <a:srcRect t="33426" b="33426"/>
          <a:stretch>
            <a:fillRect/>
          </a:stretch>
        </p:blipFill>
        <p:spPr>
          <a:xfrm>
            <a:off x="548626" y="1371565"/>
            <a:ext cx="3413674" cy="2011629"/>
          </a:xfrm>
          <a:prstGeom prst="rect">
            <a:avLst/>
          </a:prstGeom>
        </p:spPr>
      </p:pic>
      <p:sp>
        <p:nvSpPr>
          <p:cNvPr id="8" name="TextBox 7"/>
          <p:cNvSpPr txBox="1"/>
          <p:nvPr/>
        </p:nvSpPr>
        <p:spPr>
          <a:xfrm>
            <a:off x="548626"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Corredor administrativo (Figura 28)</a:t>
            </a:r>
          </a:p>
        </p:txBody>
      </p:sp>
      <p:sp>
        <p:nvSpPr>
          <p:cNvPr id="9" name="Rounded Rectangle 8"/>
          <p:cNvSpPr/>
          <p:nvPr/>
        </p:nvSpPr>
        <p:spPr>
          <a:xfrm>
            <a:off x="475476"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26"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No enquadramento, há ar-condicionado nas salas da equipe; nos demais ambientes, nenhum aparelho. As razões, a fotografia não revela.</a:t>
            </a:r>
          </a:p>
        </p:txBody>
      </p:sp>
      <p:sp>
        <p:nvSpPr>
          <p:cNvPr id="11" name="Rounded Rectangle 10"/>
          <p:cNvSpPr/>
          <p:nvPr/>
        </p:nvSpPr>
        <p:spPr>
          <a:xfrm>
            <a:off x="4224422"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ala dos professores (Figura 31)"/>
          <p:cNvPicPr>
            <a:picLocks noChangeAspect="1"/>
          </p:cNvPicPr>
          <p:nvPr/>
        </p:nvPicPr>
        <p:blipFill>
          <a:blip r:embed="rId4"/>
          <a:srcRect t="33426" b="33426"/>
          <a:stretch>
            <a:fillRect/>
          </a:stretch>
        </p:blipFill>
        <p:spPr>
          <a:xfrm>
            <a:off x="4297572" y="1371565"/>
            <a:ext cx="3413674" cy="2011629"/>
          </a:xfrm>
          <a:prstGeom prst="rect">
            <a:avLst/>
          </a:prstGeom>
        </p:spPr>
      </p:pic>
      <p:sp>
        <p:nvSpPr>
          <p:cNvPr id="13" name="TextBox 12"/>
          <p:cNvSpPr txBox="1"/>
          <p:nvPr/>
        </p:nvSpPr>
        <p:spPr>
          <a:xfrm>
            <a:off x="4297572"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Sala dos professores (Figura 31)</a:t>
            </a:r>
          </a:p>
        </p:txBody>
      </p:sp>
      <p:sp>
        <p:nvSpPr>
          <p:cNvPr id="14" name="Rounded Rectangle 13"/>
          <p:cNvSpPr/>
          <p:nvPr/>
        </p:nvSpPr>
        <p:spPr>
          <a:xfrm>
            <a:off x="4224422"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572"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O único computador registrado está no espaço de trabalho da equipe. Nenhum equipamento semelhante aparece nas salas.</a:t>
            </a:r>
          </a:p>
        </p:txBody>
      </p:sp>
      <p:sp>
        <p:nvSpPr>
          <p:cNvPr id="16" name="Rounded Rectangle 15"/>
          <p:cNvSpPr/>
          <p:nvPr/>
        </p:nvSpPr>
        <p:spPr>
          <a:xfrm>
            <a:off x="7973368"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aboratório (Figura 25)"/>
          <p:cNvPicPr>
            <a:picLocks noChangeAspect="1"/>
          </p:cNvPicPr>
          <p:nvPr/>
        </p:nvPicPr>
        <p:blipFill>
          <a:blip r:embed="rId5"/>
          <a:srcRect l="2273" r="2273"/>
          <a:stretch>
            <a:fillRect/>
          </a:stretch>
        </p:blipFill>
        <p:spPr>
          <a:xfrm>
            <a:off x="8046518" y="1371565"/>
            <a:ext cx="3413674" cy="2011629"/>
          </a:xfrm>
          <a:prstGeom prst="rect">
            <a:avLst/>
          </a:prstGeom>
        </p:spPr>
      </p:pic>
      <p:sp>
        <p:nvSpPr>
          <p:cNvPr id="18" name="TextBox 17"/>
          <p:cNvSpPr txBox="1"/>
          <p:nvPr/>
        </p:nvSpPr>
        <p:spPr>
          <a:xfrm>
            <a:off x="8046518"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Laboratório (Figura 25)</a:t>
            </a:r>
          </a:p>
        </p:txBody>
      </p:sp>
      <p:sp>
        <p:nvSpPr>
          <p:cNvPr id="19" name="Rounded Rectangle 18"/>
          <p:cNvSpPr/>
          <p:nvPr/>
        </p:nvSpPr>
        <p:spPr>
          <a:xfrm>
            <a:off x="7973368"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518"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Equipamentos desligados no momento do registro. Montado pela Prefeitura em 2022, com recursos próprios (preliminar).</a:t>
            </a:r>
          </a:p>
        </p:txBody>
      </p:sp>
      <p:sp>
        <p:nvSpPr>
          <p:cNvPr id="21" name="Rounded Rectangle 20"/>
          <p:cNvSpPr/>
          <p:nvPr/>
        </p:nvSpPr>
        <p:spPr>
          <a:xfrm>
            <a:off x="548626" y="5577700"/>
            <a:ext cx="11094442" cy="761980"/>
          </a:xfrm>
          <a:prstGeom prst="roundRect">
            <a:avLst>
              <a:gd name="adj" fmla="val 25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01" y="5577700"/>
            <a:ext cx="10728691" cy="761980"/>
          </a:xfrm>
          <a:prstGeom prst="rect">
            <a:avLst/>
          </a:prstGeom>
          <a:noFill/>
        </p:spPr>
        <p:txBody>
          <a:bodyPr wrap="square" lIns="73150" rIns="73150" tIns="73150" bIns="73150" anchor="ctr"/>
          <a:lstStyle/>
          <a:p>
            <a:pPr algn="ctr">
              <a:lnSpc>
                <a:spcPct val="105000"/>
              </a:lnSpc>
            </a:pPr>
            <a:r>
              <a:rPr sz="1266" b="1">
                <a:solidFill>
                  <a:srgbClr val="1A1A1A"/>
                </a:solidFill>
                <a:latin typeface="Arial"/>
              </a:rPr>
              <a:t>A conexão chegou ao prédio; os dispositivos não chegaram às salas.</a:t>
            </a:r>
          </a:p>
          <a:p>
            <a:pPr algn="ctr">
              <a:lnSpc>
                <a:spcPct val="105000"/>
              </a:lnSpc>
            </a:pPr>
            <a:r>
              <a:rPr sz="1266" b="0">
                <a:solidFill>
                  <a:srgbClr val="1A1A1A"/>
                </a:solidFill>
                <a:latin typeface="Arial"/>
              </a:rPr>
              <a:t>PIEC: um repasse anual para conexão e equipamentos; um kit multimídia para toda a escola (preliminares).</a:t>
            </a:r>
          </a:p>
        </p:txBody>
      </p:sp>
      <p:sp>
        <p:nvSpPr>
          <p:cNvPr id="23" name="TextBox 2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Ball, Maguire e Braun (2016): dimensão material; Brasil (2017; 2021): PIEC. Fonte: acervo da pesquisa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AS SALAS: TUDO IMPRESSO OU FEITO À MÃO</a:t>
            </a:r>
          </a:p>
        </p:txBody>
      </p:sp>
      <p:sp>
        <p:nvSpPr>
          <p:cNvPr id="6" name="Rounded Rectangle 5"/>
          <p:cNvSpPr/>
          <p:nvPr/>
        </p:nvSpPr>
        <p:spPr>
          <a:xfrm>
            <a:off x="475476" y="1328894"/>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biente alfabetizador (Figura 32)"/>
          <p:cNvPicPr>
            <a:picLocks noChangeAspect="1"/>
          </p:cNvPicPr>
          <p:nvPr/>
        </p:nvPicPr>
        <p:blipFill>
          <a:blip r:embed="rId3"/>
          <a:srcRect l="6144" r="6144"/>
          <a:stretch>
            <a:fillRect/>
          </a:stretch>
        </p:blipFill>
        <p:spPr>
          <a:xfrm>
            <a:off x="548626" y="1402044"/>
            <a:ext cx="2804089" cy="1798275"/>
          </a:xfrm>
          <a:prstGeom prst="rect">
            <a:avLst/>
          </a:prstGeom>
        </p:spPr>
      </p:pic>
      <p:sp>
        <p:nvSpPr>
          <p:cNvPr id="8" name="TextBox 7"/>
          <p:cNvSpPr txBox="1"/>
          <p:nvPr/>
        </p:nvSpPr>
        <p:spPr>
          <a:xfrm>
            <a:off x="548626" y="3212511"/>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Ambiente alfabetizador (Figura 32)</a:t>
            </a:r>
          </a:p>
        </p:txBody>
      </p:sp>
      <p:sp>
        <p:nvSpPr>
          <p:cNvPr id="9" name="Rounded Rectangle 8"/>
          <p:cNvSpPr/>
          <p:nvPr/>
        </p:nvSpPr>
        <p:spPr>
          <a:xfrm>
            <a:off x="3523399" y="1328894"/>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isposição semicircular (Figura 34)"/>
          <p:cNvPicPr>
            <a:picLocks noChangeAspect="1"/>
          </p:cNvPicPr>
          <p:nvPr/>
        </p:nvPicPr>
        <p:blipFill>
          <a:blip r:embed="rId4"/>
          <a:srcRect l="6144" r="6144"/>
          <a:stretch>
            <a:fillRect/>
          </a:stretch>
        </p:blipFill>
        <p:spPr>
          <a:xfrm>
            <a:off x="3596550" y="1402044"/>
            <a:ext cx="2804089" cy="1798275"/>
          </a:xfrm>
          <a:prstGeom prst="rect">
            <a:avLst/>
          </a:prstGeom>
        </p:spPr>
      </p:pic>
      <p:sp>
        <p:nvSpPr>
          <p:cNvPr id="11" name="TextBox 10"/>
          <p:cNvSpPr txBox="1"/>
          <p:nvPr/>
        </p:nvSpPr>
        <p:spPr>
          <a:xfrm>
            <a:off x="3596550" y="3212511"/>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Disposição semicircular (Figura 34)</a:t>
            </a:r>
          </a:p>
        </p:txBody>
      </p:sp>
      <p:sp>
        <p:nvSpPr>
          <p:cNvPr id="12" name="Rounded Rectangle 11"/>
          <p:cNvSpPr/>
          <p:nvPr/>
        </p:nvSpPr>
        <p:spPr>
          <a:xfrm>
            <a:off x="475476" y="3767233"/>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inel numérico (Figura 36)"/>
          <p:cNvPicPr>
            <a:picLocks noChangeAspect="1"/>
          </p:cNvPicPr>
          <p:nvPr/>
        </p:nvPicPr>
        <p:blipFill>
          <a:blip r:embed="rId5"/>
          <a:srcRect l="6144" r="6144"/>
          <a:stretch>
            <a:fillRect/>
          </a:stretch>
        </p:blipFill>
        <p:spPr>
          <a:xfrm>
            <a:off x="548626" y="3840383"/>
            <a:ext cx="2804089" cy="1798275"/>
          </a:xfrm>
          <a:prstGeom prst="rect">
            <a:avLst/>
          </a:prstGeom>
        </p:spPr>
      </p:pic>
      <p:sp>
        <p:nvSpPr>
          <p:cNvPr id="14" name="TextBox 13"/>
          <p:cNvSpPr txBox="1"/>
          <p:nvPr/>
        </p:nvSpPr>
        <p:spPr>
          <a:xfrm>
            <a:off x="548626" y="5650850"/>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Painel numérico (Figura 36)</a:t>
            </a:r>
          </a:p>
        </p:txBody>
      </p:sp>
      <p:sp>
        <p:nvSpPr>
          <p:cNvPr id="15" name="Rounded Rectangle 14"/>
          <p:cNvSpPr/>
          <p:nvPr/>
        </p:nvSpPr>
        <p:spPr>
          <a:xfrm>
            <a:off x="3523399" y="3767233"/>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fabeto móvel (Figura 37)"/>
          <p:cNvPicPr>
            <a:picLocks noChangeAspect="1"/>
          </p:cNvPicPr>
          <p:nvPr/>
        </p:nvPicPr>
        <p:blipFill>
          <a:blip r:embed="rId6"/>
          <a:srcRect l="6144" r="6144"/>
          <a:stretch>
            <a:fillRect/>
          </a:stretch>
        </p:blipFill>
        <p:spPr>
          <a:xfrm>
            <a:off x="3596550" y="3840383"/>
            <a:ext cx="2804089" cy="1798275"/>
          </a:xfrm>
          <a:prstGeom prst="rect">
            <a:avLst/>
          </a:prstGeom>
        </p:spPr>
      </p:pic>
      <p:sp>
        <p:nvSpPr>
          <p:cNvPr id="17" name="TextBox 16"/>
          <p:cNvSpPr txBox="1"/>
          <p:nvPr/>
        </p:nvSpPr>
        <p:spPr>
          <a:xfrm>
            <a:off x="3596550" y="5650850"/>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Alfabeto móvel (Figura 37)</a:t>
            </a:r>
          </a:p>
        </p:txBody>
      </p:sp>
      <p:sp>
        <p:nvSpPr>
          <p:cNvPr id="18" name="Rounded Rectangle 17"/>
          <p:cNvSpPr/>
          <p:nvPr/>
        </p:nvSpPr>
        <p:spPr>
          <a:xfrm>
            <a:off x="6674953" y="1328894"/>
            <a:ext cx="4968115" cy="493763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828" y="1402044"/>
            <a:ext cx="4632844" cy="4815719"/>
          </a:xfrm>
          <a:prstGeom prst="rect">
            <a:avLst/>
          </a:prstGeom>
          <a:noFill/>
        </p:spPr>
        <p:txBody>
          <a:bodyPr wrap="square" lIns="73150" rIns="73150" tIns="73150" bIns="73150" anchor="t"/>
          <a:lstStyle/>
          <a:p>
            <a:pPr algn="l">
              <a:lnSpc>
                <a:spcPct val="115000"/>
              </a:lnSpc>
              <a:spcAft>
                <a:spcPts val="799"/>
              </a:spcAft>
            </a:pPr>
            <a:r>
              <a:rPr sz="1466" b="1">
                <a:solidFill>
                  <a:srgbClr val="1A1A1A"/>
                </a:solidFill>
                <a:latin typeface="Arial"/>
              </a:rPr>
              <a:t>Salas fotografadas: </a:t>
            </a:r>
            <a:r>
              <a:rPr sz="1466" b="0">
                <a:solidFill>
                  <a:srgbClr val="1A1A1A"/>
                </a:solidFill>
                <a:latin typeface="Arial"/>
              </a:rPr>
              <a:t>carteiras, ventiladores, murais e produções das crianças; nenhum computador, tela ou dispositivo digital.</a:t>
            </a:r>
          </a:p>
          <a:p>
            <a:pPr algn="l">
              <a:lnSpc>
                <a:spcPct val="115000"/>
              </a:lnSpc>
              <a:spcAft>
                <a:spcPts val="799"/>
              </a:spcAft>
            </a:pPr>
            <a:r>
              <a:rPr sz="1466" b="1">
                <a:solidFill>
                  <a:srgbClr val="1A1A1A"/>
                </a:solidFill>
                <a:latin typeface="Arial"/>
              </a:rPr>
              <a:t>Pensamento computacional: </a:t>
            </a:r>
            <a:r>
              <a:rPr sz="1466" b="0">
                <a:solidFill>
                  <a:srgbClr val="1A1A1A"/>
                </a:solidFill>
                <a:latin typeface="Arial"/>
              </a:rPr>
              <a:t>o painel remete a sequência e correspondência (art. 3º, I); a foto registra o painel, sem mostrar seu uso.</a:t>
            </a:r>
          </a:p>
          <a:p>
            <a:pPr algn="l">
              <a:lnSpc>
                <a:spcPct val="115000"/>
              </a:lnSpc>
              <a:spcAft>
                <a:spcPts val="799"/>
              </a:spcAft>
            </a:pPr>
            <a:r>
              <a:rPr sz="1466" b="1">
                <a:solidFill>
                  <a:srgbClr val="1A1A1A"/>
                </a:solidFill>
                <a:latin typeface="Arial"/>
              </a:rPr>
              <a:t>Com Soares (2020, p. 13): </a:t>
            </a:r>
            <a:r>
              <a:rPr sz="1466" b="0">
                <a:solidFill>
                  <a:srgbClr val="1A1A1A"/>
                </a:solidFill>
                <a:latin typeface="Arial"/>
              </a:rPr>
              <a:t>jogos e artefatos feitos com as crianças substituem tecnologias “com vantagem”.</a:t>
            </a:r>
          </a:p>
          <a:p>
            <a:pPr algn="l">
              <a:lnSpc>
                <a:spcPct val="115000"/>
              </a:lnSpc>
            </a:pPr>
            <a:r>
              <a:rPr sz="1466" b="1">
                <a:solidFill>
                  <a:srgbClr val="1A1A1A"/>
                </a:solidFill>
                <a:latin typeface="Arial"/>
              </a:rPr>
              <a:t>Cautela da tese: </a:t>
            </a:r>
            <a:r>
              <a:rPr sz="1466" b="0">
                <a:solidFill>
                  <a:srgbClr val="1A1A1A"/>
                </a:solidFill>
                <a:latin typeface="Arial"/>
              </a:rPr>
              <a:t>alguém os produziu, e em algum tempo. A que custo, só as narrativas dirão.</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Valente (1999); Soares (2020); Brasil (2023). Fonte: acervo da pesquisa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RUGOSIDADE TECNOLÓGICA: PERDA OU AUSÊNCIA?</a:t>
            </a:r>
          </a:p>
        </p:txBody>
      </p:sp>
      <p:sp>
        <p:nvSpPr>
          <p:cNvPr id="6" name="TextBox 5"/>
          <p:cNvSpPr txBox="1"/>
          <p:nvPr/>
        </p:nvSpPr>
        <p:spPr>
          <a:xfrm>
            <a:off x="548626" y="1188690"/>
            <a:ext cx="11094442" cy="731501"/>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“As rugosidades – formas remanescentes dos períodos anteriores – devem ser levadas em conta quando uma sociedade procura impor novas funções” (SANTOS, 2012, p. 75).</a:t>
            </a:r>
          </a:p>
        </p:txBody>
      </p:sp>
      <p:sp>
        <p:nvSpPr>
          <p:cNvPr id="7" name="Rounded Rectangle 6"/>
          <p:cNvSpPr/>
          <p:nvPr/>
        </p:nvSpPr>
        <p:spPr>
          <a:xfrm>
            <a:off x="475476" y="2029917"/>
            <a:ext cx="2828473"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 cruzeiro (Figura 10)"/>
          <p:cNvPicPr>
            <a:picLocks noChangeAspect="1"/>
          </p:cNvPicPr>
          <p:nvPr/>
        </p:nvPicPr>
        <p:blipFill>
          <a:blip r:embed="rId3"/>
          <a:srcRect l="1213" r="1213"/>
          <a:stretch>
            <a:fillRect/>
          </a:stretch>
        </p:blipFill>
        <p:spPr>
          <a:xfrm>
            <a:off x="548626" y="2103067"/>
            <a:ext cx="2682172" cy="1828754"/>
          </a:xfrm>
          <a:prstGeom prst="rect">
            <a:avLst/>
          </a:prstGeom>
        </p:spPr>
      </p:pic>
      <p:sp>
        <p:nvSpPr>
          <p:cNvPr id="9" name="TextBox 8"/>
          <p:cNvSpPr txBox="1"/>
          <p:nvPr/>
        </p:nvSpPr>
        <p:spPr>
          <a:xfrm>
            <a:off x="548626" y="3944013"/>
            <a:ext cx="2682172"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cruzeiro (Figura 10)</a:t>
            </a:r>
          </a:p>
        </p:txBody>
      </p:sp>
      <p:sp>
        <p:nvSpPr>
          <p:cNvPr id="10" name="Rounded Rectangle 9"/>
          <p:cNvSpPr/>
          <p:nvPr/>
        </p:nvSpPr>
        <p:spPr>
          <a:xfrm>
            <a:off x="3474633" y="2029917"/>
            <a:ext cx="2499297" cy="240785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6550" y="2103067"/>
            <a:ext cx="2255463" cy="2285942"/>
          </a:xfrm>
          <a:prstGeom prst="rect">
            <a:avLst/>
          </a:prstGeom>
          <a:noFill/>
        </p:spPr>
        <p:txBody>
          <a:bodyPr wrap="square" lIns="73150" rIns="73150" tIns="73150" bIns="73150" anchor="t"/>
          <a:lstStyle/>
          <a:p>
            <a:pPr algn="l">
              <a:lnSpc>
                <a:spcPct val="115000"/>
              </a:lnSpc>
              <a:spcAft>
                <a:spcPts val="533"/>
              </a:spcAft>
            </a:pPr>
            <a:r>
              <a:rPr sz="1399" b="1">
                <a:solidFill>
                  <a:srgbClr val="6C4FD8"/>
                </a:solidFill>
                <a:latin typeface="Arial"/>
              </a:rPr>
              <a:t>Por perda</a:t>
            </a:r>
          </a:p>
          <a:p>
            <a:pPr algn="l">
              <a:lnSpc>
                <a:spcPct val="115000"/>
              </a:lnSpc>
            </a:pPr>
            <a:r>
              <a:rPr sz="1399" b="0">
                <a:solidFill>
                  <a:srgbClr val="1A1A1A"/>
                </a:solidFill>
                <a:latin typeface="Arial"/>
              </a:rPr>
              <a:t>A forma sobrevive a uma função que existiu e cessou. Pede atualizar ou substituir.</a:t>
            </a:r>
          </a:p>
        </p:txBody>
      </p:sp>
      <p:sp>
        <p:nvSpPr>
          <p:cNvPr id="12" name="Rounded Rectangle 11"/>
          <p:cNvSpPr/>
          <p:nvPr/>
        </p:nvSpPr>
        <p:spPr>
          <a:xfrm>
            <a:off x="6205572" y="2029917"/>
            <a:ext cx="2828473"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 laboratório (Figura 25)"/>
          <p:cNvPicPr>
            <a:picLocks noChangeAspect="1"/>
          </p:cNvPicPr>
          <p:nvPr/>
        </p:nvPicPr>
        <p:blipFill>
          <a:blip r:embed="rId4"/>
          <a:srcRect l="8750" r="8750"/>
          <a:stretch>
            <a:fillRect/>
          </a:stretch>
        </p:blipFill>
        <p:spPr>
          <a:xfrm>
            <a:off x="6278723" y="2103067"/>
            <a:ext cx="2682172" cy="1828754"/>
          </a:xfrm>
          <a:prstGeom prst="rect">
            <a:avLst/>
          </a:prstGeom>
        </p:spPr>
      </p:pic>
      <p:sp>
        <p:nvSpPr>
          <p:cNvPr id="14" name="TextBox 13"/>
          <p:cNvSpPr txBox="1"/>
          <p:nvPr/>
        </p:nvSpPr>
        <p:spPr>
          <a:xfrm>
            <a:off x="6278723" y="3944013"/>
            <a:ext cx="2682172"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laboratório (Figura 25)</a:t>
            </a:r>
          </a:p>
        </p:txBody>
      </p:sp>
      <p:sp>
        <p:nvSpPr>
          <p:cNvPr id="15" name="Rounded Rectangle 14"/>
          <p:cNvSpPr/>
          <p:nvPr/>
        </p:nvSpPr>
        <p:spPr>
          <a:xfrm>
            <a:off x="9204729" y="2029917"/>
            <a:ext cx="2438339" cy="240785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646" y="2103067"/>
            <a:ext cx="2194505" cy="2285942"/>
          </a:xfrm>
          <a:prstGeom prst="rect">
            <a:avLst/>
          </a:prstGeom>
          <a:noFill/>
        </p:spPr>
        <p:txBody>
          <a:bodyPr wrap="square" lIns="73150" rIns="73150" tIns="73150" bIns="73150" anchor="t"/>
          <a:lstStyle/>
          <a:p>
            <a:pPr algn="l">
              <a:lnSpc>
                <a:spcPct val="115000"/>
              </a:lnSpc>
              <a:spcAft>
                <a:spcPts val="533"/>
              </a:spcAft>
            </a:pPr>
            <a:r>
              <a:rPr sz="1399" b="1">
                <a:solidFill>
                  <a:srgbClr val="6C4FD8"/>
                </a:solidFill>
                <a:latin typeface="Arial"/>
              </a:rPr>
              <a:t>Por ausência</a:t>
            </a:r>
          </a:p>
          <a:p>
            <a:pPr algn="l">
              <a:lnSpc>
                <a:spcPct val="115000"/>
              </a:lnSpc>
            </a:pPr>
            <a:r>
              <a:rPr sz="1399" b="0">
                <a:solidFill>
                  <a:srgbClr val="1A1A1A"/>
                </a:solidFill>
                <a:latin typeface="Arial"/>
              </a:rPr>
              <a:t>A forma é instalada sem o sistema de ações que lhe daria função. Pede formação, suporte e tempo.</a:t>
            </a:r>
          </a:p>
        </p:txBody>
      </p:sp>
      <p:sp>
        <p:nvSpPr>
          <p:cNvPr id="17" name="Rounded Rectangle 16"/>
          <p:cNvSpPr/>
          <p:nvPr/>
        </p:nvSpPr>
        <p:spPr>
          <a:xfrm>
            <a:off x="548626" y="4724281"/>
            <a:ext cx="11094442" cy="1554441"/>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0" y="4754761"/>
            <a:ext cx="10606774" cy="1493482"/>
          </a:xfrm>
          <a:prstGeom prst="rect">
            <a:avLst/>
          </a:prstGeom>
          <a:noFill/>
        </p:spPr>
        <p:txBody>
          <a:bodyPr wrap="square" lIns="73150" rIns="73150" tIns="73150" bIns="73150" anchor="ctr"/>
          <a:lstStyle/>
          <a:p>
            <a:pPr algn="l">
              <a:lnSpc>
                <a:spcPct val="115000"/>
              </a:lnSpc>
              <a:spcAft>
                <a:spcPts val="666"/>
              </a:spcAft>
            </a:pPr>
            <a:r>
              <a:rPr sz="1533" b="1">
                <a:solidFill>
                  <a:srgbClr val="1A1A1A"/>
                </a:solidFill>
                <a:latin typeface="Arial"/>
              </a:rPr>
              <a:t>O laboratório de 2022 </a:t>
            </a:r>
            <a:r>
              <a:rPr sz="1533" b="0">
                <a:solidFill>
                  <a:srgbClr val="1A1A1A"/>
                </a:solidFill>
                <a:latin typeface="Arial"/>
              </a:rPr>
              <a:t>é anterior à PNED e sem relação com programas federais extintos (preliminar).</a:t>
            </a:r>
          </a:p>
          <a:p>
            <a:pPr algn="l">
              <a:lnSpc>
                <a:spcPct val="115000"/>
              </a:lnSpc>
            </a:pPr>
            <a:r>
              <a:rPr sz="1533" b="1">
                <a:solidFill>
                  <a:srgbClr val="1A1A1A"/>
                </a:solidFill>
                <a:latin typeface="Arial"/>
              </a:rPr>
              <a:t>Se o Censo o registra </a:t>
            </a:r>
            <a:r>
              <a:rPr sz="1533" b="0">
                <a:solidFill>
                  <a:srgbClr val="1A1A1A"/>
                </a:solidFill>
                <a:latin typeface="Arial"/>
              </a:rPr>
              <a:t>e os cadernos de uso não, a forma conta nos números mesmo quando a função não se constituiu.</a:t>
            </a:r>
          </a:p>
        </p:txBody>
      </p:sp>
      <p:sp>
        <p:nvSpPr>
          <p:cNvPr id="19" name="TextBox 18"/>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(2006; 2012); rugosidade tecnológica como formulação própria da tese.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TERRITÓRIO DOCUMENTADO E PRESCRITO</a:t>
            </a:r>
          </a:p>
        </p:txBody>
      </p:sp>
      <p:sp>
        <p:nvSpPr>
          <p:cNvPr id="6" name="Rounded Rectangle 5"/>
          <p:cNvSpPr/>
          <p:nvPr/>
        </p:nvSpPr>
        <p:spPr>
          <a:xfrm>
            <a:off x="548626" y="1341086"/>
            <a:ext cx="2072588"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341086"/>
            <a:ext cx="2072588"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Dimensão</a:t>
            </a:r>
          </a:p>
        </p:txBody>
      </p:sp>
      <p:sp>
        <p:nvSpPr>
          <p:cNvPr id="8" name="Rounded Rectangle 7"/>
          <p:cNvSpPr/>
          <p:nvPr/>
        </p:nvSpPr>
        <p:spPr>
          <a:xfrm>
            <a:off x="2657789" y="1341086"/>
            <a:ext cx="4632844"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7789" y="1341086"/>
            <a:ext cx="4632844"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Condições documentadas no território e na escola</a:t>
            </a:r>
          </a:p>
        </p:txBody>
      </p:sp>
      <p:sp>
        <p:nvSpPr>
          <p:cNvPr id="10" name="Rounded Rectangle 9"/>
          <p:cNvSpPr/>
          <p:nvPr/>
        </p:nvSpPr>
        <p:spPr>
          <a:xfrm>
            <a:off x="7327208" y="1341086"/>
            <a:ext cx="4267093"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27208" y="1341086"/>
            <a:ext cx="4267093"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O que a BNCC e a PNED orientam</a:t>
            </a:r>
          </a:p>
        </p:txBody>
      </p:sp>
      <p:sp>
        <p:nvSpPr>
          <p:cNvPr id="12" name="Rounded Rectangle 11"/>
          <p:cNvSpPr/>
          <p:nvPr/>
        </p:nvSpPr>
        <p:spPr>
          <a:xfrm>
            <a:off x="548626" y="1758652"/>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26" y="1758652"/>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Acesso e conectividade</a:t>
            </a:r>
          </a:p>
        </p:txBody>
      </p:sp>
      <p:sp>
        <p:nvSpPr>
          <p:cNvPr id="14" name="Rounded Rectangle 13"/>
          <p:cNvSpPr/>
          <p:nvPr/>
        </p:nvSpPr>
        <p:spPr>
          <a:xfrm>
            <a:off x="2657789" y="1758652"/>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7789" y="1758652"/>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Tecnologias ligadas ao turismo e ao consumo; na escola, conexões com finalidades distintas (preliminar)</a:t>
            </a:r>
          </a:p>
        </p:txBody>
      </p:sp>
      <p:sp>
        <p:nvSpPr>
          <p:cNvPr id="16" name="Rounded Rectangle 15"/>
          <p:cNvSpPr/>
          <p:nvPr/>
        </p:nvSpPr>
        <p:spPr>
          <a:xfrm>
            <a:off x="7327208" y="1758652"/>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7208" y="1758652"/>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Ampliar o acesso à conectividade, aos dispositivos e aos recursos digitais</a:t>
            </a:r>
          </a:p>
        </p:txBody>
      </p:sp>
      <p:sp>
        <p:nvSpPr>
          <p:cNvPr id="18" name="Rounded Rectangle 17"/>
          <p:cNvSpPr/>
          <p:nvPr/>
        </p:nvSpPr>
        <p:spPr>
          <a:xfrm>
            <a:off x="548626" y="2410907"/>
            <a:ext cx="2072588" cy="85037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26" y="2410907"/>
            <a:ext cx="2072588" cy="85037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Cultura digital</a:t>
            </a:r>
          </a:p>
        </p:txBody>
      </p:sp>
      <p:sp>
        <p:nvSpPr>
          <p:cNvPr id="20" name="Rounded Rectangle 19"/>
          <p:cNvSpPr/>
          <p:nvPr/>
        </p:nvSpPr>
        <p:spPr>
          <a:xfrm>
            <a:off x="2657789" y="2410907"/>
            <a:ext cx="4632844" cy="85037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7789" y="2410907"/>
            <a:ext cx="4632844" cy="85037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Práticas digitais intensas no turismo, no comércio e nas famílias; nas salas, nenhum recurso visível para trabalhá-las</a:t>
            </a:r>
          </a:p>
        </p:txBody>
      </p:sp>
      <p:sp>
        <p:nvSpPr>
          <p:cNvPr id="22" name="Rounded Rectangle 21"/>
          <p:cNvSpPr/>
          <p:nvPr/>
        </p:nvSpPr>
        <p:spPr>
          <a:xfrm>
            <a:off x="7327208" y="2410907"/>
            <a:ext cx="4267093" cy="85037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7208" y="2410907"/>
            <a:ext cx="4267093" cy="85037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Conhecimentos, competências e práticas de cultura digital</a:t>
            </a:r>
          </a:p>
        </p:txBody>
      </p:sp>
      <p:sp>
        <p:nvSpPr>
          <p:cNvPr id="24" name="Rounded Rectangle 23"/>
          <p:cNvSpPr/>
          <p:nvPr/>
        </p:nvSpPr>
        <p:spPr>
          <a:xfrm>
            <a:off x="548626" y="3297853"/>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26" y="3297853"/>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Linguagens</a:t>
            </a:r>
          </a:p>
        </p:txBody>
      </p:sp>
      <p:sp>
        <p:nvSpPr>
          <p:cNvPr id="26" name="Rounded Rectangle 25"/>
          <p:cNvSpPr/>
          <p:nvPr/>
        </p:nvSpPr>
        <p:spPr>
          <a:xfrm>
            <a:off x="2657789" y="3297853"/>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7789" y="3297853"/>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Linguagens diversas ligadas ao turismo e à circulação no território</a:t>
            </a:r>
          </a:p>
        </p:txBody>
      </p:sp>
      <p:sp>
        <p:nvSpPr>
          <p:cNvPr id="28" name="Rounded Rectangle 27"/>
          <p:cNvSpPr/>
          <p:nvPr/>
        </p:nvSpPr>
        <p:spPr>
          <a:xfrm>
            <a:off x="7327208" y="3297853"/>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27208" y="3297853"/>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Integrar as tecnologias e as competências dos referenciais curriculares</a:t>
            </a:r>
          </a:p>
        </p:txBody>
      </p:sp>
      <p:sp>
        <p:nvSpPr>
          <p:cNvPr id="30" name="Rounded Rectangle 29"/>
          <p:cNvSpPr/>
          <p:nvPr/>
        </p:nvSpPr>
        <p:spPr>
          <a:xfrm>
            <a:off x="548626" y="3950109"/>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26" y="3950109"/>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Mediação</a:t>
            </a:r>
          </a:p>
        </p:txBody>
      </p:sp>
      <p:sp>
        <p:nvSpPr>
          <p:cNvPr id="32" name="Rounded Rectangle 31"/>
          <p:cNvSpPr/>
          <p:nvPr/>
        </p:nvSpPr>
        <p:spPr>
          <a:xfrm>
            <a:off x="2657789" y="3950109"/>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7789" y="3950109"/>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Não identificável pelos registros materiais</a:t>
            </a:r>
          </a:p>
        </p:txBody>
      </p:sp>
      <p:sp>
        <p:nvSpPr>
          <p:cNvPr id="34" name="Rounded Rectangle 33"/>
          <p:cNvSpPr/>
          <p:nvPr/>
        </p:nvSpPr>
        <p:spPr>
          <a:xfrm>
            <a:off x="7327208" y="3950109"/>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7208" y="3950109"/>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Apropriação crítica, ética e responsável das tecnologias</a:t>
            </a:r>
          </a:p>
        </p:txBody>
      </p:sp>
      <p:sp>
        <p:nvSpPr>
          <p:cNvPr id="36" name="Rounded Rectangle 35"/>
          <p:cNvSpPr/>
          <p:nvPr/>
        </p:nvSpPr>
        <p:spPr>
          <a:xfrm>
            <a:off x="548626" y="4602364"/>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26" y="4602364"/>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Infraestrutura</a:t>
            </a:r>
          </a:p>
        </p:txBody>
      </p:sp>
      <p:sp>
        <p:nvSpPr>
          <p:cNvPr id="38" name="Rounded Rectangle 37"/>
          <p:cNvSpPr/>
          <p:nvPr/>
        </p:nvSpPr>
        <p:spPr>
          <a:xfrm>
            <a:off x="2657789" y="4602364"/>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57789" y="4602364"/>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Laboratório e equipamentos em espaços específicos; nenhum dispositivo visível nas salas</a:t>
            </a:r>
          </a:p>
        </p:txBody>
      </p:sp>
      <p:sp>
        <p:nvSpPr>
          <p:cNvPr id="40" name="Rounded Rectangle 39"/>
          <p:cNvSpPr/>
          <p:nvPr/>
        </p:nvSpPr>
        <p:spPr>
          <a:xfrm>
            <a:off x="7327208" y="4602364"/>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27208" y="4602364"/>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Condições e recursos para integrar as tecnologias</a:t>
            </a:r>
          </a:p>
        </p:txBody>
      </p:sp>
      <p:sp>
        <p:nvSpPr>
          <p:cNvPr id="42" name="TextBox 41"/>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18 (Cap. 6), sintetizado. Brasil (2018; 2022; 2023).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DOCUMENTADO E A VERIFICAR</a:t>
            </a:r>
          </a:p>
        </p:txBody>
      </p:sp>
      <p:sp>
        <p:nvSpPr>
          <p:cNvPr id="6" name="Rounded Rectangle 5"/>
          <p:cNvSpPr/>
          <p:nvPr/>
        </p:nvSpPr>
        <p:spPr>
          <a:xfrm>
            <a:off x="548626" y="1341086"/>
            <a:ext cx="5455783" cy="37489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02044"/>
            <a:ext cx="5120511" cy="3627029"/>
          </a:xfrm>
          <a:prstGeom prst="rect">
            <a:avLst/>
          </a:prstGeom>
          <a:noFill/>
        </p:spPr>
        <p:txBody>
          <a:bodyPr wrap="square" lIns="73150" rIns="73150" tIns="73150" bIns="73150" anchor="t"/>
          <a:lstStyle/>
          <a:p>
            <a:pPr algn="l">
              <a:lnSpc>
                <a:spcPct val="115000"/>
              </a:lnSpc>
              <a:spcAft>
                <a:spcPts val="533"/>
              </a:spcAft>
            </a:pPr>
            <a:r>
              <a:rPr sz="1533" b="1">
                <a:solidFill>
                  <a:srgbClr val="6C4FD8"/>
                </a:solidFill>
                <a:latin typeface="Arial"/>
              </a:rPr>
              <a:t>DOCUMENTADO PELAS IMAGENS</a:t>
            </a:r>
          </a:p>
          <a:p>
            <a:pPr algn="l">
              <a:lnSpc>
                <a:spcPct val="115000"/>
              </a:lnSpc>
              <a:spcAft>
                <a:spcPts val="533"/>
              </a:spcAft>
            </a:pPr>
            <a:r>
              <a:rPr sz="1533" b="0">
                <a:solidFill>
                  <a:srgbClr val="1A1A1A"/>
                </a:solidFill>
                <a:latin typeface="Arial"/>
              </a:rPr>
              <a:t>Salas fotografadas sem dispositivo digital</a:t>
            </a:r>
          </a:p>
          <a:p>
            <a:pPr algn="l">
              <a:lnSpc>
                <a:spcPct val="115000"/>
              </a:lnSpc>
              <a:spcAft>
                <a:spcPts val="533"/>
              </a:spcAft>
            </a:pPr>
            <a:r>
              <a:rPr sz="1533" b="0">
                <a:solidFill>
                  <a:srgbClr val="1A1A1A"/>
                </a:solidFill>
                <a:latin typeface="Arial"/>
              </a:rPr>
              <a:t>Um computador, na sala dos professores</a:t>
            </a:r>
          </a:p>
          <a:p>
            <a:pPr algn="l">
              <a:lnSpc>
                <a:spcPct val="115000"/>
              </a:lnSpc>
              <a:spcAft>
                <a:spcPts val="533"/>
              </a:spcAft>
            </a:pPr>
            <a:r>
              <a:rPr sz="1533" b="0">
                <a:solidFill>
                  <a:srgbClr val="1A1A1A"/>
                </a:solidFill>
                <a:latin typeface="Arial"/>
              </a:rPr>
              <a:t>Laboratório com equipamentos desligados no registro</a:t>
            </a:r>
          </a:p>
          <a:p>
            <a:pPr algn="l">
              <a:lnSpc>
                <a:spcPct val="115000"/>
              </a:lnSpc>
              <a:spcAft>
                <a:spcPts val="533"/>
              </a:spcAft>
            </a:pPr>
            <a:r>
              <a:rPr sz="1533" b="0">
                <a:solidFill>
                  <a:srgbClr val="1A1A1A"/>
                </a:solidFill>
                <a:latin typeface="Arial"/>
              </a:rPr>
              <a:t>Climatização nas salas da equipe (Figura 28)</a:t>
            </a:r>
          </a:p>
          <a:p>
            <a:pPr algn="l">
              <a:lnSpc>
                <a:spcPct val="115000"/>
              </a:lnSpc>
              <a:spcAft>
                <a:spcPts val="533"/>
              </a:spcAft>
            </a:pPr>
            <a:r>
              <a:rPr sz="1533" b="0">
                <a:solidFill>
                  <a:srgbClr val="1A1A1A"/>
                </a:solidFill>
                <a:latin typeface="Arial"/>
              </a:rPr>
              <a:t>Recursos impressos e artesanais nas salas</a:t>
            </a:r>
          </a:p>
          <a:p>
            <a:pPr algn="l">
              <a:lnSpc>
                <a:spcPct val="115000"/>
              </a:lnSpc>
            </a:pPr>
            <a:r>
              <a:rPr sz="1533" b="0">
                <a:solidFill>
                  <a:srgbClr val="1A1A1A"/>
                </a:solidFill>
                <a:latin typeface="Arial"/>
              </a:rPr>
              <a:t>Acessibilidade, parque na restinga, pátio coletivo</a:t>
            </a:r>
          </a:p>
        </p:txBody>
      </p:sp>
      <p:sp>
        <p:nvSpPr>
          <p:cNvPr id="8" name="Rounded Rectangle 7"/>
          <p:cNvSpPr/>
          <p:nvPr/>
        </p:nvSpPr>
        <p:spPr>
          <a:xfrm>
            <a:off x="6187285" y="1341086"/>
            <a:ext cx="5455783" cy="3748946"/>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0" y="1402044"/>
            <a:ext cx="5120511" cy="3627029"/>
          </a:xfrm>
          <a:prstGeom prst="rect">
            <a:avLst/>
          </a:prstGeom>
          <a:noFill/>
        </p:spPr>
        <p:txBody>
          <a:bodyPr wrap="square" lIns="73150" rIns="73150" tIns="73150" bIns="73150" anchor="t"/>
          <a:lstStyle/>
          <a:p>
            <a:pPr algn="l">
              <a:lnSpc>
                <a:spcPct val="115000"/>
              </a:lnSpc>
              <a:spcAft>
                <a:spcPts val="533"/>
              </a:spcAft>
            </a:pPr>
            <a:r>
              <a:rPr sz="1533" b="1">
                <a:solidFill>
                  <a:srgbClr val="6C4FD8"/>
                </a:solidFill>
                <a:latin typeface="Arial"/>
              </a:rPr>
              <a:t>PRELIMINAR, A VERIFICAR</a:t>
            </a:r>
          </a:p>
          <a:p>
            <a:pPr algn="l">
              <a:lnSpc>
                <a:spcPct val="115000"/>
              </a:lnSpc>
              <a:spcAft>
                <a:spcPts val="533"/>
              </a:spcAft>
            </a:pPr>
            <a:r>
              <a:rPr sz="1533" b="0">
                <a:solidFill>
                  <a:srgbClr val="1A1A1A"/>
                </a:solidFill>
                <a:latin typeface="Arial"/>
              </a:rPr>
              <a:t>Laboratório de 2022, com recursos da Prefeitura</a:t>
            </a:r>
          </a:p>
          <a:p>
            <a:pPr algn="l">
              <a:lnSpc>
                <a:spcPct val="115000"/>
              </a:lnSpc>
              <a:spcAft>
                <a:spcPts val="533"/>
              </a:spcAft>
            </a:pPr>
            <a:r>
              <a:rPr sz="1533" b="0">
                <a:solidFill>
                  <a:srgbClr val="1A1A1A"/>
                </a:solidFill>
                <a:latin typeface="Arial"/>
              </a:rPr>
              <a:t>Cadernos sem registro de uso no último ano letivo</a:t>
            </a:r>
          </a:p>
          <a:p>
            <a:pPr algn="l">
              <a:lnSpc>
                <a:spcPct val="115000"/>
              </a:lnSpc>
              <a:spcAft>
                <a:spcPts val="533"/>
              </a:spcAft>
            </a:pPr>
            <a:r>
              <a:rPr sz="1533" b="0">
                <a:solidFill>
                  <a:srgbClr val="1A1A1A"/>
                </a:solidFill>
                <a:latin typeface="Arial"/>
              </a:rPr>
              <a:t>Um kit multimídia para toda a escola</a:t>
            </a:r>
          </a:p>
          <a:p>
            <a:pPr algn="l">
              <a:lnSpc>
                <a:spcPct val="115000"/>
              </a:lnSpc>
              <a:spcAft>
                <a:spcPts val="533"/>
              </a:spcAft>
            </a:pPr>
            <a:r>
              <a:rPr sz="1533" b="0">
                <a:solidFill>
                  <a:srgbClr val="1A1A1A"/>
                </a:solidFill>
                <a:latin typeface="Arial"/>
              </a:rPr>
              <a:t>Valor e uso da verba anual do PIEC</a:t>
            </a:r>
          </a:p>
          <a:p>
            <a:pPr algn="l">
              <a:lnSpc>
                <a:spcPct val="115000"/>
              </a:lnSpc>
              <a:spcAft>
                <a:spcPts val="533"/>
              </a:spcAft>
            </a:pPr>
            <a:r>
              <a:rPr sz="1533" b="0">
                <a:solidFill>
                  <a:srgbClr val="1A1A1A"/>
                </a:solidFill>
                <a:latin typeface="Arial"/>
              </a:rPr>
              <a:t>Contrato de manutenção e suporte técnico</a:t>
            </a:r>
          </a:p>
          <a:p>
            <a:pPr algn="l">
              <a:lnSpc>
                <a:spcPct val="115000"/>
              </a:lnSpc>
            </a:pPr>
            <a:r>
              <a:rPr sz="1533" b="0">
                <a:solidFill>
                  <a:srgbClr val="1A1A1A"/>
                </a:solidFill>
                <a:latin typeface="Arial"/>
              </a:rPr>
              <a:t>O que a escola declara ao Censo Escolar</a:t>
            </a:r>
          </a:p>
        </p:txBody>
      </p:sp>
      <p:sp>
        <p:nvSpPr>
          <p:cNvPr id="10" name="Rounded Rectangle 9"/>
          <p:cNvSpPr/>
          <p:nvPr/>
        </p:nvSpPr>
        <p:spPr>
          <a:xfrm>
            <a:off x="54862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2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Território</a:t>
            </a:r>
          </a:p>
        </p:txBody>
      </p:sp>
      <p:sp>
        <p:nvSpPr>
          <p:cNvPr id="12" name="TextBox 11"/>
          <p:cNvSpPr txBox="1"/>
          <p:nvPr/>
        </p:nvSpPr>
        <p:spPr>
          <a:xfrm>
            <a:off x="304792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3" name="Rounded Rectangle 12"/>
          <p:cNvSpPr/>
          <p:nvPr/>
        </p:nvSpPr>
        <p:spPr>
          <a:xfrm>
            <a:off x="335271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271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Condições da escola</a:t>
            </a:r>
          </a:p>
        </p:txBody>
      </p:sp>
      <p:sp>
        <p:nvSpPr>
          <p:cNvPr id="15" name="TextBox 14"/>
          <p:cNvSpPr txBox="1"/>
          <p:nvPr/>
        </p:nvSpPr>
        <p:spPr>
          <a:xfrm>
            <a:off x="585201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6" name="Rounded Rectangle 15"/>
          <p:cNvSpPr/>
          <p:nvPr/>
        </p:nvSpPr>
        <p:spPr>
          <a:xfrm>
            <a:off x="615680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680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Margens do trabalho</a:t>
            </a:r>
          </a:p>
        </p:txBody>
      </p:sp>
      <p:sp>
        <p:nvSpPr>
          <p:cNvPr id="18" name="TextBox 17"/>
          <p:cNvSpPr txBox="1"/>
          <p:nvPr/>
        </p:nvSpPr>
        <p:spPr>
          <a:xfrm>
            <a:off x="865610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9" name="Rounded Rectangle 18"/>
          <p:cNvSpPr/>
          <p:nvPr/>
        </p:nvSpPr>
        <p:spPr>
          <a:xfrm>
            <a:off x="8960895"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0895"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Interpretar, decidir, atuar</a:t>
            </a:r>
          </a:p>
        </p:txBody>
      </p:sp>
      <p:sp>
        <p:nvSpPr>
          <p:cNvPr id="21" name="TextBox 20"/>
          <p:cNvSpPr txBox="1"/>
          <p:nvPr/>
        </p:nvSpPr>
        <p:spPr>
          <a:xfrm>
            <a:off x="609584" y="6187285"/>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Cadeia de mediações (seção 6.5). As informações preliminares não contam como dado (seção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 TERRITÓRIO ATRAVESSA A TESE</a:t>
            </a:r>
          </a:p>
        </p:txBody>
      </p:sp>
      <p:sp>
        <p:nvSpPr>
          <p:cNvPr id="6" name="Rounded Rectangle 5"/>
          <p:cNvSpPr/>
          <p:nvPr/>
        </p:nvSpPr>
        <p:spPr>
          <a:xfrm>
            <a:off x="548626"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Introdução</a:t>
            </a:r>
          </a:p>
          <a:p>
            <a:pPr algn="l">
              <a:lnSpc>
                <a:spcPct val="115000"/>
              </a:lnSpc>
            </a:pPr>
            <a:r>
              <a:rPr sz="1733" b="0">
                <a:solidFill>
                  <a:srgbClr val="1A1A1A"/>
                </a:solidFill>
                <a:latin typeface="Arial"/>
              </a:rPr>
              <a:t>Questão de pesquisa e ineditismo analítico-espacial</a:t>
            </a:r>
          </a:p>
        </p:txBody>
      </p:sp>
      <p:sp>
        <p:nvSpPr>
          <p:cNvPr id="8" name="Rounded Rectangle 7"/>
          <p:cNvSpPr/>
          <p:nvPr/>
        </p:nvSpPr>
        <p:spPr>
          <a:xfrm>
            <a:off x="4297572"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2 · RSL</a:t>
            </a:r>
          </a:p>
          <a:p>
            <a:pPr algn="l">
              <a:lnSpc>
                <a:spcPct val="115000"/>
              </a:lnSpc>
            </a:pPr>
            <a:r>
              <a:rPr sz="1733" b="0">
                <a:solidFill>
                  <a:srgbClr val="1A1A1A"/>
                </a:solidFill>
                <a:latin typeface="Arial"/>
              </a:rPr>
              <a:t>Só contraste entre países; nenhuma rede pequena</a:t>
            </a:r>
          </a:p>
        </p:txBody>
      </p:sp>
      <p:sp>
        <p:nvSpPr>
          <p:cNvPr id="10" name="Rounded Rectangle 9"/>
          <p:cNvSpPr/>
          <p:nvPr/>
        </p:nvSpPr>
        <p:spPr>
          <a:xfrm>
            <a:off x="8046518"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4 · Método</a:t>
            </a:r>
          </a:p>
          <a:p>
            <a:pPr algn="l">
              <a:lnSpc>
                <a:spcPct val="115000"/>
              </a:lnSpc>
            </a:pPr>
            <a:r>
              <a:rPr sz="1733" b="0">
                <a:solidFill>
                  <a:srgbClr val="1A1A1A"/>
                </a:solidFill>
                <a:latin typeface="Arial"/>
              </a:rPr>
              <a:t>Dimensão situacional, registro iconográfico, Bloco 3 e Eixo 3</a:t>
            </a:r>
          </a:p>
        </p:txBody>
      </p:sp>
      <p:sp>
        <p:nvSpPr>
          <p:cNvPr id="12" name="Rounded Rectangle 11"/>
          <p:cNvSpPr/>
          <p:nvPr/>
        </p:nvSpPr>
        <p:spPr>
          <a:xfrm>
            <a:off x="548626" y="3779425"/>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5 · Agenda e PNED</a:t>
            </a:r>
          </a:p>
          <a:p>
            <a:pPr algn="l">
              <a:lnSpc>
                <a:spcPct val="115000"/>
              </a:lnSpc>
            </a:pPr>
            <a:r>
              <a:rPr sz="1733" b="0">
                <a:solidFill>
                  <a:srgbClr val="1A1A1A"/>
                </a:solidFill>
                <a:latin typeface="Arial"/>
              </a:rPr>
              <a:t>Prioridade aos vulneráveis e meios por conta de cada ente</a:t>
            </a:r>
          </a:p>
        </p:txBody>
      </p:sp>
      <p:sp>
        <p:nvSpPr>
          <p:cNvPr id="14" name="Rounded Rectangle 13"/>
          <p:cNvSpPr/>
          <p:nvPr/>
        </p:nvSpPr>
        <p:spPr>
          <a:xfrm>
            <a:off x="4297572" y="3779425"/>
            <a:ext cx="3566070" cy="2072588"/>
          </a:xfrm>
          <a:prstGeom prst="roundRect">
            <a:avLst>
              <a:gd name="adj" fmla="val 8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1A1A1A"/>
                </a:solidFill>
                <a:latin typeface="Arial"/>
              </a:rPr>
              <a:t>Cap. 6 · Território</a:t>
            </a:r>
          </a:p>
          <a:p>
            <a:pPr algn="l">
              <a:lnSpc>
                <a:spcPct val="115000"/>
              </a:lnSpc>
            </a:pPr>
            <a:r>
              <a:rPr sz="1733" b="0">
                <a:solidFill>
                  <a:srgbClr val="1A1A1A"/>
                </a:solidFill>
                <a:latin typeface="Arial"/>
              </a:rPr>
              <a:t>Condições documentadas, habitar o digital, rugosidade</a:t>
            </a:r>
          </a:p>
        </p:txBody>
      </p:sp>
      <p:sp>
        <p:nvSpPr>
          <p:cNvPr id="16" name="Rounded Rectangle 15"/>
          <p:cNvSpPr/>
          <p:nvPr/>
        </p:nvSpPr>
        <p:spPr>
          <a:xfrm>
            <a:off x="8046518" y="3779425"/>
            <a:ext cx="3566070" cy="2072588"/>
          </a:xfrm>
          <a:prstGeom prst="roundRect">
            <a:avLst>
              <a:gd name="adj" fmla="val 8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1A1A1A"/>
                </a:solidFill>
                <a:latin typeface="Arial"/>
              </a:rPr>
              <a:t>Cap. 7 · Narrativas</a:t>
            </a:r>
          </a:p>
          <a:p>
            <a:pPr algn="l">
              <a:lnSpc>
                <a:spcPct val="115000"/>
              </a:lnSpc>
            </a:pPr>
            <a:r>
              <a:rPr sz="1733" b="0">
                <a:solidFill>
                  <a:srgbClr val="1A1A1A"/>
                </a:solidFill>
                <a:latin typeface="Arial"/>
              </a:rPr>
              <a:t>Os quatro objetivos lidos em relação ao lugar</a:t>
            </a:r>
          </a:p>
        </p:txBody>
      </p:sp>
      <p:sp>
        <p:nvSpPr>
          <p:cNvPr id="18" name="TextBox 17"/>
          <p:cNvSpPr txBox="1"/>
          <p:nvPr/>
        </p:nvSpPr>
        <p:spPr>
          <a:xfrm>
            <a:off x="548626" y="6156806"/>
            <a:ext cx="11094442" cy="487667"/>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Pipa é parte constitutiva do contexto da prática, da pergunta às considerações finais (Quadro 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ONDE ESTAMOS E O QUE FALTA</a:t>
            </a:r>
          </a:p>
        </p:txBody>
      </p:sp>
      <p:sp>
        <p:nvSpPr>
          <p:cNvPr id="4" name="Rounded Rectangle 3"/>
          <p:cNvSpPr/>
          <p:nvPr/>
        </p:nvSpPr>
        <p:spPr>
          <a:xfrm>
            <a:off x="548626"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2460" y="1523961"/>
            <a:ext cx="4754761" cy="4571885"/>
          </a:xfrm>
          <a:prstGeom prst="rect">
            <a:avLst/>
          </a:prstGeom>
          <a:noFill/>
        </p:spPr>
        <p:txBody>
          <a:bodyPr wrap="square" lIns="73150" rIns="73150" tIns="73150" bIns="73150" anchor="t"/>
          <a:lstStyle/>
          <a:p>
            <a:pPr algn="l">
              <a:lnSpc>
                <a:spcPct val="115000"/>
              </a:lnSpc>
              <a:spcAft>
                <a:spcPts val="933"/>
              </a:spcAft>
            </a:pPr>
            <a:r>
              <a:rPr sz="1733" b="1">
                <a:solidFill>
                  <a:srgbClr val="1A1A1A"/>
                </a:solidFill>
                <a:latin typeface="Arial"/>
              </a:rPr>
              <a:t>FEITO</a:t>
            </a:r>
          </a:p>
          <a:p>
            <a:pPr algn="l">
              <a:lnSpc>
                <a:spcPct val="115000"/>
              </a:lnSpc>
              <a:spcAft>
                <a:spcPts val="933"/>
              </a:spcAft>
            </a:pPr>
            <a:r>
              <a:rPr sz="1733" b="0">
                <a:solidFill>
                  <a:srgbClr val="1A1A1A"/>
                </a:solidFill>
                <a:latin typeface="Arial"/>
              </a:rPr>
              <a:t>Projeto reformulado e capítulos 1, 2, 4, 5 e 6 alinhados a ele</a:t>
            </a:r>
          </a:p>
          <a:p>
            <a:pPr algn="l">
              <a:lnSpc>
                <a:spcPct val="115000"/>
              </a:lnSpc>
              <a:spcAft>
                <a:spcPts val="933"/>
              </a:spcAft>
            </a:pPr>
            <a:r>
              <a:rPr sz="1733" b="0">
                <a:solidFill>
                  <a:srgbClr val="1A1A1A"/>
                </a:solidFill>
                <a:latin typeface="Arial"/>
              </a:rPr>
              <a:t>Revisão sistemática concluída (9 estudos)</a:t>
            </a:r>
          </a:p>
          <a:p>
            <a:pPr algn="l">
              <a:lnSpc>
                <a:spcPct val="115000"/>
              </a:lnSpc>
              <a:spcAft>
                <a:spcPts val="933"/>
              </a:spcAft>
            </a:pPr>
            <a:r>
              <a:rPr sz="1733" b="0">
                <a:solidFill>
                  <a:srgbClr val="1A1A1A"/>
                </a:solidFill>
                <a:latin typeface="Arial"/>
              </a:rPr>
              <a:t>Registro iconográfico e acervo histórico (Cap. 6)</a:t>
            </a:r>
          </a:p>
          <a:p>
            <a:pPr algn="l">
              <a:lnSpc>
                <a:spcPct val="115000"/>
              </a:lnSpc>
              <a:spcAft>
                <a:spcPts val="933"/>
              </a:spcAft>
            </a:pPr>
            <a:r>
              <a:rPr sz="1733" b="0">
                <a:solidFill>
                  <a:srgbClr val="1A1A1A"/>
                </a:solidFill>
                <a:latin typeface="Arial"/>
              </a:rPr>
              <a:t>15 turmas e 351 crianças do 1º ao 5º ano (SIGEduc, 2026)</a:t>
            </a:r>
          </a:p>
          <a:p>
            <a:pPr algn="l">
              <a:lnSpc>
                <a:spcPct val="115000"/>
              </a:lnSpc>
            </a:pPr>
            <a:r>
              <a:rPr sz="1733" b="0">
                <a:solidFill>
                  <a:srgbClr val="1A1A1A"/>
                </a:solidFill>
                <a:latin typeface="Arial"/>
              </a:rPr>
              <a:t>Capítulo 3 em construção</a:t>
            </a:r>
          </a:p>
        </p:txBody>
      </p:sp>
      <p:sp>
        <p:nvSpPr>
          <p:cNvPr id="6" name="Rounded Rectangle 5"/>
          <p:cNvSpPr/>
          <p:nvPr/>
        </p:nvSpPr>
        <p:spPr>
          <a:xfrm>
            <a:off x="6400639" y="1402044"/>
            <a:ext cx="5242428" cy="4815719"/>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44473" y="1523961"/>
            <a:ext cx="4754761" cy="4571885"/>
          </a:xfrm>
          <a:prstGeom prst="rect">
            <a:avLst/>
          </a:prstGeom>
          <a:noFill/>
        </p:spPr>
        <p:txBody>
          <a:bodyPr wrap="square" lIns="73150" rIns="73150" tIns="73150" bIns="73150" anchor="t"/>
          <a:lstStyle/>
          <a:p>
            <a:pPr algn="l">
              <a:lnSpc>
                <a:spcPct val="115000"/>
              </a:lnSpc>
              <a:spcAft>
                <a:spcPts val="666"/>
              </a:spcAft>
            </a:pPr>
            <a:r>
              <a:rPr sz="1666" b="1">
                <a:solidFill>
                  <a:srgbClr val="6C4FD8"/>
                </a:solidFill>
                <a:latin typeface="Arial"/>
              </a:rPr>
              <a:t>ANTES DO CAMPO</a:t>
            </a:r>
          </a:p>
          <a:p>
            <a:pPr algn="l">
              <a:lnSpc>
                <a:spcPct val="115000"/>
              </a:lnSpc>
              <a:spcAft>
                <a:spcPts val="666"/>
              </a:spcAft>
            </a:pPr>
            <a:r>
              <a:rPr sz="1666" b="0">
                <a:solidFill>
                  <a:srgbClr val="1A1A1A"/>
                </a:solidFill>
                <a:latin typeface="Arial"/>
              </a:rPr>
              <a:t>Emenda ao CEP com questionário e roteiro</a:t>
            </a:r>
          </a:p>
          <a:p>
            <a:pPr algn="l">
              <a:lnSpc>
                <a:spcPct val="115000"/>
              </a:lnSpc>
              <a:spcAft>
                <a:spcPts val="666"/>
              </a:spcAft>
            </a:pPr>
            <a:r>
              <a:rPr sz="1666" b="0">
                <a:solidFill>
                  <a:srgbClr val="1A1A1A"/>
                </a:solidFill>
                <a:latin typeface="Arial"/>
              </a:rPr>
              <a:t>Critérios de leitura datados antes da 1ª entrevista</a:t>
            </a:r>
          </a:p>
          <a:p>
            <a:pPr algn="l">
              <a:lnSpc>
                <a:spcPct val="115000"/>
              </a:lnSpc>
              <a:spcAft>
                <a:spcPts val="666"/>
              </a:spcAft>
            </a:pPr>
            <a:r>
              <a:rPr sz="1666" b="0">
                <a:solidFill>
                  <a:srgbClr val="1A1A1A"/>
                </a:solidFill>
                <a:latin typeface="Arial"/>
              </a:rPr>
              <a:t>Análise documental: aquisição, PIEC, Censo, formação</a:t>
            </a:r>
          </a:p>
          <a:p>
            <a:pPr algn="l">
              <a:lnSpc>
                <a:spcPct val="115000"/>
              </a:lnSpc>
              <a:spcAft>
                <a:spcPts val="666"/>
              </a:spcAft>
            </a:pPr>
            <a:r>
              <a:rPr sz="1666" b="0">
                <a:solidFill>
                  <a:srgbClr val="1A1A1A"/>
                </a:solidFill>
                <a:latin typeface="Arial"/>
              </a:rPr>
              <a:t>Receita e gasto em educação do município</a:t>
            </a:r>
          </a:p>
          <a:p>
            <a:pPr algn="l">
              <a:lnSpc>
                <a:spcPct val="115000"/>
              </a:lnSpc>
              <a:spcAft>
                <a:spcPts val="666"/>
              </a:spcAft>
            </a:pPr>
            <a:r>
              <a:rPr sz="1666" b="0">
                <a:solidFill>
                  <a:srgbClr val="1A1A1A"/>
                </a:solidFill>
                <a:latin typeface="Arial"/>
              </a:rPr>
              <a:t>Testes de velocidade da conexão nas salas</a:t>
            </a:r>
          </a:p>
          <a:p>
            <a:pPr algn="l">
              <a:lnSpc>
                <a:spcPct val="115000"/>
              </a:lnSpc>
            </a:pPr>
            <a:r>
              <a:rPr sz="1666" b="0">
                <a:solidFill>
                  <a:srgbClr val="1A1A1A"/>
                </a:solidFill>
                <a:latin typeface="Arial"/>
              </a:rPr>
              <a:t>Número de participantes por função</a:t>
            </a:r>
          </a:p>
        </p:txBody>
      </p:sp>
      <p:sp>
        <p:nvSpPr>
          <p:cNvPr id="8" name="TextBox 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Yin (2001); Resoluções CNS nº 466/2012 e 510/2016.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REFERÊNCIAS PRINCIPAIS</a:t>
            </a:r>
          </a:p>
        </p:txBody>
      </p:sp>
      <p:sp>
        <p:nvSpPr>
          <p:cNvPr id="4" name="Rounded Rectangle 3"/>
          <p:cNvSpPr/>
          <p:nvPr/>
        </p:nvSpPr>
        <p:spPr>
          <a:xfrm>
            <a:off x="548626" y="1341086"/>
            <a:ext cx="11094442" cy="5242428"/>
          </a:xfrm>
          <a:prstGeom prst="roundRect">
            <a:avLst>
              <a:gd name="adj" fmla="val 3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01" y="1463003"/>
            <a:ext cx="5364345" cy="5059553"/>
          </a:xfrm>
          <a:prstGeom prst="rect">
            <a:avLst/>
          </a:prstGeom>
          <a:noFill/>
        </p:spPr>
        <p:txBody>
          <a:bodyPr wrap="square" lIns="73150" rIns="73150" tIns="73150" bIns="73150" anchor="t"/>
          <a:lstStyle/>
          <a:p>
            <a:pPr algn="l">
              <a:lnSpc>
                <a:spcPct val="105000"/>
              </a:lnSpc>
              <a:spcAft>
                <a:spcPts val="599"/>
              </a:spcAft>
            </a:pPr>
            <a:r>
              <a:rPr sz="1199" b="0">
                <a:solidFill>
                  <a:srgbClr val="1A1A1A"/>
                </a:solidFill>
                <a:latin typeface="Arial"/>
              </a:rPr>
              <a:t>BALL, S. J. Reformar escolas/reformar professores e os terrores da performatividade. Revista Portuguesa de Educação, v. 15, n. 2, p. 3-23, 2002.</a:t>
            </a:r>
          </a:p>
          <a:p>
            <a:pPr algn="l">
              <a:lnSpc>
                <a:spcPct val="105000"/>
              </a:lnSpc>
              <a:spcAft>
                <a:spcPts val="599"/>
              </a:spcAft>
            </a:pPr>
            <a:r>
              <a:rPr sz="1199" b="0">
                <a:solidFill>
                  <a:srgbClr val="1A1A1A"/>
                </a:solidFill>
                <a:latin typeface="Arial"/>
              </a:rPr>
              <a:t>BALL, S. J.; MAGUIRE, M.; BRAUN, A. Como as escolas fazem as políticas. Ponta Grossa: UEPG, 2016.</a:t>
            </a:r>
          </a:p>
          <a:p>
            <a:pPr algn="l">
              <a:lnSpc>
                <a:spcPct val="105000"/>
              </a:lnSpc>
              <a:spcAft>
                <a:spcPts val="599"/>
              </a:spcAft>
            </a:pPr>
            <a:r>
              <a:rPr sz="1199" b="0">
                <a:solidFill>
                  <a:srgbClr val="1A1A1A"/>
                </a:solidFill>
                <a:latin typeface="Arial"/>
              </a:rPr>
              <a:t>BOWE, R.; BALL, S. J.; GOLD, A. Reforming education and changing schools. London: Routledge, 1992.</a:t>
            </a:r>
          </a:p>
          <a:p>
            <a:pPr algn="l">
              <a:lnSpc>
                <a:spcPct val="105000"/>
              </a:lnSpc>
              <a:spcAft>
                <a:spcPts val="599"/>
              </a:spcAft>
            </a:pPr>
            <a:r>
              <a:rPr sz="1199" b="0">
                <a:solidFill>
                  <a:srgbClr val="1A1A1A"/>
                </a:solidFill>
                <a:latin typeface="Arial"/>
              </a:rPr>
              <a:t>BRASIL. Lei nº 14.533, de 11 de janeiro de 2023. Institui a Política Nacional de Educação Digital. Brasília, DF, 2023.</a:t>
            </a:r>
          </a:p>
          <a:p>
            <a:pPr algn="l">
              <a:lnSpc>
                <a:spcPct val="105000"/>
              </a:lnSpc>
              <a:spcAft>
                <a:spcPts val="599"/>
              </a:spcAft>
            </a:pPr>
            <a:r>
              <a:rPr sz="1199" b="0">
                <a:solidFill>
                  <a:srgbClr val="1A1A1A"/>
                </a:solidFill>
                <a:latin typeface="Arial"/>
              </a:rPr>
              <a:t>BRAUN, V.; CLARKE, V. Using thematic analysis in psychology. Qualitative Research in Psychology, v. 3, n. 2, p. 77-101, 2006.</a:t>
            </a:r>
          </a:p>
          <a:p>
            <a:pPr algn="l">
              <a:lnSpc>
                <a:spcPct val="105000"/>
              </a:lnSpc>
              <a:spcAft>
                <a:spcPts val="599"/>
              </a:spcAft>
            </a:pPr>
            <a:r>
              <a:rPr sz="1199" b="0">
                <a:solidFill>
                  <a:srgbClr val="1A1A1A"/>
                </a:solidFill>
                <a:latin typeface="Arial"/>
              </a:rPr>
              <a:t>CASTELLS, M. A galáxia da internet. Rio de Janeiro: Zahar, 2003.</a:t>
            </a:r>
          </a:p>
          <a:p>
            <a:pPr algn="l">
              <a:lnSpc>
                <a:spcPct val="105000"/>
              </a:lnSpc>
              <a:spcAft>
                <a:spcPts val="599"/>
              </a:spcAft>
            </a:pPr>
            <a:r>
              <a:rPr sz="1199" b="0">
                <a:solidFill>
                  <a:srgbClr val="1A1A1A"/>
                </a:solidFill>
                <a:latin typeface="Arial"/>
              </a:rPr>
              <a:t>CGI.BR. TIC Educação 2024. São Paulo: Comitê Gestor da Internet no Brasil, 2025.</a:t>
            </a:r>
          </a:p>
          <a:p>
            <a:pPr algn="l">
              <a:lnSpc>
                <a:spcPct val="105000"/>
              </a:lnSpc>
              <a:spcAft>
                <a:spcPts val="599"/>
              </a:spcAft>
            </a:pPr>
            <a:r>
              <a:rPr sz="1199" b="0">
                <a:solidFill>
                  <a:srgbClr val="1A1A1A"/>
                </a:solidFill>
                <a:latin typeface="Arial"/>
              </a:rPr>
              <a:t>DI FELICE, M. Paisagens pós-urbanas. São Paulo: Annablume, 2009.</a:t>
            </a:r>
          </a:p>
          <a:p>
            <a:pPr algn="l">
              <a:lnSpc>
                <a:spcPct val="105000"/>
              </a:lnSpc>
              <a:spcAft>
                <a:spcPts val="599"/>
              </a:spcAft>
            </a:pPr>
            <a:r>
              <a:rPr sz="1199" b="0">
                <a:solidFill>
                  <a:srgbClr val="1A1A1A"/>
                </a:solidFill>
                <a:latin typeface="Arial"/>
              </a:rPr>
              <a:t>DORNELLES, L. V. Infâncias que nos escapam. Petrópolis: Vozes, 2005.</a:t>
            </a:r>
          </a:p>
          <a:p>
            <a:pPr algn="l">
              <a:lnSpc>
                <a:spcPct val="105000"/>
              </a:lnSpc>
            </a:pPr>
            <a:r>
              <a:rPr sz="1199" b="0">
                <a:solidFill>
                  <a:srgbClr val="1A1A1A"/>
                </a:solidFill>
                <a:latin typeface="Arial"/>
              </a:rPr>
              <a:t>HARGREAVES, A. Profesorado, cultura y postmodernidad. 5. ed. Madrid: Morata, 2005.</a:t>
            </a:r>
          </a:p>
        </p:txBody>
      </p:sp>
      <p:sp>
        <p:nvSpPr>
          <p:cNvPr id="6" name="TextBox 5"/>
          <p:cNvSpPr txBox="1"/>
          <p:nvPr/>
        </p:nvSpPr>
        <p:spPr>
          <a:xfrm>
            <a:off x="6156806" y="1463003"/>
            <a:ext cx="5364345" cy="5059553"/>
          </a:xfrm>
          <a:prstGeom prst="rect">
            <a:avLst/>
          </a:prstGeom>
          <a:noFill/>
        </p:spPr>
        <p:txBody>
          <a:bodyPr wrap="square" lIns="73150" rIns="73150" tIns="73150" bIns="73150" anchor="t"/>
          <a:lstStyle/>
          <a:p>
            <a:pPr algn="l">
              <a:lnSpc>
                <a:spcPct val="105000"/>
              </a:lnSpc>
              <a:spcAft>
                <a:spcPts val="599"/>
              </a:spcAft>
            </a:pPr>
            <a:r>
              <a:rPr sz="1199" b="0">
                <a:solidFill>
                  <a:srgbClr val="1A1A1A"/>
                </a:solidFill>
                <a:latin typeface="Arial"/>
              </a:rPr>
              <a:t>MAINARDES, J. Abordagem do ciclo de políticas. Educação &amp; Sociedade, v. 27, n. 94, p. 47-69, 2006.</a:t>
            </a:r>
          </a:p>
          <a:p>
            <a:pPr algn="l">
              <a:lnSpc>
                <a:spcPct val="105000"/>
              </a:lnSpc>
              <a:spcAft>
                <a:spcPts val="599"/>
              </a:spcAft>
            </a:pPr>
            <a:r>
              <a:rPr sz="1199" b="0">
                <a:solidFill>
                  <a:srgbClr val="1A1A1A"/>
                </a:solidFill>
                <a:latin typeface="Arial"/>
              </a:rPr>
              <a:t>MASSEY, D. Pelo espaço: uma nova política da espacialidade. Rio de Janeiro: Bertrand Brasil, 2008.</a:t>
            </a:r>
          </a:p>
          <a:p>
            <a:pPr algn="l">
              <a:lnSpc>
                <a:spcPct val="105000"/>
              </a:lnSpc>
              <a:spcAft>
                <a:spcPts val="599"/>
              </a:spcAft>
            </a:pPr>
            <a:r>
              <a:rPr sz="1199" b="0">
                <a:solidFill>
                  <a:srgbClr val="1A1A1A"/>
                </a:solidFill>
                <a:latin typeface="Arial"/>
              </a:rPr>
              <a:t>MINAYO, M. C. S. (org.). Pesquisa social: teoria, método e criatividade. 28. ed. Petrópolis: Vozes, 2009.</a:t>
            </a:r>
          </a:p>
          <a:p>
            <a:pPr algn="l">
              <a:lnSpc>
                <a:spcPct val="105000"/>
              </a:lnSpc>
              <a:spcAft>
                <a:spcPts val="599"/>
              </a:spcAft>
            </a:pPr>
            <a:r>
              <a:rPr sz="1199" b="0">
                <a:solidFill>
                  <a:srgbClr val="1A1A1A"/>
                </a:solidFill>
                <a:latin typeface="Arial"/>
              </a:rPr>
              <a:t>ONU. Comitê dos Direitos da Criança. Comentário Geral nº 25 (2021). Genebra: ONU, 2021.</a:t>
            </a:r>
          </a:p>
          <a:p>
            <a:pPr algn="l">
              <a:lnSpc>
                <a:spcPct val="105000"/>
              </a:lnSpc>
              <a:spcAft>
                <a:spcPts val="599"/>
              </a:spcAft>
            </a:pPr>
            <a:r>
              <a:rPr sz="1199" b="0">
                <a:solidFill>
                  <a:srgbClr val="1A1A1A"/>
                </a:solidFill>
                <a:latin typeface="Arial"/>
              </a:rPr>
              <a:t>SANTOS, M. O território e o saber local. Cadernos IPPUR, ano 13, n. 2, p. 15-26, 1999.</a:t>
            </a:r>
          </a:p>
          <a:p>
            <a:pPr algn="l">
              <a:lnSpc>
                <a:spcPct val="105000"/>
              </a:lnSpc>
              <a:spcAft>
                <a:spcPts val="599"/>
              </a:spcAft>
            </a:pPr>
            <a:r>
              <a:rPr sz="1199" b="0">
                <a:solidFill>
                  <a:srgbClr val="1A1A1A"/>
                </a:solidFill>
                <a:latin typeface="Arial"/>
              </a:rPr>
              <a:t>SANTOS, M. A natureza do espaço. 4. ed. São Paulo: Edusp, 2006.</a:t>
            </a:r>
          </a:p>
          <a:p>
            <a:pPr algn="l">
              <a:lnSpc>
                <a:spcPct val="105000"/>
              </a:lnSpc>
              <a:spcAft>
                <a:spcPts val="599"/>
              </a:spcAft>
            </a:pPr>
            <a:r>
              <a:rPr sz="1199" b="0">
                <a:solidFill>
                  <a:srgbClr val="1A1A1A"/>
                </a:solidFill>
                <a:latin typeface="Arial"/>
              </a:rPr>
              <a:t>SANTOS, M. Espaço e método. 5. ed. São Paulo: Edusp, 2012.</a:t>
            </a:r>
          </a:p>
          <a:p>
            <a:pPr algn="l">
              <a:lnSpc>
                <a:spcPct val="105000"/>
              </a:lnSpc>
              <a:spcAft>
                <a:spcPts val="599"/>
              </a:spcAft>
            </a:pPr>
            <a:r>
              <a:rPr sz="1199" b="0">
                <a:solidFill>
                  <a:srgbClr val="1A1A1A"/>
                </a:solidFill>
                <a:latin typeface="Arial"/>
              </a:rPr>
              <a:t>SCHLEMMER, E. et al. (org.). O habitar do ensinar e do aprender OnLIFE. São Leopoldo: Casa Leiria, 2021.</a:t>
            </a:r>
          </a:p>
          <a:p>
            <a:pPr algn="l">
              <a:lnSpc>
                <a:spcPct val="105000"/>
              </a:lnSpc>
              <a:spcAft>
                <a:spcPts val="599"/>
              </a:spcAft>
            </a:pPr>
            <a:r>
              <a:rPr sz="1199" b="0">
                <a:solidFill>
                  <a:srgbClr val="1A1A1A"/>
                </a:solidFill>
                <a:latin typeface="Arial"/>
              </a:rPr>
              <a:t>VALENTE, J. A. (org.). O computador na sociedade do conhecimento. Campinas: Unicamp/NIED, 1999.</a:t>
            </a:r>
          </a:p>
          <a:p>
            <a:pPr algn="l">
              <a:lnSpc>
                <a:spcPct val="105000"/>
              </a:lnSpc>
            </a:pPr>
            <a:r>
              <a:rPr sz="1199" b="0">
                <a:solidFill>
                  <a:srgbClr val="1A1A1A"/>
                </a:solidFill>
                <a:latin typeface="Arial"/>
              </a:rPr>
              <a:t>YIN, R. K. Estudo de caso: planejamento e métodos. 2. ed. Porto Alegre: Bookman, 2001.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365750" y="304792"/>
            <a:ext cx="1950671" cy="2060168"/>
          </a:xfrm>
          <a:prstGeom prst="rect">
            <a:avLst/>
          </a:prstGeom>
        </p:spPr>
      </p:pic>
      <p:pic>
        <p:nvPicPr>
          <p:cNvPr id="4" name="Picture 3" descr="Ilustração decorativa"/>
          <p:cNvPicPr>
            <a:picLocks noChangeAspect="1"/>
          </p:cNvPicPr>
          <p:nvPr/>
        </p:nvPicPr>
        <p:blipFill>
          <a:blip r:embed="rId4"/>
          <a:stretch>
            <a:fillRect/>
          </a:stretch>
        </p:blipFill>
        <p:spPr>
          <a:xfrm>
            <a:off x="10301982" y="4023259"/>
            <a:ext cx="1584920" cy="2163610"/>
          </a:xfrm>
          <a:prstGeom prst="rect">
            <a:avLst/>
          </a:prstGeom>
        </p:spPr>
      </p:pic>
      <p:pic>
        <p:nvPicPr>
          <p:cNvPr id="5" name="Picture 4" descr="Ilustração decorativa"/>
          <p:cNvPicPr>
            <a:picLocks noChangeAspect="1"/>
          </p:cNvPicPr>
          <p:nvPr/>
        </p:nvPicPr>
        <p:blipFill>
          <a:blip r:embed="rId5"/>
          <a:stretch>
            <a:fillRect/>
          </a:stretch>
        </p:blipFill>
        <p:spPr>
          <a:xfrm>
            <a:off x="426709" y="3901342"/>
            <a:ext cx="2072588" cy="2455673"/>
          </a:xfrm>
          <a:prstGeom prst="rect">
            <a:avLst/>
          </a:prstGeom>
        </p:spPr>
      </p:pic>
      <p:sp>
        <p:nvSpPr>
          <p:cNvPr id="6" name="TextBox 5"/>
          <p:cNvSpPr txBox="1"/>
          <p:nvPr/>
        </p:nvSpPr>
        <p:spPr>
          <a:xfrm>
            <a:off x="2438339" y="487667"/>
            <a:ext cx="7315017" cy="1463003"/>
          </a:xfrm>
          <a:prstGeom prst="rect">
            <a:avLst/>
          </a:prstGeom>
          <a:noFill/>
        </p:spPr>
        <p:txBody>
          <a:bodyPr wrap="square" lIns="73150" rIns="73150" tIns="73150" bIns="73150" anchor="ctr"/>
          <a:lstStyle/>
          <a:p>
            <a:pPr algn="ctr">
              <a:lnSpc>
                <a:spcPct val="100000"/>
              </a:lnSpc>
            </a:pPr>
            <a:r>
              <a:rPr sz="5599" b="1">
                <a:solidFill>
                  <a:srgbClr val="FFFFFF"/>
                </a:solidFill>
                <a:latin typeface="Arial"/>
              </a:rPr>
              <a:t>MUITO OBRIGADA!</a:t>
            </a:r>
          </a:p>
        </p:txBody>
      </p:sp>
      <p:sp>
        <p:nvSpPr>
          <p:cNvPr id="7" name="Rounded Rectangle 6"/>
          <p:cNvSpPr/>
          <p:nvPr/>
        </p:nvSpPr>
        <p:spPr>
          <a:xfrm>
            <a:off x="2560255" y="2194505"/>
            <a:ext cx="7071183" cy="280408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4089" y="2316422"/>
            <a:ext cx="6583515" cy="2560255"/>
          </a:xfrm>
          <a:prstGeom prst="rect">
            <a:avLst/>
          </a:prstGeom>
          <a:noFill/>
        </p:spPr>
        <p:txBody>
          <a:bodyPr wrap="square" lIns="73150" rIns="73150" tIns="73150" bIns="73150" anchor="ctr"/>
          <a:lstStyle/>
          <a:p>
            <a:pPr algn="l">
              <a:lnSpc>
                <a:spcPct val="115000"/>
              </a:lnSpc>
              <a:spcAft>
                <a:spcPts val="799"/>
              </a:spcAft>
            </a:pPr>
            <a:r>
              <a:rPr sz="1666" b="1">
                <a:solidFill>
                  <a:srgbClr val="1A1A1A"/>
                </a:solidFill>
                <a:latin typeface="Arial"/>
              </a:rPr>
              <a:t>A questão que fica aberta para o campo</a:t>
            </a:r>
          </a:p>
          <a:p>
            <a:pPr algn="l">
              <a:lnSpc>
                <a:spcPct val="115000"/>
              </a:lnSpc>
            </a:pPr>
            <a:r>
              <a:rPr sz="1666" b="0">
                <a:solidFill>
                  <a:srgbClr val="1A1A1A"/>
                </a:solidFill>
                <a:latin typeface="Arial"/>
              </a:rPr>
              <a:t>Quando a política não faz chegar o equipamento nem a formação, quem paga, no cotidiano da escola, o preço dessa ausência? E o que isso significa para os direitos que a lei prometeu às crianças?</a:t>
            </a:r>
          </a:p>
        </p:txBody>
      </p:sp>
      <p:sp>
        <p:nvSpPr>
          <p:cNvPr id="9" name="TextBox 8"/>
          <p:cNvSpPr txBox="1"/>
          <p:nvPr/>
        </p:nvSpPr>
        <p:spPr>
          <a:xfrm>
            <a:off x="2438339" y="5303387"/>
            <a:ext cx="7315017" cy="975335"/>
          </a:xfrm>
          <a:prstGeom prst="rect">
            <a:avLst/>
          </a:prstGeom>
          <a:noFill/>
        </p:spPr>
        <p:txBody>
          <a:bodyPr wrap="square" lIns="73150" rIns="73150" tIns="73150" bIns="73150" anchor="t"/>
          <a:lstStyle/>
          <a:p>
            <a:pPr algn="ctr">
              <a:lnSpc>
                <a:spcPct val="115000"/>
              </a:lnSpc>
              <a:spcAft>
                <a:spcPts val="266"/>
              </a:spcAft>
            </a:pPr>
            <a:r>
              <a:rPr sz="1466" b="1">
                <a:solidFill>
                  <a:srgbClr val="FFFFFF"/>
                </a:solidFill>
                <a:latin typeface="Arial"/>
              </a:rPr>
              <a:t>Yzynya Silva Rezende Machado</a:t>
            </a:r>
          </a:p>
          <a:p>
            <a:pPr algn="ctr">
              <a:lnSpc>
                <a:spcPct val="115000"/>
              </a:lnSpc>
            </a:pPr>
            <a:r>
              <a:rPr sz="1466" b="0">
                <a:solidFill>
                  <a:srgbClr val="FFFFFF"/>
                </a:solidFill>
                <a:latin typeface="Arial"/>
              </a:rPr>
              <a:t>Orientadora: Profa. Dra. Maria Cristina Leandro de Paiva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