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0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20.xml"/>
  <Override ContentType="application/vnd.openxmlformats-officedocument.presentationml.slide+xml" PartName="/ppt/slides/slide22.xml"/>
  <Override ContentType="application/vnd.openxmlformats-officedocument.presentationml.slide+xml" PartName="/ppt/slides/slide24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5.xml"/>
  <Override ContentType="application/vnd.openxmlformats-officedocument.presentationml.slide+xml" PartName="/ppt/slides/slide37.xml"/>
  <Override ContentType="application/vnd.openxmlformats-officedocument.presentationml.slide+xml" PartName="/ppt/slides/slide39.xml"/>
  <Override ContentType="application/vnd.openxmlformats-officedocument.presentationml.slide+xml" PartName="/ppt/slides/slide45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57"/>
  </p:notesMasterIdLst>
  <p:sldIdLst>
    <p:sldId id="256" r:id="rId6"/>
    <p:sldId id="257" r:id="rId7"/>
    <p:sldId id="258" r:id="rId8"/>
    <p:sldId id="261" r:id="rId11"/>
    <p:sldId id="263" r:id="rId13"/>
    <p:sldId id="265" r:id="rId15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5" r:id="rId25"/>
    <p:sldId id="277" r:id="rId27"/>
    <p:sldId id="279" r:id="rId29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90" r:id="rId40"/>
    <p:sldId id="292" r:id="rId42"/>
    <p:sldId id="294" r:id="rId44"/>
    <p:sldId id="300" r:id="rId50"/>
    <p:sldId id="302" r:id="rId52"/>
    <p:sldId id="303" r:id="rId53"/>
    <p:sldId id="304" r:id="rId54"/>
  </p:sldIdLst>
  <p:sldSz cx="18288000" cy="10287000"/>
  <p:notesSz cx="6858000" cy="9144000"/>
  <p:embeddedFontLst>
    <p:embeddedFont>
      <p:font typeface="Canva Sans Bold" charset="1" panose="020B0803030501040103"/>
      <p:regular r:id="rId55"/>
    </p:embeddedFont>
    <p:embeddedFont>
      <p:font typeface="Canva Sans" charset="1" panose="020B0503030501040103"/>
      <p:regular r:id="rId56"/>
    </p:embeddedFont>
    <p:embeddedFont>
      <p:font typeface="Canva Sans Italics" charset="1" panose="020B0503030501040103"/>
      <p:regular r:id="rId60"/>
    </p:embeddedFont>
    <p:embeddedFont>
      <p:font typeface="Canva Sans Bold Italics" charset="1" panose="020B0803030501040103"/>
      <p:regular r:id="rId6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1" Target="slides/slide6.xml" Type="http://schemas.openxmlformats.org/officeDocument/2006/relationships/slide"/><Relationship Id="rId13" Target="slides/slide8.xml" Type="http://schemas.openxmlformats.org/officeDocument/2006/relationships/slide"/><Relationship Id="rId15" Target="slides/slide10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5" Target="slides/slide20.xml" Type="http://schemas.openxmlformats.org/officeDocument/2006/relationships/slide"/><Relationship Id="rId27" Target="slides/slide22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2" Target="slides/slide37.xml" Type="http://schemas.openxmlformats.org/officeDocument/2006/relationships/slide"/><Relationship Id="rId44" Target="slides/slide39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fonts/font55.fntdata" Type="http://schemas.openxmlformats.org/officeDocument/2006/relationships/font"/><Relationship Id="rId56" Target="fonts/font56.fntdata" Type="http://schemas.openxmlformats.org/officeDocument/2006/relationships/font"/><Relationship Id="rId57" Target="notesMasters/notesMaster1.xml" Type="http://schemas.openxmlformats.org/officeDocument/2006/relationships/notesMaster"/><Relationship Id="rId58" Target="theme/theme2.xml" Type="http://schemas.openxmlformats.org/officeDocument/2006/relationships/theme"/><Relationship Id="rId59" Target="notesSlides/notesSlide1.xml" Type="http://schemas.openxmlformats.org/officeDocument/2006/relationships/notesSlide"/><Relationship Id="rId6" Target="slides/slide1.xml" Type="http://schemas.openxmlformats.org/officeDocument/2006/relationships/slide"/><Relationship Id="rId60" Target="fonts/font60.fntdata" Type="http://schemas.openxmlformats.org/officeDocument/2006/relationships/font"/><Relationship Id="rId61" Target="fonts/font61.fntdata" Type="http://schemas.openxmlformats.org/officeDocument/2006/relationships/font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9.png" Type="http://schemas.openxmlformats.org/officeDocument/2006/relationships/image"/><Relationship Id="rId5" Target="../media/image6.jpeg" Type="http://schemas.openxmlformats.org/officeDocument/2006/relationships/image"/><Relationship Id="rId6" Target="../media/image10.pn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12.png" Type="http://schemas.openxmlformats.org/officeDocument/2006/relationships/image"/><Relationship Id="rId5" Target="../media/image1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7.png" Type="http://schemas.openxmlformats.org/officeDocument/2006/relationships/image"/><Relationship Id="rId4" Target="../media/image6.jpeg" Type="http://schemas.openxmlformats.org/officeDocument/2006/relationships/image"/><Relationship Id="rId5" Target="../media/image28.jpeg" Type="http://schemas.openxmlformats.org/officeDocument/2006/relationships/image"/><Relationship Id="rId6" Target="../media/image29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5.png" Type="http://schemas.openxmlformats.org/officeDocument/2006/relationships/image"/><Relationship Id="rId4" Target="../media/image6.jpeg" Type="http://schemas.openxmlformats.org/officeDocument/2006/relationships/image"/><Relationship Id="rId5" Target="../media/image32.png" Type="http://schemas.openxmlformats.org/officeDocument/2006/relationships/image"/><Relationship Id="rId6" Target="../media/image3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34.png" Type="http://schemas.openxmlformats.org/officeDocument/2006/relationships/image"/><Relationship Id="rId6" Target="../media/image35.png" Type="http://schemas.openxmlformats.org/officeDocument/2006/relationships/image"/><Relationship Id="rId7" Target="../media/image36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8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37.png" Type="http://schemas.openxmlformats.org/officeDocument/2006/relationships/image"/><Relationship Id="rId5" Target="../media/image38.svg" Type="http://schemas.openxmlformats.org/officeDocument/2006/relationships/image"/><Relationship Id="rId6" Target="../media/image12.png" Type="http://schemas.openxmlformats.org/officeDocument/2006/relationships/image"/><Relationship Id="rId7" Target="../media/image39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15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7.png" Type="http://schemas.openxmlformats.org/officeDocument/2006/relationships/image"/><Relationship Id="rId4" Target="../media/image6.jpeg" Type="http://schemas.openxmlformats.org/officeDocument/2006/relationships/image"/><Relationship Id="rId5" Target="../media/image42.png" Type="http://schemas.openxmlformats.org/officeDocument/2006/relationships/image"/><Relationship Id="rId6" Target="../media/image43.png" Type="http://schemas.openxmlformats.org/officeDocument/2006/relationships/image"/><Relationship Id="rId7" Target="../media/image44.png" Type="http://schemas.openxmlformats.org/officeDocument/2006/relationships/image"/><Relationship Id="rId8" Target="../media/image45.pn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8.png" Type="http://schemas.openxmlformats.org/officeDocument/2006/relationships/image"/><Relationship Id="rId4" Target="../media/image6.jpeg" Type="http://schemas.openxmlformats.org/officeDocument/2006/relationships/image"/><Relationship Id="rId5" Target="../media/image52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27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53.png" Type="http://schemas.openxmlformats.org/officeDocument/2006/relationships/image"/><Relationship Id="rId5" Target="../media/image54.png" Type="http://schemas.openxmlformats.org/officeDocument/2006/relationships/image"/><Relationship Id="rId6" Target="../media/image55.png" Type="http://schemas.openxmlformats.org/officeDocument/2006/relationships/image"/><Relationship Id="rId7" Target="../media/image21.png" Type="http://schemas.openxmlformats.org/officeDocument/2006/relationships/image"/><Relationship Id="rId8" Target="../media/image23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0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5.png" Type="http://schemas.openxmlformats.org/officeDocument/2006/relationships/image"/><Relationship Id="rId4" Target="../media/image6.jpeg" Type="http://schemas.openxmlformats.org/officeDocument/2006/relationships/image"/><Relationship Id="rId5" Target="../media/image57.jpeg" Type="http://schemas.openxmlformats.org/officeDocument/2006/relationships/image"/><Relationship Id="rId6" Target="../media/image58.jpeg" Type="http://schemas.openxmlformats.org/officeDocument/2006/relationships/image"/><Relationship Id="rId7" Target="../media/image59.jpeg" Type="http://schemas.openxmlformats.org/officeDocument/2006/relationships/image"/><Relationship Id="rId8" Target="../media/image60.jpe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28.jpeg" Type="http://schemas.openxmlformats.org/officeDocument/2006/relationships/image"/><Relationship Id="rId5" Target="../media/image_pescador_rev.jpeg" Type="http://schemas.openxmlformats.org/officeDocument/2006/relationships/image"/><Relationship Id="rId6" Target="../media/image65.jpeg" Type="http://schemas.openxmlformats.org/officeDocument/2006/relationships/image"/><Relationship Id="rId7" Target="../media/image22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4.png" Type="http://schemas.openxmlformats.org/officeDocument/2006/relationships/image"/><Relationship Id="rId11" Target="../media/image75.png" Type="http://schemas.openxmlformats.org/officeDocument/2006/relationships/image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6.jpeg" Type="http://schemas.openxmlformats.org/officeDocument/2006/relationships/image"/><Relationship Id="rId5" Target="../media/image29.jpeg" Type="http://schemas.openxmlformats.org/officeDocument/2006/relationships/image"/><Relationship Id="rId6" Target="../media/image71.jpeg" Type="http://schemas.openxmlformats.org/officeDocument/2006/relationships/image"/><Relationship Id="rId7" Target="../media/image72.jpeg" Type="http://schemas.openxmlformats.org/officeDocument/2006/relationships/image"/><Relationship Id="rId8" Target="../media/image73.png" Type="http://schemas.openxmlformats.org/officeDocument/2006/relationships/image"/><Relationship Id="rId9" Target="../media/image55.png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78.png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23.png" Type="http://schemas.openxmlformats.org/officeDocument/2006/relationships/image"/><Relationship Id="rId5" Target="../media/image79.png" Type="http://schemas.openxmlformats.org/officeDocument/2006/relationships/imag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2.jpeg" Type="http://schemas.openxmlformats.org/officeDocument/2006/relationships/image"/><Relationship Id="rId4" Target="../media/image6.jpeg" Type="http://schemas.openxmlformats.org/officeDocument/2006/relationships/image"/><Relationship Id="rId5" Target="../media/image4.png" Type="http://schemas.openxmlformats.org/officeDocument/2006/relationships/image"/><Relationship Id="rId6" Target="../media/image30.png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407294" y="-6506"/>
            <a:ext cx="6866533" cy="10287000"/>
            <a:chOff x="0" y="0"/>
            <a:chExt cx="9155377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5535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55353">
                  <a:moveTo>
                    <a:pt x="0" y="0"/>
                  </a:moveTo>
                  <a:lnTo>
                    <a:pt x="9155353" y="0"/>
                  </a:lnTo>
                  <a:lnTo>
                    <a:pt x="915535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9332" r="0" b="-93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78486" y="-61351"/>
            <a:ext cx="2729484" cy="2180101"/>
            <a:chOff x="0" y="0"/>
            <a:chExt cx="3639312" cy="2906801"/>
          </a:xfrm>
        </p:grpSpPr>
        <p:sp>
          <p:nvSpPr>
            <p:cNvPr name="Freeform 6" id="6" descr="/home/claude/deck3/img/d_seta.png"/>
            <p:cNvSpPr/>
            <p:nvPr/>
          </p:nvSpPr>
          <p:spPr>
            <a:xfrm flipH="false" flipV="false" rot="0">
              <a:off x="0" y="0"/>
              <a:ext cx="3639312" cy="2906776"/>
            </a:xfrm>
            <a:custGeom>
              <a:avLst/>
              <a:gdLst/>
              <a:ahLst/>
              <a:cxnLst/>
              <a:rect r="r" b="b" t="t" l="l"/>
              <a:pathLst>
                <a:path h="2906776" w="3639312">
                  <a:moveTo>
                    <a:pt x="0" y="0"/>
                  </a:moveTo>
                  <a:lnTo>
                    <a:pt x="3639312" y="0"/>
                  </a:lnTo>
                  <a:lnTo>
                    <a:pt x="3639312" y="2906776"/>
                  </a:lnTo>
                  <a:lnTo>
                    <a:pt x="0" y="2906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9" t="0" r="-19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900000">
            <a:off x="8253522" y="355707"/>
            <a:ext cx="3086100" cy="2180987"/>
            <a:chOff x="0" y="0"/>
            <a:chExt cx="4114800" cy="2907982"/>
          </a:xfrm>
        </p:grpSpPr>
        <p:sp>
          <p:nvSpPr>
            <p:cNvPr name="Freeform 8" id="8" descr="/home/claude/deck3/img/d_nuvem.png"/>
            <p:cNvSpPr/>
            <p:nvPr/>
          </p:nvSpPr>
          <p:spPr>
            <a:xfrm flipH="false" flipV="false" rot="0">
              <a:off x="0" y="0"/>
              <a:ext cx="4114800" cy="2908046"/>
            </a:xfrm>
            <a:custGeom>
              <a:avLst/>
              <a:gdLst/>
              <a:ahLst/>
              <a:cxnLst/>
              <a:rect r="r" b="b" t="t" l="l"/>
              <a:pathLst>
                <a:path h="290804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2908046"/>
                  </a:lnTo>
                  <a:lnTo>
                    <a:pt x="0" y="2908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8" t="0" r="-8" b="2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4841748" y="301752"/>
            <a:ext cx="987552" cy="1399032"/>
            <a:chOff x="0" y="0"/>
            <a:chExt cx="1316736" cy="1865376"/>
          </a:xfrm>
        </p:grpSpPr>
        <p:sp>
          <p:nvSpPr>
            <p:cNvPr name="Freeform 10" id="10" descr="/home/claude/deck3/img/ufrn.png"/>
            <p:cNvSpPr/>
            <p:nvPr/>
          </p:nvSpPr>
          <p:spPr>
            <a:xfrm flipH="false" flipV="false" rot="0">
              <a:off x="0" y="0"/>
              <a:ext cx="1316736" cy="1865376"/>
            </a:xfrm>
            <a:custGeom>
              <a:avLst/>
              <a:gdLst/>
              <a:ahLst/>
              <a:cxnLst/>
              <a:rect r="r" b="b" t="t" l="l"/>
              <a:pathLst>
                <a:path h="1865376" w="1316736">
                  <a:moveTo>
                    <a:pt x="0" y="0"/>
                  </a:moveTo>
                  <a:lnTo>
                    <a:pt x="1316736" y="0"/>
                  </a:lnTo>
                  <a:lnTo>
                    <a:pt x="1316736" y="1865376"/>
                  </a:lnTo>
                  <a:lnTo>
                    <a:pt x="0" y="18653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226" r="0" b="-226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29470" y="3297600"/>
            <a:ext cx="10927291" cy="2880360"/>
            <a:chOff x="0" y="0"/>
            <a:chExt cx="14569722" cy="3840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569722" cy="3840480"/>
            </a:xfrm>
            <a:custGeom>
              <a:avLst/>
              <a:gdLst/>
              <a:ahLst/>
              <a:cxnLst/>
              <a:rect r="r" b="b" t="t" l="l"/>
              <a:pathLst>
                <a:path h="3840480" w="14569722">
                  <a:moveTo>
                    <a:pt x="0" y="0"/>
                  </a:moveTo>
                  <a:lnTo>
                    <a:pt x="14569722" y="0"/>
                  </a:lnTo>
                  <a:lnTo>
                    <a:pt x="14569722" y="3840480"/>
                  </a:lnTo>
                  <a:lnTo>
                    <a:pt x="0" y="384048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4022" r="13390" b="-1402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4569722" cy="3840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b="true" sz="36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POLÍTICA NO CANTEIRO DA PRÁTICA: NORMA, TERRITÓRIO E ATUAÇÃO PROFISSIONAL NA IMPLEMENTAÇÃO DA EDUCAÇÃO DIGITAL ESCOLAR NOS ANOS INICIAIS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93495" y="6409563"/>
            <a:ext cx="8111490" cy="1006602"/>
            <a:chOff x="0" y="0"/>
            <a:chExt cx="10815320" cy="134213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815320" cy="1342136"/>
            </a:xfrm>
            <a:custGeom>
              <a:avLst/>
              <a:gdLst/>
              <a:ahLst/>
              <a:cxnLst/>
              <a:rect r="r" b="b" t="t" l="l"/>
              <a:pathLst>
                <a:path h="1342136" w="10815320">
                  <a:moveTo>
                    <a:pt x="0" y="0"/>
                  </a:moveTo>
                  <a:lnTo>
                    <a:pt x="10815320" y="0"/>
                  </a:lnTo>
                  <a:lnTo>
                    <a:pt x="10815320" y="1342136"/>
                  </a:lnTo>
                  <a:lnTo>
                    <a:pt x="0" y="134213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303020" y="6419088"/>
            <a:ext cx="8092440" cy="987552"/>
            <a:chOff x="0" y="0"/>
            <a:chExt cx="10789920" cy="131673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78992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789920">
                  <a:moveTo>
                    <a:pt x="0" y="0"/>
                  </a:moveTo>
                  <a:lnTo>
                    <a:pt x="10789920" y="0"/>
                  </a:lnTo>
                  <a:lnTo>
                    <a:pt x="1078992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09669" r="0" b="-10966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0789920" cy="13262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Pesquisadora: Ma. Yzynya Silva Rezende Machado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Orientadora: Dra. Maria Cristina Leandro de Paiva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3497580" y="8161020"/>
            <a:ext cx="4526280" cy="850392"/>
            <a:chOff x="0" y="0"/>
            <a:chExt cx="6035040" cy="11338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035040" cy="1133856"/>
            </a:xfrm>
            <a:custGeom>
              <a:avLst/>
              <a:gdLst/>
              <a:ahLst/>
              <a:cxnLst/>
              <a:rect r="r" b="b" t="t" l="l"/>
              <a:pathLst>
                <a:path h="1133856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53710" r="0" b="-5371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035040" cy="11433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Natal/ RN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outubro, 2026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-528000">
            <a:off x="-68597" y="7448636"/>
            <a:ext cx="3977640" cy="3619329"/>
            <a:chOff x="0" y="0"/>
            <a:chExt cx="5303520" cy="4825771"/>
          </a:xfrm>
        </p:grpSpPr>
        <p:sp>
          <p:nvSpPr>
            <p:cNvPr name="Freeform 23" id="23" descr="/home/claude/deck3/img/d_laptop.png"/>
            <p:cNvSpPr/>
            <p:nvPr/>
          </p:nvSpPr>
          <p:spPr>
            <a:xfrm flipH="false" flipV="false" rot="0">
              <a:off x="0" y="0"/>
              <a:ext cx="5303520" cy="4825746"/>
            </a:xfrm>
            <a:custGeom>
              <a:avLst/>
              <a:gdLst/>
              <a:ahLst/>
              <a:cxnLst/>
              <a:rect r="r" b="b" t="t" l="l"/>
              <a:pathLst>
                <a:path h="482574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4825746"/>
                  </a:lnTo>
                  <a:lnTo>
                    <a:pt x="0" y="48257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4" r="0" b="-4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8737092" y="7420356"/>
            <a:ext cx="2482596" cy="2860138"/>
            <a:chOff x="0" y="0"/>
            <a:chExt cx="3310128" cy="3813518"/>
          </a:xfrm>
        </p:grpSpPr>
        <p:sp>
          <p:nvSpPr>
            <p:cNvPr name="Freeform 25" id="25" descr="/home/claude/deck3/img/d_menino_cel.png"/>
            <p:cNvSpPr/>
            <p:nvPr/>
          </p:nvSpPr>
          <p:spPr>
            <a:xfrm flipH="false" flipV="false" rot="0">
              <a:off x="0" y="0"/>
              <a:ext cx="3310128" cy="3813556"/>
            </a:xfrm>
            <a:custGeom>
              <a:avLst/>
              <a:gdLst/>
              <a:ahLst/>
              <a:cxnLst/>
              <a:rect r="r" b="b" t="t" l="l"/>
              <a:pathLst>
                <a:path h="3813556" w="3310128">
                  <a:moveTo>
                    <a:pt x="0" y="0"/>
                  </a:moveTo>
                  <a:lnTo>
                    <a:pt x="3310128" y="0"/>
                  </a:lnTo>
                  <a:lnTo>
                    <a:pt x="3310128" y="3813556"/>
                  </a:lnTo>
                  <a:lnTo>
                    <a:pt x="0" y="38135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8" r="0" b="-17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480060" y="1865376"/>
            <a:ext cx="9738360" cy="116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UNIVERSIDADE FEDERAL DO RIO GRANDE DO NORTE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CENTRO DE EDUCAÇÃO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PROGRAMA DE PÓS-GRADUAÇÃO EM EDUCAÇÃO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LINHA DE PESQUISA: EDUCAÇÃO, CURRÍCULO E PRÁTICAS PEDAGÓGICAS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2202" y="0"/>
            <a:ext cx="3771900" cy="3410398"/>
            <a:chOff x="0" y="0"/>
            <a:chExt cx="5029200" cy="4547197"/>
          </a:xfrm>
        </p:grpSpPr>
        <p:sp>
          <p:nvSpPr>
            <p:cNvPr name="Freeform 4" id="4" descr="/home/claude/deck3/img/d_megafone.png"/>
            <p:cNvSpPr/>
            <p:nvPr/>
          </p:nvSpPr>
          <p:spPr>
            <a:xfrm flipH="false" flipV="false" rot="0">
              <a:off x="0" y="0"/>
              <a:ext cx="5029200" cy="4547235"/>
            </a:xfrm>
            <a:custGeom>
              <a:avLst/>
              <a:gdLst/>
              <a:ahLst/>
              <a:cxnLst/>
              <a:rect r="r" b="b" t="t" l="l"/>
              <a:pathLst>
                <a:path h="4547235" w="5029200">
                  <a:moveTo>
                    <a:pt x="0" y="0"/>
                  </a:moveTo>
                  <a:lnTo>
                    <a:pt x="5029200" y="0"/>
                  </a:lnTo>
                  <a:lnTo>
                    <a:pt x="5029200" y="4547235"/>
                  </a:lnTo>
                  <a:lnTo>
                    <a:pt x="0" y="45472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4364462" y="0"/>
            <a:ext cx="3771900" cy="3410398"/>
            <a:chOff x="0" y="0"/>
            <a:chExt cx="5029200" cy="4547197"/>
          </a:xfrm>
        </p:grpSpPr>
        <p:sp>
          <p:nvSpPr>
            <p:cNvPr name="Freeform 6" id="6" descr="/home/claude/deck3/img/d_megafone.png"/>
            <p:cNvSpPr/>
            <p:nvPr/>
          </p:nvSpPr>
          <p:spPr>
            <a:xfrm flipH="true" flipV="false" rot="0">
              <a:off x="0" y="0"/>
              <a:ext cx="5029200" cy="4547235"/>
            </a:xfrm>
            <a:custGeom>
              <a:avLst/>
              <a:gdLst/>
              <a:ahLst/>
              <a:cxnLst/>
              <a:rect r="r" b="b" t="t" l="l"/>
              <a:pathLst>
                <a:path h="4547235" w="5029200">
                  <a:moveTo>
                    <a:pt x="5029200" y="0"/>
                  </a:moveTo>
                  <a:lnTo>
                    <a:pt x="0" y="0"/>
                  </a:lnTo>
                  <a:lnTo>
                    <a:pt x="0" y="4547235"/>
                  </a:lnTo>
                  <a:lnTo>
                    <a:pt x="5029200" y="4547235"/>
                  </a:lnTo>
                  <a:lnTo>
                    <a:pt x="502920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3291840" y="1028700"/>
            <a:ext cx="11699748" cy="1234440"/>
            <a:chOff x="0" y="0"/>
            <a:chExt cx="15599664" cy="16459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599665" cy="1645920"/>
            </a:xfrm>
            <a:custGeom>
              <a:avLst/>
              <a:gdLst/>
              <a:ahLst/>
              <a:cxnLst/>
              <a:rect r="r" b="b" t="t" l="l"/>
              <a:pathLst>
                <a:path h="1645920" w="15599665">
                  <a:moveTo>
                    <a:pt x="0" y="0"/>
                  </a:moveTo>
                  <a:lnTo>
                    <a:pt x="15599665" y="0"/>
                  </a:lnTo>
                  <a:lnTo>
                    <a:pt x="15599665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34674" r="0" b="-13467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5599664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PERCURSO DA APRESENTAÇÃO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50392" y="3223260"/>
            <a:ext cx="5280660" cy="2572169"/>
            <a:chOff x="0" y="0"/>
            <a:chExt cx="7040880" cy="3429559"/>
          </a:xfrm>
        </p:grpSpPr>
        <p:sp>
          <p:nvSpPr>
            <p:cNvPr name="Freeform 11" id="11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3120390" y="2537460"/>
            <a:ext cx="740664" cy="1200426"/>
            <a:chOff x="0" y="0"/>
            <a:chExt cx="987552" cy="1600568"/>
          </a:xfrm>
        </p:grpSpPr>
        <p:sp>
          <p:nvSpPr>
            <p:cNvPr name="Freeform 13" id="13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26187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 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261872" y="4128516"/>
            <a:ext cx="4457700" cy="521208"/>
            <a:chOff x="0" y="0"/>
            <a:chExt cx="5943600" cy="6949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proposta da tese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34416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Estrutura, trajetória, relevâncias, objeto, justificativa, problema, objetivos, contribuição e fundamentos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473952" y="3223260"/>
            <a:ext cx="5280660" cy="2572169"/>
            <a:chOff x="0" y="0"/>
            <a:chExt cx="7040880" cy="3429559"/>
          </a:xfrm>
        </p:grpSpPr>
        <p:sp>
          <p:nvSpPr>
            <p:cNvPr name="Freeform 20" id="20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743950" y="2537460"/>
            <a:ext cx="740664" cy="1200426"/>
            <a:chOff x="0" y="0"/>
            <a:chExt cx="987552" cy="1600568"/>
          </a:xfrm>
        </p:grpSpPr>
        <p:sp>
          <p:nvSpPr>
            <p:cNvPr name="Freeform 22" id="22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88543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II 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885432" y="4128516"/>
            <a:ext cx="4457700" cy="521208"/>
            <a:chOff x="0" y="0"/>
            <a:chExt cx="5943600" cy="69494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Revisão sistemática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696772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Questão norteadora, resposta e lacunas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2097512" y="3223260"/>
            <a:ext cx="5280660" cy="2572169"/>
            <a:chOff x="0" y="0"/>
            <a:chExt cx="7040880" cy="3429559"/>
          </a:xfrm>
        </p:grpSpPr>
        <p:sp>
          <p:nvSpPr>
            <p:cNvPr name="Freeform 29" id="29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4367510" y="2537460"/>
            <a:ext cx="740664" cy="1200426"/>
            <a:chOff x="0" y="0"/>
            <a:chExt cx="987552" cy="1600568"/>
          </a:xfrm>
        </p:grpSpPr>
        <p:sp>
          <p:nvSpPr>
            <p:cNvPr name="Freeform 31" id="31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250899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III 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2508992" y="4128516"/>
            <a:ext cx="4457700" cy="521208"/>
            <a:chOff x="0" y="0"/>
            <a:chExt cx="5943600" cy="69494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Metodologia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259128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será escutada e como a categoria pode falhar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50392" y="6515100"/>
            <a:ext cx="5280660" cy="2572169"/>
            <a:chOff x="0" y="0"/>
            <a:chExt cx="7040880" cy="3429559"/>
          </a:xfrm>
        </p:grpSpPr>
        <p:sp>
          <p:nvSpPr>
            <p:cNvPr name="Freeform 38" id="38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3120390" y="5829300"/>
            <a:ext cx="740664" cy="1200426"/>
            <a:chOff x="0" y="0"/>
            <a:chExt cx="987552" cy="1600568"/>
          </a:xfrm>
        </p:grpSpPr>
        <p:sp>
          <p:nvSpPr>
            <p:cNvPr name="Freeform 40" id="40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26187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IV 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261872" y="7420356"/>
            <a:ext cx="4457700" cy="521208"/>
            <a:chOff x="0" y="0"/>
            <a:chExt cx="5943600" cy="69494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Agenda internacional e PNED</a:t>
              </a: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34416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Mapa das políticas na Europa e nas Américas e a importância da PNED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6473952" y="6515100"/>
            <a:ext cx="5280660" cy="2572169"/>
            <a:chOff x="0" y="0"/>
            <a:chExt cx="7040880" cy="3429559"/>
          </a:xfrm>
        </p:grpSpPr>
        <p:sp>
          <p:nvSpPr>
            <p:cNvPr name="Freeform 47" id="47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8743950" y="5829300"/>
            <a:ext cx="740664" cy="1200426"/>
            <a:chOff x="0" y="0"/>
            <a:chExt cx="987552" cy="1600568"/>
          </a:xfrm>
        </p:grpSpPr>
        <p:sp>
          <p:nvSpPr>
            <p:cNvPr name="Freeform 49" id="49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688543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V 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6885432" y="7420356"/>
            <a:ext cx="4457700" cy="521208"/>
            <a:chOff x="0" y="0"/>
            <a:chExt cx="5943600" cy="69494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território e a escola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696772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Da Pipa antiga à Pipa de hoje e às condições da escola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2097512" y="6515100"/>
            <a:ext cx="5280660" cy="2572169"/>
            <a:chOff x="0" y="0"/>
            <a:chExt cx="7040880" cy="3429559"/>
          </a:xfrm>
        </p:grpSpPr>
        <p:sp>
          <p:nvSpPr>
            <p:cNvPr name="Freeform 56" id="56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4367510" y="5829300"/>
            <a:ext cx="740664" cy="1200426"/>
            <a:chOff x="0" y="0"/>
            <a:chExt cx="987552" cy="1600568"/>
          </a:xfrm>
        </p:grpSpPr>
        <p:sp>
          <p:nvSpPr>
            <p:cNvPr name="Freeform 58" id="58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1250899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VI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12508992" y="7420356"/>
            <a:ext cx="4457700" cy="521208"/>
            <a:chOff x="0" y="0"/>
            <a:chExt cx="5943600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ainda falta</a:t>
              </a: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1259128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Campo, pendências e questões para a banca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tese em uma imagem: o vazio material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600000">
            <a:off x="15751788" y="122728"/>
            <a:ext cx="1577340" cy="1760420"/>
            <a:chOff x="0" y="0"/>
            <a:chExt cx="2103120" cy="2347227"/>
          </a:xfrm>
        </p:grpSpPr>
        <p:sp>
          <p:nvSpPr>
            <p:cNvPr name="Freeform 7" id="7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" t="0" r="-1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09447" y="2006727"/>
            <a:ext cx="10374630" cy="3345475"/>
            <a:chOff x="0" y="0"/>
            <a:chExt cx="13832840" cy="446063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32839" cy="4460621"/>
            </a:xfrm>
            <a:custGeom>
              <a:avLst/>
              <a:gdLst/>
              <a:ahLst/>
              <a:cxnLst/>
              <a:rect r="r" b="b" t="t" l="l"/>
              <a:pathLst>
                <a:path h="4460621" w="13832839">
                  <a:moveTo>
                    <a:pt x="0" y="0"/>
                  </a:moveTo>
                  <a:lnTo>
                    <a:pt x="13832839" y="0"/>
                  </a:lnTo>
                  <a:lnTo>
                    <a:pt x="13832839" y="4460621"/>
                  </a:lnTo>
                  <a:lnTo>
                    <a:pt x="0" y="4460621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1920240"/>
            <a:ext cx="10355580" cy="3326425"/>
            <a:chOff x="0" y="0"/>
            <a:chExt cx="13807440" cy="4435234"/>
          </a:xfrm>
        </p:grpSpPr>
        <p:sp>
          <p:nvSpPr>
            <p:cNvPr name="Freeform 11" id="11" descr="/home/claude/deck3/img/crop_ponte.png"/>
            <p:cNvSpPr/>
            <p:nvPr/>
          </p:nvSpPr>
          <p:spPr>
            <a:xfrm flipH="false" flipV="false" rot="0">
              <a:off x="0" y="0"/>
              <a:ext cx="13807439" cy="4435221"/>
            </a:xfrm>
            <a:custGeom>
              <a:avLst/>
              <a:gdLst/>
              <a:ahLst/>
              <a:cxnLst/>
              <a:rect r="r" b="b" t="t" l="l"/>
              <a:pathLst>
                <a:path h="4435221" w="13807439">
                  <a:moveTo>
                    <a:pt x="0" y="0"/>
                  </a:moveTo>
                  <a:lnTo>
                    <a:pt x="13807439" y="0"/>
                  </a:lnTo>
                  <a:lnTo>
                    <a:pt x="13807439" y="4435221"/>
                  </a:lnTo>
                  <a:lnTo>
                    <a:pt x="0" y="44352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11054" y="1908334"/>
            <a:ext cx="10379393" cy="3350238"/>
            <a:chOff x="0" y="0"/>
            <a:chExt cx="13839190" cy="446698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839189" cy="4466971"/>
            </a:xfrm>
            <a:custGeom>
              <a:avLst/>
              <a:gdLst/>
              <a:ahLst/>
              <a:cxnLst/>
              <a:rect r="r" b="b" t="t" l="l"/>
              <a:pathLst>
                <a:path h="4466971" w="13839189">
                  <a:moveTo>
                    <a:pt x="0" y="0"/>
                  </a:moveTo>
                  <a:lnTo>
                    <a:pt x="13839189" y="0"/>
                  </a:lnTo>
                  <a:lnTo>
                    <a:pt x="13839189" y="4466971"/>
                  </a:lnTo>
                  <a:lnTo>
                    <a:pt x="0" y="44669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366" r="0" b="-10367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1580495" y="1910715"/>
            <a:ext cx="5889498" cy="1555242"/>
            <a:chOff x="0" y="0"/>
            <a:chExt cx="7852664" cy="20736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852664" cy="2073656"/>
            </a:xfrm>
            <a:custGeom>
              <a:avLst/>
              <a:gdLst/>
              <a:ahLst/>
              <a:cxnLst/>
              <a:rect r="r" b="b" t="t" l="l"/>
              <a:pathLst>
                <a:path h="2073656" w="7852664">
                  <a:moveTo>
                    <a:pt x="0" y="0"/>
                  </a:moveTo>
                  <a:lnTo>
                    <a:pt x="7852664" y="0"/>
                  </a:lnTo>
                  <a:lnTo>
                    <a:pt x="7852664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1864340" y="1920240"/>
            <a:ext cx="5349240" cy="1536192"/>
            <a:chOff x="0" y="0"/>
            <a:chExt cx="7132320" cy="20482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132320" cy="2048256"/>
            </a:xfrm>
            <a:custGeom>
              <a:avLst/>
              <a:gdLst/>
              <a:ahLst/>
              <a:cxnLst/>
              <a:rect r="r" b="b" t="t" l="l"/>
              <a:pathLst>
                <a:path h="2048256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849" r="0" b="-1784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7132320" cy="20387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>
                <a:lnSpc>
                  <a:spcPts val="2160"/>
                </a:lnSpc>
              </a:pPr>
              <a:r>
                <a:rPr lang="en-US" sz="18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Objeto: </a:t>
              </a:r>
              <a:r>
                <a:rPr lang="en-US" sz="18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implementação do eixo Educação Digital Escolar da PNED nas turmas de 1º e 2º anos da Escola Municipal Domitila Castelo, em Pipa (RN).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676507" y="3762375"/>
            <a:ext cx="5793486" cy="1555242"/>
            <a:chOff x="0" y="0"/>
            <a:chExt cx="7724648" cy="20736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724648" cy="2073656"/>
            </a:xfrm>
            <a:custGeom>
              <a:avLst/>
              <a:gdLst/>
              <a:ahLst/>
              <a:cxnLst/>
              <a:rect r="r" b="b" t="t" l="l"/>
              <a:pathLst>
                <a:path h="2073656" w="7724648">
                  <a:moveTo>
                    <a:pt x="0" y="0"/>
                  </a:moveTo>
                  <a:lnTo>
                    <a:pt x="7724648" y="0"/>
                  </a:lnTo>
                  <a:lnTo>
                    <a:pt x="772464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1578114" y="3663982"/>
            <a:ext cx="5798248" cy="1560004"/>
            <a:chOff x="0" y="0"/>
            <a:chExt cx="7730998" cy="208000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730998" cy="2080006"/>
            </a:xfrm>
            <a:custGeom>
              <a:avLst/>
              <a:gdLst/>
              <a:ahLst/>
              <a:cxnLst/>
              <a:rect r="r" b="b" t="t" l="l"/>
              <a:pathLst>
                <a:path h="2080006" w="7730998">
                  <a:moveTo>
                    <a:pt x="0" y="0"/>
                  </a:moveTo>
                  <a:lnTo>
                    <a:pt x="7730998" y="0"/>
                  </a:lnTo>
                  <a:lnTo>
                    <a:pt x="773099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11864340" y="3675888"/>
            <a:ext cx="5280660" cy="1536192"/>
            <a:chOff x="0" y="0"/>
            <a:chExt cx="7040880" cy="204825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40880" cy="2048256"/>
            </a:xfrm>
            <a:custGeom>
              <a:avLst/>
              <a:gdLst/>
              <a:ahLst/>
              <a:cxnLst/>
              <a:rect r="r" b="b" t="t" l="l"/>
              <a:pathLst>
                <a:path h="2048256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79" r="0" b="-16979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9525"/>
              <a:ext cx="7040880" cy="20387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Justificativa: </a:t>
              </a:r>
              <a:r>
                <a:rPr lang="en-US" sz="18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lei fez da educação digital um direito, um dever do Estado e um componente curricular, mas promete muito e garante pouco quanto aos meios.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09447" y="5778627"/>
            <a:ext cx="8042910" cy="3173730"/>
            <a:chOff x="0" y="0"/>
            <a:chExt cx="10723880" cy="4231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723880" cy="4231640"/>
            </a:xfrm>
            <a:custGeom>
              <a:avLst/>
              <a:gdLst/>
              <a:ahLst/>
              <a:cxnLst/>
              <a:rect r="r" b="b" t="t" l="l"/>
              <a:pathLst>
                <a:path h="4231640" w="10723880">
                  <a:moveTo>
                    <a:pt x="0" y="0"/>
                  </a:moveTo>
                  <a:lnTo>
                    <a:pt x="10723880" y="0"/>
                  </a:lnTo>
                  <a:lnTo>
                    <a:pt x="10723880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5680234"/>
            <a:ext cx="8047672" cy="3178492"/>
            <a:chOff x="0" y="0"/>
            <a:chExt cx="10730230" cy="423799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730230" cy="4237990"/>
            </a:xfrm>
            <a:custGeom>
              <a:avLst/>
              <a:gdLst/>
              <a:ahLst/>
              <a:cxnLst/>
              <a:rect r="r" b="b" t="t" l="l"/>
              <a:pathLst>
                <a:path h="4237990" w="10730230">
                  <a:moveTo>
                    <a:pt x="0" y="0"/>
                  </a:moveTo>
                  <a:lnTo>
                    <a:pt x="10730230" y="0"/>
                  </a:lnTo>
                  <a:lnTo>
                    <a:pt x="10730230" y="4237990"/>
                  </a:lnTo>
                  <a:lnTo>
                    <a:pt x="0" y="42379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165860" y="5860923"/>
            <a:ext cx="7406640" cy="489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b="true" sz="1950" spc="299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PROBLEMA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65860" y="6419088"/>
            <a:ext cx="7406640" cy="2331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10"/>
              </a:lnSpc>
            </a:pPr>
            <a:r>
              <a:rPr lang="en-US" sz="21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distância entre o direito declarado e os meios garantidos. </a:t>
            </a:r>
            <a:r>
              <a:rPr lang="en-US" sz="21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norma faz da educação digital componente curricular, mas não garante formação específica, infraestrutura de rede e tempo de planejamento, que acabam sendo construídos no dia a dia do contexto da prática.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248775" y="5682615"/>
            <a:ext cx="8221218" cy="3269742"/>
            <a:chOff x="0" y="0"/>
            <a:chExt cx="10961624" cy="43596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61624" cy="4359656"/>
            </a:xfrm>
            <a:custGeom>
              <a:avLst/>
              <a:gdLst/>
              <a:ahLst/>
              <a:cxnLst/>
              <a:rect r="r" b="b" t="t" l="l"/>
              <a:pathLst>
                <a:path h="4359656" w="10961624">
                  <a:moveTo>
                    <a:pt x="0" y="0"/>
                  </a:moveTo>
                  <a:lnTo>
                    <a:pt x="10961624" y="0"/>
                  </a:lnTo>
                  <a:lnTo>
                    <a:pt x="10961624" y="4359656"/>
                  </a:lnTo>
                  <a:lnTo>
                    <a:pt x="0" y="4359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9601200" y="5860923"/>
            <a:ext cx="7543800" cy="489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b="true" sz="1950" spc="299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601200" y="6419088"/>
            <a:ext cx="7543800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i="true">
                <a:solidFill>
                  <a:srgbClr val="1A1A1A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Como ocorre a implementação do eixo Educação Digital Escolar da PNED nos anos iniciais do Ensino Fundamental, considerando os processos de interpretação, tradução e recontextualização construídos pelos profissionais da educação no contexto da prática?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22960" y="9601200"/>
            <a:ext cx="1663750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14.533/2023; Mainardes (2006); Lipsky (2019).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ilustração conceitual gerada por IA (Gemini Notebook).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894683" y="-301752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Trajetória: de onde parto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285750" y="-285750"/>
            <a:ext cx="18859043" cy="10858500"/>
            <a:chOff x="0" y="0"/>
            <a:chExt cx="25145390" cy="14478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77190" y="10134600"/>
              <a:ext cx="24517349" cy="1544320"/>
            </a:xfrm>
            <a:custGeom>
              <a:avLst/>
              <a:gdLst/>
              <a:ahLst/>
              <a:cxnLst/>
              <a:rect r="r" b="b" t="t" l="l"/>
              <a:pathLst>
                <a:path h="1544320" w="24517349">
                  <a:moveTo>
                    <a:pt x="0" y="1544320"/>
                  </a:moveTo>
                  <a:cubicBezTo>
                    <a:pt x="7543800" y="-772160"/>
                    <a:pt x="15841980" y="2895600"/>
                    <a:pt x="24517349" y="0"/>
                  </a:cubicBezTo>
                </a:path>
              </a:pathLst>
            </a:custGeom>
            <a:blipFill>
              <a:blip r:embed="rId4">
                <a:alphaModFix amt="0"/>
              </a:blip>
              <a:stretch>
                <a:fillRect l="-26023" t="-656250" r="-25508" b="-181250"/>
              </a:stretch>
            </a:blipFill>
            <a:ln w="5715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-228600" y="-228600"/>
            <a:ext cx="18744743" cy="10744200"/>
            <a:chOff x="0" y="0"/>
            <a:chExt cx="24992990" cy="143256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374904" y="10027920"/>
              <a:ext cx="24368761" cy="1528064"/>
            </a:xfrm>
            <a:custGeom>
              <a:avLst/>
              <a:gdLst/>
              <a:ahLst/>
              <a:cxnLst/>
              <a:rect r="r" b="b" t="t" l="l"/>
              <a:pathLst>
                <a:path h="1528064" w="24368761">
                  <a:moveTo>
                    <a:pt x="0" y="1528064"/>
                  </a:moveTo>
                  <a:cubicBezTo>
                    <a:pt x="7498081" y="-764032"/>
                    <a:pt x="15745968" y="2865120"/>
                    <a:pt x="24368761" y="0"/>
                  </a:cubicBezTo>
                </a:path>
              </a:pathLst>
            </a:custGeom>
            <a:blipFill>
              <a:blip r:embed="rId4">
                <a:alphaModFix amt="0"/>
              </a:blip>
              <a:stretch>
                <a:fillRect l="-25683" t="-656249" r="-25167" b="-181250"/>
              </a:stretch>
            </a:blipFill>
            <a:ln w="45720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Freeform 17" id="17"/>
          <p:cNvSpPr/>
          <p:nvPr/>
        </p:nvSpPr>
        <p:spPr>
          <a:xfrm flipH="false" flipV="false" rot="0">
            <a:off x="394199" y="-6777310"/>
            <a:ext cx="18335168" cy="10334625"/>
          </a:xfrm>
          <a:custGeom>
            <a:avLst/>
            <a:gdLst/>
            <a:ahLst/>
            <a:cxnLst/>
            <a:rect r="r" b="b" t="t" l="l"/>
            <a:pathLst>
              <a:path h="10334625" w="18335168">
                <a:moveTo>
                  <a:pt x="0" y="0"/>
                </a:moveTo>
                <a:lnTo>
                  <a:pt x="18335168" y="0"/>
                </a:lnTo>
                <a:lnTo>
                  <a:pt x="18335168" y="10334625"/>
                </a:lnTo>
                <a:lnTo>
                  <a:pt x="0" y="103346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909447" y="2006727"/>
            <a:ext cx="3996690" cy="4202430"/>
            <a:chOff x="0" y="0"/>
            <a:chExt cx="5328920" cy="5603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1908334"/>
            <a:ext cx="4001453" cy="4207192"/>
            <a:chOff x="0" y="0"/>
            <a:chExt cx="5335270" cy="560959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069848" y="2084832"/>
            <a:ext cx="3483864" cy="850392"/>
            <a:chOff x="0" y="0"/>
            <a:chExt cx="4645152" cy="113385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Uma trajetória longa no território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069848" y="3027045"/>
            <a:ext cx="3483864" cy="293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Quase duas décadas de convivência com Pipa e dezoito anos de trabalho na rede municipal de educação de Tibau do Sul/RN. A pesquisadora não olha o problema de fora.</a:t>
            </a:r>
          </a:p>
        </p:txBody>
      </p:sp>
      <p:sp>
        <p:nvSpPr>
          <p:cNvPr name="AutoShape 26" id="26"/>
          <p:cNvSpPr/>
          <p:nvPr/>
        </p:nvSpPr>
        <p:spPr>
          <a:xfrm rot="5275680">
            <a:off x="2416654" y="6570688"/>
            <a:ext cx="790251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7" id="27"/>
          <p:cNvGrpSpPr/>
          <p:nvPr/>
        </p:nvGrpSpPr>
        <p:grpSpPr>
          <a:xfrm rot="0">
            <a:off x="2510028" y="6905930"/>
            <a:ext cx="576072" cy="933669"/>
            <a:chOff x="0" y="0"/>
            <a:chExt cx="768096" cy="1244892"/>
          </a:xfrm>
        </p:grpSpPr>
        <p:sp>
          <p:nvSpPr>
            <p:cNvPr name="Freeform 28" id="28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028700" y="8232191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rede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037963" y="1910715"/>
            <a:ext cx="3996690" cy="4202430"/>
            <a:chOff x="0" y="0"/>
            <a:chExt cx="5328920" cy="56032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294376" y="2084832"/>
            <a:ext cx="3483864" cy="850392"/>
            <a:chOff x="0" y="0"/>
            <a:chExt cx="4645152" cy="11338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Mestrado na mesma escola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5294376" y="2880360"/>
            <a:ext cx="3483864" cy="960120"/>
            <a:chOff x="0" y="0"/>
            <a:chExt cx="4645152" cy="128016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645152" cy="1280160"/>
            </a:xfrm>
            <a:custGeom>
              <a:avLst/>
              <a:gdLst/>
              <a:ahLst/>
              <a:cxnLst/>
              <a:rect r="r" b="b" t="t" l="l"/>
              <a:pathLst>
                <a:path h="1280160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702" r="0" b="-2070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4645152" cy="128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70%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5294376" y="3867912"/>
            <a:ext cx="3483864" cy="98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das crianças da turma dividiam o aparelho com pais ou responsáveis; 30% tinham aparelho próprio (MACHADO, 2021).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294376" y="4869180"/>
            <a:ext cx="3483864" cy="116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Pesquisa-ação com uma turma de 2º ano no ensino remoto: atividades assíncronas, por aplicativos de mensagens, no celular de adultos (pais e/ou responsáveis).</a:t>
            </a:r>
          </a:p>
        </p:txBody>
      </p:sp>
      <p:sp>
        <p:nvSpPr>
          <p:cNvPr name="AutoShape 40" id="40"/>
          <p:cNvSpPr/>
          <p:nvPr/>
        </p:nvSpPr>
        <p:spPr>
          <a:xfrm rot="5272200">
            <a:off x="6651927" y="6559934"/>
            <a:ext cx="768763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1" id="41"/>
          <p:cNvGrpSpPr/>
          <p:nvPr/>
        </p:nvGrpSpPr>
        <p:grpSpPr>
          <a:xfrm rot="0">
            <a:off x="6734556" y="6884422"/>
            <a:ext cx="576072" cy="933669"/>
            <a:chOff x="0" y="0"/>
            <a:chExt cx="768096" cy="1244892"/>
          </a:xfrm>
        </p:grpSpPr>
        <p:sp>
          <p:nvSpPr>
            <p:cNvPr name="Freeform 42" id="4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TextBox 43" id="43"/>
          <p:cNvSpPr txBox="true"/>
          <p:nvPr/>
        </p:nvSpPr>
        <p:spPr>
          <a:xfrm rot="0">
            <a:off x="5253228" y="8210683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Mestrado · 2021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9358503" y="2006727"/>
            <a:ext cx="3996690" cy="4202430"/>
            <a:chOff x="0" y="0"/>
            <a:chExt cx="5328920" cy="56032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9260110" y="1908334"/>
            <a:ext cx="4001453" cy="4207192"/>
            <a:chOff x="0" y="0"/>
            <a:chExt cx="5335270" cy="560959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9518904" y="2084832"/>
            <a:ext cx="3483864" cy="850392"/>
            <a:chOff x="0" y="0"/>
            <a:chExt cx="4645152" cy="113385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tese continua o mestrado</a:t>
              </a: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9518904" y="3027045"/>
            <a:ext cx="3483864" cy="293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mesma escola, agora diante da PNED: a educação digital passou a ser direito e componente curricular transversal dos anos iniciais.</a:t>
            </a:r>
          </a:p>
        </p:txBody>
      </p:sp>
      <p:sp>
        <p:nvSpPr>
          <p:cNvPr name="AutoShape 52" id="52"/>
          <p:cNvSpPr/>
          <p:nvPr/>
        </p:nvSpPr>
        <p:spPr>
          <a:xfrm rot="5301840">
            <a:off x="10760431" y="6676015"/>
            <a:ext cx="1000801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3" id="53"/>
          <p:cNvGrpSpPr/>
          <p:nvPr/>
        </p:nvGrpSpPr>
        <p:grpSpPr>
          <a:xfrm rot="0">
            <a:off x="10959084" y="7116594"/>
            <a:ext cx="576072" cy="933669"/>
            <a:chOff x="0" y="0"/>
            <a:chExt cx="768096" cy="1244892"/>
          </a:xfrm>
        </p:grpSpPr>
        <p:sp>
          <p:nvSpPr>
            <p:cNvPr name="Freeform 54" id="54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TextBox 55" id="55"/>
          <p:cNvSpPr txBox="true"/>
          <p:nvPr/>
        </p:nvSpPr>
        <p:spPr>
          <a:xfrm rot="0">
            <a:off x="9477756" y="8442855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Doutorado · hoje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3583031" y="2006727"/>
            <a:ext cx="3996690" cy="4202430"/>
            <a:chOff x="0" y="0"/>
            <a:chExt cx="5328920" cy="56032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3484638" y="1908334"/>
            <a:ext cx="4001453" cy="4207192"/>
            <a:chOff x="0" y="0"/>
            <a:chExt cx="5335270" cy="560959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3743432" y="2084832"/>
            <a:ext cx="3483864" cy="850392"/>
            <a:chOff x="0" y="0"/>
            <a:chExt cx="4645152" cy="113385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Memória não é dado</a:t>
              </a: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13743432" y="3027045"/>
            <a:ext cx="3483864" cy="132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trajetória orienta o olhar; as evidências virão dos instrumentos. O diário de campo registra o percurso e não é uma quinta fonte.</a:t>
            </a:r>
          </a:p>
        </p:txBody>
      </p:sp>
      <p:sp>
        <p:nvSpPr>
          <p:cNvPr name="AutoShape 64" id="64"/>
          <p:cNvSpPr/>
          <p:nvPr/>
        </p:nvSpPr>
        <p:spPr>
          <a:xfrm rot="5275980">
            <a:off x="15089191" y="6571736"/>
            <a:ext cx="792347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5" id="65"/>
          <p:cNvGrpSpPr/>
          <p:nvPr/>
        </p:nvGrpSpPr>
        <p:grpSpPr>
          <a:xfrm rot="0">
            <a:off x="15183612" y="6908025"/>
            <a:ext cx="576072" cy="933669"/>
            <a:chOff x="0" y="0"/>
            <a:chExt cx="768096" cy="1244892"/>
          </a:xfrm>
        </p:grpSpPr>
        <p:sp>
          <p:nvSpPr>
            <p:cNvPr name="Freeform 66" id="66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TextBox 67" id="67"/>
          <p:cNvSpPr txBox="true"/>
          <p:nvPr/>
        </p:nvSpPr>
        <p:spPr>
          <a:xfrm rot="0">
            <a:off x="13702284" y="8234286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Regra de método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Freire (2019): não há neutralidade possível; Braun e Clarke (2019): a reflexividade é parte da análise.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6774668" y="144937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objeto e o recorte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910715"/>
            <a:ext cx="16656558" cy="1664970"/>
            <a:chOff x="0" y="0"/>
            <a:chExt cx="22208744" cy="22199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2219960"/>
            </a:xfrm>
            <a:custGeom>
              <a:avLst/>
              <a:gdLst/>
              <a:ahLst/>
              <a:cxnLst/>
              <a:rect r="r" b="b" t="t" l="l"/>
              <a:pathLst>
                <a:path h="221996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219960"/>
                  </a:lnTo>
                  <a:lnTo>
                    <a:pt x="0" y="22199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34440" y="1920240"/>
            <a:ext cx="15910560" cy="1645920"/>
            <a:chOff x="0" y="0"/>
            <a:chExt cx="21214080" cy="21945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21408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8355" r="0" b="-138355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21408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Objeto: </a:t>
              </a:r>
              <a:r>
                <a:rPr lang="en-US" sz="27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implementação do eixo Educação Digital Escolar da PNED nos anos iniciais do Ensino Fundamental da Escola Municipal Domitila Castelo, em Pipa.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995547"/>
            <a:ext cx="5313426" cy="3585210"/>
            <a:chOff x="0" y="0"/>
            <a:chExt cx="7084568" cy="4780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897154"/>
            <a:ext cx="5318188" cy="3589972"/>
            <a:chOff x="0" y="0"/>
            <a:chExt cx="7090918" cy="47866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16586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1º e 2º anos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mesma profissional acompanha a turma durante toda a jornada. A decisão sobre se e quando a educação digital acontece tem autoria identificável, e a categoria pode ser refutada com mais clareza. 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533007" y="3995547"/>
            <a:ext cx="5313426" cy="3585210"/>
            <a:chOff x="0" y="0"/>
            <a:chExt cx="7084568" cy="4780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434614" y="3897154"/>
            <a:ext cx="5318188" cy="3589972"/>
            <a:chOff x="0" y="0"/>
            <a:chExt cx="7090918" cy="478663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678942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o ciclo de alfabetização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78942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As crianças chegam com experiências digitais desiguais, e familiaridade com aparelhos não garante compreensão crítica dos usos, direitos e riscos. Também por fazer parte do mesmo nível de escolarização.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156567" y="3995547"/>
            <a:ext cx="5313426" cy="3585210"/>
            <a:chOff x="0" y="0"/>
            <a:chExt cx="7084568" cy="47802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2058174" y="3897154"/>
            <a:ext cx="5318188" cy="3589972"/>
            <a:chOff x="0" y="0"/>
            <a:chExt cx="7090918" cy="47866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1241298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o objeto é lido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41298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Território, condições institucionais e infraestrutura entram como dimensões do contexto da prática; as narrativas dos profissionais é o caminho principal.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808672" y="7831264"/>
            <a:ext cx="16666083" cy="1468755"/>
            <a:chOff x="0" y="0"/>
            <a:chExt cx="22221444" cy="19583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2221444" cy="1958340"/>
            </a:xfrm>
            <a:custGeom>
              <a:avLst/>
              <a:gdLst/>
              <a:ahLst/>
              <a:cxnLst/>
              <a:rect r="r" b="b" t="t" l="l"/>
              <a:pathLst>
                <a:path h="1958340" w="22221444">
                  <a:moveTo>
                    <a:pt x="0" y="0"/>
                  </a:moveTo>
                  <a:lnTo>
                    <a:pt x="22221444" y="0"/>
                  </a:lnTo>
                  <a:lnTo>
                    <a:pt x="22221444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1098" r="0" b="-171098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165860" y="7845552"/>
            <a:ext cx="16047720" cy="1440180"/>
            <a:chOff x="0" y="0"/>
            <a:chExt cx="21396960" cy="19202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396961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7119" r="0" b="-167119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21396960" cy="1929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Fora do objeto: </a:t>
              </a:r>
              <a:r>
                <a:rPr lang="en-US" sz="202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cumprimento integral da PNED, os efeitos sobre a aprendizagem e a observação de aulas. As crianças não participam da produção de dados. Plataformização e governança de dados entram só como contexto.</a:t>
              </a: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 e Mainardes (2006): contexto da prática; Buckingham (2007); Zuboff (2021) e Morozov (2018) como contexto.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239744" y="172250"/>
            <a:ext cx="1988820" cy="1499864"/>
            <a:chOff x="0" y="0"/>
            <a:chExt cx="2651760" cy="1999818"/>
          </a:xfrm>
        </p:grpSpPr>
        <p:sp>
          <p:nvSpPr>
            <p:cNvPr name="Freeform 4" id="4" descr="/home/claude/deck3/img/d_cronometro.png"/>
            <p:cNvSpPr/>
            <p:nvPr/>
          </p:nvSpPr>
          <p:spPr>
            <a:xfrm flipH="false" flipV="false" rot="0">
              <a:off x="0" y="0"/>
              <a:ext cx="2651760" cy="1999869"/>
            </a:xfrm>
            <a:custGeom>
              <a:avLst/>
              <a:gdLst/>
              <a:ahLst/>
              <a:cxnLst/>
              <a:rect r="r" b="b" t="t" l="l"/>
              <a:pathLst>
                <a:path h="1999869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1999869"/>
                  </a:lnTo>
                  <a:lnTo>
                    <a:pt x="0" y="19998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7" r="0" b="-15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Problematização: do portão para fora, do portão para dentro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8111490" cy="4751070"/>
            <a:chOff x="0" y="0"/>
            <a:chExt cx="10815320" cy="63347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815320" cy="6334760"/>
            </a:xfrm>
            <a:custGeom>
              <a:avLst/>
              <a:gdLst/>
              <a:ahLst/>
              <a:cxnLst/>
              <a:rect r="r" b="b" t="t" l="l"/>
              <a:pathLst>
                <a:path h="6334760" w="10815320">
                  <a:moveTo>
                    <a:pt x="0" y="0"/>
                  </a:moveTo>
                  <a:lnTo>
                    <a:pt x="10815320" y="0"/>
                  </a:lnTo>
                  <a:lnTo>
                    <a:pt x="10815320" y="6334760"/>
                  </a:lnTo>
                  <a:lnTo>
                    <a:pt x="0" y="63347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88820"/>
            <a:ext cx="8092440" cy="4732020"/>
            <a:chOff x="0" y="0"/>
            <a:chExt cx="10789920" cy="6309360"/>
          </a:xfrm>
        </p:grpSpPr>
        <p:sp>
          <p:nvSpPr>
            <p:cNvPr name="Freeform 16" id="16" descr="/home/claude/deck3/img/pipa_aerea.jpg"/>
            <p:cNvSpPr/>
            <p:nvPr/>
          </p:nvSpPr>
          <p:spPr>
            <a:xfrm flipH="false" flipV="false" rot="0">
              <a:off x="0" y="0"/>
              <a:ext cx="10789920" cy="6309360"/>
            </a:xfrm>
            <a:custGeom>
              <a:avLst/>
              <a:gdLst/>
              <a:ahLst/>
              <a:cxnLst/>
              <a:rect r="r" b="b" t="t" l="l"/>
              <a:pathLst>
                <a:path h="6309360" w="10789920">
                  <a:moveTo>
                    <a:pt x="0" y="0"/>
                  </a:moveTo>
                  <a:lnTo>
                    <a:pt x="10789920" y="0"/>
                  </a:lnTo>
                  <a:lnTo>
                    <a:pt x="10789920" y="6309360"/>
                  </a:lnTo>
                  <a:lnTo>
                    <a:pt x="0" y="6309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-26123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76914"/>
            <a:ext cx="8116253" cy="4755832"/>
            <a:chOff x="0" y="0"/>
            <a:chExt cx="10821670" cy="634111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821670" cy="6341110"/>
            </a:xfrm>
            <a:custGeom>
              <a:avLst/>
              <a:gdLst/>
              <a:ahLst/>
              <a:cxnLst/>
              <a:rect r="r" b="b" t="t" l="l"/>
              <a:pathLst>
                <a:path h="6341110" w="10821670">
                  <a:moveTo>
                    <a:pt x="0" y="0"/>
                  </a:moveTo>
                  <a:lnTo>
                    <a:pt x="10821670" y="0"/>
                  </a:lnTo>
                  <a:lnTo>
                    <a:pt x="10821670" y="6341110"/>
                  </a:lnTo>
                  <a:lnTo>
                    <a:pt x="0" y="63411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181" t="0" r="-25181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087755" y="2253615"/>
            <a:ext cx="3585210" cy="636270"/>
            <a:chOff x="0" y="0"/>
            <a:chExt cx="4780280" cy="8483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780280" cy="848360"/>
            </a:xfrm>
            <a:custGeom>
              <a:avLst/>
              <a:gdLst/>
              <a:ahLst/>
              <a:cxnLst/>
              <a:rect r="r" b="b" t="t" l="l"/>
              <a:pathLst>
                <a:path h="848360" w="4780280">
                  <a:moveTo>
                    <a:pt x="0" y="0"/>
                  </a:moveTo>
                  <a:lnTo>
                    <a:pt x="4780280" y="0"/>
                  </a:lnTo>
                  <a:lnTo>
                    <a:pt x="4780280" y="848360"/>
                  </a:lnTo>
                  <a:lnTo>
                    <a:pt x="0" y="848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097280" y="2263140"/>
            <a:ext cx="3566160" cy="617220"/>
            <a:chOff x="0" y="0"/>
            <a:chExt cx="4754880" cy="8229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754880" cy="822960"/>
            </a:xfrm>
            <a:custGeom>
              <a:avLst/>
              <a:gdLst/>
              <a:ahLst/>
              <a:cxnLst/>
              <a:rect r="r" b="b" t="t" l="l"/>
              <a:pathLst>
                <a:path h="822960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2580" r="0" b="-6258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4754880" cy="8324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Do portão para fora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822960" y="6867525"/>
            <a:ext cx="8092440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Pipa: polo turístico conectado, com pousadas, restaurantes e passeios vendidos pela internet.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454515" y="2075307"/>
            <a:ext cx="8111490" cy="4751070"/>
            <a:chOff x="0" y="0"/>
            <a:chExt cx="10815320" cy="6334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815320" cy="6334760"/>
            </a:xfrm>
            <a:custGeom>
              <a:avLst/>
              <a:gdLst/>
              <a:ahLst/>
              <a:cxnLst/>
              <a:rect r="r" b="b" t="t" l="l"/>
              <a:pathLst>
                <a:path h="6334760" w="10815320">
                  <a:moveTo>
                    <a:pt x="0" y="0"/>
                  </a:moveTo>
                  <a:lnTo>
                    <a:pt x="10815320" y="0"/>
                  </a:lnTo>
                  <a:lnTo>
                    <a:pt x="10815320" y="6334760"/>
                  </a:lnTo>
                  <a:lnTo>
                    <a:pt x="0" y="63347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9368028" y="1988820"/>
            <a:ext cx="8092440" cy="4732020"/>
            <a:chOff x="0" y="0"/>
            <a:chExt cx="10789920" cy="6309360"/>
          </a:xfrm>
        </p:grpSpPr>
        <p:sp>
          <p:nvSpPr>
            <p:cNvPr name="Freeform 28" id="28" descr="/home/claude/deck3/img/laboratorio.jpg"/>
            <p:cNvSpPr/>
            <p:nvPr/>
          </p:nvSpPr>
          <p:spPr>
            <a:xfrm flipH="false" flipV="false" rot="0">
              <a:off x="0" y="0"/>
              <a:ext cx="10789920" cy="6309360"/>
            </a:xfrm>
            <a:custGeom>
              <a:avLst/>
              <a:gdLst/>
              <a:ahLst/>
              <a:cxnLst/>
              <a:rect r="r" b="b" t="t" l="l"/>
              <a:pathLst>
                <a:path h="6309360" w="10789920">
                  <a:moveTo>
                    <a:pt x="0" y="0"/>
                  </a:moveTo>
                  <a:lnTo>
                    <a:pt x="10789920" y="0"/>
                  </a:lnTo>
                  <a:lnTo>
                    <a:pt x="10789920" y="6309360"/>
                  </a:lnTo>
                  <a:lnTo>
                    <a:pt x="0" y="6309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3954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9356122" y="1976914"/>
            <a:ext cx="8116253" cy="4755832"/>
            <a:chOff x="0" y="0"/>
            <a:chExt cx="10821670" cy="634111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821670" cy="6341110"/>
            </a:xfrm>
            <a:custGeom>
              <a:avLst/>
              <a:gdLst/>
              <a:ahLst/>
              <a:cxnLst/>
              <a:rect r="r" b="b" t="t" l="l"/>
              <a:pathLst>
                <a:path h="6341110" w="10821670">
                  <a:moveTo>
                    <a:pt x="0" y="0"/>
                  </a:moveTo>
                  <a:lnTo>
                    <a:pt x="10821670" y="0"/>
                  </a:lnTo>
                  <a:lnTo>
                    <a:pt x="10821670" y="6341110"/>
                  </a:lnTo>
                  <a:lnTo>
                    <a:pt x="0" y="63411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181" t="0" r="-25181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9632823" y="2253615"/>
            <a:ext cx="3585210" cy="636270"/>
            <a:chOff x="0" y="0"/>
            <a:chExt cx="4780280" cy="8483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780280" cy="848360"/>
            </a:xfrm>
            <a:custGeom>
              <a:avLst/>
              <a:gdLst/>
              <a:ahLst/>
              <a:cxnLst/>
              <a:rect r="r" b="b" t="t" l="l"/>
              <a:pathLst>
                <a:path h="848360" w="4780280">
                  <a:moveTo>
                    <a:pt x="0" y="0"/>
                  </a:moveTo>
                  <a:lnTo>
                    <a:pt x="4780280" y="0"/>
                  </a:lnTo>
                  <a:lnTo>
                    <a:pt x="4780280" y="848360"/>
                  </a:lnTo>
                  <a:lnTo>
                    <a:pt x="0" y="848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642348" y="2263140"/>
            <a:ext cx="3566160" cy="617220"/>
            <a:chOff x="0" y="0"/>
            <a:chExt cx="4754880" cy="82296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754880" cy="822960"/>
            </a:xfrm>
            <a:custGeom>
              <a:avLst/>
              <a:gdLst/>
              <a:ahLst/>
              <a:cxnLst/>
              <a:rect r="r" b="b" t="t" l="l"/>
              <a:pathLst>
                <a:path h="822960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2580" r="0" b="-6258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4754880" cy="8324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Do portão para dentro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9368028" y="6867525"/>
            <a:ext cx="8092440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Laboratório da escola, com os equipamentos desligados no momento do registro (Figura 25).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13435" y="7781163"/>
            <a:ext cx="16656558" cy="1527810"/>
            <a:chOff x="0" y="0"/>
            <a:chExt cx="22208744" cy="203708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208744" cy="2037080"/>
            </a:xfrm>
            <a:custGeom>
              <a:avLst/>
              <a:gdLst/>
              <a:ahLst/>
              <a:cxnLst/>
              <a:rect r="r" b="b" t="t" l="l"/>
              <a:pathLst>
                <a:path h="203708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34440" y="7790688"/>
            <a:ext cx="15841980" cy="1508760"/>
            <a:chOff x="0" y="0"/>
            <a:chExt cx="21122640" cy="201168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11226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21122639">
                  <a:moveTo>
                    <a:pt x="0" y="0"/>
                  </a:moveTo>
                  <a:lnTo>
                    <a:pt x="21122639" y="0"/>
                  </a:lnTo>
                  <a:lnTo>
                    <a:pt x="21122639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592" r="0" b="-154592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0"/>
              <a:ext cx="211226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b="true" sz="2550" i="true">
                  <a:solidFill>
                    <a:srgbClr val="1A1A1A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O mesmo território abriga circuitos econômicos que dependem de alta conectividade e uma escola pública que não dispõe desses recursos nas mesmas condições.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Santos (1999): território usado; Massey (2008): lugar como encontro de trajetórias.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84610" y="474410"/>
            <a:ext cx="1769694" cy="1250663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Questão norteadora e objetivos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842135"/>
            <a:ext cx="16656558" cy="1555242"/>
            <a:chOff x="0" y="0"/>
            <a:chExt cx="22208744" cy="207365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2073656"/>
            </a:xfrm>
            <a:custGeom>
              <a:avLst/>
              <a:gdLst/>
              <a:ahLst/>
              <a:cxnLst/>
              <a:rect r="r" b="b" t="t" l="l"/>
              <a:pathLst>
                <a:path h="2073656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851660"/>
            <a:ext cx="15979140" cy="1536192"/>
            <a:chOff x="0" y="0"/>
            <a:chExt cx="21305520" cy="204825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05520" cy="2048256"/>
            </a:xfrm>
            <a:custGeom>
              <a:avLst/>
              <a:gdLst/>
              <a:ahLst/>
              <a:cxnLst/>
              <a:rect r="r" b="b" t="t" l="l"/>
              <a:pathLst>
                <a:path h="2048256" w="21305520">
                  <a:moveTo>
                    <a:pt x="0" y="0"/>
                  </a:moveTo>
                  <a:lnTo>
                    <a:pt x="21305520" y="0"/>
                  </a:lnTo>
                  <a:lnTo>
                    <a:pt x="2130552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2679" r="0" b="-152679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1305520" cy="2048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i="true">
                  <a:solidFill>
                    <a:srgbClr val="3942B5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Questão norteadora: como ocorre a implementação do eixo Educação Digital Escolar da PNED nos anos iniciais do Ensino Fundamental, considerando os processos de interpretação, tradução e recontextualização construídos pelos profissionais da educação no contexto da prática?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680079"/>
            <a:ext cx="16560546" cy="1459230"/>
            <a:chOff x="0" y="0"/>
            <a:chExt cx="22080728" cy="1945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080728" cy="1945640"/>
            </a:xfrm>
            <a:custGeom>
              <a:avLst/>
              <a:gdLst/>
              <a:ahLst/>
              <a:cxnLst/>
              <a:rect r="r" b="b" t="t" l="l"/>
              <a:pathLst>
                <a:path h="194564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1945640"/>
                  </a:lnTo>
                  <a:lnTo>
                    <a:pt x="0" y="1945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581686"/>
            <a:ext cx="16565308" cy="1463992"/>
            <a:chOff x="0" y="0"/>
            <a:chExt cx="22087078" cy="195199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087078" cy="1951990"/>
            </a:xfrm>
            <a:custGeom>
              <a:avLst/>
              <a:gdLst/>
              <a:ahLst/>
              <a:cxnLst/>
              <a:rect r="r" b="b" t="t" l="l"/>
              <a:pathLst>
                <a:path h="195199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1951990"/>
                  </a:lnTo>
                  <a:lnTo>
                    <a:pt x="0" y="19519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65860" y="3593592"/>
            <a:ext cx="15910560" cy="1440180"/>
            <a:chOff x="0" y="0"/>
            <a:chExt cx="21214080" cy="19202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2140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5263" r="0" b="-165263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21214080" cy="1910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Objetivo geral: analisar a implementação do eixo Educação Digital Escolar da Política Nacional de Educação Digital (PNED) nos anos iniciais do Ensino Fundamental, considerando as relações entre a normativa, as condições institucionais e territoriais no contexto da prática, bem como os processos de interpretação, tradução e recontextualização construídos pelos profissionais da educação.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822960" y="5249037"/>
            <a:ext cx="822960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OBJETIVOS ESPECÍFICOS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09447" y="5847207"/>
            <a:ext cx="5313426" cy="3585210"/>
            <a:chOff x="0" y="0"/>
            <a:chExt cx="7084568" cy="47802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5748814"/>
            <a:ext cx="5318188" cy="3589972"/>
            <a:chOff x="0" y="0"/>
            <a:chExt cx="7090918" cy="478663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087755" y="5956935"/>
            <a:ext cx="732282" cy="732282"/>
            <a:chOff x="0" y="0"/>
            <a:chExt cx="976376" cy="9763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5966460"/>
            <a:ext cx="713232" cy="713232"/>
            <a:chOff x="0" y="0"/>
            <a:chExt cx="950976" cy="95097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988820" y="5966460"/>
            <a:ext cx="3977640" cy="713232"/>
            <a:chOff x="0" y="0"/>
            <a:chExt cx="5303520" cy="95097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norma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9728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Examinar a constituição do eixo nos contextos de influência e de produção do texto.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9728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3942B5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O que a política promete e com que meios?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9728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 · agenda global, perspectiva comparada com a Europa e Americas  e análise das normativas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6533007" y="5847207"/>
            <a:ext cx="5313426" cy="3585210"/>
            <a:chOff x="0" y="0"/>
            <a:chExt cx="7084568" cy="47802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434614" y="5748814"/>
            <a:ext cx="5318188" cy="3589972"/>
            <a:chOff x="0" y="0"/>
            <a:chExt cx="7090918" cy="478663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711315" y="5956935"/>
            <a:ext cx="732282" cy="732282"/>
            <a:chOff x="0" y="0"/>
            <a:chExt cx="976376" cy="97637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7462E3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720840" y="5966460"/>
            <a:ext cx="713232" cy="713232"/>
            <a:chOff x="0" y="0"/>
            <a:chExt cx="950976" cy="95097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7612380" y="5966460"/>
            <a:ext cx="3977640" cy="713232"/>
            <a:chOff x="0" y="0"/>
            <a:chExt cx="5303520" cy="95097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território</a:t>
              </a: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672084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Caracterizar o território de Pipa e a escola investigada como contexto da prática.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672084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7462E3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Que condições recebem a política?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672084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 · registro iconográfico, acervo e documentos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2156567" y="5847207"/>
            <a:ext cx="5313426" cy="3585210"/>
            <a:chOff x="0" y="0"/>
            <a:chExt cx="7084568" cy="47802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2058174" y="5748814"/>
            <a:ext cx="5318188" cy="3589972"/>
            <a:chOff x="0" y="0"/>
            <a:chExt cx="7090918" cy="478663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334875" y="5956935"/>
            <a:ext cx="732282" cy="732282"/>
            <a:chOff x="0" y="0"/>
            <a:chExt cx="976376" cy="97637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344400" y="5966460"/>
            <a:ext cx="713232" cy="713232"/>
            <a:chOff x="0" y="0"/>
            <a:chExt cx="950976" cy="95097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3235940" y="5966460"/>
            <a:ext cx="3977640" cy="713232"/>
            <a:chOff x="0" y="0"/>
            <a:chExt cx="5303520" cy="95097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atuação</a:t>
              </a:r>
            </a:p>
          </p:txBody>
        </p:sp>
      </p:grpSp>
      <p:sp>
        <p:nvSpPr>
          <p:cNvPr name="TextBox 68" id="68"/>
          <p:cNvSpPr txBox="true"/>
          <p:nvPr/>
        </p:nvSpPr>
        <p:spPr>
          <a:xfrm rot="0">
            <a:off x="1234440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Compreender como os profissionais interpretam, traduzem e recontextualizam o eixo e exercem sua margem de decisão.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234440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B8420F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O que fazem com a distância entre a norma e as condições?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234440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7 · questionário, entrevistas e documentos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contextos de influência, de produção do texto e da prática.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55272" y="509295"/>
            <a:ext cx="1851660" cy="1618583"/>
            <a:chOff x="0" y="0"/>
            <a:chExt cx="2468880" cy="2158111"/>
          </a:xfrm>
        </p:grpSpPr>
        <p:sp>
          <p:nvSpPr>
            <p:cNvPr name="Freeform 4" id="4" descr="/home/claude/deck3/img/d_lupa.png"/>
            <p:cNvSpPr/>
            <p:nvPr/>
          </p:nvSpPr>
          <p:spPr>
            <a:xfrm flipH="false" flipV="false" rot="0">
              <a:off x="0" y="0"/>
              <a:ext cx="2468880" cy="2158111"/>
            </a:xfrm>
            <a:custGeom>
              <a:avLst/>
              <a:gdLst/>
              <a:ahLst/>
              <a:cxnLst/>
              <a:rect r="r" b="b" t="t" l="l"/>
              <a:pathLst>
                <a:path h="2158111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2158111"/>
                  </a:lnTo>
                  <a:lnTo>
                    <a:pt x="0" y="2158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1" r="0" b="-2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Contribuição inédita: discricionariedade substitutiva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822960" y="1920240"/>
            <a:ext cx="1659636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Lipsky: discricionariedade alocativa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08672" y="2591752"/>
            <a:ext cx="4966335" cy="1537335"/>
            <a:chOff x="0" y="0"/>
            <a:chExt cx="6621780" cy="20497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028700" y="2606040"/>
            <a:ext cx="4526280" cy="1508760"/>
            <a:chOff x="0" y="0"/>
            <a:chExt cx="6035040" cy="20116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Recurso existente, porém escasso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5897880" y="3099816"/>
            <a:ext cx="521208" cy="521208"/>
            <a:chOff x="0" y="0"/>
            <a:chExt cx="694944" cy="694944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500812" y="2591752"/>
            <a:ext cx="4966335" cy="1537335"/>
            <a:chOff x="0" y="0"/>
            <a:chExt cx="6621780" cy="20497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6720840" y="2606040"/>
            <a:ext cx="4526280" cy="1508760"/>
            <a:chOff x="0" y="0"/>
            <a:chExt cx="6035040" cy="20116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Fila, revezamento, racionamento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590020" y="3099816"/>
            <a:ext cx="521208" cy="521208"/>
            <a:chOff x="0" y="0"/>
            <a:chExt cx="694944" cy="694944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192952" y="2591752"/>
            <a:ext cx="4966335" cy="1537335"/>
            <a:chOff x="0" y="0"/>
            <a:chExt cx="6621780" cy="20497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2412980" y="2606040"/>
            <a:ext cx="4526280" cy="1508760"/>
            <a:chOff x="0" y="0"/>
            <a:chExt cx="6035040" cy="20116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Decisão sobre quem recebe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822960" y="4526280"/>
            <a:ext cx="1659636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Proposição da tese, no caso da PNED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09447" y="5298567"/>
            <a:ext cx="4956810" cy="1527810"/>
            <a:chOff x="0" y="0"/>
            <a:chExt cx="6609080" cy="20370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11054" y="5200174"/>
            <a:ext cx="4961572" cy="1532573"/>
            <a:chOff x="0" y="0"/>
            <a:chExt cx="6615430" cy="204343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28700" y="5212080"/>
            <a:ext cx="4526280" cy="1508760"/>
            <a:chOff x="0" y="0"/>
            <a:chExt cx="6035040" cy="2011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Direito declarado sem os meios na escola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5897880" y="5705856"/>
            <a:ext cx="521208" cy="521208"/>
            <a:chOff x="0" y="0"/>
            <a:chExt cx="694944" cy="694944"/>
          </a:xfrm>
        </p:grpSpPr>
        <p:sp>
          <p:nvSpPr>
            <p:cNvPr name="Freeform 42" id="42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6601587" y="5298567"/>
            <a:ext cx="4956810" cy="1527810"/>
            <a:chOff x="0" y="0"/>
            <a:chExt cx="6609080" cy="20370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503194" y="5200174"/>
            <a:ext cx="4961572" cy="1532573"/>
            <a:chOff x="0" y="0"/>
            <a:chExt cx="6615430" cy="204343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720840" y="5212080"/>
            <a:ext cx="4526280" cy="1508760"/>
            <a:chOff x="0" y="0"/>
            <a:chExt cx="6035040" cy="20116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profissional supre com meios próprios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1590020" y="5705856"/>
            <a:ext cx="521208" cy="521208"/>
            <a:chOff x="0" y="0"/>
            <a:chExt cx="694944" cy="694944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2293727" y="5298567"/>
            <a:ext cx="4956810" cy="1527810"/>
            <a:chOff x="0" y="0"/>
            <a:chExt cx="6609080" cy="203708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2195334" y="5200174"/>
            <a:ext cx="4961572" cy="1532573"/>
            <a:chOff x="0" y="0"/>
            <a:chExt cx="6615430" cy="204343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12412980" y="5212080"/>
            <a:ext cx="4526280" cy="1508760"/>
            <a:chOff x="0" y="0"/>
            <a:chExt cx="6035040" cy="20116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Custo pessoal, sobretudo em tempo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813435" y="7259955"/>
            <a:ext cx="16656558" cy="2007870"/>
            <a:chOff x="0" y="0"/>
            <a:chExt cx="22208744" cy="267716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2208744" cy="2677160"/>
            </a:xfrm>
            <a:custGeom>
              <a:avLst/>
              <a:gdLst/>
              <a:ahLst/>
              <a:cxnLst/>
              <a:rect r="r" b="b" t="t" l="l"/>
              <a:pathLst>
                <a:path h="267716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677160"/>
                  </a:lnTo>
                  <a:lnTo>
                    <a:pt x="0" y="26771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234440" y="7269480"/>
            <a:ext cx="15910560" cy="1988820"/>
            <a:chOff x="0" y="0"/>
            <a:chExt cx="21214080" cy="265176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1214080" cy="2651760"/>
            </a:xfrm>
            <a:custGeom>
              <a:avLst/>
              <a:gdLst/>
              <a:ahLst/>
              <a:cxnLst/>
              <a:rect r="r" b="b" t="t" l="l"/>
              <a:pathLst>
                <a:path h="265176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651760"/>
                  </a:lnTo>
                  <a:lnTo>
                    <a:pt x="0" y="26517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21214080" cy="2651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muda: </a:t>
              </a:r>
              <a:r>
                <a:rPr lang="en-US" sz="22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objeto da decisão (o que não existe) e quem arca com o custo (o profissional). As categorias disponíveis não dão nome a essa mudança. O objeto também é inédito: nenhum dos estudos reunidos pela RSL analisa o eixo nem trata de uma rede municipal de pequeno porte.</a:t>
              </a:r>
            </a:p>
          </p:txBody>
        </p:sp>
      </p:grpSp>
      <p:sp>
        <p:nvSpPr>
          <p:cNvPr name="TextBox 64" id="64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Lipsky (2019); Bowe, Ball e Gold (1992); Mainardes (2006).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287750" y="148490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Três componentes e os riscos a analisar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5313426" cy="3790950"/>
            <a:chOff x="0" y="0"/>
            <a:chExt cx="7084568" cy="5054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76914"/>
            <a:ext cx="5318188" cy="3795712"/>
            <a:chOff x="0" y="0"/>
            <a:chExt cx="7090918" cy="50609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090918" cy="5060950"/>
            </a:xfrm>
            <a:custGeom>
              <a:avLst/>
              <a:gdLst/>
              <a:ahLst/>
              <a:cxnLst/>
              <a:rect r="r" b="b" t="t" l="l"/>
              <a:pathLst>
                <a:path h="506095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5060950"/>
                  </a:lnTo>
                  <a:lnTo>
                    <a:pt x="0" y="50609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156335" y="2212467"/>
            <a:ext cx="1006602" cy="1006602"/>
            <a:chOff x="0" y="0"/>
            <a:chExt cx="1342136" cy="134213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422625" y="2478757"/>
            <a:ext cx="474021" cy="474021"/>
            <a:chOff x="0" y="0"/>
            <a:chExt cx="632028" cy="632028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8" b="8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507492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6586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Ausência de objeto a distribuir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210812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decisão não recai sobre a alocação de um recurso existente, porque não há recurso a alocar.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436995" y="1979295"/>
            <a:ext cx="5313426" cy="3790950"/>
            <a:chOff x="0" y="0"/>
            <a:chExt cx="7084568" cy="5054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779895" y="2212467"/>
            <a:ext cx="1006602" cy="1006602"/>
            <a:chOff x="0" y="0"/>
            <a:chExt cx="1342136" cy="134213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7046185" y="2478757"/>
            <a:ext cx="474021" cy="474021"/>
            <a:chOff x="0" y="0"/>
            <a:chExt cx="632028" cy="632028"/>
          </a:xfrm>
        </p:grpSpPr>
        <p:sp>
          <p:nvSpPr>
            <p:cNvPr name="Freeform 29" id="29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8" b="8"/>
              </a:stretch>
            </a:blip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069848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78942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Substituição com meios próprios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858000" y="3950999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Aparelho, dados móveis e/ou internet domiciliar, material ou tempo próprios; ou conhecimento buscado por conta própria quando a formação não chegou ou foi insuficiente.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2156567" y="2075307"/>
            <a:ext cx="5313426" cy="3790950"/>
            <a:chOff x="0" y="0"/>
            <a:chExt cx="7084568" cy="5054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2058174" y="1976914"/>
            <a:ext cx="5318188" cy="3795712"/>
            <a:chOff x="0" y="0"/>
            <a:chExt cx="7090918" cy="506095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090918" cy="5060950"/>
            </a:xfrm>
            <a:custGeom>
              <a:avLst/>
              <a:gdLst/>
              <a:ahLst/>
              <a:cxnLst/>
              <a:rect r="r" b="b" t="t" l="l"/>
              <a:pathLst>
                <a:path h="506095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5060950"/>
                  </a:lnTo>
                  <a:lnTo>
                    <a:pt x="0" y="50609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2403455" y="2212467"/>
            <a:ext cx="1006602" cy="1006602"/>
            <a:chOff x="0" y="0"/>
            <a:chExt cx="1342136" cy="134213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669745" y="2478757"/>
            <a:ext cx="474021" cy="474021"/>
            <a:chOff x="0" y="0"/>
            <a:chExt cx="632028" cy="632028"/>
          </a:xfrm>
        </p:grpSpPr>
        <p:sp>
          <p:nvSpPr>
            <p:cNvPr name="Freeform 40" id="40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8" b="8"/>
              </a:stretch>
            </a:blip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632204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41298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Custo pessoal sob visibilidade direta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412980" y="4210812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Decisão tomada diante de crianças e famílias que a profissional reencontra no território; o custo recai sobre a professional e a garantia do direito das crianças.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22960" y="6103620"/>
            <a:ext cx="1659636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Riscos que o campo vai analisar, sem tratá-los como constatações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808672" y="6775132"/>
            <a:ext cx="8162163" cy="1098423"/>
            <a:chOff x="0" y="0"/>
            <a:chExt cx="10882884" cy="1464564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097280" y="6789420"/>
            <a:ext cx="7612380" cy="1069848"/>
            <a:chOff x="0" y="0"/>
            <a:chExt cx="10149840" cy="142646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eixo varia de uma turma para outra e se reduz ao que cabe nos meios e no repertório de cada profissional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9312593" y="6775132"/>
            <a:ext cx="8162163" cy="1098423"/>
            <a:chOff x="0" y="0"/>
            <a:chExt cx="10882884" cy="146456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9601200" y="6789420"/>
            <a:ext cx="7612380" cy="1069848"/>
            <a:chOff x="0" y="0"/>
            <a:chExt cx="10149840" cy="142646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custo recai sobre o tempo de uma jornada já ocupada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808672" y="8037004"/>
            <a:ext cx="8162163" cy="1098423"/>
            <a:chOff x="0" y="0"/>
            <a:chExt cx="10882884" cy="146456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097280" y="8051292"/>
            <a:ext cx="7612380" cy="1069848"/>
            <a:chOff x="0" y="0"/>
            <a:chExt cx="10149840" cy="142646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Aparelhos e aplicativos pessoais usados com crianças podem contrariar a proteção de dados que a lei promete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9312593" y="8037004"/>
            <a:ext cx="8162163" cy="1098423"/>
            <a:chOff x="0" y="0"/>
            <a:chExt cx="10882884" cy="146456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9601200" y="8051292"/>
            <a:ext cx="7612380" cy="1069848"/>
            <a:chOff x="0" y="0"/>
            <a:chExt cx="10149840" cy="14264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substituição faz a política parecer em curso e esconde a falta dos meios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Lipsky (2019, p. 21): práticas de enfrentamento “são mantidas, mesmo que contribuam para a distorção do serviço ideal”.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436340" y="246888"/>
            <a:ext cx="1645920" cy="1738036"/>
            <a:chOff x="0" y="0"/>
            <a:chExt cx="2194560" cy="2317382"/>
          </a:xfrm>
        </p:grpSpPr>
        <p:sp>
          <p:nvSpPr>
            <p:cNvPr name="Freeform 4" id="4" descr="/home/claude/deck3/img/d_lapis.png"/>
            <p:cNvSpPr/>
            <p:nvPr/>
          </p:nvSpPr>
          <p:spPr>
            <a:xfrm flipH="false" flipV="false" rot="0">
              <a:off x="0" y="0"/>
              <a:ext cx="2194560" cy="2317369"/>
            </a:xfrm>
            <a:custGeom>
              <a:avLst/>
              <a:gdLst/>
              <a:ahLst/>
              <a:cxnLst/>
              <a:rect r="r" b="b" t="t" l="l"/>
              <a:pathLst>
                <a:path h="2317369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17369"/>
                  </a:lnTo>
                  <a:lnTo>
                    <a:pt x="0" y="23173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7" r="0" b="-8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Três formulações, dois estatutos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143887"/>
            <a:ext cx="5313426" cy="5916930"/>
            <a:chOff x="0" y="0"/>
            <a:chExt cx="7084568" cy="7889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7889240"/>
            </a:xfrm>
            <a:custGeom>
              <a:avLst/>
              <a:gdLst/>
              <a:ahLst/>
              <a:cxnLst/>
              <a:rect r="r" b="b" t="t" l="l"/>
              <a:pathLst>
                <a:path h="78892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7889240"/>
                  </a:lnTo>
                  <a:lnTo>
                    <a:pt x="0" y="7889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2045494"/>
            <a:ext cx="5318188" cy="5921692"/>
            <a:chOff x="0" y="0"/>
            <a:chExt cx="7090918" cy="78955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090918" cy="7895590"/>
            </a:xfrm>
            <a:custGeom>
              <a:avLst/>
              <a:gdLst/>
              <a:ahLst/>
              <a:cxnLst/>
              <a:rect r="r" b="b" t="t" l="l"/>
              <a:pathLst>
                <a:path h="78955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7895590"/>
                  </a:lnTo>
                  <a:lnTo>
                    <a:pt x="0" y="7895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156335" y="2390775"/>
            <a:ext cx="4627626" cy="595122"/>
            <a:chOff x="0" y="0"/>
            <a:chExt cx="6170168" cy="7934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170168" cy="793496"/>
            </a:xfrm>
            <a:custGeom>
              <a:avLst/>
              <a:gdLst/>
              <a:ahLst/>
              <a:cxnLst/>
              <a:rect r="r" b="b" t="t" l="l"/>
              <a:pathLst>
                <a:path h="793496" w="6170168">
                  <a:moveTo>
                    <a:pt x="0" y="0"/>
                  </a:moveTo>
                  <a:lnTo>
                    <a:pt x="6170168" y="0"/>
                  </a:lnTo>
                  <a:lnTo>
                    <a:pt x="6170168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65860" y="2400300"/>
            <a:ext cx="4608576" cy="576072"/>
            <a:chOff x="0" y="0"/>
            <a:chExt cx="6144768" cy="76809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144768" cy="768096"/>
            </a:xfrm>
            <a:custGeom>
              <a:avLst/>
              <a:gdLst/>
              <a:ahLst/>
              <a:cxnLst/>
              <a:rect r="r" b="b" t="t" l="l"/>
              <a:pathLst>
                <a:path h="768096" w="6144768">
                  <a:moveTo>
                    <a:pt x="0" y="0"/>
                  </a:moveTo>
                  <a:lnTo>
                    <a:pt x="6144768" y="0"/>
                  </a:lnTo>
                  <a:lnTo>
                    <a:pt x="6144768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6144768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CONDIÇÃO DOCUMENTADA · CAP. 6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165860" y="3291840"/>
            <a:ext cx="4608576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digital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732020"/>
            <a:ext cx="4608576" cy="3086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Assimetria, no mesmo território, entre a alta densidade tecnológica dos circuitos econômicos e a disponibilidade restrita de tecnologia nos espaços pedagógicos da escola.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533007" y="2143887"/>
            <a:ext cx="5313426" cy="5916930"/>
            <a:chOff x="0" y="0"/>
            <a:chExt cx="7084568" cy="78892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7889240"/>
            </a:xfrm>
            <a:custGeom>
              <a:avLst/>
              <a:gdLst/>
              <a:ahLst/>
              <a:cxnLst/>
              <a:rect r="r" b="b" t="t" l="l"/>
              <a:pathLst>
                <a:path h="78892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7889240"/>
                  </a:lnTo>
                  <a:lnTo>
                    <a:pt x="0" y="7889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434614" y="2045494"/>
            <a:ext cx="5318188" cy="5921692"/>
            <a:chOff x="0" y="0"/>
            <a:chExt cx="7090918" cy="789559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90918" cy="7895590"/>
            </a:xfrm>
            <a:custGeom>
              <a:avLst/>
              <a:gdLst/>
              <a:ahLst/>
              <a:cxnLst/>
              <a:rect r="r" b="b" t="t" l="l"/>
              <a:pathLst>
                <a:path h="78955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7895590"/>
                  </a:lnTo>
                  <a:lnTo>
                    <a:pt x="0" y="7895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6779895" y="2390775"/>
            <a:ext cx="4627626" cy="595122"/>
            <a:chOff x="0" y="0"/>
            <a:chExt cx="6170168" cy="79349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170168" cy="793496"/>
            </a:xfrm>
            <a:custGeom>
              <a:avLst/>
              <a:gdLst/>
              <a:ahLst/>
              <a:cxnLst/>
              <a:rect r="r" b="b" t="t" l="l"/>
              <a:pathLst>
                <a:path h="793496" w="6170168">
                  <a:moveTo>
                    <a:pt x="0" y="0"/>
                  </a:moveTo>
                  <a:lnTo>
                    <a:pt x="6170168" y="0"/>
                  </a:lnTo>
                  <a:lnTo>
                    <a:pt x="6170168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6789420" y="2400300"/>
            <a:ext cx="4608576" cy="576072"/>
            <a:chOff x="0" y="0"/>
            <a:chExt cx="6144768" cy="76809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144768" cy="768096"/>
            </a:xfrm>
            <a:custGeom>
              <a:avLst/>
              <a:gdLst/>
              <a:ahLst/>
              <a:cxnLst/>
              <a:rect r="r" b="b" t="t" l="l"/>
              <a:pathLst>
                <a:path h="768096" w="6144768">
                  <a:moveTo>
                    <a:pt x="0" y="0"/>
                  </a:moveTo>
                  <a:lnTo>
                    <a:pt x="6144768" y="0"/>
                  </a:lnTo>
                  <a:lnTo>
                    <a:pt x="6144768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6144768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CONDIÇÃO DOCUMENTADA · CAP. 6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6789420" y="3291840"/>
            <a:ext cx="4608576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789420" y="4732020"/>
            <a:ext cx="4608576" cy="3086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Estruturas e equipamentos de iniciativas anteriores à PNED que permanecem na escola quando ela lhes impõe uma nova função.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12060555" y="2047875"/>
            <a:ext cx="5313426" cy="5916930"/>
            <a:chOff x="0" y="0"/>
            <a:chExt cx="7084568" cy="78892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084568" cy="7889240"/>
            </a:xfrm>
            <a:custGeom>
              <a:avLst/>
              <a:gdLst/>
              <a:ahLst/>
              <a:cxnLst/>
              <a:rect r="r" b="b" t="t" l="l"/>
              <a:pathLst>
                <a:path h="78892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7889240"/>
                  </a:lnTo>
                  <a:lnTo>
                    <a:pt x="0" y="7889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2403455" y="2390775"/>
            <a:ext cx="4627626" cy="595122"/>
            <a:chOff x="0" y="0"/>
            <a:chExt cx="6170168" cy="79349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6170168" cy="793496"/>
            </a:xfrm>
            <a:custGeom>
              <a:avLst/>
              <a:gdLst/>
              <a:ahLst/>
              <a:cxnLst/>
              <a:rect r="r" b="b" t="t" l="l"/>
              <a:pathLst>
                <a:path h="793496" w="6170168">
                  <a:moveTo>
                    <a:pt x="0" y="0"/>
                  </a:moveTo>
                  <a:lnTo>
                    <a:pt x="6170168" y="0"/>
                  </a:lnTo>
                  <a:lnTo>
                    <a:pt x="6170168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412980" y="2400300"/>
            <a:ext cx="4608576" cy="576072"/>
            <a:chOff x="0" y="0"/>
            <a:chExt cx="6144768" cy="76809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144768" cy="768096"/>
            </a:xfrm>
            <a:custGeom>
              <a:avLst/>
              <a:gdLst/>
              <a:ahLst/>
              <a:cxnLst/>
              <a:rect r="r" b="b" t="t" l="l"/>
              <a:pathLst>
                <a:path h="768096" w="6144768">
                  <a:moveTo>
                    <a:pt x="0" y="0"/>
                  </a:moveTo>
                  <a:lnTo>
                    <a:pt x="6144768" y="0"/>
                  </a:lnTo>
                  <a:lnTo>
                    <a:pt x="6144768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0"/>
              <a:ext cx="6144768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PROPOSIÇÃO A EXAMINAR · CAP. 7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12412980" y="3291840"/>
            <a:ext cx="4608576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Discricionariedade substitutiva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412980" y="4732020"/>
            <a:ext cx="4608576" cy="3086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Proposição sobre a ação profissional. Só pode ser examinada nas narrativas, com critérios fixados antes da primeira entrevista.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822960" y="8229600"/>
            <a:ext cx="16637508" cy="960120"/>
            <a:chOff x="0" y="0"/>
            <a:chExt cx="22183344" cy="12801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2183344" cy="1280160"/>
            </a:xfrm>
            <a:custGeom>
              <a:avLst/>
              <a:gdLst/>
              <a:ahLst/>
              <a:cxnLst/>
              <a:rect r="r" b="b" t="t" l="l"/>
              <a:pathLst>
                <a:path h="1280160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7647" r="0" b="-28764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9525"/>
              <a:ext cx="22183344" cy="12706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Só a terceira está em jogo nas entrevistas: as duas primeiras chegam ao Capítulo 7 como dados; a terceira, como hipótese.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Santos (2006; 2012): rugosidade; Massey (2008); Lipsky (2019).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motor teórico: duas engrenagens e o fosso entre elas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-23812" y="-23812"/>
            <a:ext cx="18335168" cy="10334625"/>
          </a:xfrm>
          <a:custGeom>
            <a:avLst/>
            <a:gdLst/>
            <a:ahLst/>
            <a:cxnLst/>
            <a:rect r="r" b="b" t="t" l="l"/>
            <a:pathLst>
              <a:path h="10334625" w="18335168">
                <a:moveTo>
                  <a:pt x="0" y="0"/>
                </a:moveTo>
                <a:lnTo>
                  <a:pt x="18335167" y="0"/>
                </a:lnTo>
                <a:lnTo>
                  <a:pt x="18335167" y="10334624"/>
                </a:lnTo>
                <a:lnTo>
                  <a:pt x="0" y="103346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2" id="12"/>
          <p:cNvSpPr/>
          <p:nvPr/>
        </p:nvSpPr>
        <p:spPr>
          <a:xfrm rot="55260">
            <a:off x="794156" y="7255193"/>
            <a:ext cx="3555187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 rot="57480">
            <a:off x="6211967" y="7255193"/>
            <a:ext cx="3418046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4704588" y="7242048"/>
            <a:ext cx="1152144" cy="1285875"/>
            <a:chOff x="0" y="0"/>
            <a:chExt cx="1536192" cy="1714500"/>
          </a:xfrm>
        </p:grpSpPr>
        <p:sp>
          <p:nvSpPr>
            <p:cNvPr name="Freeform 15" id="15" descr="/home/claude/deck3/img/d_lampada.png"/>
            <p:cNvSpPr/>
            <p:nvPr/>
          </p:nvSpPr>
          <p:spPr>
            <a:xfrm flipH="false" flipV="false" rot="0">
              <a:off x="0" y="0"/>
              <a:ext cx="1536192" cy="1714500"/>
            </a:xfrm>
            <a:custGeom>
              <a:avLst/>
              <a:gdLst/>
              <a:ahLst/>
              <a:cxnLst/>
              <a:rect r="r" b="b" t="t" l="l"/>
              <a:pathLst>
                <a:path h="1714500" w="1536192">
                  <a:moveTo>
                    <a:pt x="0" y="0"/>
                  </a:moveTo>
                  <a:lnTo>
                    <a:pt x="1536192" y="0"/>
                  </a:lnTo>
                  <a:lnTo>
                    <a:pt x="1536192" y="1714500"/>
                  </a:lnTo>
                  <a:lnTo>
                    <a:pt x="0" y="171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t="0" r="-11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6446520" y="7443597"/>
            <a:ext cx="315468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fosso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446520" y="7818120"/>
            <a:ext cx="32918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decisão sobre o que não existe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2490" y="2655570"/>
            <a:ext cx="4564380" cy="4564380"/>
            <a:chOff x="0" y="0"/>
            <a:chExt cx="6085840" cy="608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28829" y="25908"/>
              <a:ext cx="6028182" cy="5936615"/>
            </a:xfrm>
            <a:custGeom>
              <a:avLst/>
              <a:gdLst/>
              <a:ahLst/>
              <a:cxnLst/>
              <a:rect r="r" b="b" t="t" l="l"/>
              <a:pathLst>
                <a:path h="5936615" w="6028182">
                  <a:moveTo>
                    <a:pt x="4290949" y="944372"/>
                  </a:moveTo>
                  <a:lnTo>
                    <a:pt x="4764278" y="547116"/>
                  </a:lnTo>
                  <a:lnTo>
                    <a:pt x="5142484" y="864489"/>
                  </a:lnTo>
                  <a:lnTo>
                    <a:pt x="4833493" y="1399667"/>
                  </a:lnTo>
                  <a:cubicBezTo>
                    <a:pt x="5053203" y="1646809"/>
                    <a:pt x="5220208" y="1936115"/>
                    <a:pt x="5324475" y="2250059"/>
                  </a:cubicBezTo>
                  <a:lnTo>
                    <a:pt x="5942457" y="2250059"/>
                  </a:lnTo>
                  <a:lnTo>
                    <a:pt x="6028182" y="2736215"/>
                  </a:lnTo>
                  <a:lnTo>
                    <a:pt x="5447538" y="2947543"/>
                  </a:lnTo>
                  <a:cubicBezTo>
                    <a:pt x="5456936" y="3278124"/>
                    <a:pt x="5398897" y="3607181"/>
                    <a:pt x="5276977" y="3914521"/>
                  </a:cubicBezTo>
                  <a:lnTo>
                    <a:pt x="5750433" y="4311777"/>
                  </a:lnTo>
                  <a:lnTo>
                    <a:pt x="5503545" y="4739259"/>
                  </a:lnTo>
                  <a:lnTo>
                    <a:pt x="4922901" y="4527931"/>
                  </a:lnTo>
                  <a:cubicBezTo>
                    <a:pt x="4717669" y="4787265"/>
                    <a:pt x="4461764" y="5002022"/>
                    <a:pt x="4170680" y="5159121"/>
                  </a:cubicBezTo>
                  <a:lnTo>
                    <a:pt x="4277995" y="5767705"/>
                  </a:lnTo>
                  <a:lnTo>
                    <a:pt x="3814064" y="5936615"/>
                  </a:lnTo>
                  <a:lnTo>
                    <a:pt x="3505073" y="5401437"/>
                  </a:lnTo>
                  <a:cubicBezTo>
                    <a:pt x="3181223" y="5468112"/>
                    <a:pt x="2847086" y="5468112"/>
                    <a:pt x="2523109" y="5401437"/>
                  </a:cubicBezTo>
                  <a:lnTo>
                    <a:pt x="2214118" y="5936615"/>
                  </a:lnTo>
                  <a:lnTo>
                    <a:pt x="1750187" y="5767705"/>
                  </a:lnTo>
                  <a:lnTo>
                    <a:pt x="1857502" y="5159121"/>
                  </a:lnTo>
                  <a:cubicBezTo>
                    <a:pt x="1566545" y="5002022"/>
                    <a:pt x="1310513" y="4787265"/>
                    <a:pt x="1105281" y="4527931"/>
                  </a:cubicBezTo>
                  <a:lnTo>
                    <a:pt x="524637" y="4739259"/>
                  </a:lnTo>
                  <a:lnTo>
                    <a:pt x="277876" y="4311777"/>
                  </a:lnTo>
                  <a:lnTo>
                    <a:pt x="751332" y="3914521"/>
                  </a:lnTo>
                  <a:cubicBezTo>
                    <a:pt x="629412" y="3607054"/>
                    <a:pt x="571373" y="3278124"/>
                    <a:pt x="580771" y="2947543"/>
                  </a:cubicBezTo>
                  <a:lnTo>
                    <a:pt x="0" y="2736215"/>
                  </a:lnTo>
                  <a:lnTo>
                    <a:pt x="85725" y="2250059"/>
                  </a:lnTo>
                  <a:lnTo>
                    <a:pt x="703707" y="2250059"/>
                  </a:lnTo>
                  <a:cubicBezTo>
                    <a:pt x="807847" y="1936242"/>
                    <a:pt x="974979" y="1646809"/>
                    <a:pt x="1194689" y="1399667"/>
                  </a:cubicBezTo>
                  <a:lnTo>
                    <a:pt x="885698" y="864489"/>
                  </a:lnTo>
                  <a:lnTo>
                    <a:pt x="1263904" y="547116"/>
                  </a:lnTo>
                  <a:lnTo>
                    <a:pt x="1737233" y="944372"/>
                  </a:lnTo>
                  <a:cubicBezTo>
                    <a:pt x="2018792" y="770890"/>
                    <a:pt x="2332736" y="656590"/>
                    <a:pt x="2659888" y="608584"/>
                  </a:cubicBezTo>
                  <a:lnTo>
                    <a:pt x="2767203" y="0"/>
                  </a:lnTo>
                  <a:lnTo>
                    <a:pt x="3260852" y="0"/>
                  </a:lnTo>
                  <a:lnTo>
                    <a:pt x="3368167" y="608584"/>
                  </a:lnTo>
                  <a:cubicBezTo>
                    <a:pt x="3695319" y="656717"/>
                    <a:pt x="4009263" y="771017"/>
                    <a:pt x="4290822" y="944372"/>
                  </a:cubicBezTo>
                  <a:close/>
                </a:path>
              </a:pathLst>
            </a:custGeom>
            <a:solidFill>
              <a:srgbClr val="FFCE32"/>
            </a:solidFill>
            <a:ln w="381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577340" y="3771900"/>
            <a:ext cx="3154680" cy="2331720"/>
            <a:chOff x="0" y="0"/>
            <a:chExt cx="4206240" cy="31089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206240" cy="3108960"/>
            </a:xfrm>
            <a:custGeom>
              <a:avLst/>
              <a:gdLst/>
              <a:ahLst/>
              <a:cxnLst/>
              <a:rect r="r" b="b" t="t" l="l"/>
              <a:pathLst>
                <a:path h="3108960" w="4206240">
                  <a:moveTo>
                    <a:pt x="0" y="0"/>
                  </a:moveTo>
                  <a:lnTo>
                    <a:pt x="4206240" y="0"/>
                  </a:lnTo>
                  <a:lnTo>
                    <a:pt x="4206240" y="3108960"/>
                  </a:lnTo>
                  <a:lnTo>
                    <a:pt x="0" y="3108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833" t="0" r="-44833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4206240" cy="31089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Ciclo de Políticas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Bowe, Ball e Gold (1992); Mainardes (2006); Ball, Maguire e Braun (2016)</a:t>
              </a:r>
            </a:p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política é recriada no contexto da prática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987290" y="3341370"/>
            <a:ext cx="3878580" cy="3878580"/>
            <a:chOff x="0" y="0"/>
            <a:chExt cx="5171440" cy="51714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58191" y="60198"/>
              <a:ext cx="4655185" cy="5050790"/>
            </a:xfrm>
            <a:custGeom>
              <a:avLst/>
              <a:gdLst/>
              <a:ahLst/>
              <a:cxnLst/>
              <a:rect r="r" b="b" t="t" l="l"/>
              <a:pathLst>
                <a:path h="5050790" w="4655185">
                  <a:moveTo>
                    <a:pt x="3611372" y="1249553"/>
                  </a:moveTo>
                  <a:lnTo>
                    <a:pt x="4374388" y="1019556"/>
                  </a:lnTo>
                  <a:lnTo>
                    <a:pt x="4655185" y="1505839"/>
                  </a:lnTo>
                  <a:lnTo>
                    <a:pt x="4074541" y="2051558"/>
                  </a:lnTo>
                  <a:cubicBezTo>
                    <a:pt x="4158742" y="2361819"/>
                    <a:pt x="4158742" y="2688971"/>
                    <a:pt x="4074541" y="2999232"/>
                  </a:cubicBezTo>
                  <a:lnTo>
                    <a:pt x="4655185" y="3544951"/>
                  </a:lnTo>
                  <a:lnTo>
                    <a:pt x="4374388" y="4031234"/>
                  </a:lnTo>
                  <a:lnTo>
                    <a:pt x="3611372" y="3801237"/>
                  </a:lnTo>
                  <a:cubicBezTo>
                    <a:pt x="3384677" y="4029329"/>
                    <a:pt x="3101467" y="4192778"/>
                    <a:pt x="2790698" y="4275074"/>
                  </a:cubicBezTo>
                  <a:lnTo>
                    <a:pt x="2608326" y="5050790"/>
                  </a:lnTo>
                  <a:lnTo>
                    <a:pt x="2046732" y="5050790"/>
                  </a:lnTo>
                  <a:lnTo>
                    <a:pt x="1864360" y="4275074"/>
                  </a:lnTo>
                  <a:cubicBezTo>
                    <a:pt x="1553591" y="4192778"/>
                    <a:pt x="1270254" y="4029329"/>
                    <a:pt x="1043686" y="3801237"/>
                  </a:cubicBezTo>
                  <a:lnTo>
                    <a:pt x="280797" y="4031361"/>
                  </a:lnTo>
                  <a:lnTo>
                    <a:pt x="0" y="3545078"/>
                  </a:lnTo>
                  <a:lnTo>
                    <a:pt x="580644" y="2999359"/>
                  </a:lnTo>
                  <a:cubicBezTo>
                    <a:pt x="496443" y="2689098"/>
                    <a:pt x="496443" y="2361946"/>
                    <a:pt x="580644" y="2051685"/>
                  </a:cubicBezTo>
                  <a:lnTo>
                    <a:pt x="0" y="1505966"/>
                  </a:lnTo>
                  <a:lnTo>
                    <a:pt x="280797" y="1019683"/>
                  </a:lnTo>
                  <a:lnTo>
                    <a:pt x="1043813" y="1249680"/>
                  </a:lnTo>
                  <a:cubicBezTo>
                    <a:pt x="1270508" y="1021588"/>
                    <a:pt x="1553718" y="858139"/>
                    <a:pt x="1864487" y="775843"/>
                  </a:cubicBezTo>
                  <a:lnTo>
                    <a:pt x="2046732" y="0"/>
                  </a:lnTo>
                  <a:lnTo>
                    <a:pt x="2608199" y="0"/>
                  </a:lnTo>
                  <a:lnTo>
                    <a:pt x="2790571" y="775716"/>
                  </a:lnTo>
                  <a:cubicBezTo>
                    <a:pt x="3101340" y="858012"/>
                    <a:pt x="3384677" y="1021461"/>
                    <a:pt x="3611245" y="1249553"/>
                  </a:cubicBezTo>
                  <a:close/>
                </a:path>
              </a:pathLst>
            </a:custGeom>
            <a:solidFill>
              <a:srgbClr val="EEE6D6"/>
            </a:solidFill>
            <a:ln w="381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5623560" y="4320540"/>
            <a:ext cx="2606040" cy="1920240"/>
            <a:chOff x="0" y="0"/>
            <a:chExt cx="3474720" cy="25603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4720" cy="2560320"/>
            </a:xfrm>
            <a:custGeom>
              <a:avLst/>
              <a:gdLst/>
              <a:ahLst/>
              <a:cxnLst/>
              <a:rect r="r" b="b" t="t" l="l"/>
              <a:pathLst>
                <a:path h="2560320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539" t="0" r="-44539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3474720" cy="2569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Burocracia de nível de rua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Lipsky (2019)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decisão na ponta vira a política praticada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899535" y="1938147"/>
            <a:ext cx="2830830" cy="595122"/>
            <a:chOff x="0" y="0"/>
            <a:chExt cx="3774440" cy="79349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774440" cy="793496"/>
            </a:xfrm>
            <a:custGeom>
              <a:avLst/>
              <a:gdLst/>
              <a:ahLst/>
              <a:cxnLst/>
              <a:rect r="r" b="b" t="t" l="l"/>
              <a:pathLst>
                <a:path h="793496" w="3774440">
                  <a:moveTo>
                    <a:pt x="0" y="0"/>
                  </a:moveTo>
                  <a:lnTo>
                    <a:pt x="3774440" y="0"/>
                  </a:lnTo>
                  <a:lnTo>
                    <a:pt x="3774440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3909060" y="1947672"/>
            <a:ext cx="2811780" cy="576072"/>
            <a:chOff x="0" y="0"/>
            <a:chExt cx="3749040" cy="76809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749040" cy="768096"/>
            </a:xfrm>
            <a:custGeom>
              <a:avLst/>
              <a:gdLst/>
              <a:ahLst/>
              <a:cxnLst/>
              <a:rect r="r" b="b" t="t" l="l"/>
              <a:pathLst>
                <a:path h="768096" w="3749040">
                  <a:moveTo>
                    <a:pt x="0" y="0"/>
                  </a:moveTo>
                  <a:lnTo>
                    <a:pt x="3749040" y="0"/>
                  </a:lnTo>
                  <a:lnTo>
                    <a:pt x="374904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105" r="0" b="-4510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374904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encaixe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5074920" y="2606040"/>
            <a:ext cx="466344" cy="466344"/>
            <a:chOff x="0" y="0"/>
            <a:chExt cx="621792" cy="621792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0208895" y="1910715"/>
            <a:ext cx="7261098" cy="2145030"/>
            <a:chOff x="0" y="0"/>
            <a:chExt cx="9681464" cy="28600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681464" cy="2860040"/>
            </a:xfrm>
            <a:custGeom>
              <a:avLst/>
              <a:gdLst/>
              <a:ahLst/>
              <a:cxnLst/>
              <a:rect r="r" b="b" t="t" l="l"/>
              <a:pathLst>
                <a:path h="2860040" w="9681464">
                  <a:moveTo>
                    <a:pt x="0" y="0"/>
                  </a:moveTo>
                  <a:lnTo>
                    <a:pt x="9681464" y="0"/>
                  </a:lnTo>
                  <a:lnTo>
                    <a:pt x="9681464" y="2860040"/>
                  </a:lnTo>
                  <a:lnTo>
                    <a:pt x="0" y="2860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0561320" y="2016252"/>
            <a:ext cx="6652260" cy="1947672"/>
            <a:chOff x="0" y="0"/>
            <a:chExt cx="8869680" cy="259689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869680" cy="2596896"/>
            </a:xfrm>
            <a:custGeom>
              <a:avLst/>
              <a:gdLst/>
              <a:ahLst/>
              <a:cxnLst/>
              <a:rect r="r" b="b" t="t" l="l"/>
              <a:pathLst>
                <a:path h="2596896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2596896"/>
                  </a:lnTo>
                  <a:lnTo>
                    <a:pt x="0" y="2596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51" r="0" b="-1655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8869680" cy="25968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ENCAIXE</a:t>
              </a:r>
            </a:p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Recontextualização</a:t>
              </a:r>
              <a:r>
                <a:rPr lang="en-US" sz="18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, categoria integradora: o processo pelo qual a política ganha sentidos particulares ao encontrar sujeitos, instituições, recursos e limites.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304907" y="4365879"/>
            <a:ext cx="7165086" cy="2419350"/>
            <a:chOff x="0" y="0"/>
            <a:chExt cx="9553448" cy="3225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553448" cy="3225800"/>
            </a:xfrm>
            <a:custGeom>
              <a:avLst/>
              <a:gdLst/>
              <a:ahLst/>
              <a:cxnLst/>
              <a:rect r="r" b="b" t="t" l="l"/>
              <a:pathLst>
                <a:path h="3225800" w="9553448">
                  <a:moveTo>
                    <a:pt x="0" y="0"/>
                  </a:moveTo>
                  <a:lnTo>
                    <a:pt x="9553448" y="0"/>
                  </a:lnTo>
                  <a:lnTo>
                    <a:pt x="9553448" y="3225800"/>
                  </a:lnTo>
                  <a:lnTo>
                    <a:pt x="0" y="32258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0206514" y="4267486"/>
            <a:ext cx="7169849" cy="2424112"/>
            <a:chOff x="0" y="0"/>
            <a:chExt cx="9559798" cy="323215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559798" cy="3232150"/>
            </a:xfrm>
            <a:custGeom>
              <a:avLst/>
              <a:gdLst/>
              <a:ahLst/>
              <a:cxnLst/>
              <a:rect r="r" b="b" t="t" l="l"/>
              <a:pathLst>
                <a:path h="3232150" w="9559798">
                  <a:moveTo>
                    <a:pt x="0" y="0"/>
                  </a:moveTo>
                  <a:lnTo>
                    <a:pt x="9559798" y="0"/>
                  </a:lnTo>
                  <a:lnTo>
                    <a:pt x="9559798" y="3232150"/>
                  </a:lnTo>
                  <a:lnTo>
                    <a:pt x="0" y="32321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0561320" y="4375404"/>
            <a:ext cx="6583680" cy="2221992"/>
            <a:chOff x="0" y="0"/>
            <a:chExt cx="8778240" cy="29626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778240" cy="2962656"/>
            </a:xfrm>
            <a:custGeom>
              <a:avLst/>
              <a:gdLst/>
              <a:ahLst/>
              <a:cxnLst/>
              <a:rect r="r" b="b" t="t" l="l"/>
              <a:pathLst>
                <a:path h="296265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2962656"/>
                  </a:lnTo>
                  <a:lnTo>
                    <a:pt x="0" y="2962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33" r="0" b="-7733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8778240" cy="29626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FOSSO</a:t>
              </a:r>
            </a:p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duas engrenagens supõem que os meios existem: a ACP pensa a recriação da política em relação aos meios disponíveis; Lipsky, o racionamento de um serviço que existe. Nenhuma nomeia a decisão sobre o que não existe.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204132" y="6939725"/>
            <a:ext cx="7270623" cy="1674495"/>
            <a:chOff x="0" y="0"/>
            <a:chExt cx="9694164" cy="22326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694164" cy="2232660"/>
            </a:xfrm>
            <a:custGeom>
              <a:avLst/>
              <a:gdLst/>
              <a:ahLst/>
              <a:cxnLst/>
              <a:rect r="r" b="b" t="t" l="l"/>
              <a:pathLst>
                <a:path h="2232660" w="9694164">
                  <a:moveTo>
                    <a:pt x="0" y="0"/>
                  </a:moveTo>
                  <a:lnTo>
                    <a:pt x="9694164" y="0"/>
                  </a:lnTo>
                  <a:lnTo>
                    <a:pt x="9694164" y="2232660"/>
                  </a:lnTo>
                  <a:lnTo>
                    <a:pt x="0" y="22326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603" r="0" b="-34603"/>
              </a:stretch>
            </a:blipFill>
            <a:ln w="28575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0492740" y="6954012"/>
            <a:ext cx="6720840" cy="1645920"/>
            <a:chOff x="0" y="0"/>
            <a:chExt cx="8961120" cy="219456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9611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563" r="0" b="-29563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8961120" cy="2194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DO FOSSO NASCE A CONTRIBUIÇÃO: 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discricionariedade substitutiva, quando a profissional supre com meios, conhecimento e tempo próprios o que não chegou à escola.</a:t>
              </a:r>
            </a:p>
          </p:txBody>
        </p:sp>
      </p:grpSp>
      <p:sp>
        <p:nvSpPr>
          <p:cNvPr name="TextBox 52" id="52"/>
          <p:cNvSpPr txBox="true"/>
          <p:nvPr/>
        </p:nvSpPr>
        <p:spPr>
          <a:xfrm rot="0">
            <a:off x="822960" y="8778240"/>
            <a:ext cx="16637508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“Eles têm discricionariedade porque suas tarefas demandam legitimamente observação e julgamento sensíveis, que não são redutíveis a formatos programados” (LIPSKY, 2019, p. 59).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(2016): contexto da prática; Lipsky (2019): discricionariedade.</a:t>
            </a:r>
          </a:p>
        </p:txBody>
      </p:sp>
      <p:grpSp>
        <p:nvGrpSpPr>
          <p:cNvPr name="Group 54" id="54"/>
          <p:cNvGrpSpPr/>
          <p:nvPr/>
        </p:nvGrpSpPr>
        <p:grpSpPr>
          <a:xfrm rot="600000">
            <a:off x="16470630" y="148490"/>
            <a:ext cx="1577340" cy="1760420"/>
            <a:chOff x="0" y="0"/>
            <a:chExt cx="2103120" cy="2347227"/>
          </a:xfrm>
        </p:grpSpPr>
        <p:sp>
          <p:nvSpPr>
            <p:cNvPr name="Freeform 55" id="55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t="0" r="-11" b="0"/>
              </a:stretch>
            </a:blipFill>
          </p:spPr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tessitura: os fios que sustentam a tese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3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7749540" y="1792605"/>
            <a:ext cx="1837944" cy="45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Cap. 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18904" y="1792605"/>
            <a:ext cx="1837944" cy="45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Cap. 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288268" y="1792605"/>
            <a:ext cx="1837944" cy="45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Cap. 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057632" y="1792605"/>
            <a:ext cx="1837944" cy="45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Cap. 5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826996" y="1792605"/>
            <a:ext cx="1837944" cy="45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Cap. 6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596360" y="1792605"/>
            <a:ext cx="1837944" cy="45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Cap. 7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7534275" y="2569083"/>
            <a:ext cx="10237470" cy="485394"/>
            <a:chOff x="0" y="0"/>
            <a:chExt cx="13649960" cy="6471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649961" cy="647192"/>
            </a:xfrm>
            <a:custGeom>
              <a:avLst/>
              <a:gdLst/>
              <a:ahLst/>
              <a:cxnLst/>
              <a:rect r="r" b="b" t="t" l="l"/>
              <a:pathLst>
                <a:path h="647192" w="13649961">
                  <a:moveTo>
                    <a:pt x="0" y="0"/>
                  </a:moveTo>
                  <a:lnTo>
                    <a:pt x="13649961" y="0"/>
                  </a:lnTo>
                  <a:lnTo>
                    <a:pt x="13649961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7534275" y="3666363"/>
            <a:ext cx="10237470" cy="485394"/>
            <a:chOff x="0" y="0"/>
            <a:chExt cx="13649960" cy="647192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3649961" cy="647192"/>
            </a:xfrm>
            <a:custGeom>
              <a:avLst/>
              <a:gdLst/>
              <a:ahLst/>
              <a:cxnLst/>
              <a:rect r="r" b="b" t="t" l="l"/>
              <a:pathLst>
                <a:path h="647192" w="13649961">
                  <a:moveTo>
                    <a:pt x="0" y="0"/>
                  </a:moveTo>
                  <a:lnTo>
                    <a:pt x="13649961" y="0"/>
                  </a:lnTo>
                  <a:lnTo>
                    <a:pt x="13649961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7534275" y="4763643"/>
            <a:ext cx="10237470" cy="485394"/>
            <a:chOff x="0" y="0"/>
            <a:chExt cx="13649960" cy="64719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3649961" cy="647192"/>
            </a:xfrm>
            <a:custGeom>
              <a:avLst/>
              <a:gdLst/>
              <a:ahLst/>
              <a:cxnLst/>
              <a:rect r="r" b="b" t="t" l="l"/>
              <a:pathLst>
                <a:path h="647192" w="13649961">
                  <a:moveTo>
                    <a:pt x="0" y="0"/>
                  </a:moveTo>
                  <a:lnTo>
                    <a:pt x="13649961" y="0"/>
                  </a:lnTo>
                  <a:lnTo>
                    <a:pt x="13649961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7FD3F0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7534275" y="5860923"/>
            <a:ext cx="10237470" cy="485394"/>
            <a:chOff x="0" y="0"/>
            <a:chExt cx="13649960" cy="64719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3649961" cy="647192"/>
            </a:xfrm>
            <a:custGeom>
              <a:avLst/>
              <a:gdLst/>
              <a:ahLst/>
              <a:cxnLst/>
              <a:rect r="r" b="b" t="t" l="l"/>
              <a:pathLst>
                <a:path h="647192" w="13649961">
                  <a:moveTo>
                    <a:pt x="0" y="0"/>
                  </a:moveTo>
                  <a:lnTo>
                    <a:pt x="13649961" y="0"/>
                  </a:lnTo>
                  <a:lnTo>
                    <a:pt x="13649961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F59BD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7534275" y="6958203"/>
            <a:ext cx="10237470" cy="485394"/>
            <a:chOff x="0" y="0"/>
            <a:chExt cx="13649960" cy="64719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3649961" cy="647192"/>
            </a:xfrm>
            <a:custGeom>
              <a:avLst/>
              <a:gdLst/>
              <a:ahLst/>
              <a:cxnLst/>
              <a:rect r="r" b="b" t="t" l="l"/>
              <a:pathLst>
                <a:path h="647192" w="13649961">
                  <a:moveTo>
                    <a:pt x="0" y="0"/>
                  </a:moveTo>
                  <a:lnTo>
                    <a:pt x="13649961" y="0"/>
                  </a:lnTo>
                  <a:lnTo>
                    <a:pt x="13649961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9D8CF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7534275" y="8055483"/>
            <a:ext cx="10237470" cy="485394"/>
            <a:chOff x="0" y="0"/>
            <a:chExt cx="13649960" cy="64719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3649961" cy="647192"/>
            </a:xfrm>
            <a:custGeom>
              <a:avLst/>
              <a:gdLst/>
              <a:ahLst/>
              <a:cxnLst/>
              <a:rect r="r" b="b" t="t" l="l"/>
              <a:pathLst>
                <a:path h="647192" w="13649961">
                  <a:moveTo>
                    <a:pt x="0" y="0"/>
                  </a:moveTo>
                  <a:lnTo>
                    <a:pt x="13649961" y="0"/>
                  </a:lnTo>
                  <a:lnTo>
                    <a:pt x="13649961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8FD69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8357235" y="2349627"/>
            <a:ext cx="622554" cy="6273546"/>
            <a:chOff x="0" y="0"/>
            <a:chExt cx="830072" cy="836472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30072" cy="8364728"/>
            </a:xfrm>
            <a:custGeom>
              <a:avLst/>
              <a:gdLst/>
              <a:ahLst/>
              <a:cxnLst/>
              <a:rect r="r" b="b" t="t" l="l"/>
              <a:pathLst>
                <a:path h="8364728" w="830072">
                  <a:moveTo>
                    <a:pt x="0" y="0"/>
                  </a:moveTo>
                  <a:lnTo>
                    <a:pt x="830072" y="0"/>
                  </a:lnTo>
                  <a:lnTo>
                    <a:pt x="830072" y="8364728"/>
                  </a:lnTo>
                  <a:lnTo>
                    <a:pt x="0" y="8364728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10126599" y="2349627"/>
            <a:ext cx="622554" cy="6273546"/>
            <a:chOff x="0" y="0"/>
            <a:chExt cx="830072" cy="836472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30072" cy="8364728"/>
            </a:xfrm>
            <a:custGeom>
              <a:avLst/>
              <a:gdLst/>
              <a:ahLst/>
              <a:cxnLst/>
              <a:rect r="r" b="b" t="t" l="l"/>
              <a:pathLst>
                <a:path h="8364728" w="830072">
                  <a:moveTo>
                    <a:pt x="0" y="0"/>
                  </a:moveTo>
                  <a:lnTo>
                    <a:pt x="830072" y="0"/>
                  </a:lnTo>
                  <a:lnTo>
                    <a:pt x="830072" y="8364728"/>
                  </a:lnTo>
                  <a:lnTo>
                    <a:pt x="0" y="8364728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1895963" y="2349627"/>
            <a:ext cx="622554" cy="6273546"/>
            <a:chOff x="0" y="0"/>
            <a:chExt cx="830072" cy="836472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30072" cy="8364728"/>
            </a:xfrm>
            <a:custGeom>
              <a:avLst/>
              <a:gdLst/>
              <a:ahLst/>
              <a:cxnLst/>
              <a:rect r="r" b="b" t="t" l="l"/>
              <a:pathLst>
                <a:path h="8364728" w="830072">
                  <a:moveTo>
                    <a:pt x="0" y="0"/>
                  </a:moveTo>
                  <a:lnTo>
                    <a:pt x="830072" y="0"/>
                  </a:lnTo>
                  <a:lnTo>
                    <a:pt x="830072" y="8364728"/>
                  </a:lnTo>
                  <a:lnTo>
                    <a:pt x="0" y="8364728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3665327" y="2349627"/>
            <a:ext cx="622554" cy="6273546"/>
            <a:chOff x="0" y="0"/>
            <a:chExt cx="830072" cy="836472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30072" cy="8364728"/>
            </a:xfrm>
            <a:custGeom>
              <a:avLst/>
              <a:gdLst/>
              <a:ahLst/>
              <a:cxnLst/>
              <a:rect r="r" b="b" t="t" l="l"/>
              <a:pathLst>
                <a:path h="8364728" w="830072">
                  <a:moveTo>
                    <a:pt x="0" y="0"/>
                  </a:moveTo>
                  <a:lnTo>
                    <a:pt x="830072" y="0"/>
                  </a:lnTo>
                  <a:lnTo>
                    <a:pt x="830072" y="8364728"/>
                  </a:lnTo>
                  <a:lnTo>
                    <a:pt x="0" y="8364728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5434691" y="2349627"/>
            <a:ext cx="622554" cy="6273546"/>
            <a:chOff x="0" y="0"/>
            <a:chExt cx="830072" cy="8364728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30072" cy="8364728"/>
            </a:xfrm>
            <a:custGeom>
              <a:avLst/>
              <a:gdLst/>
              <a:ahLst/>
              <a:cxnLst/>
              <a:rect r="r" b="b" t="t" l="l"/>
              <a:pathLst>
                <a:path h="8364728" w="830072">
                  <a:moveTo>
                    <a:pt x="0" y="0"/>
                  </a:moveTo>
                  <a:lnTo>
                    <a:pt x="830072" y="0"/>
                  </a:lnTo>
                  <a:lnTo>
                    <a:pt x="830072" y="8364728"/>
                  </a:lnTo>
                  <a:lnTo>
                    <a:pt x="0" y="8364728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7204055" y="2349627"/>
            <a:ext cx="622554" cy="6273546"/>
            <a:chOff x="0" y="0"/>
            <a:chExt cx="830072" cy="836472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830072" cy="8364728"/>
            </a:xfrm>
            <a:custGeom>
              <a:avLst/>
              <a:gdLst/>
              <a:ahLst/>
              <a:cxnLst/>
              <a:rect r="r" b="b" t="t" l="l"/>
              <a:pathLst>
                <a:path h="8364728" w="830072">
                  <a:moveTo>
                    <a:pt x="0" y="0"/>
                  </a:moveTo>
                  <a:lnTo>
                    <a:pt x="830072" y="0"/>
                  </a:lnTo>
                  <a:lnTo>
                    <a:pt x="830072" y="8364728"/>
                  </a:lnTo>
                  <a:lnTo>
                    <a:pt x="0" y="8364728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8192643" y="2569083"/>
            <a:ext cx="951738" cy="485394"/>
            <a:chOff x="0" y="0"/>
            <a:chExt cx="1268984" cy="64719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8576691" y="2719959"/>
            <a:ext cx="183642" cy="183642"/>
            <a:chOff x="0" y="0"/>
            <a:chExt cx="244856" cy="24485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1731371" y="2569083"/>
            <a:ext cx="951738" cy="485394"/>
            <a:chOff x="0" y="0"/>
            <a:chExt cx="1268984" cy="647192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2115419" y="2719959"/>
            <a:ext cx="183642" cy="183642"/>
            <a:chOff x="0" y="0"/>
            <a:chExt cx="244856" cy="24485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3500735" y="2569083"/>
            <a:ext cx="951738" cy="485394"/>
            <a:chOff x="0" y="0"/>
            <a:chExt cx="1268984" cy="64719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13884783" y="2719959"/>
            <a:ext cx="183642" cy="183642"/>
            <a:chOff x="0" y="0"/>
            <a:chExt cx="244856" cy="24485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17039463" y="2569083"/>
            <a:ext cx="951738" cy="485394"/>
            <a:chOff x="0" y="0"/>
            <a:chExt cx="1268984" cy="64719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17423511" y="2719959"/>
            <a:ext cx="183642" cy="183642"/>
            <a:chOff x="0" y="0"/>
            <a:chExt cx="244856" cy="24485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8192643" y="3666363"/>
            <a:ext cx="951738" cy="485394"/>
            <a:chOff x="0" y="0"/>
            <a:chExt cx="1268984" cy="647192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8576691" y="3817239"/>
            <a:ext cx="183642" cy="183642"/>
            <a:chOff x="0" y="0"/>
            <a:chExt cx="244856" cy="244856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1731371" y="3666363"/>
            <a:ext cx="951738" cy="485394"/>
            <a:chOff x="0" y="0"/>
            <a:chExt cx="1268984" cy="647192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3" id="63"/>
          <p:cNvGrpSpPr/>
          <p:nvPr/>
        </p:nvGrpSpPr>
        <p:grpSpPr>
          <a:xfrm rot="0">
            <a:off x="12115419" y="3817239"/>
            <a:ext cx="183642" cy="183642"/>
            <a:chOff x="0" y="0"/>
            <a:chExt cx="244856" cy="244856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17039463" y="3666363"/>
            <a:ext cx="951738" cy="485394"/>
            <a:chOff x="0" y="0"/>
            <a:chExt cx="1268984" cy="64719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7423511" y="3817239"/>
            <a:ext cx="183642" cy="183642"/>
            <a:chOff x="0" y="0"/>
            <a:chExt cx="244856" cy="24485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9" id="69"/>
          <p:cNvGrpSpPr/>
          <p:nvPr/>
        </p:nvGrpSpPr>
        <p:grpSpPr>
          <a:xfrm rot="0">
            <a:off x="8192643" y="4763643"/>
            <a:ext cx="951738" cy="485394"/>
            <a:chOff x="0" y="0"/>
            <a:chExt cx="1268984" cy="647192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7FD3F0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8576691" y="4914519"/>
            <a:ext cx="183642" cy="183642"/>
            <a:chOff x="0" y="0"/>
            <a:chExt cx="244856" cy="24485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3" id="73"/>
          <p:cNvGrpSpPr/>
          <p:nvPr/>
        </p:nvGrpSpPr>
        <p:grpSpPr>
          <a:xfrm rot="0">
            <a:off x="15270099" y="4763643"/>
            <a:ext cx="951738" cy="485394"/>
            <a:chOff x="0" y="0"/>
            <a:chExt cx="1268984" cy="647192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7FD3F0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5" id="75"/>
          <p:cNvGrpSpPr/>
          <p:nvPr/>
        </p:nvGrpSpPr>
        <p:grpSpPr>
          <a:xfrm rot="0">
            <a:off x="15654147" y="4914519"/>
            <a:ext cx="183642" cy="183642"/>
            <a:chOff x="0" y="0"/>
            <a:chExt cx="244856" cy="244856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9962007" y="5860923"/>
            <a:ext cx="951738" cy="485394"/>
            <a:chOff x="0" y="0"/>
            <a:chExt cx="1268984" cy="64719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F59BD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346055" y="6011799"/>
            <a:ext cx="183642" cy="183642"/>
            <a:chOff x="0" y="0"/>
            <a:chExt cx="244856" cy="244856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1" id="81"/>
          <p:cNvGrpSpPr/>
          <p:nvPr/>
        </p:nvGrpSpPr>
        <p:grpSpPr>
          <a:xfrm rot="0">
            <a:off x="15270099" y="5860923"/>
            <a:ext cx="951738" cy="485394"/>
            <a:chOff x="0" y="0"/>
            <a:chExt cx="1268984" cy="64719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F59BD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3" id="83"/>
          <p:cNvGrpSpPr/>
          <p:nvPr/>
        </p:nvGrpSpPr>
        <p:grpSpPr>
          <a:xfrm rot="0">
            <a:off x="15654147" y="6011799"/>
            <a:ext cx="183642" cy="183642"/>
            <a:chOff x="0" y="0"/>
            <a:chExt cx="244856" cy="244856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5" id="85"/>
          <p:cNvGrpSpPr/>
          <p:nvPr/>
        </p:nvGrpSpPr>
        <p:grpSpPr>
          <a:xfrm rot="0">
            <a:off x="8192643" y="6958203"/>
            <a:ext cx="951738" cy="485394"/>
            <a:chOff x="0" y="0"/>
            <a:chExt cx="1268984" cy="647192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9D8CF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8576691" y="7109079"/>
            <a:ext cx="183642" cy="183642"/>
            <a:chOff x="0" y="0"/>
            <a:chExt cx="244856" cy="244856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9" id="89"/>
          <p:cNvGrpSpPr/>
          <p:nvPr/>
        </p:nvGrpSpPr>
        <p:grpSpPr>
          <a:xfrm rot="0">
            <a:off x="9962007" y="6958203"/>
            <a:ext cx="951738" cy="485394"/>
            <a:chOff x="0" y="0"/>
            <a:chExt cx="1268984" cy="647192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9D8CF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10346055" y="7109079"/>
            <a:ext cx="183642" cy="183642"/>
            <a:chOff x="0" y="0"/>
            <a:chExt cx="244856" cy="244856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3" id="93"/>
          <p:cNvGrpSpPr/>
          <p:nvPr/>
        </p:nvGrpSpPr>
        <p:grpSpPr>
          <a:xfrm rot="0">
            <a:off x="17039463" y="6958203"/>
            <a:ext cx="951738" cy="485394"/>
            <a:chOff x="0" y="0"/>
            <a:chExt cx="1268984" cy="647192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9D8CF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5" id="95"/>
          <p:cNvGrpSpPr/>
          <p:nvPr/>
        </p:nvGrpSpPr>
        <p:grpSpPr>
          <a:xfrm rot="0">
            <a:off x="17423511" y="7109079"/>
            <a:ext cx="183642" cy="183642"/>
            <a:chOff x="0" y="0"/>
            <a:chExt cx="244856" cy="244856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7" id="97"/>
          <p:cNvGrpSpPr/>
          <p:nvPr/>
        </p:nvGrpSpPr>
        <p:grpSpPr>
          <a:xfrm rot="0">
            <a:off x="11731371" y="8055483"/>
            <a:ext cx="951738" cy="485394"/>
            <a:chOff x="0" y="0"/>
            <a:chExt cx="1268984" cy="647192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1268984" cy="647192"/>
            </a:xfrm>
            <a:custGeom>
              <a:avLst/>
              <a:gdLst/>
              <a:ahLst/>
              <a:cxnLst/>
              <a:rect r="r" b="b" t="t" l="l"/>
              <a:pathLst>
                <a:path h="647192" w="1268984">
                  <a:moveTo>
                    <a:pt x="0" y="0"/>
                  </a:moveTo>
                  <a:lnTo>
                    <a:pt x="1268984" y="0"/>
                  </a:lnTo>
                  <a:lnTo>
                    <a:pt x="1268984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8FD69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9" id="99"/>
          <p:cNvGrpSpPr/>
          <p:nvPr/>
        </p:nvGrpSpPr>
        <p:grpSpPr>
          <a:xfrm rot="0">
            <a:off x="12115419" y="8206359"/>
            <a:ext cx="183642" cy="183642"/>
            <a:chOff x="0" y="0"/>
            <a:chExt cx="244856" cy="244856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244856" cy="244856"/>
            </a:xfrm>
            <a:custGeom>
              <a:avLst/>
              <a:gdLst/>
              <a:ahLst/>
              <a:cxnLst/>
              <a:rect r="r" b="b" t="t" l="l"/>
              <a:pathLst>
                <a:path h="244856" w="244856">
                  <a:moveTo>
                    <a:pt x="0" y="122428"/>
                  </a:moveTo>
                  <a:cubicBezTo>
                    <a:pt x="0" y="54864"/>
                    <a:pt x="54864" y="0"/>
                    <a:pt x="122428" y="0"/>
                  </a:cubicBezTo>
                  <a:cubicBezTo>
                    <a:pt x="189992" y="0"/>
                    <a:pt x="244856" y="54864"/>
                    <a:pt x="244856" y="122428"/>
                  </a:cubicBezTo>
                  <a:cubicBezTo>
                    <a:pt x="244856" y="189992"/>
                    <a:pt x="189992" y="244856"/>
                    <a:pt x="122428" y="244856"/>
                  </a:cubicBezTo>
                  <a:cubicBezTo>
                    <a:pt x="54864" y="244856"/>
                    <a:pt x="0" y="189992"/>
                    <a:pt x="0" y="12242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1" id="101"/>
          <p:cNvGrpSpPr/>
          <p:nvPr/>
        </p:nvGrpSpPr>
        <p:grpSpPr>
          <a:xfrm rot="0">
            <a:off x="815816" y="2310860"/>
            <a:ext cx="206312" cy="1001840"/>
            <a:chOff x="0" y="0"/>
            <a:chExt cx="275082" cy="1335786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275082" cy="1335786"/>
            </a:xfrm>
            <a:custGeom>
              <a:avLst/>
              <a:gdLst/>
              <a:ahLst/>
              <a:cxnLst/>
              <a:rect r="r" b="b" t="t" l="l"/>
              <a:pathLst>
                <a:path h="1335786" w="275082">
                  <a:moveTo>
                    <a:pt x="0" y="0"/>
                  </a:moveTo>
                  <a:lnTo>
                    <a:pt x="275082" y="0"/>
                  </a:lnTo>
                  <a:lnTo>
                    <a:pt x="275082" y="1335786"/>
                  </a:lnTo>
                  <a:lnTo>
                    <a:pt x="0" y="1335786"/>
                  </a:lnTo>
                  <a:close/>
                </a:path>
              </a:pathLst>
            </a:custGeom>
            <a:solidFill>
              <a:srgbClr val="FFCE32"/>
            </a:solidFill>
            <a:ln w="14288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3" id="103"/>
          <p:cNvGrpSpPr/>
          <p:nvPr/>
        </p:nvGrpSpPr>
        <p:grpSpPr>
          <a:xfrm rot="0">
            <a:off x="1207008" y="2290572"/>
            <a:ext cx="6172200" cy="1069848"/>
            <a:chOff x="0" y="0"/>
            <a:chExt cx="8229600" cy="1426464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8229600" cy="1426464"/>
            </a:xfrm>
            <a:custGeom>
              <a:avLst/>
              <a:gdLst/>
              <a:ahLst/>
              <a:cxnLst/>
              <a:rect r="r" b="b" t="t" l="l"/>
              <a:pathLst>
                <a:path h="1426464" w="8229600">
                  <a:moveTo>
                    <a:pt x="0" y="0"/>
                  </a:moveTo>
                  <a:lnTo>
                    <a:pt x="8229600" y="0"/>
                  </a:lnTo>
                  <a:lnTo>
                    <a:pt x="822960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13" r="0" b="-62413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9525"/>
              <a:ext cx="8229600" cy="14359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Política como processo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DDE0F8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Bowe, Ball e Gold (1992); Mainardes (2006); Ball, Maguire e Braun (2016)</a:t>
              </a:r>
            </a:p>
            <a:p>
              <a:pPr algn="l">
                <a:lnSpc>
                  <a:spcPts val="1620"/>
                </a:lnSpc>
              </a:pPr>
              <a:r>
                <a:rPr lang="en-US" sz="1350" i="true">
                  <a:solidFill>
                    <a:srgbClr val="FFCE32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implementação é o processo; atuação, a lente de análise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815816" y="3408140"/>
            <a:ext cx="206312" cy="1001840"/>
            <a:chOff x="0" y="0"/>
            <a:chExt cx="275082" cy="1335786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275082" cy="1335786"/>
            </a:xfrm>
            <a:custGeom>
              <a:avLst/>
              <a:gdLst/>
              <a:ahLst/>
              <a:cxnLst/>
              <a:rect r="r" b="b" t="t" l="l"/>
              <a:pathLst>
                <a:path h="1335786" w="275082">
                  <a:moveTo>
                    <a:pt x="0" y="0"/>
                  </a:moveTo>
                  <a:lnTo>
                    <a:pt x="275082" y="0"/>
                  </a:lnTo>
                  <a:lnTo>
                    <a:pt x="275082" y="1335786"/>
                  </a:lnTo>
                  <a:lnTo>
                    <a:pt x="0" y="1335786"/>
                  </a:lnTo>
                  <a:close/>
                </a:path>
              </a:pathLst>
            </a:custGeom>
            <a:solidFill>
              <a:srgbClr val="EE6A1F"/>
            </a:solidFill>
            <a:ln w="14288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8" id="108"/>
          <p:cNvGrpSpPr/>
          <p:nvPr/>
        </p:nvGrpSpPr>
        <p:grpSpPr>
          <a:xfrm rot="0">
            <a:off x="1207008" y="3387852"/>
            <a:ext cx="6172200" cy="1069848"/>
            <a:chOff x="0" y="0"/>
            <a:chExt cx="8229600" cy="1426464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8229600" cy="1426464"/>
            </a:xfrm>
            <a:custGeom>
              <a:avLst/>
              <a:gdLst/>
              <a:ahLst/>
              <a:cxnLst/>
              <a:rect r="r" b="b" t="t" l="l"/>
              <a:pathLst>
                <a:path h="1426464" w="8229600">
                  <a:moveTo>
                    <a:pt x="0" y="0"/>
                  </a:moveTo>
                  <a:lnTo>
                    <a:pt x="8229600" y="0"/>
                  </a:lnTo>
                  <a:lnTo>
                    <a:pt x="822960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13" r="0" b="-62413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-9525"/>
              <a:ext cx="8229600" cy="14359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Decisão na ponta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DDE0F8"/>
                  </a:solidFill>
                  <a:latin typeface="Canva Sans"/>
                  <a:ea typeface="Canva Sans"/>
                  <a:cs typeface="Canva Sans"/>
                  <a:sym typeface="Canva Sans"/>
                </a:rPr>
                <a:t>Lipsky (2019)</a:t>
              </a:r>
            </a:p>
            <a:p>
              <a:pPr algn="l">
                <a:lnSpc>
                  <a:spcPts val="1620"/>
                </a:lnSpc>
              </a:pPr>
              <a:r>
                <a:rPr lang="en-US" sz="1350" i="true">
                  <a:solidFill>
                    <a:srgbClr val="FFCE32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discricionariedade, escassez e enfrentamento: base da categoria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815816" y="4505420"/>
            <a:ext cx="206312" cy="1001840"/>
            <a:chOff x="0" y="0"/>
            <a:chExt cx="275082" cy="1335786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75082" cy="1335786"/>
            </a:xfrm>
            <a:custGeom>
              <a:avLst/>
              <a:gdLst/>
              <a:ahLst/>
              <a:cxnLst/>
              <a:rect r="r" b="b" t="t" l="l"/>
              <a:pathLst>
                <a:path h="1335786" w="275082">
                  <a:moveTo>
                    <a:pt x="0" y="0"/>
                  </a:moveTo>
                  <a:lnTo>
                    <a:pt x="275082" y="0"/>
                  </a:lnTo>
                  <a:lnTo>
                    <a:pt x="275082" y="1335786"/>
                  </a:lnTo>
                  <a:lnTo>
                    <a:pt x="0" y="1335786"/>
                  </a:lnTo>
                  <a:close/>
                </a:path>
              </a:pathLst>
            </a:custGeom>
            <a:solidFill>
              <a:srgbClr val="7FD3F0"/>
            </a:solidFill>
            <a:ln w="14288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13" id="113"/>
          <p:cNvGrpSpPr/>
          <p:nvPr/>
        </p:nvGrpSpPr>
        <p:grpSpPr>
          <a:xfrm rot="0">
            <a:off x="1207008" y="4485132"/>
            <a:ext cx="6172200" cy="1069848"/>
            <a:chOff x="0" y="0"/>
            <a:chExt cx="8229600" cy="1426464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8229600" cy="1426464"/>
            </a:xfrm>
            <a:custGeom>
              <a:avLst/>
              <a:gdLst/>
              <a:ahLst/>
              <a:cxnLst/>
              <a:rect r="r" b="b" t="t" l="l"/>
              <a:pathLst>
                <a:path h="1426464" w="8229600">
                  <a:moveTo>
                    <a:pt x="0" y="0"/>
                  </a:moveTo>
                  <a:lnTo>
                    <a:pt x="8229600" y="0"/>
                  </a:lnTo>
                  <a:lnTo>
                    <a:pt x="822960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13" r="0" b="-62413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-9525"/>
              <a:ext cx="8229600" cy="14359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Território e lugar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DDE0F8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Santos (1999; 2006; 2012); Massey (2008)</a:t>
              </a:r>
            </a:p>
            <a:p>
              <a:pPr algn="l">
                <a:lnSpc>
                  <a:spcPts val="1620"/>
                </a:lnSpc>
              </a:pPr>
              <a:r>
                <a:rPr lang="en-US" sz="1350" i="true">
                  <a:solidFill>
                    <a:srgbClr val="FFCE32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território usado, rugosidade, lugar como encontro de trajetórias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815816" y="5602700"/>
            <a:ext cx="206312" cy="1001840"/>
            <a:chOff x="0" y="0"/>
            <a:chExt cx="275082" cy="1335786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75082" cy="1335786"/>
            </a:xfrm>
            <a:custGeom>
              <a:avLst/>
              <a:gdLst/>
              <a:ahLst/>
              <a:cxnLst/>
              <a:rect r="r" b="b" t="t" l="l"/>
              <a:pathLst>
                <a:path h="1335786" w="275082">
                  <a:moveTo>
                    <a:pt x="0" y="0"/>
                  </a:moveTo>
                  <a:lnTo>
                    <a:pt x="275082" y="0"/>
                  </a:lnTo>
                  <a:lnTo>
                    <a:pt x="275082" y="1335786"/>
                  </a:lnTo>
                  <a:lnTo>
                    <a:pt x="0" y="1335786"/>
                  </a:lnTo>
                  <a:close/>
                </a:path>
              </a:pathLst>
            </a:custGeom>
            <a:solidFill>
              <a:srgbClr val="F59BDF"/>
            </a:solidFill>
            <a:ln w="14288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18" id="118"/>
          <p:cNvGrpSpPr/>
          <p:nvPr/>
        </p:nvGrpSpPr>
        <p:grpSpPr>
          <a:xfrm rot="0">
            <a:off x="1207008" y="5582412"/>
            <a:ext cx="6172200" cy="1069848"/>
            <a:chOff x="0" y="0"/>
            <a:chExt cx="8229600" cy="1426464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8229600" cy="1426464"/>
            </a:xfrm>
            <a:custGeom>
              <a:avLst/>
              <a:gdLst/>
              <a:ahLst/>
              <a:cxnLst/>
              <a:rect r="r" b="b" t="t" l="l"/>
              <a:pathLst>
                <a:path h="1426464" w="8229600">
                  <a:moveTo>
                    <a:pt x="0" y="0"/>
                  </a:moveTo>
                  <a:lnTo>
                    <a:pt x="8229600" y="0"/>
                  </a:lnTo>
                  <a:lnTo>
                    <a:pt x="822960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13" r="0" b="-62413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9525"/>
              <a:ext cx="8229600" cy="14359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e tempo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DDE0F8"/>
                  </a:solidFill>
                  <a:latin typeface="Canva Sans"/>
                  <a:ea typeface="Canva Sans"/>
                  <a:cs typeface="Canva Sans"/>
                  <a:sym typeface="Canva Sans"/>
                </a:rPr>
                <a:t>Hall (2006); Castells (2013); Bauman (1999); Rojo (2013); Buckingham (2007)</a:t>
              </a:r>
            </a:p>
            <a:p>
              <a:pPr algn="l">
                <a:lnSpc>
                  <a:spcPts val="1620"/>
                </a:lnSpc>
              </a:pPr>
              <a:r>
                <a:rPr lang="en-US" sz="1350" i="true">
                  <a:solidFill>
                    <a:srgbClr val="FFCE32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produção de sentido, fluxos, aceleração e multiletramentos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815816" y="6699980"/>
            <a:ext cx="206312" cy="1001840"/>
            <a:chOff x="0" y="0"/>
            <a:chExt cx="275082" cy="1335786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275082" cy="1335786"/>
            </a:xfrm>
            <a:custGeom>
              <a:avLst/>
              <a:gdLst/>
              <a:ahLst/>
              <a:cxnLst/>
              <a:rect r="r" b="b" t="t" l="l"/>
              <a:pathLst>
                <a:path h="1335786" w="275082">
                  <a:moveTo>
                    <a:pt x="0" y="0"/>
                  </a:moveTo>
                  <a:lnTo>
                    <a:pt x="275082" y="0"/>
                  </a:lnTo>
                  <a:lnTo>
                    <a:pt x="275082" y="1335786"/>
                  </a:lnTo>
                  <a:lnTo>
                    <a:pt x="0" y="1335786"/>
                  </a:lnTo>
                  <a:close/>
                </a:path>
              </a:pathLst>
            </a:custGeom>
            <a:solidFill>
              <a:srgbClr val="9D8CF5"/>
            </a:solidFill>
            <a:ln w="14288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23" id="123"/>
          <p:cNvGrpSpPr/>
          <p:nvPr/>
        </p:nvGrpSpPr>
        <p:grpSpPr>
          <a:xfrm rot="0">
            <a:off x="1207008" y="6679692"/>
            <a:ext cx="6172200" cy="1069848"/>
            <a:chOff x="0" y="0"/>
            <a:chExt cx="8229600" cy="1426464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8229600" cy="1426464"/>
            </a:xfrm>
            <a:custGeom>
              <a:avLst/>
              <a:gdLst/>
              <a:ahLst/>
              <a:cxnLst/>
              <a:rect r="r" b="b" t="t" l="l"/>
              <a:pathLst>
                <a:path h="1426464" w="8229600">
                  <a:moveTo>
                    <a:pt x="0" y="0"/>
                  </a:moveTo>
                  <a:lnTo>
                    <a:pt x="8229600" y="0"/>
                  </a:lnTo>
                  <a:lnTo>
                    <a:pt x="822960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13" r="0" b="-62413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9525"/>
              <a:ext cx="8229600" cy="14359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Condições de trabalho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DDE0F8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Oliveira e Vieira (2012); Queiroz e Paiva (2014)</a:t>
              </a:r>
            </a:p>
            <a:p>
              <a:pPr algn="l">
                <a:lnSpc>
                  <a:spcPts val="1620"/>
                </a:lnSpc>
              </a:pPr>
              <a:r>
                <a:rPr lang="en-US" sz="1350" i="true">
                  <a:solidFill>
                    <a:srgbClr val="FFCE32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o tempo como dimensão em que se paga o custo da substituição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815816" y="7797260"/>
            <a:ext cx="206312" cy="1001840"/>
            <a:chOff x="0" y="0"/>
            <a:chExt cx="275082" cy="1335786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75082" cy="1335786"/>
            </a:xfrm>
            <a:custGeom>
              <a:avLst/>
              <a:gdLst/>
              <a:ahLst/>
              <a:cxnLst/>
              <a:rect r="r" b="b" t="t" l="l"/>
              <a:pathLst>
                <a:path h="1335786" w="275082">
                  <a:moveTo>
                    <a:pt x="0" y="0"/>
                  </a:moveTo>
                  <a:lnTo>
                    <a:pt x="275082" y="0"/>
                  </a:lnTo>
                  <a:lnTo>
                    <a:pt x="275082" y="1335786"/>
                  </a:lnTo>
                  <a:lnTo>
                    <a:pt x="0" y="1335786"/>
                  </a:lnTo>
                  <a:close/>
                </a:path>
              </a:pathLst>
            </a:custGeom>
            <a:solidFill>
              <a:srgbClr val="8FD694"/>
            </a:solidFill>
            <a:ln w="14288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28" id="128"/>
          <p:cNvGrpSpPr/>
          <p:nvPr/>
        </p:nvGrpSpPr>
        <p:grpSpPr>
          <a:xfrm rot="0">
            <a:off x="1207008" y="7776972"/>
            <a:ext cx="6172200" cy="1069848"/>
            <a:chOff x="0" y="0"/>
            <a:chExt cx="8229600" cy="1426464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8229600" cy="1426464"/>
            </a:xfrm>
            <a:custGeom>
              <a:avLst/>
              <a:gdLst/>
              <a:ahLst/>
              <a:cxnLst/>
              <a:rect r="r" b="b" t="t" l="l"/>
              <a:pathLst>
                <a:path h="1426464" w="8229600">
                  <a:moveTo>
                    <a:pt x="0" y="0"/>
                  </a:moveTo>
                  <a:lnTo>
                    <a:pt x="8229600" y="0"/>
                  </a:lnTo>
                  <a:lnTo>
                    <a:pt x="822960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13" r="0" b="-62413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-9525"/>
              <a:ext cx="8229600" cy="14359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Posição e método</a:t>
              </a:r>
            </a:p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DDE0F8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Freire (2019); Yin (2001); André (2005); Braun e Clarke (2006; 2019)</a:t>
              </a:r>
            </a:p>
            <a:p>
              <a:pPr algn="l">
                <a:lnSpc>
                  <a:spcPts val="1620"/>
                </a:lnSpc>
              </a:pPr>
              <a:r>
                <a:rPr lang="en-US" sz="1350" i="true">
                  <a:solidFill>
                    <a:srgbClr val="FFCE32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pesquisa situada, estudo de caso e análise temática reflexiva</a:t>
              </a:r>
            </a:p>
          </p:txBody>
        </p:sp>
      </p:grpSp>
      <p:sp>
        <p:nvSpPr>
          <p:cNvPr name="TextBox 131" id="131"/>
          <p:cNvSpPr txBox="true"/>
          <p:nvPr/>
        </p:nvSpPr>
        <p:spPr>
          <a:xfrm rot="0">
            <a:off x="822960" y="8846820"/>
            <a:ext cx="16637508" cy="6583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Cada fio é uma frente teórica; ele passa por cima (•) nos capítulos que sustenta. Zuboff (2021) e Morozov (2018) descrevem o ambiente político e econômico em que a PNED surge e entram como contexto, não como objeto empírico.</a:t>
            </a:r>
          </a:p>
        </p:txBody>
      </p:sp>
      <p:grpSp>
        <p:nvGrpSpPr>
          <p:cNvPr name="Group 132" id="132"/>
          <p:cNvGrpSpPr/>
          <p:nvPr/>
        </p:nvGrpSpPr>
        <p:grpSpPr>
          <a:xfrm rot="480000">
            <a:off x="16355272" y="509295"/>
            <a:ext cx="1851660" cy="1618583"/>
            <a:chOff x="0" y="0"/>
            <a:chExt cx="2468880" cy="2158111"/>
          </a:xfrm>
        </p:grpSpPr>
        <p:sp>
          <p:nvSpPr>
            <p:cNvPr name="Freeform 133" id="133" descr="/home/claude/deck3/img/d_lupa.png"/>
            <p:cNvSpPr/>
            <p:nvPr/>
          </p:nvSpPr>
          <p:spPr>
            <a:xfrm flipH="false" flipV="false" rot="0">
              <a:off x="0" y="0"/>
              <a:ext cx="2468880" cy="2158111"/>
            </a:xfrm>
            <a:custGeom>
              <a:avLst/>
              <a:gdLst/>
              <a:ahLst/>
              <a:cxnLst/>
              <a:rect r="r" b="b" t="t" l="l"/>
              <a:pathLst>
                <a:path h="2158111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2158111"/>
                  </a:lnTo>
                  <a:lnTo>
                    <a:pt x="0" y="2158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21" r="0" b="-21"/>
              </a:stretch>
            </a:blipFill>
          </p:spPr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6800078" y="267800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Onde os referenciais deixam de cobrir o caso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143887"/>
            <a:ext cx="5313426" cy="5368290"/>
            <a:chOff x="0" y="0"/>
            <a:chExt cx="7084568" cy="71577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7157720"/>
            </a:xfrm>
            <a:custGeom>
              <a:avLst/>
              <a:gdLst/>
              <a:ahLst/>
              <a:cxnLst/>
              <a:rect r="r" b="b" t="t" l="l"/>
              <a:pathLst>
                <a:path h="715772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7157720"/>
                  </a:lnTo>
                  <a:lnTo>
                    <a:pt x="0" y="71577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2045494"/>
            <a:ext cx="5318188" cy="5373053"/>
            <a:chOff x="0" y="0"/>
            <a:chExt cx="7090918" cy="716407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090918" cy="7164070"/>
            </a:xfrm>
            <a:custGeom>
              <a:avLst/>
              <a:gdLst/>
              <a:ahLst/>
              <a:cxnLst/>
              <a:rect r="r" b="b" t="t" l="l"/>
              <a:pathLst>
                <a:path h="716407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7164070"/>
                  </a:lnTo>
                  <a:lnTo>
                    <a:pt x="0" y="71640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234440" y="2322195"/>
            <a:ext cx="4526280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Ciclo de Políticas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34440" y="3154680"/>
            <a:ext cx="4526280" cy="4046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política é recriada no contexto da prática, “em relação aos meios de que dispõem” (RIZVI; KEMMIS, 1987 apud BOWE; BALL; GOLD, 1992, p. 22, tradução nossa). Supõe que os meios existam.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533007" y="2143887"/>
            <a:ext cx="5313426" cy="5368290"/>
            <a:chOff x="0" y="0"/>
            <a:chExt cx="7084568" cy="71577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084568" cy="7157720"/>
            </a:xfrm>
            <a:custGeom>
              <a:avLst/>
              <a:gdLst/>
              <a:ahLst/>
              <a:cxnLst/>
              <a:rect r="r" b="b" t="t" l="l"/>
              <a:pathLst>
                <a:path h="715772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7157720"/>
                  </a:lnTo>
                  <a:lnTo>
                    <a:pt x="0" y="71577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434614" y="2045494"/>
            <a:ext cx="5318188" cy="5373053"/>
            <a:chOff x="0" y="0"/>
            <a:chExt cx="7090918" cy="71640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90918" cy="7164070"/>
            </a:xfrm>
            <a:custGeom>
              <a:avLst/>
              <a:gdLst/>
              <a:ahLst/>
              <a:cxnLst/>
              <a:rect r="r" b="b" t="t" l="l"/>
              <a:pathLst>
                <a:path h="716407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7164070"/>
                  </a:lnTo>
                  <a:lnTo>
                    <a:pt x="0" y="71640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6858000" y="2322195"/>
            <a:ext cx="4526280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Burocracia de nível de rua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858000" y="3154680"/>
            <a:ext cx="4526280" cy="4046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burocrata raciona um serviço que existe, em serviços em que “o processamento em massa de clientes é a norma” (LIPSKY, 2019, p. 16).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060555" y="2047875"/>
            <a:ext cx="5313426" cy="5368290"/>
            <a:chOff x="0" y="0"/>
            <a:chExt cx="7084568" cy="71577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084568" cy="7157720"/>
            </a:xfrm>
            <a:custGeom>
              <a:avLst/>
              <a:gdLst/>
              <a:ahLst/>
              <a:cxnLst/>
              <a:rect r="r" b="b" t="t" l="l"/>
              <a:pathLst>
                <a:path h="715772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7157720"/>
                  </a:lnTo>
                  <a:lnTo>
                    <a:pt x="0" y="71577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12481560" y="2322195"/>
            <a:ext cx="4526280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 Pipa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481560" y="3154680"/>
            <a:ext cx="4526280" cy="4046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As salas de 1º e 2º anos não têm dispositivos para racionar. Numa escola pequena, a decisão é tomada diante de crianças e famílias que a profissional reencontra fora da escola.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822960" y="7818120"/>
            <a:ext cx="16637508" cy="1165860"/>
            <a:chOff x="0" y="0"/>
            <a:chExt cx="22183344" cy="155448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183344" cy="1554480"/>
            </a:xfrm>
            <a:custGeom>
              <a:avLst/>
              <a:gdLst/>
              <a:ahLst/>
              <a:cxnLst/>
              <a:rect r="r" b="b" t="t" l="l"/>
              <a:pathLst>
                <a:path h="1554480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8062" r="0" b="-228062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0"/>
              <a:ext cx="22183344" cy="1554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779"/>
                </a:lnSpc>
              </a:pPr>
              <a:r>
                <a:rPr lang="en-US" sz="31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Nenhum dos dois nomeia a decisão que recai sobre o que não existe. É esse o lugar da contribuição.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Lipsky (2019).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720000">
            <a:off x="17045559" y="-301752"/>
            <a:ext cx="1303020" cy="1777651"/>
            <a:chOff x="0" y="0"/>
            <a:chExt cx="1737360" cy="2370201"/>
          </a:xfrm>
        </p:grpSpPr>
        <p:sp>
          <p:nvSpPr>
            <p:cNvPr name="Freeform 4" id="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RSL: questão norteadora e resposta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2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773555"/>
            <a:ext cx="16656558" cy="1143762"/>
            <a:chOff x="0" y="0"/>
            <a:chExt cx="22208744" cy="15250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1525016"/>
            </a:xfrm>
            <a:custGeom>
              <a:avLst/>
              <a:gdLst/>
              <a:ahLst/>
              <a:cxnLst/>
              <a:rect r="r" b="b" t="t" l="l"/>
              <a:pathLst>
                <a:path h="1525016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525016"/>
                  </a:lnTo>
                  <a:lnTo>
                    <a:pt x="0" y="15250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783080"/>
            <a:ext cx="16047720" cy="1124712"/>
            <a:chOff x="0" y="0"/>
            <a:chExt cx="21396960" cy="14996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96961" cy="1499616"/>
            </a:xfrm>
            <a:custGeom>
              <a:avLst/>
              <a:gdLst/>
              <a:ahLst/>
              <a:cxnLst/>
              <a:rect r="r" b="b" t="t" l="l"/>
              <a:pathLst>
                <a:path h="1499616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499616"/>
                  </a:lnTo>
                  <a:lnTo>
                    <a:pt x="0" y="14996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8018" r="0" b="-22801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1396960" cy="14996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i="true">
                  <a:solidFill>
                    <a:srgbClr val="3942B5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Questão norteadora da revisão: </a:t>
              </a:r>
              <a:r>
                <a:rPr lang="en-US" sz="2100" i="true">
                  <a:solidFill>
                    <a:srgbClr val="1A1A1A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o que a produção científica nacional e internacional evidencia sobre a implementação de políticas públicas de educação digital nos anos iniciais do Ensino Fundamental?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3044952"/>
            <a:ext cx="16637508" cy="493776"/>
            <a:chOff x="0" y="0"/>
            <a:chExt cx="22183344" cy="65836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183344" cy="658368"/>
            </a:xfrm>
            <a:custGeom>
              <a:avLst/>
              <a:gdLst/>
              <a:ahLst/>
              <a:cxnLst/>
              <a:rect r="r" b="b" t="t" l="l"/>
              <a:pathLst>
                <a:path h="658368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6537" r="0" b="-606537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22183344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PRISMA 2020 · 7 bases: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176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identificados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171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sem duplicatas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39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buscados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35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avaliados na íntegra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9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estudos incluídos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09447" y="3817239"/>
            <a:ext cx="5313426" cy="3242310"/>
            <a:chOff x="0" y="0"/>
            <a:chExt cx="7084568" cy="43230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811054" y="3718846"/>
            <a:ext cx="5318188" cy="3247072"/>
            <a:chOff x="0" y="0"/>
            <a:chExt cx="7090918" cy="432943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060323" y="3926967"/>
            <a:ext cx="649986" cy="649986"/>
            <a:chOff x="0" y="0"/>
            <a:chExt cx="866648" cy="86664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069848" y="3936492"/>
            <a:ext cx="630936" cy="630936"/>
            <a:chOff x="0" y="0"/>
            <a:chExt cx="841248" cy="84124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851660" y="3895344"/>
            <a:ext cx="4046220" cy="713232"/>
            <a:chOff x="0" y="0"/>
            <a:chExt cx="5394960" cy="9509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Condições de implementação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60323" y="4708779"/>
            <a:ext cx="3379470" cy="457962"/>
            <a:chOff x="0" y="0"/>
            <a:chExt cx="4505960" cy="6106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069848" y="4718304"/>
            <a:ext cx="3360420" cy="438912"/>
            <a:chOff x="0" y="0"/>
            <a:chExt cx="4480560" cy="58521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convergente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6984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Além de equipamentos e conexão, pesam formação continuada e situada, estabilidade das equipes e do suporte, tempo de trabalho e o marco regulatório. O território aparece pouco: nenhum estudo examina rede de pequeno porte.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6533007" y="3817239"/>
            <a:ext cx="5313426" cy="3242310"/>
            <a:chOff x="0" y="0"/>
            <a:chExt cx="7084568" cy="432308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6434614" y="3718846"/>
            <a:ext cx="5318188" cy="3247072"/>
            <a:chOff x="0" y="0"/>
            <a:chExt cx="7090918" cy="432943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683883" y="3926967"/>
            <a:ext cx="649986" cy="649986"/>
            <a:chOff x="0" y="0"/>
            <a:chExt cx="866648" cy="86664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693408" y="3936492"/>
            <a:ext cx="630936" cy="630936"/>
            <a:chOff x="0" y="0"/>
            <a:chExt cx="841248" cy="84124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7475220" y="3895344"/>
            <a:ext cx="4046220" cy="713232"/>
            <a:chOff x="0" y="0"/>
            <a:chExt cx="5394960" cy="95097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Papel dos profissionais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683883" y="4708779"/>
            <a:ext cx="3379470" cy="457962"/>
            <a:chOff x="0" y="0"/>
            <a:chExt cx="4505960" cy="61061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693408" y="4718304"/>
            <a:ext cx="3360420" cy="438912"/>
            <a:chOff x="0" y="0"/>
            <a:chExt cx="4480560" cy="58521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a mais convergente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669340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atuação da política envolve interpretação e decisões situadas dos profissionais, para além da transmissão de prescrições. As razões e o sentido desse trabalho seguem pouco examinados.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12156567" y="3817239"/>
            <a:ext cx="5313426" cy="3242310"/>
            <a:chOff x="0" y="0"/>
            <a:chExt cx="7084568" cy="43230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2058174" y="3718846"/>
            <a:ext cx="5318188" cy="3247072"/>
            <a:chOff x="0" y="0"/>
            <a:chExt cx="7090918" cy="432943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2307443" y="3926967"/>
            <a:ext cx="649986" cy="649986"/>
            <a:chOff x="0" y="0"/>
            <a:chExt cx="866648" cy="866648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3" id="63"/>
          <p:cNvGrpSpPr/>
          <p:nvPr/>
        </p:nvGrpSpPr>
        <p:grpSpPr>
          <a:xfrm rot="0">
            <a:off x="12316968" y="3936492"/>
            <a:ext cx="630936" cy="630936"/>
            <a:chOff x="0" y="0"/>
            <a:chExt cx="841248" cy="841248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3098780" y="3895344"/>
            <a:ext cx="4046220" cy="713232"/>
            <a:chOff x="0" y="0"/>
            <a:chExt cx="5394960" cy="950976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digital e cidadania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2307443" y="4708779"/>
            <a:ext cx="3379470" cy="457962"/>
            <a:chOff x="0" y="0"/>
            <a:chExt cx="4505960" cy="610616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F6C3B0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12316968" y="4718304"/>
            <a:ext cx="3360420" cy="438912"/>
            <a:chOff x="0" y="0"/>
            <a:chExt cx="4480560" cy="58521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frágil</a:t>
              </a:r>
            </a:p>
          </p:txBody>
        </p:sp>
      </p:grpSp>
      <p:sp>
        <p:nvSpPr>
          <p:cNvPr name="TextBox 74" id="74"/>
          <p:cNvSpPr txBox="true"/>
          <p:nvPr/>
        </p:nvSpPr>
        <p:spPr>
          <a:xfrm rot="0">
            <a:off x="1231696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Poucos estudos tratam do tema, e nenhum examina o que as crianças dos anos iniciais aprendem a ser, como sujeitos, numa política de educação digital.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909447" y="7287387"/>
            <a:ext cx="10031730" cy="2172462"/>
            <a:chOff x="0" y="0"/>
            <a:chExt cx="13375640" cy="2896616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13375639" cy="2896616"/>
            </a:xfrm>
            <a:custGeom>
              <a:avLst/>
              <a:gdLst/>
              <a:ahLst/>
              <a:cxnLst/>
              <a:rect r="r" b="b" t="t" l="l"/>
              <a:pathLst>
                <a:path h="2896616" w="13375639">
                  <a:moveTo>
                    <a:pt x="0" y="0"/>
                  </a:moveTo>
                  <a:lnTo>
                    <a:pt x="13375639" y="0"/>
                  </a:lnTo>
                  <a:lnTo>
                    <a:pt x="13375639" y="2896616"/>
                  </a:lnTo>
                  <a:lnTo>
                    <a:pt x="0" y="28966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811054" y="7188994"/>
            <a:ext cx="10036493" cy="2177224"/>
            <a:chOff x="0" y="0"/>
            <a:chExt cx="13381990" cy="290296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3381989" cy="2902966"/>
            </a:xfrm>
            <a:custGeom>
              <a:avLst/>
              <a:gdLst/>
              <a:ahLst/>
              <a:cxnLst/>
              <a:rect r="r" b="b" t="t" l="l"/>
              <a:pathLst>
                <a:path h="2902966" w="13381989">
                  <a:moveTo>
                    <a:pt x="0" y="0"/>
                  </a:moveTo>
                  <a:lnTo>
                    <a:pt x="13381989" y="0"/>
                  </a:lnTo>
                  <a:lnTo>
                    <a:pt x="13381989" y="2902966"/>
                  </a:lnTo>
                  <a:lnTo>
                    <a:pt x="0" y="2902966"/>
                  </a:ln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97280" y="7242048"/>
            <a:ext cx="9532620" cy="2071116"/>
            <a:chOff x="0" y="0"/>
            <a:chExt cx="12710160" cy="2761488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12710160" cy="2761488"/>
            </a:xfrm>
            <a:custGeom>
              <a:avLst/>
              <a:gdLst/>
              <a:ahLst/>
              <a:cxnLst/>
              <a:rect r="r" b="b" t="t" l="l"/>
              <a:pathLst>
                <a:path h="2761488" w="12710160">
                  <a:moveTo>
                    <a:pt x="0" y="0"/>
                  </a:moveTo>
                  <a:lnTo>
                    <a:pt x="12710160" y="0"/>
                  </a:lnTo>
                  <a:lnTo>
                    <a:pt x="12710160" y="2761488"/>
                  </a:lnTo>
                  <a:lnTo>
                    <a:pt x="0" y="2761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682" r="0" b="-39682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9525"/>
              <a:ext cx="12710160" cy="2751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RESPOSTA À QUESTÃO NORTEADORA</a:t>
              </a:r>
            </a:p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atuação dessas políticas nos anos iniciais depende da articulação entre recursos disponíveis, condições institucionais e trabalho dos profissionais, que participam da interpretação da política diante das condições do cotidiano escolar. O corpus responde melhor sobre as condições e os profissionais do que sobre a formação dirigida às crianças.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1169015" y="7191375"/>
            <a:ext cx="6300978" cy="2268474"/>
            <a:chOff x="0" y="0"/>
            <a:chExt cx="8401304" cy="302463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8401304" cy="3024632"/>
            </a:xfrm>
            <a:custGeom>
              <a:avLst/>
              <a:gdLst/>
              <a:ahLst/>
              <a:cxnLst/>
              <a:rect r="r" b="b" t="t" l="l"/>
              <a:pathLst>
                <a:path h="3024632" w="8401304">
                  <a:moveTo>
                    <a:pt x="0" y="0"/>
                  </a:moveTo>
                  <a:lnTo>
                    <a:pt x="8401304" y="0"/>
                  </a:lnTo>
                  <a:lnTo>
                    <a:pt x="8401304" y="3024632"/>
                  </a:lnTo>
                  <a:lnTo>
                    <a:pt x="0" y="302463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84" id="84"/>
          <p:cNvGrpSpPr/>
          <p:nvPr/>
        </p:nvGrpSpPr>
        <p:grpSpPr>
          <a:xfrm rot="0">
            <a:off x="11452860" y="7200900"/>
            <a:ext cx="5760720" cy="2249424"/>
            <a:chOff x="0" y="0"/>
            <a:chExt cx="7680960" cy="2999232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680960" cy="2999232"/>
            </a:xfrm>
            <a:custGeom>
              <a:avLst/>
              <a:gdLst/>
              <a:ahLst/>
              <a:cxnLst/>
              <a:rect r="r" b="b" t="t" l="l"/>
              <a:pathLst>
                <a:path h="2999232" w="7680960">
                  <a:moveTo>
                    <a:pt x="0" y="0"/>
                  </a:moveTo>
                  <a:lnTo>
                    <a:pt x="7680960" y="0"/>
                  </a:lnTo>
                  <a:lnTo>
                    <a:pt x="7680960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9" t="0" r="-99" b="0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0"/>
              <a:ext cx="7680960" cy="29992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O CORPUS NÃO EXAMINA</a:t>
              </a:r>
            </a:p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0 de 9 estudos tratam da PNED; 1 de 9 delimita o ciclo de alfabetização; nenhum trata de rede municipal de pequeno porte; nenhum acompanha o que os profissionais fazem quando a formação não chega e a exigência curricular permanece.</a:t>
              </a:r>
            </a:p>
          </p:txBody>
        </p:sp>
      </p:grpSp>
      <p:sp>
        <p:nvSpPr>
          <p:cNvPr name="TextBox 87" id="87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Page et al. (2022): PRISMA 2020.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Capítulo 2, seção 2.5.1; SciELO, Periódicos CAPES, BDTD, ERIC, Scopus, Web of Science e Lens; válido para o recorte adotado.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668369" y="-301752"/>
            <a:ext cx="1988820" cy="1499864"/>
            <a:chOff x="0" y="0"/>
            <a:chExt cx="2651760" cy="1999818"/>
          </a:xfrm>
        </p:grpSpPr>
        <p:sp>
          <p:nvSpPr>
            <p:cNvPr name="Freeform 4" id="4" descr="/home/claude/deck3/img/d_cronometro.png"/>
            <p:cNvSpPr/>
            <p:nvPr/>
          </p:nvSpPr>
          <p:spPr>
            <a:xfrm flipH="false" flipV="false" rot="0">
              <a:off x="0" y="0"/>
              <a:ext cx="2651760" cy="1999869"/>
            </a:xfrm>
            <a:custGeom>
              <a:avLst/>
              <a:gdLst/>
              <a:ahLst/>
              <a:cxnLst/>
              <a:rect r="r" b="b" t="t" l="l"/>
              <a:pathLst>
                <a:path h="1999869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1999869"/>
                  </a:lnTo>
                  <a:lnTo>
                    <a:pt x="0" y="19998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7" r="0" b="-15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Desenho: estudo de caso único, qualitativo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979295"/>
            <a:ext cx="5368290" cy="7288530"/>
            <a:chOff x="0" y="0"/>
            <a:chExt cx="7157720" cy="97180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157720" cy="9718040"/>
            </a:xfrm>
            <a:custGeom>
              <a:avLst/>
              <a:gdLst/>
              <a:ahLst/>
              <a:cxnLst/>
              <a:rect r="r" b="b" t="t" l="l"/>
              <a:pathLst>
                <a:path h="9718040" w="7157720">
                  <a:moveTo>
                    <a:pt x="0" y="0"/>
                  </a:moveTo>
                  <a:lnTo>
                    <a:pt x="7157720" y="0"/>
                  </a:lnTo>
                  <a:lnTo>
                    <a:pt x="7157720" y="9718040"/>
                  </a:lnTo>
                  <a:lnTo>
                    <a:pt x="0" y="9718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165860" y="2204085"/>
            <a:ext cx="4663440" cy="539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Abordagem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5860" y="2870835"/>
            <a:ext cx="4732020" cy="6181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Qualitativa e interpretativa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Bogdan e Biklen (2007); Minayo (2009)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 único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Yin (2001); André (2005)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Ciclo de Políticas e burocracia de nível de rua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Lipsky (2019)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Análise temática reflexiva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Braun e Clarke (2006, 2019)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70167" y="2075307"/>
            <a:ext cx="10799826" cy="1253490"/>
            <a:chOff x="0" y="0"/>
            <a:chExt cx="14399768" cy="16713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6571774" y="1976914"/>
            <a:ext cx="10804588" cy="1258252"/>
            <a:chOff x="0" y="0"/>
            <a:chExt cx="14406118" cy="167767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821043" y="2185035"/>
            <a:ext cx="842010" cy="842010"/>
            <a:chOff x="0" y="0"/>
            <a:chExt cx="1122680" cy="1122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7044538" y="2408530"/>
            <a:ext cx="395021" cy="395021"/>
            <a:chOff x="0" y="0"/>
            <a:chExt cx="526694" cy="526694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4" b="-4"/>
              </a:stretch>
            </a:blip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7886700" y="2089023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Registro iconográfico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886700" y="2592324"/>
            <a:ext cx="6309360" cy="603504"/>
            <a:chOff x="0" y="0"/>
            <a:chExt cx="841248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38 figuras e 2 peças cartográficas; testes de velocidade a fazer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255115" y="2294763"/>
            <a:ext cx="2899410" cy="622554"/>
            <a:chOff x="0" y="0"/>
            <a:chExt cx="3865880" cy="83007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14264640" y="2304288"/>
            <a:ext cx="2880360" cy="603504"/>
            <a:chOff x="0" y="0"/>
            <a:chExt cx="3840480" cy="80467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Em parte · Cap. 6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670167" y="3556635"/>
            <a:ext cx="10799826" cy="1253490"/>
            <a:chOff x="0" y="0"/>
            <a:chExt cx="14399768" cy="16713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6571774" y="3458242"/>
            <a:ext cx="10804588" cy="1258252"/>
            <a:chOff x="0" y="0"/>
            <a:chExt cx="14406118" cy="167767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6821043" y="3666363"/>
            <a:ext cx="842010" cy="842010"/>
            <a:chOff x="0" y="0"/>
            <a:chExt cx="1122680" cy="1122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7044538" y="3889858"/>
            <a:ext cx="395021" cy="395021"/>
            <a:chOff x="0" y="0"/>
            <a:chExt cx="526694" cy="526694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4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7886700" y="3570351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Documentos administrativos e de aquisição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7886700" y="4073652"/>
            <a:ext cx="6309360" cy="603504"/>
            <a:chOff x="0" y="0"/>
            <a:chExt cx="8412480" cy="804672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Laboratório (2022), PIEC, Censo Escolar, manutenção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4255115" y="3776091"/>
            <a:ext cx="2899410" cy="622554"/>
            <a:chOff x="0" y="0"/>
            <a:chExt cx="3865880" cy="83007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4264640" y="3785616"/>
            <a:ext cx="2880360" cy="603504"/>
            <a:chOff x="0" y="0"/>
            <a:chExt cx="3840480" cy="80467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fazer · Caps. 6 e 7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670167" y="5037963"/>
            <a:ext cx="10799826" cy="1253490"/>
            <a:chOff x="0" y="0"/>
            <a:chExt cx="14399768" cy="16713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571774" y="4939570"/>
            <a:ext cx="10804588" cy="1258252"/>
            <a:chOff x="0" y="0"/>
            <a:chExt cx="14406118" cy="167767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6821043" y="5147691"/>
            <a:ext cx="842010" cy="842010"/>
            <a:chOff x="0" y="0"/>
            <a:chExt cx="1122680" cy="112268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7044538" y="5371186"/>
            <a:ext cx="395021" cy="395021"/>
            <a:chOff x="0" y="0"/>
            <a:chExt cx="526694" cy="526694"/>
          </a:xfrm>
        </p:grpSpPr>
        <p:sp>
          <p:nvSpPr>
            <p:cNvPr name="Freeform 58" id="58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4" b="-4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7886700" y="5051679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Questionário de perfil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7804404" y="5371186"/>
            <a:ext cx="6309360" cy="791924"/>
            <a:chOff x="0" y="0"/>
            <a:chExt cx="8412480" cy="105589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8412480" cy="1055898"/>
            </a:xfrm>
            <a:custGeom>
              <a:avLst/>
              <a:gdLst/>
              <a:ahLst/>
              <a:cxnLst/>
              <a:rect r="r" b="b" t="t" l="l"/>
              <a:pathLst>
                <a:path h="1055898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055898"/>
                  </a:lnTo>
                  <a:lnTo>
                    <a:pt x="0" y="10558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7136" r="0" b="-93343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8412480" cy="1055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12 profissionais, quatro blocos e questão aberta (sistematizado no Forms e aplicado presencialmente para esclarecer possíveis dúvidas)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4255115" y="5257419"/>
            <a:ext cx="2899410" cy="622554"/>
            <a:chOff x="0" y="0"/>
            <a:chExt cx="3865880" cy="830072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14264640" y="5266944"/>
            <a:ext cx="2880360" cy="603504"/>
            <a:chOff x="0" y="0"/>
            <a:chExt cx="3840480" cy="80467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Após a emenda · Cap. 7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6670167" y="6519291"/>
            <a:ext cx="10799826" cy="1253490"/>
            <a:chOff x="0" y="0"/>
            <a:chExt cx="14399768" cy="16713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0" id="70"/>
          <p:cNvGrpSpPr/>
          <p:nvPr/>
        </p:nvGrpSpPr>
        <p:grpSpPr>
          <a:xfrm rot="0">
            <a:off x="6571774" y="6420898"/>
            <a:ext cx="10804588" cy="1258252"/>
            <a:chOff x="0" y="0"/>
            <a:chExt cx="14406118" cy="167767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6821043" y="6629019"/>
            <a:ext cx="842010" cy="842010"/>
            <a:chOff x="0" y="0"/>
            <a:chExt cx="1122680" cy="112268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7044538" y="6852514"/>
            <a:ext cx="395021" cy="395021"/>
            <a:chOff x="0" y="0"/>
            <a:chExt cx="526694" cy="526694"/>
          </a:xfrm>
        </p:grpSpPr>
        <p:sp>
          <p:nvSpPr>
            <p:cNvPr name="Freeform 75" id="75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sp>
        <p:nvSpPr>
          <p:cNvPr name="TextBox 76" id="76"/>
          <p:cNvSpPr txBox="true"/>
          <p:nvPr/>
        </p:nvSpPr>
        <p:spPr>
          <a:xfrm rot="0">
            <a:off x="7886700" y="6533007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Entrevistas semiestruturadas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7886700" y="7036308"/>
            <a:ext cx="6309360" cy="603504"/>
            <a:chOff x="0" y="0"/>
            <a:chExt cx="8412480" cy="80467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Cinco eixos, de 60 a 90 minutos, individuais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4255115" y="6738747"/>
            <a:ext cx="2899410" cy="622554"/>
            <a:chOff x="0" y="0"/>
            <a:chExt cx="3865880" cy="83007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4264640" y="6748272"/>
            <a:ext cx="2880360" cy="603504"/>
            <a:chOff x="0" y="0"/>
            <a:chExt cx="3840480" cy="80467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Após a emenda · Cap. 7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6670167" y="8000619"/>
            <a:ext cx="10799826" cy="1253490"/>
            <a:chOff x="0" y="0"/>
            <a:chExt cx="14399768" cy="167132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6571774" y="7902226"/>
            <a:ext cx="10804588" cy="1258252"/>
            <a:chOff x="0" y="0"/>
            <a:chExt cx="14406118" cy="167767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9" id="89"/>
          <p:cNvGrpSpPr/>
          <p:nvPr/>
        </p:nvGrpSpPr>
        <p:grpSpPr>
          <a:xfrm rot="0">
            <a:off x="6821043" y="8110347"/>
            <a:ext cx="842010" cy="842010"/>
            <a:chOff x="0" y="0"/>
            <a:chExt cx="1122680" cy="112268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7044538" y="8333842"/>
            <a:ext cx="395021" cy="395021"/>
            <a:chOff x="0" y="0"/>
            <a:chExt cx="526694" cy="526694"/>
          </a:xfrm>
        </p:grpSpPr>
        <p:sp>
          <p:nvSpPr>
            <p:cNvPr name="Freeform 92" id="92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4" b="-4"/>
              </a:stretch>
            </a:blipFill>
          </p:spPr>
        </p:sp>
      </p:grpSp>
      <p:sp>
        <p:nvSpPr>
          <p:cNvPr name="TextBox 93" id="93"/>
          <p:cNvSpPr txBox="true"/>
          <p:nvPr/>
        </p:nvSpPr>
        <p:spPr>
          <a:xfrm rot="0">
            <a:off x="7886700" y="8014335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Documentos pedagógicos e registros de formação</a:t>
            </a:r>
          </a:p>
        </p:txBody>
      </p:sp>
      <p:grpSp>
        <p:nvGrpSpPr>
          <p:cNvPr name="Group 94" id="94"/>
          <p:cNvGrpSpPr/>
          <p:nvPr/>
        </p:nvGrpSpPr>
        <p:grpSpPr>
          <a:xfrm rot="0">
            <a:off x="7886700" y="8517636"/>
            <a:ext cx="6309360" cy="603504"/>
            <a:chOff x="0" y="0"/>
            <a:chExt cx="8412480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PPP, planos, atas, cadernos de uso; formações desde 2023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4255115" y="8220075"/>
            <a:ext cx="2899410" cy="622554"/>
            <a:chOff x="0" y="0"/>
            <a:chExt cx="3865880" cy="830072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9" id="99"/>
          <p:cNvGrpSpPr/>
          <p:nvPr/>
        </p:nvGrpSpPr>
        <p:grpSpPr>
          <a:xfrm rot="0">
            <a:off x="14264640" y="8229600"/>
            <a:ext cx="2880360" cy="603504"/>
            <a:chOff x="0" y="0"/>
            <a:chExt cx="3840480" cy="804672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solicitar · Cap. 7</a:t>
              </a:r>
            </a:p>
          </p:txBody>
        </p:sp>
      </p:grpSp>
      <p:sp>
        <p:nvSpPr>
          <p:cNvPr name="TextBox 102" id="10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múltiplas fontes e proposições teóricas prévias; triangulação.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03091" y="522003"/>
            <a:ext cx="1855870" cy="1311565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Como a categoria pode falhar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842135"/>
            <a:ext cx="16656558" cy="1047750"/>
            <a:chOff x="0" y="0"/>
            <a:chExt cx="22208744" cy="1397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1397000"/>
            </a:xfrm>
            <a:custGeom>
              <a:avLst/>
              <a:gdLst/>
              <a:ahLst/>
              <a:cxnLst/>
              <a:rect r="r" b="b" t="t" l="l"/>
              <a:pathLst>
                <a:path h="13970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851660"/>
            <a:ext cx="16047720" cy="1028700"/>
            <a:chOff x="0" y="0"/>
            <a:chExt cx="21396960" cy="13716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96961" cy="1371600"/>
            </a:xfrm>
            <a:custGeom>
              <a:avLst/>
              <a:gdLst/>
              <a:ahLst/>
              <a:cxnLst/>
              <a:rect r="r" b="b" t="t" l="l"/>
              <a:pathLst>
                <a:path h="137160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3966" r="0" b="-25396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39696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Critérios metodológicos que sustentarão a categoria analítica: </a:t>
              </a:r>
              <a:r>
                <a:rPr lang="en-US" sz="20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componentes e condições de recusa registrados antes da primeira entrevista. Mudança só com novo registro, datado e justificado.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241167"/>
            <a:ext cx="3996690" cy="5299710"/>
            <a:chOff x="0" y="0"/>
            <a:chExt cx="5328920" cy="7066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142774"/>
            <a:ext cx="4001453" cy="5304472"/>
            <a:chOff x="0" y="0"/>
            <a:chExt cx="5335270" cy="70726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811054" y="3142774"/>
            <a:ext cx="4001453" cy="846773"/>
            <a:chOff x="0" y="0"/>
            <a:chExt cx="5335270" cy="112903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3942B5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822960" y="3154680"/>
            <a:ext cx="3977640" cy="822960"/>
            <a:chOff x="0" y="0"/>
            <a:chExt cx="5303520" cy="1097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Confirmação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069848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Os três componentes aparecem juntos, de forma recorrente e sem indução, numa parte expressiva dos doze, com a decisão reconhecida como própria. Um episódio isolado não basta.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5133975" y="3241167"/>
            <a:ext cx="3996690" cy="5299710"/>
            <a:chOff x="0" y="0"/>
            <a:chExt cx="5328920" cy="70662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5035582" y="3142774"/>
            <a:ext cx="4001453" cy="5304472"/>
            <a:chOff x="0" y="0"/>
            <a:chExt cx="5335270" cy="707263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035582" y="3142774"/>
            <a:ext cx="4001453" cy="846773"/>
            <a:chOff x="0" y="0"/>
            <a:chExt cx="5335270" cy="11290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7462E3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5047488" y="3154680"/>
            <a:ext cx="3977640" cy="822960"/>
            <a:chOff x="0" y="0"/>
            <a:chExt cx="5303520" cy="10972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Delimitação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5294376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substituição aparece na regência e não na coordenação, na direção ou na Secretaria: a categoria fica restrita a essa posição.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9358503" y="3241167"/>
            <a:ext cx="3996690" cy="5299710"/>
            <a:chOff x="0" y="0"/>
            <a:chExt cx="5328920" cy="70662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9260110" y="3142774"/>
            <a:ext cx="4001453" cy="5304472"/>
            <a:chOff x="0" y="0"/>
            <a:chExt cx="5335270" cy="707263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260110" y="3142774"/>
            <a:ext cx="4001453" cy="846773"/>
            <a:chOff x="0" y="0"/>
            <a:chExt cx="5335270" cy="112903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7462E3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9272016" y="3154680"/>
            <a:ext cx="3977640" cy="822960"/>
            <a:chOff x="0" y="0"/>
            <a:chExt cx="5303520" cy="10972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Renomeação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9518904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Há substituição, mas sem alternativa: é transferência de custo do Estado para o trabalhador, e a formulação muda de nome.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3583031" y="3241167"/>
            <a:ext cx="3996690" cy="5299710"/>
            <a:chOff x="0" y="0"/>
            <a:chExt cx="5328920" cy="70662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3484638" y="3142774"/>
            <a:ext cx="4001453" cy="5304472"/>
            <a:chOff x="0" y="0"/>
            <a:chExt cx="5335270" cy="707263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484638" y="3142774"/>
            <a:ext cx="4001453" cy="846773"/>
            <a:chOff x="0" y="0"/>
            <a:chExt cx="5335270" cy="112903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EE6A1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3496544" y="3154680"/>
            <a:ext cx="3977640" cy="822960"/>
            <a:chOff x="0" y="0"/>
            <a:chExt cx="5303520" cy="109728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Recusa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3743432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Fila ou revezamento pelo kit multimídia: discricionariedade alocativa (Lipsky). Lei lida como ambígua: recontextualização (ACP). Sem relato recorrente de meios próprios: a categoria não se sustenta.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822960" y="8682228"/>
            <a:ext cx="16637508" cy="685800"/>
            <a:chOff x="0" y="0"/>
            <a:chExt cx="22183344" cy="9144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2183344" cy="914400"/>
            </a:xfrm>
            <a:custGeom>
              <a:avLst/>
              <a:gdLst/>
              <a:ahLst/>
              <a:cxnLst/>
              <a:rect r="r" b="b" t="t" l="l"/>
              <a:pathLst>
                <a:path h="914400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2707" r="0" b="-422707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2218334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No Capítulo 7, declaramos qual das quatro situações se verificou. Recusar a categoria não é fracasso da pesquisa.</a:t>
              </a:r>
            </a:p>
          </p:txBody>
        </p:sp>
      </p:grpSp>
      <p:sp>
        <p:nvSpPr>
          <p:cNvPr name="TextBox 61" id="6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proposições teóricas prévias; Lipsky (2019): discricionariedade alocativa; Bowe, Ball e Gold (1992): recontextualização.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392515" y="161495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agenda internacional: das presenças às condições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143887"/>
            <a:ext cx="5313426" cy="5368290"/>
            <a:chOff x="0" y="0"/>
            <a:chExt cx="7084568" cy="71577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7157720"/>
            </a:xfrm>
            <a:custGeom>
              <a:avLst/>
              <a:gdLst/>
              <a:ahLst/>
              <a:cxnLst/>
              <a:rect r="r" b="b" t="t" l="l"/>
              <a:pathLst>
                <a:path h="715772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7157720"/>
                  </a:lnTo>
                  <a:lnTo>
                    <a:pt x="0" y="71577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2045494"/>
            <a:ext cx="5318188" cy="5373053"/>
            <a:chOff x="0" y="0"/>
            <a:chExt cx="7090918" cy="716407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090918" cy="7164070"/>
            </a:xfrm>
            <a:custGeom>
              <a:avLst/>
              <a:gdLst/>
              <a:ahLst/>
              <a:cxnLst/>
              <a:rect r="r" b="b" t="t" l="l"/>
              <a:pathLst>
                <a:path h="716407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7164070"/>
                  </a:lnTo>
                  <a:lnTo>
                    <a:pt x="0" y="71640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165860" y="2253615"/>
            <a:ext cx="4663440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UNESCO (2023)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65860" y="2889885"/>
            <a:ext cx="466344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i="true">
                <a:solidFill>
                  <a:srgbClr val="4F5060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Relatório de Monitoramento Global da Educação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65860" y="3703320"/>
            <a:ext cx="4663440" cy="3566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“Uma em cada quatro escolas primárias do mundo não dispõe de eletricidade” (p. 126, tradução nossa). A tecnologia deve complementar, e não substituir, a interação com os professores.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6533007" y="2143887"/>
            <a:ext cx="5313426" cy="5368290"/>
            <a:chOff x="0" y="0"/>
            <a:chExt cx="7084568" cy="71577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84568" cy="7157720"/>
            </a:xfrm>
            <a:custGeom>
              <a:avLst/>
              <a:gdLst/>
              <a:ahLst/>
              <a:cxnLst/>
              <a:rect r="r" b="b" t="t" l="l"/>
              <a:pathLst>
                <a:path h="715772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7157720"/>
                  </a:lnTo>
                  <a:lnTo>
                    <a:pt x="0" y="71577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434614" y="2045494"/>
            <a:ext cx="5318188" cy="5373053"/>
            <a:chOff x="0" y="0"/>
            <a:chExt cx="7090918" cy="716407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090918" cy="7164070"/>
            </a:xfrm>
            <a:custGeom>
              <a:avLst/>
              <a:gdLst/>
              <a:ahLst/>
              <a:cxnLst/>
              <a:rect r="r" b="b" t="t" l="l"/>
              <a:pathLst>
                <a:path h="716407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7164070"/>
                  </a:lnTo>
                  <a:lnTo>
                    <a:pt x="0" y="71640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6789420" y="2253615"/>
            <a:ext cx="4663440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7462E3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OCDE (2015)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789420" y="2889885"/>
            <a:ext cx="466344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i="true">
                <a:solidFill>
                  <a:srgbClr val="4F5060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Students, Computers and Learning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789420" y="3703320"/>
            <a:ext cx="4663440" cy="3566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Mesmo onde os computadores são usados em sala, seu impacto sobre o desempenho é, “na melhor das hipóteses, misto” (p. 3, tradução nossa).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2156567" y="2143887"/>
            <a:ext cx="5313426" cy="5368290"/>
            <a:chOff x="0" y="0"/>
            <a:chExt cx="7084568" cy="71577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084568" cy="7157720"/>
            </a:xfrm>
            <a:custGeom>
              <a:avLst/>
              <a:gdLst/>
              <a:ahLst/>
              <a:cxnLst/>
              <a:rect r="r" b="b" t="t" l="l"/>
              <a:pathLst>
                <a:path h="715772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7157720"/>
                  </a:lnTo>
                  <a:lnTo>
                    <a:pt x="0" y="71577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2058174" y="2045494"/>
            <a:ext cx="5318188" cy="5373053"/>
            <a:chOff x="0" y="0"/>
            <a:chExt cx="7090918" cy="716407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090918" cy="7164070"/>
            </a:xfrm>
            <a:custGeom>
              <a:avLst/>
              <a:gdLst/>
              <a:ahLst/>
              <a:cxnLst/>
              <a:rect r="r" b="b" t="t" l="l"/>
              <a:pathLst>
                <a:path h="716407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7164070"/>
                  </a:lnTo>
                  <a:lnTo>
                    <a:pt x="0" y="71640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1" id="31"/>
          <p:cNvSpPr txBox="true"/>
          <p:nvPr/>
        </p:nvSpPr>
        <p:spPr>
          <a:xfrm rot="0">
            <a:off x="12412980" y="2253615"/>
            <a:ext cx="4663440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Banco Mundial (2020)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12980" y="2889885"/>
            <a:ext cx="466344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i="true">
                <a:solidFill>
                  <a:srgbClr val="4F5060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Reimagining Human Connections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412980" y="3703320"/>
            <a:ext cx="4663440" cy="3566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“Se a tecnologia é a resposta, qual é a pergunta?” Primeiro se define o problema educacional; depois se escolhe a tecnologia.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813435" y="7740015"/>
            <a:ext cx="16656558" cy="1527810"/>
            <a:chOff x="0" y="0"/>
            <a:chExt cx="22208744" cy="20370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2208744" cy="2037080"/>
            </a:xfrm>
            <a:custGeom>
              <a:avLst/>
              <a:gdLst/>
              <a:ahLst/>
              <a:cxnLst/>
              <a:rect r="r" b="b" t="t" l="l"/>
              <a:pathLst>
                <a:path h="203708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234440" y="7749540"/>
            <a:ext cx="15910560" cy="1508760"/>
            <a:chOff x="0" y="0"/>
            <a:chExt cx="21214080" cy="201168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12140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5478" r="0" b="-155478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2121408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90"/>
                </a:lnSpc>
              </a:pPr>
              <a:r>
                <a:rPr lang="en-US" sz="232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Ponto em comum: </a:t>
              </a:r>
              <a:r>
                <a:rPr lang="en-US" sz="23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tiram o foco da simples presença dos recursos e o colocam nas condições, nos usos e nas finalidades. Sem condições materiais, o uso não acontece.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 de influência; Ball (2004): performatividade.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184880" y="141722"/>
            <a:ext cx="1645920" cy="1738036"/>
            <a:chOff x="0" y="0"/>
            <a:chExt cx="2194560" cy="2317382"/>
          </a:xfrm>
        </p:grpSpPr>
        <p:sp>
          <p:nvSpPr>
            <p:cNvPr name="Freeform 4" id="4" descr="/home/claude/deck3/img/d_lapis.png"/>
            <p:cNvSpPr/>
            <p:nvPr/>
          </p:nvSpPr>
          <p:spPr>
            <a:xfrm flipH="false" flipV="false" rot="0">
              <a:off x="0" y="0"/>
              <a:ext cx="2194560" cy="2317369"/>
            </a:xfrm>
            <a:custGeom>
              <a:avLst/>
              <a:gdLst/>
              <a:ahLst/>
              <a:cxnLst/>
              <a:rect r="r" b="b" t="t" l="l"/>
              <a:pathLst>
                <a:path h="2317369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17369"/>
                  </a:lnTo>
                  <a:lnTo>
                    <a:pt x="0" y="23173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7" r="0" b="-8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Mapa das políticas de educação digital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06727"/>
            <a:ext cx="10306050" cy="6061034"/>
            <a:chOff x="0" y="0"/>
            <a:chExt cx="13741400" cy="808137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741400" cy="8081391"/>
            </a:xfrm>
            <a:custGeom>
              <a:avLst/>
              <a:gdLst/>
              <a:ahLst/>
              <a:cxnLst/>
              <a:rect r="r" b="b" t="t" l="l"/>
              <a:pathLst>
                <a:path h="8081391" w="13741400">
                  <a:moveTo>
                    <a:pt x="0" y="0"/>
                  </a:moveTo>
                  <a:lnTo>
                    <a:pt x="13741400" y="0"/>
                  </a:lnTo>
                  <a:lnTo>
                    <a:pt x="13741400" y="8081391"/>
                  </a:lnTo>
                  <a:lnTo>
                    <a:pt x="0" y="8081391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20240"/>
            <a:ext cx="10287000" cy="6041984"/>
            <a:chOff x="0" y="0"/>
            <a:chExt cx="13716000" cy="8055978"/>
          </a:xfrm>
        </p:grpSpPr>
        <p:sp>
          <p:nvSpPr>
            <p:cNvPr name="Freeform 16" id="16" descr="/home/claude/deck3/img/mapa_politicas.png"/>
            <p:cNvSpPr/>
            <p:nvPr/>
          </p:nvSpPr>
          <p:spPr>
            <a:xfrm flipH="false" flipV="false" rot="0">
              <a:off x="0" y="0"/>
              <a:ext cx="13716000" cy="8055991"/>
            </a:xfrm>
            <a:custGeom>
              <a:avLst/>
              <a:gdLst/>
              <a:ahLst/>
              <a:cxnLst/>
              <a:rect r="r" b="b" t="t" l="l"/>
              <a:pathLst>
                <a:path h="8055991" w="13716000">
                  <a:moveTo>
                    <a:pt x="0" y="0"/>
                  </a:moveTo>
                  <a:lnTo>
                    <a:pt x="13716000" y="0"/>
                  </a:lnTo>
                  <a:lnTo>
                    <a:pt x="13716000" y="8055991"/>
                  </a:lnTo>
                  <a:lnTo>
                    <a:pt x="0" y="8055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6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08334"/>
            <a:ext cx="10310812" cy="6065796"/>
            <a:chOff x="0" y="0"/>
            <a:chExt cx="13747750" cy="80877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747750" cy="8087741"/>
            </a:xfrm>
            <a:custGeom>
              <a:avLst/>
              <a:gdLst/>
              <a:ahLst/>
              <a:cxnLst/>
              <a:rect r="r" b="b" t="t" l="l"/>
              <a:pathLst>
                <a:path h="8087741" w="13747750">
                  <a:moveTo>
                    <a:pt x="0" y="0"/>
                  </a:moveTo>
                  <a:lnTo>
                    <a:pt x="13747750" y="0"/>
                  </a:lnTo>
                  <a:lnTo>
                    <a:pt x="13747750" y="8087741"/>
                  </a:lnTo>
                  <a:lnTo>
                    <a:pt x="0" y="808774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480" t="0" r="-25480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811054" y="8492014"/>
            <a:ext cx="325564" cy="325564"/>
            <a:chOff x="0" y="0"/>
            <a:chExt cx="434086" cy="43408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2A6B67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234440" y="8407908"/>
            <a:ext cx="2606040" cy="493776"/>
            <a:chOff x="0" y="0"/>
            <a:chExt cx="3474720" cy="65836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Governança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731294" y="8492014"/>
            <a:ext cx="325564" cy="325564"/>
            <a:chOff x="0" y="0"/>
            <a:chExt cx="434086" cy="43408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C9892B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3154680" y="8407908"/>
            <a:ext cx="2606040" cy="493776"/>
            <a:chOff x="0" y="0"/>
            <a:chExt cx="3474720" cy="65836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Formação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4651534" y="8492014"/>
            <a:ext cx="325564" cy="325564"/>
            <a:chOff x="0" y="0"/>
            <a:chExt cx="434086" cy="43408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4F7CAC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5074920" y="8407908"/>
            <a:ext cx="2606040" cy="493776"/>
            <a:chOff x="0" y="0"/>
            <a:chExt cx="3474720" cy="65836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Infraestrutura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571774" y="8492014"/>
            <a:ext cx="325564" cy="325564"/>
            <a:chOff x="0" y="0"/>
            <a:chExt cx="434086" cy="43408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8A5A9E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6995160" y="8407908"/>
            <a:ext cx="2606040" cy="493776"/>
            <a:chOff x="0" y="0"/>
            <a:chExt cx="3474720" cy="65836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Continuidade institucional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8601742" y="8478298"/>
            <a:ext cx="325564" cy="325564"/>
            <a:chOff x="0" y="0"/>
            <a:chExt cx="434086" cy="43408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D9652E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9121140" y="8437712"/>
            <a:ext cx="2606040" cy="493776"/>
            <a:chOff x="0" y="0"/>
            <a:chExt cx="3474720" cy="658368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Cultura digital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822960" y="8983980"/>
            <a:ext cx="104241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 cor indica a categoria que cada experiência mais informa, segundo a leitura do Capítulo 5.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1539347" y="2006727"/>
            <a:ext cx="5930646" cy="7494270"/>
            <a:chOff x="0" y="0"/>
            <a:chExt cx="7907528" cy="999236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907528" cy="9992360"/>
            </a:xfrm>
            <a:custGeom>
              <a:avLst/>
              <a:gdLst/>
              <a:ahLst/>
              <a:cxnLst/>
              <a:rect r="r" b="b" t="t" l="l"/>
              <a:pathLst>
                <a:path h="9992360" w="7907528">
                  <a:moveTo>
                    <a:pt x="0" y="0"/>
                  </a:moveTo>
                  <a:lnTo>
                    <a:pt x="7907528" y="0"/>
                  </a:lnTo>
                  <a:lnTo>
                    <a:pt x="7907528" y="9992360"/>
                  </a:lnTo>
                  <a:lnTo>
                    <a:pt x="0" y="9992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1440954" y="1908334"/>
            <a:ext cx="5935408" cy="7499032"/>
            <a:chOff x="0" y="0"/>
            <a:chExt cx="7913878" cy="999871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913878" cy="9998710"/>
            </a:xfrm>
            <a:custGeom>
              <a:avLst/>
              <a:gdLst/>
              <a:ahLst/>
              <a:cxnLst/>
              <a:rect r="r" b="b" t="t" l="l"/>
              <a:pathLst>
                <a:path h="9998710" w="7913878">
                  <a:moveTo>
                    <a:pt x="0" y="0"/>
                  </a:moveTo>
                  <a:lnTo>
                    <a:pt x="7913878" y="0"/>
                  </a:lnTo>
                  <a:lnTo>
                    <a:pt x="7913878" y="9998710"/>
                  </a:lnTo>
                  <a:lnTo>
                    <a:pt x="0" y="99987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11658600" y="2025777"/>
            <a:ext cx="534924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1649075" y="2431923"/>
            <a:ext cx="265938" cy="265938"/>
            <a:chOff x="0" y="0"/>
            <a:chExt cx="354584" cy="35458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1987784" y="2400300"/>
            <a:ext cx="5321808" cy="312725"/>
            <a:chOff x="0" y="0"/>
            <a:chExt cx="7095744" cy="41696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EUA · National Educational Technology Plan (2024)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1649075" y="2744648"/>
            <a:ext cx="265938" cy="265938"/>
            <a:chOff x="0" y="0"/>
            <a:chExt cx="354584" cy="35458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D9652E"/>
            </a:solidFill>
            <a:ln w="19050" cap="sq">
              <a:solidFill>
                <a:srgbClr val="D9652E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1987784" y="2713025"/>
            <a:ext cx="5321808" cy="312725"/>
            <a:chOff x="0" y="0"/>
            <a:chExt cx="7095744" cy="41696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2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Canadá · Digital Literacy Framework (BC)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1649075" y="3057373"/>
            <a:ext cx="265938" cy="265938"/>
            <a:chOff x="0" y="0"/>
            <a:chExt cx="354584" cy="35458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987784" y="3025750"/>
            <a:ext cx="5321808" cy="312725"/>
            <a:chOff x="0" y="0"/>
            <a:chExt cx="7095744" cy="41696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México · @prende 2.0 e programas anteriores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1649075" y="3370097"/>
            <a:ext cx="265938" cy="265938"/>
            <a:chOff x="0" y="0"/>
            <a:chExt cx="354584" cy="354584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987784" y="3338474"/>
            <a:ext cx="5321808" cy="312725"/>
            <a:chOff x="0" y="0"/>
            <a:chExt cx="7095744" cy="41696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4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Costa Rica · Programa Nacional de Informática Educativa (1988)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649075" y="3682822"/>
            <a:ext cx="265938" cy="265938"/>
            <a:chOff x="0" y="0"/>
            <a:chExt cx="354584" cy="35458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11987784" y="3651199"/>
            <a:ext cx="5321808" cy="312725"/>
            <a:chOff x="0" y="0"/>
            <a:chExt cx="7095744" cy="416966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5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Colômbia · Computadores para Educar (2000)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1649075" y="3995547"/>
            <a:ext cx="265938" cy="265938"/>
            <a:chOff x="0" y="0"/>
            <a:chExt cx="354584" cy="354584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11987784" y="3963924"/>
            <a:ext cx="5321808" cy="312725"/>
            <a:chOff x="0" y="0"/>
            <a:chExt cx="7095744" cy="41696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6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Peru · Una Laptop por Niño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1649075" y="4308272"/>
            <a:ext cx="265938" cy="265938"/>
            <a:chOff x="0" y="0"/>
            <a:chExt cx="354584" cy="354584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1987784" y="4276649"/>
            <a:ext cx="5321808" cy="312725"/>
            <a:chOff x="0" y="0"/>
            <a:chExt cx="7095744" cy="416966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Chile · Red Enlaces (1992)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1649075" y="4620997"/>
            <a:ext cx="265938" cy="265938"/>
            <a:chOff x="0" y="0"/>
            <a:chExt cx="354584" cy="354584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11987784" y="4589374"/>
            <a:ext cx="5321808" cy="312725"/>
            <a:chOff x="0" y="0"/>
            <a:chExt cx="7095744" cy="416966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8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Argentina · Conectar Igualdad (2010)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1649075" y="4933721"/>
            <a:ext cx="265938" cy="265938"/>
            <a:chOff x="0" y="0"/>
            <a:chExt cx="354584" cy="35458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92" id="92"/>
          <p:cNvGrpSpPr/>
          <p:nvPr/>
        </p:nvGrpSpPr>
        <p:grpSpPr>
          <a:xfrm rot="0">
            <a:off x="11987784" y="4902098"/>
            <a:ext cx="5321808" cy="312725"/>
            <a:chOff x="0" y="0"/>
            <a:chExt cx="7095744" cy="416966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9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Uruguai · Plan Ceibal (2007)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1649075" y="5246446"/>
            <a:ext cx="265938" cy="265938"/>
            <a:chOff x="0" y="0"/>
            <a:chExt cx="354584" cy="35458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7" id="97"/>
          <p:cNvGrpSpPr/>
          <p:nvPr/>
        </p:nvGrpSpPr>
        <p:grpSpPr>
          <a:xfrm rot="0">
            <a:off x="11987784" y="5214823"/>
            <a:ext cx="5321808" cy="312725"/>
            <a:chOff x="0" y="0"/>
            <a:chExt cx="7095744" cy="416966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★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Brasil · PNED (Lei nº 14.533/2023)</a:t>
              </a:r>
            </a:p>
          </p:txBody>
        </p:sp>
      </p:grpSp>
      <p:sp>
        <p:nvSpPr>
          <p:cNvPr name="TextBox 100" id="100"/>
          <p:cNvSpPr txBox="true"/>
          <p:nvPr/>
        </p:nvSpPr>
        <p:spPr>
          <a:xfrm rot="0">
            <a:off x="11658600" y="5564505"/>
            <a:ext cx="534924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11649075" y="5970651"/>
            <a:ext cx="265938" cy="265938"/>
            <a:chOff x="0" y="0"/>
            <a:chExt cx="354584" cy="35458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03" id="103"/>
          <p:cNvGrpSpPr/>
          <p:nvPr/>
        </p:nvGrpSpPr>
        <p:grpSpPr>
          <a:xfrm rot="0">
            <a:off x="11987784" y="5939028"/>
            <a:ext cx="5321808" cy="312725"/>
            <a:chOff x="0" y="0"/>
            <a:chExt cx="7095744" cy="416966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10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União Europeia · DigComp, DigCompEdu, Plano de Ação, BIK+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11649075" y="6283376"/>
            <a:ext cx="265938" cy="265938"/>
            <a:chOff x="0" y="0"/>
            <a:chExt cx="354584" cy="354584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108" id="108"/>
          <p:cNvGrpSpPr/>
          <p:nvPr/>
        </p:nvGrpSpPr>
        <p:grpSpPr>
          <a:xfrm rot="0">
            <a:off x="11987784" y="6251753"/>
            <a:ext cx="5321808" cy="312725"/>
            <a:chOff x="0" y="0"/>
            <a:chExt cx="7095744" cy="416966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11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Portugal · PTE e INCoDe.2030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1649075" y="6596101"/>
            <a:ext cx="265938" cy="265938"/>
            <a:chOff x="0" y="0"/>
            <a:chExt cx="354584" cy="354584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113" id="113"/>
          <p:cNvGrpSpPr/>
          <p:nvPr/>
        </p:nvGrpSpPr>
        <p:grpSpPr>
          <a:xfrm rot="0">
            <a:off x="11987784" y="6564478"/>
            <a:ext cx="5321808" cy="312725"/>
            <a:chOff x="0" y="0"/>
            <a:chExt cx="7095744" cy="416966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12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Espanha · Competência Digital Docente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11649075" y="6908825"/>
            <a:ext cx="265938" cy="265938"/>
            <a:chOff x="0" y="0"/>
            <a:chExt cx="354584" cy="35458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118" id="118"/>
          <p:cNvGrpSpPr/>
          <p:nvPr/>
        </p:nvGrpSpPr>
        <p:grpSpPr>
          <a:xfrm rot="0">
            <a:off x="11987784" y="6877202"/>
            <a:ext cx="5321808" cy="312725"/>
            <a:chOff x="0" y="0"/>
            <a:chExt cx="7095744" cy="41696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13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Irlanda · Digital Strategy for Schools to 2027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11649075" y="7221550"/>
            <a:ext cx="265938" cy="265938"/>
            <a:chOff x="0" y="0"/>
            <a:chExt cx="354584" cy="354584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23" id="123"/>
          <p:cNvGrpSpPr/>
          <p:nvPr/>
        </p:nvGrpSpPr>
        <p:grpSpPr>
          <a:xfrm rot="0">
            <a:off x="11987784" y="7189927"/>
            <a:ext cx="5321808" cy="312725"/>
            <a:chOff x="0" y="0"/>
            <a:chExt cx="7095744" cy="416966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14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Reino Unido · Realising the potential of technology (2019)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11649075" y="7534275"/>
            <a:ext cx="265938" cy="265938"/>
            <a:chOff x="0" y="0"/>
            <a:chExt cx="354584" cy="354584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D9652E"/>
            </a:solidFill>
            <a:ln w="19050" cap="sq">
              <a:solidFill>
                <a:srgbClr val="D9652E"/>
              </a:solidFill>
              <a:prstDash val="solid"/>
              <a:miter/>
            </a:ln>
          </p:spPr>
        </p:sp>
      </p:grpSp>
      <p:grpSp>
        <p:nvGrpSpPr>
          <p:cNvPr name="Group 128" id="128"/>
          <p:cNvGrpSpPr/>
          <p:nvPr/>
        </p:nvGrpSpPr>
        <p:grpSpPr>
          <a:xfrm rot="0">
            <a:off x="11987784" y="7502652"/>
            <a:ext cx="5321808" cy="312725"/>
            <a:chOff x="0" y="0"/>
            <a:chExt cx="7095744" cy="416966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15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França · Stratégie du numérique 2023-2027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1649075" y="7847000"/>
            <a:ext cx="265938" cy="265938"/>
            <a:chOff x="0" y="0"/>
            <a:chExt cx="354584" cy="35458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987784" y="7815377"/>
            <a:ext cx="5321808" cy="312725"/>
            <a:chOff x="0" y="0"/>
            <a:chExt cx="7095744" cy="416966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16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Países Baixos · digitalização educacional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649075" y="8159725"/>
            <a:ext cx="265938" cy="265938"/>
            <a:chOff x="0" y="0"/>
            <a:chExt cx="354584" cy="354584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38" id="138"/>
          <p:cNvGrpSpPr/>
          <p:nvPr/>
        </p:nvGrpSpPr>
        <p:grpSpPr>
          <a:xfrm rot="0">
            <a:off x="11987784" y="8128102"/>
            <a:ext cx="5321808" cy="312725"/>
            <a:chOff x="0" y="0"/>
            <a:chExt cx="7095744" cy="41696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Alemanha · DigitalPakt Schule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1649075" y="8472449"/>
            <a:ext cx="265938" cy="265938"/>
            <a:chOff x="0" y="0"/>
            <a:chExt cx="354584" cy="354584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143" id="143"/>
          <p:cNvGrpSpPr/>
          <p:nvPr/>
        </p:nvGrpSpPr>
        <p:grpSpPr>
          <a:xfrm rot="0">
            <a:off x="11987784" y="8440826"/>
            <a:ext cx="5321808" cy="312725"/>
            <a:chOff x="0" y="0"/>
            <a:chExt cx="7095744" cy="416966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18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Itália · Piano Nazionale Scuola Digitale</a:t>
              </a: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11649075" y="8785174"/>
            <a:ext cx="265938" cy="265938"/>
            <a:chOff x="0" y="0"/>
            <a:chExt cx="354584" cy="35458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48" id="148"/>
          <p:cNvGrpSpPr/>
          <p:nvPr/>
        </p:nvGrpSpPr>
        <p:grpSpPr>
          <a:xfrm rot="0">
            <a:off x="11987784" y="8753551"/>
            <a:ext cx="5321808" cy="312725"/>
            <a:chOff x="0" y="0"/>
            <a:chExt cx="7095744" cy="416966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19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Finlândia · Currículo Nacional (2014)</a:t>
              </a:r>
            </a:p>
          </p:txBody>
        </p:sp>
      </p:grpSp>
      <p:sp>
        <p:nvSpPr>
          <p:cNvPr name="TextBox 151" id="15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 de influência.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elaborado a partir dos Quadros do Capítulo 5; base cartográfica Natural Earth.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6596572" y="534024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essas experiências trazem para a tese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822960" y="1833753"/>
            <a:ext cx="2660904" cy="45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Categoria sensibilizadora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593592" y="1833753"/>
            <a:ext cx="4896612" cy="45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as experiências mostram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599932" y="1833753"/>
            <a:ext cx="4485132" cy="45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isso traz para a tese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194792" y="1833753"/>
            <a:ext cx="4265676" cy="45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entra no campo, em Pipa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811054" y="2388394"/>
            <a:ext cx="2684716" cy="1175956"/>
            <a:chOff x="0" y="0"/>
            <a:chExt cx="3579622" cy="156794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579622" cy="1567942"/>
            </a:xfrm>
            <a:custGeom>
              <a:avLst/>
              <a:gdLst/>
              <a:ahLst/>
              <a:cxnLst/>
              <a:rect r="r" b="b" t="t" l="l"/>
              <a:pathLst>
                <a:path h="1567942" w="3579622">
                  <a:moveTo>
                    <a:pt x="0" y="0"/>
                  </a:moveTo>
                  <a:lnTo>
                    <a:pt x="3579622" y="0"/>
                  </a:lnTo>
                  <a:lnTo>
                    <a:pt x="3579622" y="1567942"/>
                  </a:lnTo>
                  <a:lnTo>
                    <a:pt x="0" y="1567942"/>
                  </a:lnTo>
                  <a:close/>
                </a:path>
              </a:pathLst>
            </a:custGeom>
            <a:solidFill>
              <a:srgbClr val="2A6B67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960120" y="2400300"/>
            <a:ext cx="2386584" cy="1152144"/>
            <a:chOff x="0" y="0"/>
            <a:chExt cx="3182112" cy="1536192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182112" cy="1536192"/>
            </a:xfrm>
            <a:custGeom>
              <a:avLst/>
              <a:gdLst/>
              <a:ahLst/>
              <a:cxnLst/>
              <a:rect r="r" b="b" t="t" l="l"/>
              <a:pathLst>
                <a:path h="1536192" w="3182112">
                  <a:moveTo>
                    <a:pt x="0" y="0"/>
                  </a:moveTo>
                  <a:lnTo>
                    <a:pt x="3182112" y="0"/>
                  </a:lnTo>
                  <a:lnTo>
                    <a:pt x="3182112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39" t="0" r="-11939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3182112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Governança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3584067" y="2390775"/>
            <a:ext cx="4915662" cy="1171194"/>
            <a:chOff x="0" y="0"/>
            <a:chExt cx="6554216" cy="156159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554216" cy="1561592"/>
            </a:xfrm>
            <a:custGeom>
              <a:avLst/>
              <a:gdLst/>
              <a:ahLst/>
              <a:cxnLst/>
              <a:rect r="r" b="b" t="t" l="l"/>
              <a:pathLst>
                <a:path h="1561592" w="6554216">
                  <a:moveTo>
                    <a:pt x="0" y="0"/>
                  </a:moveTo>
                  <a:lnTo>
                    <a:pt x="6554216" y="0"/>
                  </a:lnTo>
                  <a:lnTo>
                    <a:pt x="6554216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3758184" y="2400300"/>
            <a:ext cx="4567428" cy="1152144"/>
            <a:chOff x="0" y="0"/>
            <a:chExt cx="6089904" cy="153619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089904" cy="1536192"/>
            </a:xfrm>
            <a:custGeom>
              <a:avLst/>
              <a:gdLst/>
              <a:ahLst/>
              <a:cxnLst/>
              <a:rect r="r" b="b" t="t" l="l"/>
              <a:pathLst>
                <a:path h="1536192" w="6089904">
                  <a:moveTo>
                    <a:pt x="0" y="0"/>
                  </a:moveTo>
                  <a:lnTo>
                    <a:pt x="6089904" y="0"/>
                  </a:lnTo>
                  <a:lnTo>
                    <a:pt x="6089904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44" r="0" b="-27244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6089904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Coordenar escalas faz parte da política: Alemanha, Finlândia, Reino Unido e UE; descentralização nos EUA e no Canadá.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8590407" y="2390775"/>
            <a:ext cx="4504182" cy="1171194"/>
            <a:chOff x="0" y="0"/>
            <a:chExt cx="6005576" cy="156159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005576" cy="1561592"/>
            </a:xfrm>
            <a:custGeom>
              <a:avLst/>
              <a:gdLst/>
              <a:ahLst/>
              <a:cxnLst/>
              <a:rect r="r" b="b" t="t" l="l"/>
              <a:pathLst>
                <a:path h="1561592" w="6005576">
                  <a:moveTo>
                    <a:pt x="0" y="0"/>
                  </a:moveTo>
                  <a:lnTo>
                    <a:pt x="6005576" y="0"/>
                  </a:lnTo>
                  <a:lnTo>
                    <a:pt x="6005576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8764524" y="2400300"/>
            <a:ext cx="4155948" cy="1152144"/>
            <a:chOff x="0" y="0"/>
            <a:chExt cx="5541264" cy="153619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541264" cy="1536192"/>
            </a:xfrm>
            <a:custGeom>
              <a:avLst/>
              <a:gdLst/>
              <a:ahLst/>
              <a:cxnLst/>
              <a:rect r="r" b="b" t="t" l="l"/>
              <a:pathLst>
                <a:path h="1536192" w="5541264">
                  <a:moveTo>
                    <a:pt x="0" y="0"/>
                  </a:moveTo>
                  <a:lnTo>
                    <a:pt x="5541264" y="0"/>
                  </a:lnTo>
                  <a:lnTo>
                    <a:pt x="5541264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285" r="0" b="-20285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0"/>
              <a:ext cx="5541264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Abre a análise da articulação entre União, estado e município.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3185267" y="2390775"/>
            <a:ext cx="4284726" cy="1171194"/>
            <a:chOff x="0" y="0"/>
            <a:chExt cx="5712968" cy="156159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712968" cy="1561592"/>
            </a:xfrm>
            <a:custGeom>
              <a:avLst/>
              <a:gdLst/>
              <a:ahLst/>
              <a:cxnLst/>
              <a:rect r="r" b="b" t="t" l="l"/>
              <a:pathLst>
                <a:path h="1561592" w="5712968">
                  <a:moveTo>
                    <a:pt x="0" y="0"/>
                  </a:moveTo>
                  <a:lnTo>
                    <a:pt x="5712968" y="0"/>
                  </a:lnTo>
                  <a:lnTo>
                    <a:pt x="5712968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13359384" y="2400300"/>
            <a:ext cx="3936492" cy="1152144"/>
            <a:chOff x="0" y="0"/>
            <a:chExt cx="5248656" cy="153619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248656" cy="1536192"/>
            </a:xfrm>
            <a:custGeom>
              <a:avLst/>
              <a:gdLst/>
              <a:ahLst/>
              <a:cxnLst/>
              <a:rect r="r" b="b" t="t" l="l"/>
              <a:pathLst>
                <a:path h="1536192" w="5248656">
                  <a:moveTo>
                    <a:pt x="0" y="0"/>
                  </a:moveTo>
                  <a:lnTo>
                    <a:pt x="5248656" y="0"/>
                  </a:lnTo>
                  <a:lnTo>
                    <a:pt x="5248656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573" r="0" b="-16573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5248656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Documentos · </a:t>
              </a:r>
              <a:r>
                <a:rPr lang="en-US" sz="1575" i="true">
                  <a:solidFill>
                    <a:srgbClr val="1A1A1A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O que chega da União e do estado à rede e o que a Secretaria repassa à escola?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811054" y="3663982"/>
            <a:ext cx="2684716" cy="1175956"/>
            <a:chOff x="0" y="0"/>
            <a:chExt cx="3579622" cy="156794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579622" cy="1567942"/>
            </a:xfrm>
            <a:custGeom>
              <a:avLst/>
              <a:gdLst/>
              <a:ahLst/>
              <a:cxnLst/>
              <a:rect r="r" b="b" t="t" l="l"/>
              <a:pathLst>
                <a:path h="1567942" w="3579622">
                  <a:moveTo>
                    <a:pt x="0" y="0"/>
                  </a:moveTo>
                  <a:lnTo>
                    <a:pt x="3579622" y="0"/>
                  </a:lnTo>
                  <a:lnTo>
                    <a:pt x="3579622" y="1567942"/>
                  </a:lnTo>
                  <a:lnTo>
                    <a:pt x="0" y="1567942"/>
                  </a:lnTo>
                  <a:close/>
                </a:path>
              </a:pathLst>
            </a:custGeom>
            <a:solidFill>
              <a:srgbClr val="C9892B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960120" y="3675888"/>
            <a:ext cx="2386584" cy="1152144"/>
            <a:chOff x="0" y="0"/>
            <a:chExt cx="3182112" cy="153619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182112" cy="1536192"/>
            </a:xfrm>
            <a:custGeom>
              <a:avLst/>
              <a:gdLst/>
              <a:ahLst/>
              <a:cxnLst/>
              <a:rect r="r" b="b" t="t" l="l"/>
              <a:pathLst>
                <a:path h="1536192" w="3182112">
                  <a:moveTo>
                    <a:pt x="0" y="0"/>
                  </a:moveTo>
                  <a:lnTo>
                    <a:pt x="3182112" y="0"/>
                  </a:lnTo>
                  <a:lnTo>
                    <a:pt x="3182112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39" t="0" r="-11939" b="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0"/>
              <a:ext cx="3182112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Formação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3584067" y="3666363"/>
            <a:ext cx="4915662" cy="1171194"/>
            <a:chOff x="0" y="0"/>
            <a:chExt cx="6554216" cy="1561592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6554216" cy="1561592"/>
            </a:xfrm>
            <a:custGeom>
              <a:avLst/>
              <a:gdLst/>
              <a:ahLst/>
              <a:cxnLst/>
              <a:rect r="r" b="b" t="t" l="l"/>
              <a:pathLst>
                <a:path h="1561592" w="6554216">
                  <a:moveTo>
                    <a:pt x="0" y="0"/>
                  </a:moveTo>
                  <a:lnTo>
                    <a:pt x="6554216" y="0"/>
                  </a:lnTo>
                  <a:lnTo>
                    <a:pt x="6554216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3758184" y="3675888"/>
            <a:ext cx="4567428" cy="1152144"/>
            <a:chOff x="0" y="0"/>
            <a:chExt cx="6089904" cy="153619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89904" cy="1536192"/>
            </a:xfrm>
            <a:custGeom>
              <a:avLst/>
              <a:gdLst/>
              <a:ahLst/>
              <a:cxnLst/>
              <a:rect r="r" b="b" t="t" l="l"/>
              <a:pathLst>
                <a:path h="1536192" w="6089904">
                  <a:moveTo>
                    <a:pt x="0" y="0"/>
                  </a:moveTo>
                  <a:lnTo>
                    <a:pt x="6089904" y="0"/>
                  </a:lnTo>
                  <a:lnTo>
                    <a:pt x="6089904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44" r="0" b="-2724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6089904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mediação dos profissionais é condição do uso; tempo e apoio contam (Espanha, Irlanda, EUA).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8590407" y="3666363"/>
            <a:ext cx="4504182" cy="1171194"/>
            <a:chOff x="0" y="0"/>
            <a:chExt cx="6005576" cy="156159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005576" cy="1561592"/>
            </a:xfrm>
            <a:custGeom>
              <a:avLst/>
              <a:gdLst/>
              <a:ahLst/>
              <a:cxnLst/>
              <a:rect r="r" b="b" t="t" l="l"/>
              <a:pathLst>
                <a:path h="1561592" w="6005576">
                  <a:moveTo>
                    <a:pt x="0" y="0"/>
                  </a:moveTo>
                  <a:lnTo>
                    <a:pt x="6005576" y="0"/>
                  </a:lnTo>
                  <a:lnTo>
                    <a:pt x="6005576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8764524" y="3675888"/>
            <a:ext cx="4155948" cy="1152144"/>
            <a:chOff x="0" y="0"/>
            <a:chExt cx="5541264" cy="153619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5541264" cy="1536192"/>
            </a:xfrm>
            <a:custGeom>
              <a:avLst/>
              <a:gdLst/>
              <a:ahLst/>
              <a:cxnLst/>
              <a:rect r="r" b="b" t="t" l="l"/>
              <a:pathLst>
                <a:path h="1536192" w="5541264">
                  <a:moveTo>
                    <a:pt x="0" y="0"/>
                  </a:moveTo>
                  <a:lnTo>
                    <a:pt x="5541264" y="0"/>
                  </a:lnTo>
                  <a:lnTo>
                    <a:pt x="5541264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285" r="0" b="-20285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5541264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Fundamenta a análise das condições de formação oferecidas às profissionais, sem avaliar o que elas sabem.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3185267" y="3666363"/>
            <a:ext cx="4284726" cy="1171194"/>
            <a:chOff x="0" y="0"/>
            <a:chExt cx="5712968" cy="1561592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712968" cy="1561592"/>
            </a:xfrm>
            <a:custGeom>
              <a:avLst/>
              <a:gdLst/>
              <a:ahLst/>
              <a:cxnLst/>
              <a:rect r="r" b="b" t="t" l="l"/>
              <a:pathLst>
                <a:path h="1561592" w="5712968">
                  <a:moveTo>
                    <a:pt x="0" y="0"/>
                  </a:moveTo>
                  <a:lnTo>
                    <a:pt x="5712968" y="0"/>
                  </a:lnTo>
                  <a:lnTo>
                    <a:pt x="5712968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3359384" y="3675888"/>
            <a:ext cx="3936492" cy="1152144"/>
            <a:chOff x="0" y="0"/>
            <a:chExt cx="5248656" cy="1536192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248656" cy="1536192"/>
            </a:xfrm>
            <a:custGeom>
              <a:avLst/>
              <a:gdLst/>
              <a:ahLst/>
              <a:cxnLst/>
              <a:rect r="r" b="b" t="t" l="l"/>
              <a:pathLst>
                <a:path h="1536192" w="5248656">
                  <a:moveTo>
                    <a:pt x="0" y="0"/>
                  </a:moveTo>
                  <a:lnTo>
                    <a:pt x="5248656" y="0"/>
                  </a:lnTo>
                  <a:lnTo>
                    <a:pt x="5248656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573" r="0" b="-16573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0"/>
              <a:ext cx="5248656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Questionário e entrevistas · </a:t>
              </a:r>
              <a:r>
                <a:rPr lang="en-US" sz="1575" i="true">
                  <a:solidFill>
                    <a:srgbClr val="1A1A1A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Que formação chegou à escola?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811054" y="4939570"/>
            <a:ext cx="2684716" cy="1175956"/>
            <a:chOff x="0" y="0"/>
            <a:chExt cx="3579622" cy="1567942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3579622" cy="1567942"/>
            </a:xfrm>
            <a:custGeom>
              <a:avLst/>
              <a:gdLst/>
              <a:ahLst/>
              <a:cxnLst/>
              <a:rect r="r" b="b" t="t" l="l"/>
              <a:pathLst>
                <a:path h="1567942" w="3579622">
                  <a:moveTo>
                    <a:pt x="0" y="0"/>
                  </a:moveTo>
                  <a:lnTo>
                    <a:pt x="3579622" y="0"/>
                  </a:lnTo>
                  <a:lnTo>
                    <a:pt x="3579622" y="1567942"/>
                  </a:lnTo>
                  <a:lnTo>
                    <a:pt x="0" y="1567942"/>
                  </a:lnTo>
                  <a:close/>
                </a:path>
              </a:pathLst>
            </a:custGeom>
            <a:solidFill>
              <a:srgbClr val="4F7CAC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960120" y="4951476"/>
            <a:ext cx="2386584" cy="1152144"/>
            <a:chOff x="0" y="0"/>
            <a:chExt cx="3182112" cy="1536192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3182112" cy="1536192"/>
            </a:xfrm>
            <a:custGeom>
              <a:avLst/>
              <a:gdLst/>
              <a:ahLst/>
              <a:cxnLst/>
              <a:rect r="r" b="b" t="t" l="l"/>
              <a:pathLst>
                <a:path h="1536192" w="3182112">
                  <a:moveTo>
                    <a:pt x="0" y="0"/>
                  </a:moveTo>
                  <a:lnTo>
                    <a:pt x="3182112" y="0"/>
                  </a:lnTo>
                  <a:lnTo>
                    <a:pt x="3182112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39" t="0" r="-11939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0"/>
              <a:ext cx="3182112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Infraestrutura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3584067" y="4941951"/>
            <a:ext cx="4915662" cy="1171194"/>
            <a:chOff x="0" y="0"/>
            <a:chExt cx="6554216" cy="1561592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6554216" cy="1561592"/>
            </a:xfrm>
            <a:custGeom>
              <a:avLst/>
              <a:gdLst/>
              <a:ahLst/>
              <a:cxnLst/>
              <a:rect r="r" b="b" t="t" l="l"/>
              <a:pathLst>
                <a:path h="1561592" w="6554216">
                  <a:moveTo>
                    <a:pt x="0" y="0"/>
                  </a:moveTo>
                  <a:lnTo>
                    <a:pt x="6554216" y="0"/>
                  </a:lnTo>
                  <a:lnTo>
                    <a:pt x="6554216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4" id="64"/>
          <p:cNvGrpSpPr/>
          <p:nvPr/>
        </p:nvGrpSpPr>
        <p:grpSpPr>
          <a:xfrm rot="0">
            <a:off x="3758184" y="4951476"/>
            <a:ext cx="4567428" cy="1152144"/>
            <a:chOff x="0" y="0"/>
            <a:chExt cx="6089904" cy="1536192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089904" cy="1536192"/>
            </a:xfrm>
            <a:custGeom>
              <a:avLst/>
              <a:gdLst/>
              <a:ahLst/>
              <a:cxnLst/>
              <a:rect r="r" b="b" t="t" l="l"/>
              <a:pathLst>
                <a:path h="1536192" w="6089904">
                  <a:moveTo>
                    <a:pt x="0" y="0"/>
                  </a:moveTo>
                  <a:lnTo>
                    <a:pt x="6089904" y="0"/>
                  </a:lnTo>
                  <a:lnTo>
                    <a:pt x="6089904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44" r="0" b="-2724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0"/>
              <a:ext cx="6089904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Condição relevante, mas insuficiente: equalizar equipamentos não equalizou usos (Itália, Países Baixos); laptops não resolveram a conexão rural (Peru, Colômbia).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8590407" y="4941951"/>
            <a:ext cx="4504182" cy="1171194"/>
            <a:chOff x="0" y="0"/>
            <a:chExt cx="6005576" cy="156159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6005576" cy="1561592"/>
            </a:xfrm>
            <a:custGeom>
              <a:avLst/>
              <a:gdLst/>
              <a:ahLst/>
              <a:cxnLst/>
              <a:rect r="r" b="b" t="t" l="l"/>
              <a:pathLst>
                <a:path h="1561592" w="6005576">
                  <a:moveTo>
                    <a:pt x="0" y="0"/>
                  </a:moveTo>
                  <a:lnTo>
                    <a:pt x="6005576" y="0"/>
                  </a:lnTo>
                  <a:lnTo>
                    <a:pt x="6005576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9" id="69"/>
          <p:cNvGrpSpPr/>
          <p:nvPr/>
        </p:nvGrpSpPr>
        <p:grpSpPr>
          <a:xfrm rot="0">
            <a:off x="8764524" y="4951476"/>
            <a:ext cx="4155948" cy="1152144"/>
            <a:chOff x="0" y="0"/>
            <a:chExt cx="5541264" cy="1536192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5541264" cy="1536192"/>
            </a:xfrm>
            <a:custGeom>
              <a:avLst/>
              <a:gdLst/>
              <a:ahLst/>
              <a:cxnLst/>
              <a:rect r="r" b="b" t="t" l="l"/>
              <a:pathLst>
                <a:path h="1536192" w="5541264">
                  <a:moveTo>
                    <a:pt x="0" y="0"/>
                  </a:moveTo>
                  <a:lnTo>
                    <a:pt x="5541264" y="0"/>
                  </a:lnTo>
                  <a:lnTo>
                    <a:pt x="5541264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285" r="0" b="-20285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0"/>
              <a:ext cx="5541264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Orienta a leitura das condições materiais da escola junto com o que o uso exige de quem trabalha.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3185267" y="4941951"/>
            <a:ext cx="4284726" cy="1171194"/>
            <a:chOff x="0" y="0"/>
            <a:chExt cx="5712968" cy="1561592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5712968" cy="1561592"/>
            </a:xfrm>
            <a:custGeom>
              <a:avLst/>
              <a:gdLst/>
              <a:ahLst/>
              <a:cxnLst/>
              <a:rect r="r" b="b" t="t" l="l"/>
              <a:pathLst>
                <a:path h="1561592" w="5712968">
                  <a:moveTo>
                    <a:pt x="0" y="0"/>
                  </a:moveTo>
                  <a:lnTo>
                    <a:pt x="5712968" y="0"/>
                  </a:lnTo>
                  <a:lnTo>
                    <a:pt x="5712968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13359384" y="4951476"/>
            <a:ext cx="3936492" cy="1152144"/>
            <a:chOff x="0" y="0"/>
            <a:chExt cx="5248656" cy="153619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5248656" cy="1536192"/>
            </a:xfrm>
            <a:custGeom>
              <a:avLst/>
              <a:gdLst/>
              <a:ahLst/>
              <a:cxnLst/>
              <a:rect r="r" b="b" t="t" l="l"/>
              <a:pathLst>
                <a:path h="1536192" w="5248656">
                  <a:moveTo>
                    <a:pt x="0" y="0"/>
                  </a:moveTo>
                  <a:lnTo>
                    <a:pt x="5248656" y="0"/>
                  </a:lnTo>
                  <a:lnTo>
                    <a:pt x="5248656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573" r="0" b="-16573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0"/>
              <a:ext cx="5248656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Registro iconográfico · </a:t>
              </a:r>
              <a:r>
                <a:rPr lang="en-US" sz="1575" i="true">
                  <a:solidFill>
                    <a:srgbClr val="1A1A1A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Com que equipamentos se trabalha?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811054" y="6215158"/>
            <a:ext cx="2684716" cy="1175956"/>
            <a:chOff x="0" y="0"/>
            <a:chExt cx="3579622" cy="156794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3579622" cy="1567942"/>
            </a:xfrm>
            <a:custGeom>
              <a:avLst/>
              <a:gdLst/>
              <a:ahLst/>
              <a:cxnLst/>
              <a:rect r="r" b="b" t="t" l="l"/>
              <a:pathLst>
                <a:path h="1567942" w="3579622">
                  <a:moveTo>
                    <a:pt x="0" y="0"/>
                  </a:moveTo>
                  <a:lnTo>
                    <a:pt x="3579622" y="0"/>
                  </a:lnTo>
                  <a:lnTo>
                    <a:pt x="3579622" y="1567942"/>
                  </a:lnTo>
                  <a:lnTo>
                    <a:pt x="0" y="1567942"/>
                  </a:lnTo>
                  <a:close/>
                </a:path>
              </a:pathLst>
            </a:custGeom>
            <a:solidFill>
              <a:srgbClr val="8A5A9E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960120" y="6227064"/>
            <a:ext cx="2386584" cy="1152144"/>
            <a:chOff x="0" y="0"/>
            <a:chExt cx="3182112" cy="153619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182112" cy="1536192"/>
            </a:xfrm>
            <a:custGeom>
              <a:avLst/>
              <a:gdLst/>
              <a:ahLst/>
              <a:cxnLst/>
              <a:rect r="r" b="b" t="t" l="l"/>
              <a:pathLst>
                <a:path h="1536192" w="3182112">
                  <a:moveTo>
                    <a:pt x="0" y="0"/>
                  </a:moveTo>
                  <a:lnTo>
                    <a:pt x="3182112" y="0"/>
                  </a:lnTo>
                  <a:lnTo>
                    <a:pt x="3182112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39" t="0" r="-11939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0"/>
              <a:ext cx="3182112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Continuidade institucional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3584067" y="6217539"/>
            <a:ext cx="4915662" cy="1171194"/>
            <a:chOff x="0" y="0"/>
            <a:chExt cx="6554216" cy="156159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6554216" cy="1561592"/>
            </a:xfrm>
            <a:custGeom>
              <a:avLst/>
              <a:gdLst/>
              <a:ahLst/>
              <a:cxnLst/>
              <a:rect r="r" b="b" t="t" l="l"/>
              <a:pathLst>
                <a:path h="1561592" w="6554216">
                  <a:moveTo>
                    <a:pt x="0" y="0"/>
                  </a:moveTo>
                  <a:lnTo>
                    <a:pt x="6554216" y="0"/>
                  </a:lnTo>
                  <a:lnTo>
                    <a:pt x="6554216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4" id="84"/>
          <p:cNvGrpSpPr/>
          <p:nvPr/>
        </p:nvGrpSpPr>
        <p:grpSpPr>
          <a:xfrm rot="0">
            <a:off x="3758184" y="6227064"/>
            <a:ext cx="4567428" cy="1152144"/>
            <a:chOff x="0" y="0"/>
            <a:chExt cx="6089904" cy="1536192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6089904" cy="1536192"/>
            </a:xfrm>
            <a:custGeom>
              <a:avLst/>
              <a:gdLst/>
              <a:ahLst/>
              <a:cxnLst/>
              <a:rect r="r" b="b" t="t" l="l"/>
              <a:pathLst>
                <a:path h="1536192" w="6089904">
                  <a:moveTo>
                    <a:pt x="0" y="0"/>
                  </a:moveTo>
                  <a:lnTo>
                    <a:pt x="6089904" y="0"/>
                  </a:lnTo>
                  <a:lnTo>
                    <a:pt x="6089904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44" r="0" b="-27244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0"/>
              <a:ext cx="6089904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Ceibal atravessou governos; a Argentina teve três reversões em quinze anos; na Costa Rica, décadas de estabilidade não impediram a ruptura.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8590407" y="6217539"/>
            <a:ext cx="4504182" cy="1171194"/>
            <a:chOff x="0" y="0"/>
            <a:chExt cx="6005576" cy="1561592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6005576" cy="1561592"/>
            </a:xfrm>
            <a:custGeom>
              <a:avLst/>
              <a:gdLst/>
              <a:ahLst/>
              <a:cxnLst/>
              <a:rect r="r" b="b" t="t" l="l"/>
              <a:pathLst>
                <a:path h="1561592" w="6005576">
                  <a:moveTo>
                    <a:pt x="0" y="0"/>
                  </a:moveTo>
                  <a:lnTo>
                    <a:pt x="6005576" y="0"/>
                  </a:lnTo>
                  <a:lnTo>
                    <a:pt x="6005576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9" id="89"/>
          <p:cNvGrpSpPr/>
          <p:nvPr/>
        </p:nvGrpSpPr>
        <p:grpSpPr>
          <a:xfrm rot="0">
            <a:off x="8764524" y="6227064"/>
            <a:ext cx="4155948" cy="1152144"/>
            <a:chOff x="0" y="0"/>
            <a:chExt cx="5541264" cy="1536192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5541264" cy="1536192"/>
            </a:xfrm>
            <a:custGeom>
              <a:avLst/>
              <a:gdLst/>
              <a:ahLst/>
              <a:cxnLst/>
              <a:rect r="r" b="b" t="t" l="l"/>
              <a:pathLst>
                <a:path h="1536192" w="5541264">
                  <a:moveTo>
                    <a:pt x="0" y="0"/>
                  </a:moveTo>
                  <a:lnTo>
                    <a:pt x="5541264" y="0"/>
                  </a:lnTo>
                  <a:lnTo>
                    <a:pt x="5541264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285" r="0" b="-20285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0"/>
              <a:ext cx="5541264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Situa os desafios históricos das políticas digitais brasileiras.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13185267" y="6217539"/>
            <a:ext cx="4284726" cy="1171194"/>
            <a:chOff x="0" y="0"/>
            <a:chExt cx="5712968" cy="1561592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5712968" cy="1561592"/>
            </a:xfrm>
            <a:custGeom>
              <a:avLst/>
              <a:gdLst/>
              <a:ahLst/>
              <a:cxnLst/>
              <a:rect r="r" b="b" t="t" l="l"/>
              <a:pathLst>
                <a:path h="1561592" w="5712968">
                  <a:moveTo>
                    <a:pt x="0" y="0"/>
                  </a:moveTo>
                  <a:lnTo>
                    <a:pt x="5712968" y="0"/>
                  </a:lnTo>
                  <a:lnTo>
                    <a:pt x="5712968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4" id="94"/>
          <p:cNvGrpSpPr/>
          <p:nvPr/>
        </p:nvGrpSpPr>
        <p:grpSpPr>
          <a:xfrm rot="0">
            <a:off x="13359384" y="6227064"/>
            <a:ext cx="3936492" cy="1152144"/>
            <a:chOff x="0" y="0"/>
            <a:chExt cx="5248656" cy="153619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5248656" cy="1536192"/>
            </a:xfrm>
            <a:custGeom>
              <a:avLst/>
              <a:gdLst/>
              <a:ahLst/>
              <a:cxnLst/>
              <a:rect r="r" b="b" t="t" l="l"/>
              <a:pathLst>
                <a:path h="1536192" w="5248656">
                  <a:moveTo>
                    <a:pt x="0" y="0"/>
                  </a:moveTo>
                  <a:lnTo>
                    <a:pt x="5248656" y="0"/>
                  </a:lnTo>
                  <a:lnTo>
                    <a:pt x="5248656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573" r="0" b="-16573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0"/>
              <a:ext cx="5248656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Documentos · </a:t>
              </a:r>
              <a:r>
                <a:rPr lang="en-US" sz="1575" i="true">
                  <a:solidFill>
                    <a:srgbClr val="1A1A1A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Que continuidade a rede municipal teve?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811054" y="7490746"/>
            <a:ext cx="2684716" cy="1175956"/>
            <a:chOff x="0" y="0"/>
            <a:chExt cx="3579622" cy="1567942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3579622" cy="1567942"/>
            </a:xfrm>
            <a:custGeom>
              <a:avLst/>
              <a:gdLst/>
              <a:ahLst/>
              <a:cxnLst/>
              <a:rect r="r" b="b" t="t" l="l"/>
              <a:pathLst>
                <a:path h="1567942" w="3579622">
                  <a:moveTo>
                    <a:pt x="0" y="0"/>
                  </a:moveTo>
                  <a:lnTo>
                    <a:pt x="3579622" y="0"/>
                  </a:lnTo>
                  <a:lnTo>
                    <a:pt x="3579622" y="1567942"/>
                  </a:lnTo>
                  <a:lnTo>
                    <a:pt x="0" y="1567942"/>
                  </a:lnTo>
                  <a:close/>
                </a:path>
              </a:pathLst>
            </a:custGeom>
            <a:solidFill>
              <a:srgbClr val="D9652E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9" id="99"/>
          <p:cNvGrpSpPr/>
          <p:nvPr/>
        </p:nvGrpSpPr>
        <p:grpSpPr>
          <a:xfrm rot="0">
            <a:off x="960120" y="7502652"/>
            <a:ext cx="2386584" cy="1152144"/>
            <a:chOff x="0" y="0"/>
            <a:chExt cx="3182112" cy="1536192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3182112" cy="1536192"/>
            </a:xfrm>
            <a:custGeom>
              <a:avLst/>
              <a:gdLst/>
              <a:ahLst/>
              <a:cxnLst/>
              <a:rect r="r" b="b" t="t" l="l"/>
              <a:pathLst>
                <a:path h="1536192" w="3182112">
                  <a:moveTo>
                    <a:pt x="0" y="0"/>
                  </a:moveTo>
                  <a:lnTo>
                    <a:pt x="3182112" y="0"/>
                  </a:lnTo>
                  <a:lnTo>
                    <a:pt x="3182112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39" t="0" r="-11939" b="0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0"/>
              <a:ext cx="3182112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digital</a:t>
              </a:r>
            </a:p>
          </p:txBody>
        </p:sp>
      </p:grpSp>
      <p:grpSp>
        <p:nvGrpSpPr>
          <p:cNvPr name="Group 102" id="102"/>
          <p:cNvGrpSpPr/>
          <p:nvPr/>
        </p:nvGrpSpPr>
        <p:grpSpPr>
          <a:xfrm rot="0">
            <a:off x="3584067" y="7493127"/>
            <a:ext cx="4915662" cy="1171194"/>
            <a:chOff x="0" y="0"/>
            <a:chExt cx="6554216" cy="1561592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6554216" cy="1561592"/>
            </a:xfrm>
            <a:custGeom>
              <a:avLst/>
              <a:gdLst/>
              <a:ahLst/>
              <a:cxnLst/>
              <a:rect r="r" b="b" t="t" l="l"/>
              <a:pathLst>
                <a:path h="1561592" w="6554216">
                  <a:moveTo>
                    <a:pt x="0" y="0"/>
                  </a:moveTo>
                  <a:lnTo>
                    <a:pt x="6554216" y="0"/>
                  </a:lnTo>
                  <a:lnTo>
                    <a:pt x="6554216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4" id="104"/>
          <p:cNvGrpSpPr/>
          <p:nvPr/>
        </p:nvGrpSpPr>
        <p:grpSpPr>
          <a:xfrm rot="0">
            <a:off x="3758184" y="7502652"/>
            <a:ext cx="4567428" cy="1152144"/>
            <a:chOff x="0" y="0"/>
            <a:chExt cx="6089904" cy="1536192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6089904" cy="1536192"/>
            </a:xfrm>
            <a:custGeom>
              <a:avLst/>
              <a:gdLst/>
              <a:ahLst/>
              <a:cxnLst/>
              <a:rect r="r" b="b" t="t" l="l"/>
              <a:pathLst>
                <a:path h="1536192" w="6089904">
                  <a:moveTo>
                    <a:pt x="0" y="0"/>
                  </a:moveTo>
                  <a:lnTo>
                    <a:pt x="6089904" y="0"/>
                  </a:lnTo>
                  <a:lnTo>
                    <a:pt x="6089904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44" r="0" b="-27244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0"/>
              <a:ext cx="6089904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Educação digital ligada à cidadania e à proteção das crianças (França, BIK+) e à construção de conhecimento (Colúmbia Britânica, México).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8590407" y="7493127"/>
            <a:ext cx="4504182" cy="1171194"/>
            <a:chOff x="0" y="0"/>
            <a:chExt cx="6005576" cy="1561592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6005576" cy="1561592"/>
            </a:xfrm>
            <a:custGeom>
              <a:avLst/>
              <a:gdLst/>
              <a:ahLst/>
              <a:cxnLst/>
              <a:rect r="r" b="b" t="t" l="l"/>
              <a:pathLst>
                <a:path h="1561592" w="6005576">
                  <a:moveTo>
                    <a:pt x="0" y="0"/>
                  </a:moveTo>
                  <a:lnTo>
                    <a:pt x="6005576" y="0"/>
                  </a:lnTo>
                  <a:lnTo>
                    <a:pt x="6005576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9" id="109"/>
          <p:cNvGrpSpPr/>
          <p:nvPr/>
        </p:nvGrpSpPr>
        <p:grpSpPr>
          <a:xfrm rot="0">
            <a:off x="8764524" y="7502652"/>
            <a:ext cx="4155948" cy="1152144"/>
            <a:chOff x="0" y="0"/>
            <a:chExt cx="5541264" cy="153619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541264" cy="1536192"/>
            </a:xfrm>
            <a:custGeom>
              <a:avLst/>
              <a:gdLst/>
              <a:ahLst/>
              <a:cxnLst/>
              <a:rect r="r" b="b" t="t" l="l"/>
              <a:pathLst>
                <a:path h="1536192" w="5541264">
                  <a:moveTo>
                    <a:pt x="0" y="0"/>
                  </a:moveTo>
                  <a:lnTo>
                    <a:pt x="5541264" y="0"/>
                  </a:lnTo>
                  <a:lnTo>
                    <a:pt x="5541264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285" r="0" b="-20285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0"/>
              <a:ext cx="5541264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Dialoga com o inciso III do eixo Educação Digital Escolar: vai além do domínio técnico.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13185267" y="7493127"/>
            <a:ext cx="4284726" cy="1171194"/>
            <a:chOff x="0" y="0"/>
            <a:chExt cx="5712968" cy="1561592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5712968" cy="1561592"/>
            </a:xfrm>
            <a:custGeom>
              <a:avLst/>
              <a:gdLst/>
              <a:ahLst/>
              <a:cxnLst/>
              <a:rect r="r" b="b" t="t" l="l"/>
              <a:pathLst>
                <a:path h="1561592" w="5712968">
                  <a:moveTo>
                    <a:pt x="0" y="0"/>
                  </a:moveTo>
                  <a:lnTo>
                    <a:pt x="5712968" y="0"/>
                  </a:lnTo>
                  <a:lnTo>
                    <a:pt x="5712968" y="1561592"/>
                  </a:lnTo>
                  <a:lnTo>
                    <a:pt x="0" y="156159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14" id="114"/>
          <p:cNvGrpSpPr/>
          <p:nvPr/>
        </p:nvGrpSpPr>
        <p:grpSpPr>
          <a:xfrm rot="0">
            <a:off x="13359384" y="7502652"/>
            <a:ext cx="3936492" cy="1152144"/>
            <a:chOff x="0" y="0"/>
            <a:chExt cx="5248656" cy="1536192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5248656" cy="1536192"/>
            </a:xfrm>
            <a:custGeom>
              <a:avLst/>
              <a:gdLst/>
              <a:ahLst/>
              <a:cxnLst/>
              <a:rect r="r" b="b" t="t" l="l"/>
              <a:pathLst>
                <a:path h="1536192" w="5248656">
                  <a:moveTo>
                    <a:pt x="0" y="0"/>
                  </a:moveTo>
                  <a:lnTo>
                    <a:pt x="5248656" y="0"/>
                  </a:lnTo>
                  <a:lnTo>
                    <a:pt x="5248656" y="1536192"/>
                  </a:lnTo>
                  <a:lnTo>
                    <a:pt x="0" y="15361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573" r="0" b="-16573"/>
              </a:stretch>
            </a:blipFill>
          </p:spPr>
        </p:sp>
        <p:sp>
          <p:nvSpPr>
            <p:cNvPr name="TextBox 116" id="116"/>
            <p:cNvSpPr txBox="true"/>
            <p:nvPr/>
          </p:nvSpPr>
          <p:spPr>
            <a:xfrm>
              <a:off x="0" y="0"/>
              <a:ext cx="5248656" cy="15361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Questionário e entrevistas · </a:t>
              </a:r>
              <a:r>
                <a:rPr lang="en-US" sz="1575" i="true">
                  <a:solidFill>
                    <a:srgbClr val="1A1A1A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O que se faz com crianças de seis e sete anos?</a:t>
              </a:r>
            </a:p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822960" y="8819388"/>
            <a:ext cx="16637508" cy="713232"/>
            <a:chOff x="0" y="0"/>
            <a:chExt cx="22183344" cy="950976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2183344" cy="950976"/>
            </a:xfrm>
            <a:custGeom>
              <a:avLst/>
              <a:gdLst/>
              <a:ahLst/>
              <a:cxnLst/>
              <a:rect r="r" b="b" t="t" l="l"/>
              <a:pathLst>
                <a:path h="950976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04526" r="0" b="-404526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9525"/>
              <a:ext cx="22183344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Síntese: </a:t>
              </a:r>
              <a:r>
                <a:rPr lang="en-US" sz="172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nenhuma lição descreve Pipa; as cinco categorias são lentes, e não padrões. A comparação deixa uma pergunta que nenhum caso responde: o que acontece quando parte das condições não chega? Daí a hipótese da discricionariedade substitutiva.</a:t>
              </a:r>
            </a:p>
          </p:txBody>
        </p:sp>
      </p:grpSp>
      <p:sp>
        <p:nvSpPr>
          <p:cNvPr name="TextBox 120" id="12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Quadro 4 e seção 5.2.3 do Capítulo 5: categorias sensibilizadoras (lentes para o campo, não padrões).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Quatro décadas até a PNED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sp>
        <p:nvSpPr>
          <p:cNvPr name="AutoShape 11" id="11"/>
          <p:cNvSpPr/>
          <p:nvPr/>
        </p:nvSpPr>
        <p:spPr>
          <a:xfrm rot="12300">
            <a:off x="1205817" y="3757612"/>
            <a:ext cx="15967815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1398460" y="3483292"/>
            <a:ext cx="577215" cy="577215"/>
            <a:chOff x="0" y="0"/>
            <a:chExt cx="769620" cy="7696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69620" cy="769620"/>
            </a:xfrm>
            <a:custGeom>
              <a:avLst/>
              <a:gdLst/>
              <a:ahLst/>
              <a:cxnLst/>
              <a:rect r="r" b="b" t="t" l="l"/>
              <a:pathLst>
                <a:path h="769620" w="769620">
                  <a:moveTo>
                    <a:pt x="0" y="384810"/>
                  </a:moveTo>
                  <a:cubicBezTo>
                    <a:pt x="0" y="172339"/>
                    <a:pt x="172339" y="0"/>
                    <a:pt x="384810" y="0"/>
                  </a:cubicBezTo>
                  <a:cubicBezTo>
                    <a:pt x="597281" y="0"/>
                    <a:pt x="769620" y="172339"/>
                    <a:pt x="769620" y="384810"/>
                  </a:cubicBezTo>
                  <a:cubicBezTo>
                    <a:pt x="769620" y="597281"/>
                    <a:pt x="597281" y="769620"/>
                    <a:pt x="384810" y="769620"/>
                  </a:cubicBezTo>
                  <a:cubicBezTo>
                    <a:pt x="172339" y="769620"/>
                    <a:pt x="0" y="597281"/>
                    <a:pt x="0" y="384810"/>
                  </a:cubicBezTo>
                  <a:close/>
                </a:path>
              </a:pathLst>
            </a:custGeom>
            <a:solidFill>
              <a:srgbClr val="FFCE32"/>
            </a:solidFill>
            <a:ln w="28575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822960" y="2606040"/>
            <a:ext cx="1728216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0"/>
              </a:lnSpc>
            </a:pPr>
            <a:r>
              <a:rPr lang="en-US" sz="25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1983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54380" y="4242435"/>
            <a:ext cx="1865376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EDUCOM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54380" y="4869180"/>
            <a:ext cx="1865376" cy="1234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Pesquisa em centros universitários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3497008" y="3483292"/>
            <a:ext cx="577215" cy="577215"/>
            <a:chOff x="0" y="0"/>
            <a:chExt cx="769620" cy="7696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69620" cy="769620"/>
            </a:xfrm>
            <a:custGeom>
              <a:avLst/>
              <a:gdLst/>
              <a:ahLst/>
              <a:cxnLst/>
              <a:rect r="r" b="b" t="t" l="l"/>
              <a:pathLst>
                <a:path h="769620" w="769620">
                  <a:moveTo>
                    <a:pt x="0" y="384810"/>
                  </a:moveTo>
                  <a:cubicBezTo>
                    <a:pt x="0" y="172339"/>
                    <a:pt x="172339" y="0"/>
                    <a:pt x="384810" y="0"/>
                  </a:cubicBezTo>
                  <a:cubicBezTo>
                    <a:pt x="597281" y="0"/>
                    <a:pt x="769620" y="172339"/>
                    <a:pt x="769620" y="384810"/>
                  </a:cubicBezTo>
                  <a:cubicBezTo>
                    <a:pt x="769620" y="597281"/>
                    <a:pt x="597281" y="769620"/>
                    <a:pt x="384810" y="769620"/>
                  </a:cubicBezTo>
                  <a:cubicBezTo>
                    <a:pt x="172339" y="769620"/>
                    <a:pt x="0" y="597281"/>
                    <a:pt x="0" y="384810"/>
                  </a:cubicBezTo>
                  <a:close/>
                </a:path>
              </a:pathLst>
            </a:custGeom>
            <a:solidFill>
              <a:srgbClr val="FFCE32"/>
            </a:solidFill>
            <a:ln w="28575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2921508" y="2606040"/>
            <a:ext cx="1728216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0"/>
              </a:lnSpc>
            </a:pPr>
            <a:r>
              <a:rPr lang="en-US" sz="25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1987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852928" y="4242435"/>
            <a:ext cx="1865376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FORMAR e CIEd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852928" y="4869180"/>
            <a:ext cx="1865376" cy="1234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Formação e centros locais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5595556" y="3483292"/>
            <a:ext cx="577215" cy="577215"/>
            <a:chOff x="0" y="0"/>
            <a:chExt cx="769620" cy="76962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69620" cy="769620"/>
            </a:xfrm>
            <a:custGeom>
              <a:avLst/>
              <a:gdLst/>
              <a:ahLst/>
              <a:cxnLst/>
              <a:rect r="r" b="b" t="t" l="l"/>
              <a:pathLst>
                <a:path h="769620" w="769620">
                  <a:moveTo>
                    <a:pt x="0" y="384810"/>
                  </a:moveTo>
                  <a:cubicBezTo>
                    <a:pt x="0" y="172339"/>
                    <a:pt x="172339" y="0"/>
                    <a:pt x="384810" y="0"/>
                  </a:cubicBezTo>
                  <a:cubicBezTo>
                    <a:pt x="597281" y="0"/>
                    <a:pt x="769620" y="172339"/>
                    <a:pt x="769620" y="384810"/>
                  </a:cubicBezTo>
                  <a:cubicBezTo>
                    <a:pt x="769620" y="597281"/>
                    <a:pt x="597281" y="769620"/>
                    <a:pt x="384810" y="769620"/>
                  </a:cubicBezTo>
                  <a:cubicBezTo>
                    <a:pt x="172339" y="769620"/>
                    <a:pt x="0" y="597281"/>
                    <a:pt x="0" y="384810"/>
                  </a:cubicBezTo>
                  <a:close/>
                </a:path>
              </a:pathLst>
            </a:custGeom>
            <a:solidFill>
              <a:srgbClr val="FFCE32"/>
            </a:solidFill>
            <a:ln w="28575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5020056" y="2606040"/>
            <a:ext cx="1728216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0"/>
              </a:lnSpc>
            </a:pPr>
            <a:r>
              <a:rPr lang="en-US" sz="25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1989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951476" y="4242435"/>
            <a:ext cx="1865376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PRONINFE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951476" y="4869180"/>
            <a:ext cx="1865376" cy="1234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7694104" y="3483292"/>
            <a:ext cx="577215" cy="577215"/>
            <a:chOff x="0" y="0"/>
            <a:chExt cx="769620" cy="7696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69620" cy="769620"/>
            </a:xfrm>
            <a:custGeom>
              <a:avLst/>
              <a:gdLst/>
              <a:ahLst/>
              <a:cxnLst/>
              <a:rect r="r" b="b" t="t" l="l"/>
              <a:pathLst>
                <a:path h="769620" w="769620">
                  <a:moveTo>
                    <a:pt x="0" y="384810"/>
                  </a:moveTo>
                  <a:cubicBezTo>
                    <a:pt x="0" y="172339"/>
                    <a:pt x="172339" y="0"/>
                    <a:pt x="384810" y="0"/>
                  </a:cubicBezTo>
                  <a:cubicBezTo>
                    <a:pt x="597281" y="0"/>
                    <a:pt x="769620" y="172339"/>
                    <a:pt x="769620" y="384810"/>
                  </a:cubicBezTo>
                  <a:cubicBezTo>
                    <a:pt x="769620" y="597281"/>
                    <a:pt x="597281" y="769620"/>
                    <a:pt x="384810" y="769620"/>
                  </a:cubicBezTo>
                  <a:cubicBezTo>
                    <a:pt x="172339" y="769620"/>
                    <a:pt x="0" y="597281"/>
                    <a:pt x="0" y="384810"/>
                  </a:cubicBezTo>
                  <a:close/>
                </a:path>
              </a:pathLst>
            </a:custGeom>
            <a:solidFill>
              <a:srgbClr val="FFCE32"/>
            </a:solidFill>
            <a:ln w="28575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9" id="29"/>
          <p:cNvSpPr txBox="true"/>
          <p:nvPr/>
        </p:nvSpPr>
        <p:spPr>
          <a:xfrm rot="0">
            <a:off x="7118604" y="2606040"/>
            <a:ext cx="1728216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0"/>
              </a:lnSpc>
            </a:pPr>
            <a:r>
              <a:rPr lang="en-US" sz="25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1997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050024" y="4242435"/>
            <a:ext cx="1865376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ProInfo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050024" y="4869180"/>
            <a:ext cx="1865376" cy="1234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Laboratórios nas escolas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792652" y="3483292"/>
            <a:ext cx="577215" cy="577215"/>
            <a:chOff x="0" y="0"/>
            <a:chExt cx="769620" cy="7696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69620" cy="769620"/>
            </a:xfrm>
            <a:custGeom>
              <a:avLst/>
              <a:gdLst/>
              <a:ahLst/>
              <a:cxnLst/>
              <a:rect r="r" b="b" t="t" l="l"/>
              <a:pathLst>
                <a:path h="769620" w="769620">
                  <a:moveTo>
                    <a:pt x="0" y="384810"/>
                  </a:moveTo>
                  <a:cubicBezTo>
                    <a:pt x="0" y="172339"/>
                    <a:pt x="172339" y="0"/>
                    <a:pt x="384810" y="0"/>
                  </a:cubicBezTo>
                  <a:cubicBezTo>
                    <a:pt x="597281" y="0"/>
                    <a:pt x="769620" y="172339"/>
                    <a:pt x="769620" y="384810"/>
                  </a:cubicBezTo>
                  <a:cubicBezTo>
                    <a:pt x="769620" y="597281"/>
                    <a:pt x="597281" y="769620"/>
                    <a:pt x="384810" y="769620"/>
                  </a:cubicBezTo>
                  <a:cubicBezTo>
                    <a:pt x="172339" y="769620"/>
                    <a:pt x="0" y="597281"/>
                    <a:pt x="0" y="384810"/>
                  </a:cubicBezTo>
                  <a:close/>
                </a:path>
              </a:pathLst>
            </a:custGeom>
            <a:solidFill>
              <a:srgbClr val="FFCE32"/>
            </a:solidFill>
            <a:ln w="28575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9217152" y="2606040"/>
            <a:ext cx="1728216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0"/>
              </a:lnSpc>
            </a:pPr>
            <a:r>
              <a:rPr lang="en-US" sz="25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2010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148572" y="4242435"/>
            <a:ext cx="1865376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PROUCA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148572" y="4869180"/>
            <a:ext cx="1865376" cy="1234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Um computador por aluno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1891200" y="3483292"/>
            <a:ext cx="577215" cy="577215"/>
            <a:chOff x="0" y="0"/>
            <a:chExt cx="769620" cy="7696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69620" cy="769620"/>
            </a:xfrm>
            <a:custGeom>
              <a:avLst/>
              <a:gdLst/>
              <a:ahLst/>
              <a:cxnLst/>
              <a:rect r="r" b="b" t="t" l="l"/>
              <a:pathLst>
                <a:path h="769620" w="769620">
                  <a:moveTo>
                    <a:pt x="0" y="384810"/>
                  </a:moveTo>
                  <a:cubicBezTo>
                    <a:pt x="0" y="172339"/>
                    <a:pt x="172339" y="0"/>
                    <a:pt x="384810" y="0"/>
                  </a:cubicBezTo>
                  <a:cubicBezTo>
                    <a:pt x="597281" y="0"/>
                    <a:pt x="769620" y="172339"/>
                    <a:pt x="769620" y="384810"/>
                  </a:cubicBezTo>
                  <a:cubicBezTo>
                    <a:pt x="769620" y="597281"/>
                    <a:pt x="597281" y="769620"/>
                    <a:pt x="384810" y="769620"/>
                  </a:cubicBezTo>
                  <a:cubicBezTo>
                    <a:pt x="172339" y="769620"/>
                    <a:pt x="0" y="597281"/>
                    <a:pt x="0" y="384810"/>
                  </a:cubicBezTo>
                  <a:close/>
                </a:path>
              </a:pathLst>
            </a:custGeom>
            <a:solidFill>
              <a:srgbClr val="FFCE32"/>
            </a:solidFill>
            <a:ln w="28575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9" id="39"/>
          <p:cNvSpPr txBox="true"/>
          <p:nvPr/>
        </p:nvSpPr>
        <p:spPr>
          <a:xfrm rot="0">
            <a:off x="11315700" y="2606040"/>
            <a:ext cx="1728216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0"/>
              </a:lnSpc>
            </a:pPr>
            <a:r>
              <a:rPr lang="en-US" sz="25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2017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1247120" y="4242435"/>
            <a:ext cx="1865376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PIEC e BNCC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1247120" y="4869180"/>
            <a:ext cx="1865376" cy="1234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Conectividade; cultura digital como competência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3989748" y="3483292"/>
            <a:ext cx="577215" cy="577215"/>
            <a:chOff x="0" y="0"/>
            <a:chExt cx="769620" cy="76962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769620" cy="769620"/>
            </a:xfrm>
            <a:custGeom>
              <a:avLst/>
              <a:gdLst/>
              <a:ahLst/>
              <a:cxnLst/>
              <a:rect r="r" b="b" t="t" l="l"/>
              <a:pathLst>
                <a:path h="769620" w="769620">
                  <a:moveTo>
                    <a:pt x="0" y="384810"/>
                  </a:moveTo>
                  <a:cubicBezTo>
                    <a:pt x="0" y="172339"/>
                    <a:pt x="172339" y="0"/>
                    <a:pt x="384810" y="0"/>
                  </a:cubicBezTo>
                  <a:cubicBezTo>
                    <a:pt x="597281" y="0"/>
                    <a:pt x="769620" y="172339"/>
                    <a:pt x="769620" y="384810"/>
                  </a:cubicBezTo>
                  <a:cubicBezTo>
                    <a:pt x="769620" y="597281"/>
                    <a:pt x="597281" y="769620"/>
                    <a:pt x="384810" y="769620"/>
                  </a:cubicBezTo>
                  <a:cubicBezTo>
                    <a:pt x="172339" y="769620"/>
                    <a:pt x="0" y="597281"/>
                    <a:pt x="0" y="384810"/>
                  </a:cubicBezTo>
                  <a:close/>
                </a:path>
              </a:pathLst>
            </a:custGeom>
            <a:solidFill>
              <a:srgbClr val="FFCE32"/>
            </a:solidFill>
            <a:ln w="28575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44" id="44"/>
          <p:cNvSpPr txBox="true"/>
          <p:nvPr/>
        </p:nvSpPr>
        <p:spPr>
          <a:xfrm rot="0">
            <a:off x="13414248" y="2606040"/>
            <a:ext cx="1728216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0"/>
              </a:lnSpc>
            </a:pPr>
            <a:r>
              <a:rPr lang="en-US" sz="25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2023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3345668" y="4242435"/>
            <a:ext cx="1865376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ENEC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3345668" y="4869180"/>
            <a:ext cx="1865376" cy="1234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Conectividade de qualidade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6088296" y="3483292"/>
            <a:ext cx="577215" cy="577215"/>
            <a:chOff x="0" y="0"/>
            <a:chExt cx="769620" cy="7696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69620" cy="769620"/>
            </a:xfrm>
            <a:custGeom>
              <a:avLst/>
              <a:gdLst/>
              <a:ahLst/>
              <a:cxnLst/>
              <a:rect r="r" b="b" t="t" l="l"/>
              <a:pathLst>
                <a:path h="769620" w="769620">
                  <a:moveTo>
                    <a:pt x="0" y="384810"/>
                  </a:moveTo>
                  <a:cubicBezTo>
                    <a:pt x="0" y="172339"/>
                    <a:pt x="172339" y="0"/>
                    <a:pt x="384810" y="0"/>
                  </a:cubicBezTo>
                  <a:cubicBezTo>
                    <a:pt x="597281" y="0"/>
                    <a:pt x="769620" y="172339"/>
                    <a:pt x="769620" y="384810"/>
                  </a:cubicBezTo>
                  <a:cubicBezTo>
                    <a:pt x="769620" y="597281"/>
                    <a:pt x="597281" y="769620"/>
                    <a:pt x="384810" y="769620"/>
                  </a:cubicBezTo>
                  <a:cubicBezTo>
                    <a:pt x="172339" y="769620"/>
                    <a:pt x="0" y="597281"/>
                    <a:pt x="0" y="384810"/>
                  </a:cubicBezTo>
                  <a:close/>
                </a:path>
              </a:pathLst>
            </a:custGeom>
            <a:solidFill>
              <a:srgbClr val="EE6A1F"/>
            </a:solidFill>
            <a:ln w="28575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15512796" y="2606040"/>
            <a:ext cx="1728216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0"/>
              </a:lnSpc>
            </a:pPr>
            <a:r>
              <a:rPr lang="en-US" sz="25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2023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5444216" y="4242435"/>
            <a:ext cx="1865376" cy="62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20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PNED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5444216" y="4869180"/>
            <a:ext cx="1865376" cy="1234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como política nacional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909447" y="6560439"/>
            <a:ext cx="16560546" cy="2693670"/>
            <a:chOff x="0" y="0"/>
            <a:chExt cx="22080728" cy="359156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2080728" cy="3591560"/>
            </a:xfrm>
            <a:custGeom>
              <a:avLst/>
              <a:gdLst/>
              <a:ahLst/>
              <a:cxnLst/>
              <a:rect r="r" b="b" t="t" l="l"/>
              <a:pathLst>
                <a:path h="359156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3591560"/>
                  </a:lnTo>
                  <a:lnTo>
                    <a:pt x="0" y="35915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811054" y="6462046"/>
            <a:ext cx="16565308" cy="2698433"/>
            <a:chOff x="0" y="0"/>
            <a:chExt cx="22087078" cy="359791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2087078" cy="3597910"/>
            </a:xfrm>
            <a:custGeom>
              <a:avLst/>
              <a:gdLst/>
              <a:ahLst/>
              <a:cxnLst/>
              <a:rect r="r" b="b" t="t" l="l"/>
              <a:pathLst>
                <a:path h="359791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3597910"/>
                  </a:lnTo>
                  <a:lnTo>
                    <a:pt x="0" y="35979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6" id="56"/>
          <p:cNvSpPr txBox="true"/>
          <p:nvPr/>
        </p:nvSpPr>
        <p:spPr>
          <a:xfrm rot="0">
            <a:off x="1165860" y="6611112"/>
            <a:ext cx="685800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Tensões que se repetem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165860" y="7191375"/>
            <a:ext cx="15910560" cy="1861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Manutenção, suporte técnico e reposição dos equipamentos (ProInfo e PROUCA); </a:t>
            </a: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laptops que chegaram a escolas cujas tomadas davam choque; </a:t>
            </a:r>
            <a:r>
              <a:rPr lang="en-US" sz="20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desigualdades persistentes de conectividade (PIEC); cultura digital sem componente curricular próprio (BNCC). Cada programa deixou equipamentos nas escolas brasileiras, parte dos quais continua lá depois do fim das ações.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Santos (2012): rugosidades, formas que permanecem quando se impõem novas funções.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Quadro da trajetória brasileira (Capítulo 5), com base nos atos normativos e em Moraes (1997).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16179171" y="455266"/>
            <a:ext cx="1988820" cy="1499864"/>
            <a:chOff x="0" y="0"/>
            <a:chExt cx="2651760" cy="1999818"/>
          </a:xfrm>
        </p:grpSpPr>
        <p:sp>
          <p:nvSpPr>
            <p:cNvPr name="Freeform 60" id="60" descr="/home/claude/deck3/img/d_cronometro.png"/>
            <p:cNvSpPr/>
            <p:nvPr/>
          </p:nvSpPr>
          <p:spPr>
            <a:xfrm flipH="false" flipV="false" rot="0">
              <a:off x="0" y="0"/>
              <a:ext cx="2651760" cy="1999869"/>
            </a:xfrm>
            <a:custGeom>
              <a:avLst/>
              <a:gdLst/>
              <a:ahLst/>
              <a:cxnLst/>
              <a:rect r="r" b="b" t="t" l="l"/>
              <a:pathLst>
                <a:path h="1999869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1999869"/>
                  </a:lnTo>
                  <a:lnTo>
                    <a:pt x="0" y="19998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7" r="0" b="-15"/>
              </a:stretch>
            </a:blipFill>
          </p:spPr>
        </p:sp>
      </p:grp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Por que a PNED importa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09447" y="2075307"/>
            <a:ext cx="8056626" cy="2762250"/>
            <a:chOff x="0" y="0"/>
            <a:chExt cx="10742168" cy="3683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742168" cy="3683000"/>
            </a:xfrm>
            <a:custGeom>
              <a:avLst/>
              <a:gdLst/>
              <a:ahLst/>
              <a:cxnLst/>
              <a:rect r="r" b="b" t="t" l="l"/>
              <a:pathLst>
                <a:path h="368300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811054" y="1976914"/>
            <a:ext cx="8061388" cy="2767012"/>
            <a:chOff x="0" y="0"/>
            <a:chExt cx="10748518" cy="36893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748518" cy="3689350"/>
            </a:xfrm>
            <a:custGeom>
              <a:avLst/>
              <a:gdLst/>
              <a:ahLst/>
              <a:cxnLst/>
              <a:rect r="r" b="b" t="t" l="l"/>
              <a:pathLst>
                <a:path h="368935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689350"/>
                  </a:lnTo>
                  <a:lnTo>
                    <a:pt x="0" y="36893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56335" y="2281047"/>
            <a:ext cx="924306" cy="924306"/>
            <a:chOff x="0" y="0"/>
            <a:chExt cx="1232408" cy="123240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2408" cy="1232408"/>
            </a:xfrm>
            <a:custGeom>
              <a:avLst/>
              <a:gdLst/>
              <a:ahLst/>
              <a:cxnLst/>
              <a:rect r="r" b="b" t="t" l="l"/>
              <a:pathLst>
                <a:path h="1232408" w="1232408">
                  <a:moveTo>
                    <a:pt x="0" y="616204"/>
                  </a:moveTo>
                  <a:cubicBezTo>
                    <a:pt x="0" y="275844"/>
                    <a:pt x="275844" y="0"/>
                    <a:pt x="616204" y="0"/>
                  </a:cubicBezTo>
                  <a:cubicBezTo>
                    <a:pt x="956564" y="0"/>
                    <a:pt x="1232408" y="275844"/>
                    <a:pt x="1232408" y="616204"/>
                  </a:cubicBezTo>
                  <a:cubicBezTo>
                    <a:pt x="1232408" y="956564"/>
                    <a:pt x="956564" y="1232408"/>
                    <a:pt x="616204" y="1232408"/>
                  </a:cubicBezTo>
                  <a:cubicBezTo>
                    <a:pt x="275844" y="1232408"/>
                    <a:pt x="0" y="956564"/>
                    <a:pt x="0" y="61620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401223" y="2525935"/>
            <a:ext cx="434521" cy="434521"/>
            <a:chOff x="0" y="0"/>
            <a:chExt cx="579361" cy="579361"/>
          </a:xfrm>
        </p:grpSpPr>
        <p:sp>
          <p:nvSpPr>
            <p:cNvPr name="Freeform 18" id="18" descr="preencoded.png"/>
            <p:cNvSpPr/>
            <p:nvPr/>
          </p:nvSpPr>
          <p:spPr>
            <a:xfrm flipH="false" flipV="false" rot="0">
              <a:off x="0" y="0"/>
              <a:ext cx="579374" cy="579374"/>
            </a:xfrm>
            <a:custGeom>
              <a:avLst/>
              <a:gdLst/>
              <a:ahLst/>
              <a:cxnLst/>
              <a:rect r="r" b="b" t="t" l="l"/>
              <a:pathLst>
                <a:path h="579374" w="579374">
                  <a:moveTo>
                    <a:pt x="0" y="0"/>
                  </a:moveTo>
                  <a:lnTo>
                    <a:pt x="579374" y="0"/>
                  </a:lnTo>
                  <a:lnTo>
                    <a:pt x="579374" y="579374"/>
                  </a:lnTo>
                  <a:lnTo>
                    <a:pt x="0" y="5793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2" b="2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2304288" y="2290572"/>
            <a:ext cx="6309360" cy="905256"/>
            <a:chOff x="0" y="0"/>
            <a:chExt cx="8412480" cy="120700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412480" cy="1207008"/>
            </a:xfrm>
            <a:custGeom>
              <a:avLst/>
              <a:gdLst/>
              <a:ahLst/>
              <a:cxnLst/>
              <a:rect r="r" b="b" t="t" l="l"/>
              <a:pathLst>
                <a:path h="1207008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207008"/>
                  </a:lnTo>
                  <a:lnTo>
                    <a:pt x="0" y="12070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804" r="0" b="-85804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8412480" cy="120700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Estatuto de política nacional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165860" y="3305556"/>
            <a:ext cx="7406640" cy="13441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lei juntou num só texto coisas que andavam soltas e deu à educação digital o estatuto de política nacional, em quatro eixos.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413367" y="2075307"/>
            <a:ext cx="8056626" cy="2762250"/>
            <a:chOff x="0" y="0"/>
            <a:chExt cx="10742168" cy="368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742168" cy="3683000"/>
            </a:xfrm>
            <a:custGeom>
              <a:avLst/>
              <a:gdLst/>
              <a:ahLst/>
              <a:cxnLst/>
              <a:rect r="r" b="b" t="t" l="l"/>
              <a:pathLst>
                <a:path h="368300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9314974" y="1976914"/>
            <a:ext cx="8061388" cy="2767012"/>
            <a:chOff x="0" y="0"/>
            <a:chExt cx="10748518" cy="368935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748518" cy="3689350"/>
            </a:xfrm>
            <a:custGeom>
              <a:avLst/>
              <a:gdLst/>
              <a:ahLst/>
              <a:cxnLst/>
              <a:rect r="r" b="b" t="t" l="l"/>
              <a:pathLst>
                <a:path h="368935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689350"/>
                  </a:lnTo>
                  <a:lnTo>
                    <a:pt x="0" y="36893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9660255" y="2281047"/>
            <a:ext cx="924306" cy="924306"/>
            <a:chOff x="0" y="0"/>
            <a:chExt cx="1232408" cy="123240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32408" cy="1232408"/>
            </a:xfrm>
            <a:custGeom>
              <a:avLst/>
              <a:gdLst/>
              <a:ahLst/>
              <a:cxnLst/>
              <a:rect r="r" b="b" t="t" l="l"/>
              <a:pathLst>
                <a:path h="1232408" w="1232408">
                  <a:moveTo>
                    <a:pt x="0" y="616204"/>
                  </a:moveTo>
                  <a:cubicBezTo>
                    <a:pt x="0" y="275844"/>
                    <a:pt x="275844" y="0"/>
                    <a:pt x="616204" y="0"/>
                  </a:cubicBezTo>
                  <a:cubicBezTo>
                    <a:pt x="956564" y="0"/>
                    <a:pt x="1232408" y="275844"/>
                    <a:pt x="1232408" y="616204"/>
                  </a:cubicBezTo>
                  <a:cubicBezTo>
                    <a:pt x="1232408" y="956564"/>
                    <a:pt x="956564" y="1232408"/>
                    <a:pt x="616204" y="1232408"/>
                  </a:cubicBezTo>
                  <a:cubicBezTo>
                    <a:pt x="275844" y="1232408"/>
                    <a:pt x="0" y="956564"/>
                    <a:pt x="0" y="61620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9905143" y="2525935"/>
            <a:ext cx="434521" cy="434521"/>
            <a:chOff x="0" y="0"/>
            <a:chExt cx="579361" cy="579361"/>
          </a:xfrm>
        </p:grpSpPr>
        <p:sp>
          <p:nvSpPr>
            <p:cNvPr name="Freeform 30" id="30" descr="preencoded.png"/>
            <p:cNvSpPr/>
            <p:nvPr/>
          </p:nvSpPr>
          <p:spPr>
            <a:xfrm flipH="false" flipV="false" rot="0">
              <a:off x="0" y="0"/>
              <a:ext cx="579374" cy="579374"/>
            </a:xfrm>
            <a:custGeom>
              <a:avLst/>
              <a:gdLst/>
              <a:ahLst/>
              <a:cxnLst/>
              <a:rect r="r" b="b" t="t" l="l"/>
              <a:pathLst>
                <a:path h="579374" w="579374">
                  <a:moveTo>
                    <a:pt x="0" y="0"/>
                  </a:moveTo>
                  <a:lnTo>
                    <a:pt x="579374" y="0"/>
                  </a:lnTo>
                  <a:lnTo>
                    <a:pt x="579374" y="579374"/>
                  </a:lnTo>
                  <a:lnTo>
                    <a:pt x="0" y="5793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2" b="2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0808208" y="2290572"/>
            <a:ext cx="6309360" cy="905256"/>
            <a:chOff x="0" y="0"/>
            <a:chExt cx="8412480" cy="120700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412480" cy="1207008"/>
            </a:xfrm>
            <a:custGeom>
              <a:avLst/>
              <a:gdLst/>
              <a:ahLst/>
              <a:cxnLst/>
              <a:rect r="r" b="b" t="t" l="l"/>
              <a:pathLst>
                <a:path h="1207008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207008"/>
                  </a:lnTo>
                  <a:lnTo>
                    <a:pt x="0" y="12070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804" r="0" b="-85804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8412480" cy="120700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Componente curricular</a:t>
              </a: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9669780" y="3305556"/>
            <a:ext cx="7406640" cy="13441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 a rejeição de parte do veto, a educação digital entrou na LDB como componente curricular do ensino fundamental, o que alcança os 1º e 2º anos (art. 26, § 11).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909447" y="5092827"/>
            <a:ext cx="8056626" cy="2762250"/>
            <a:chOff x="0" y="0"/>
            <a:chExt cx="10742168" cy="3683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742168" cy="3683000"/>
            </a:xfrm>
            <a:custGeom>
              <a:avLst/>
              <a:gdLst/>
              <a:ahLst/>
              <a:cxnLst/>
              <a:rect r="r" b="b" t="t" l="l"/>
              <a:pathLst>
                <a:path h="368300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811054" y="4994434"/>
            <a:ext cx="8061388" cy="2767012"/>
            <a:chOff x="0" y="0"/>
            <a:chExt cx="10748518" cy="368935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748518" cy="3689350"/>
            </a:xfrm>
            <a:custGeom>
              <a:avLst/>
              <a:gdLst/>
              <a:ahLst/>
              <a:cxnLst/>
              <a:rect r="r" b="b" t="t" l="l"/>
              <a:pathLst>
                <a:path h="368935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689350"/>
                  </a:lnTo>
                  <a:lnTo>
                    <a:pt x="0" y="36893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156335" y="5298567"/>
            <a:ext cx="924306" cy="924306"/>
            <a:chOff x="0" y="0"/>
            <a:chExt cx="1232408" cy="123240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32408" cy="1232408"/>
            </a:xfrm>
            <a:custGeom>
              <a:avLst/>
              <a:gdLst/>
              <a:ahLst/>
              <a:cxnLst/>
              <a:rect r="r" b="b" t="t" l="l"/>
              <a:pathLst>
                <a:path h="1232408" w="1232408">
                  <a:moveTo>
                    <a:pt x="0" y="616204"/>
                  </a:moveTo>
                  <a:cubicBezTo>
                    <a:pt x="0" y="275844"/>
                    <a:pt x="275844" y="0"/>
                    <a:pt x="616204" y="0"/>
                  </a:cubicBezTo>
                  <a:cubicBezTo>
                    <a:pt x="956564" y="0"/>
                    <a:pt x="1232408" y="275844"/>
                    <a:pt x="1232408" y="616204"/>
                  </a:cubicBezTo>
                  <a:cubicBezTo>
                    <a:pt x="1232408" y="956564"/>
                    <a:pt x="956564" y="1232408"/>
                    <a:pt x="616204" y="1232408"/>
                  </a:cubicBezTo>
                  <a:cubicBezTo>
                    <a:pt x="275844" y="1232408"/>
                    <a:pt x="0" y="956564"/>
                    <a:pt x="0" y="61620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401223" y="5543455"/>
            <a:ext cx="434521" cy="434521"/>
            <a:chOff x="0" y="0"/>
            <a:chExt cx="579361" cy="579361"/>
          </a:xfrm>
        </p:grpSpPr>
        <p:sp>
          <p:nvSpPr>
            <p:cNvPr name="Freeform 42" id="42" descr="preencoded.png"/>
            <p:cNvSpPr/>
            <p:nvPr/>
          </p:nvSpPr>
          <p:spPr>
            <a:xfrm flipH="false" flipV="false" rot="0">
              <a:off x="0" y="0"/>
              <a:ext cx="579374" cy="579374"/>
            </a:xfrm>
            <a:custGeom>
              <a:avLst/>
              <a:gdLst/>
              <a:ahLst/>
              <a:cxnLst/>
              <a:rect r="r" b="b" t="t" l="l"/>
              <a:pathLst>
                <a:path h="579374" w="579374">
                  <a:moveTo>
                    <a:pt x="0" y="0"/>
                  </a:moveTo>
                  <a:lnTo>
                    <a:pt x="579374" y="0"/>
                  </a:lnTo>
                  <a:lnTo>
                    <a:pt x="579374" y="579374"/>
                  </a:lnTo>
                  <a:lnTo>
                    <a:pt x="0" y="5793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2" b="2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2304288" y="5308092"/>
            <a:ext cx="6309360" cy="905256"/>
            <a:chOff x="0" y="0"/>
            <a:chExt cx="8412480" cy="120700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412480" cy="1207008"/>
            </a:xfrm>
            <a:custGeom>
              <a:avLst/>
              <a:gdLst/>
              <a:ahLst/>
              <a:cxnLst/>
              <a:rect r="r" b="b" t="t" l="l"/>
              <a:pathLst>
                <a:path h="1207008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207008"/>
                  </a:lnTo>
                  <a:lnTo>
                    <a:pt x="0" y="12070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804" r="0" b="-85804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8412480" cy="120700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Dever do Estado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165860" y="6323076"/>
            <a:ext cx="7406640" cy="13441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LDB passou a incluir entre os deveres do Estado a educação digital, “com a garantia de conectividade de todas as instituições públicas de educação básica” (art. 4º, XII).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9317355" y="4996815"/>
            <a:ext cx="8056626" cy="2762250"/>
            <a:chOff x="0" y="0"/>
            <a:chExt cx="10742168" cy="36830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742168" cy="3683000"/>
            </a:xfrm>
            <a:custGeom>
              <a:avLst/>
              <a:gdLst/>
              <a:ahLst/>
              <a:cxnLst/>
              <a:rect r="r" b="b" t="t" l="l"/>
              <a:pathLst>
                <a:path h="368300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9660255" y="5298567"/>
            <a:ext cx="924306" cy="924306"/>
            <a:chOff x="0" y="0"/>
            <a:chExt cx="1232408" cy="1232408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232408" cy="1232408"/>
            </a:xfrm>
            <a:custGeom>
              <a:avLst/>
              <a:gdLst/>
              <a:ahLst/>
              <a:cxnLst/>
              <a:rect r="r" b="b" t="t" l="l"/>
              <a:pathLst>
                <a:path h="1232408" w="1232408">
                  <a:moveTo>
                    <a:pt x="0" y="616204"/>
                  </a:moveTo>
                  <a:cubicBezTo>
                    <a:pt x="0" y="275844"/>
                    <a:pt x="275844" y="0"/>
                    <a:pt x="616204" y="0"/>
                  </a:cubicBezTo>
                  <a:cubicBezTo>
                    <a:pt x="956564" y="0"/>
                    <a:pt x="1232408" y="275844"/>
                    <a:pt x="1232408" y="616204"/>
                  </a:cubicBezTo>
                  <a:cubicBezTo>
                    <a:pt x="1232408" y="956564"/>
                    <a:pt x="956564" y="1232408"/>
                    <a:pt x="616204" y="1232408"/>
                  </a:cubicBezTo>
                  <a:cubicBezTo>
                    <a:pt x="275844" y="1232408"/>
                    <a:pt x="0" y="956564"/>
                    <a:pt x="0" y="616204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9905143" y="5543455"/>
            <a:ext cx="434521" cy="434521"/>
            <a:chOff x="0" y="0"/>
            <a:chExt cx="579361" cy="579361"/>
          </a:xfrm>
        </p:grpSpPr>
        <p:sp>
          <p:nvSpPr>
            <p:cNvPr name="Freeform 52" id="52" descr="preencoded.png"/>
            <p:cNvSpPr/>
            <p:nvPr/>
          </p:nvSpPr>
          <p:spPr>
            <a:xfrm flipH="false" flipV="false" rot="0">
              <a:off x="0" y="0"/>
              <a:ext cx="579374" cy="579374"/>
            </a:xfrm>
            <a:custGeom>
              <a:avLst/>
              <a:gdLst/>
              <a:ahLst/>
              <a:cxnLst/>
              <a:rect r="r" b="b" t="t" l="l"/>
              <a:pathLst>
                <a:path h="579374" w="579374">
                  <a:moveTo>
                    <a:pt x="0" y="0"/>
                  </a:moveTo>
                  <a:lnTo>
                    <a:pt x="579374" y="0"/>
                  </a:lnTo>
                  <a:lnTo>
                    <a:pt x="579374" y="579374"/>
                  </a:lnTo>
                  <a:lnTo>
                    <a:pt x="0" y="5793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2" b="2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0808208" y="5308092"/>
            <a:ext cx="6309360" cy="905256"/>
            <a:chOff x="0" y="0"/>
            <a:chExt cx="8412480" cy="1207008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8412480" cy="1207008"/>
            </a:xfrm>
            <a:custGeom>
              <a:avLst/>
              <a:gdLst/>
              <a:ahLst/>
              <a:cxnLst/>
              <a:rect r="r" b="b" t="t" l="l"/>
              <a:pathLst>
                <a:path h="1207008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207008"/>
                  </a:lnTo>
                  <a:lnTo>
                    <a:pt x="0" y="12070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804" r="0" b="-85804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8412480" cy="120700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Direitos das crianças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9669780" y="6323076"/>
            <a:ext cx="7406640" cy="13441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eixo associa a cultura digital à participação democrática e os direitos digitais à proteção dos dados de crianças e adolescentes (art. 3º, III e IV).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808672" y="8146732"/>
            <a:ext cx="16666083" cy="1194435"/>
            <a:chOff x="0" y="0"/>
            <a:chExt cx="22221444" cy="15925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2221444" cy="1592580"/>
            </a:xfrm>
            <a:custGeom>
              <a:avLst/>
              <a:gdLst/>
              <a:ahLst/>
              <a:cxnLst/>
              <a:rect r="r" b="b" t="t" l="l"/>
              <a:pathLst>
                <a:path h="1592580" w="22221444">
                  <a:moveTo>
                    <a:pt x="0" y="0"/>
                  </a:moveTo>
                  <a:lnTo>
                    <a:pt x="22221444" y="0"/>
                  </a:lnTo>
                  <a:lnTo>
                    <a:pt x="22221444" y="1592580"/>
                  </a:lnTo>
                  <a:lnTo>
                    <a:pt x="0" y="15925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1876" r="0" b="-221876"/>
              </a:stretch>
            </a:blipFill>
            <a:ln w="28575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165860" y="8161020"/>
            <a:ext cx="16047720" cy="1165860"/>
            <a:chOff x="0" y="0"/>
            <a:chExt cx="21396960" cy="155448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1396961" cy="1554480"/>
            </a:xfrm>
            <a:custGeom>
              <a:avLst/>
              <a:gdLst/>
              <a:ahLst/>
              <a:cxnLst/>
              <a:rect r="r" b="b" t="t" l="l"/>
              <a:pathLst>
                <a:path h="155448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8205" r="0" b="-218205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0"/>
              <a:ext cx="21396960" cy="1554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Uma das melhores passagens da lei: </a:t>
              </a:r>
              <a:r>
                <a:rPr lang="en-US" sz="21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tecnologias devem fortalecer “os papéis de docência e aprendizagem do professor e do aluno” (BRASIL, 2023a, art. 7º).</a:t>
              </a: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14.533/2023; LDB; Morozov (2018): contra o solucionismo tecnológico.</a:t>
            </a:r>
          </a:p>
        </p:txBody>
      </p:sp>
      <p:grpSp>
        <p:nvGrpSpPr>
          <p:cNvPr name="Group 63" id="63"/>
          <p:cNvGrpSpPr/>
          <p:nvPr/>
        </p:nvGrpSpPr>
        <p:grpSpPr>
          <a:xfrm rot="720000">
            <a:off x="16641285" y="181623"/>
            <a:ext cx="1303020" cy="1777651"/>
            <a:chOff x="0" y="0"/>
            <a:chExt cx="1737360" cy="2370201"/>
          </a:xfrm>
        </p:grpSpPr>
        <p:sp>
          <p:nvSpPr>
            <p:cNvPr name="Freeform 64" id="6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31" r="0" b="-32"/>
              </a:stretch>
            </a:blipFill>
          </p:spPr>
        </p:sp>
      </p:grp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600000">
            <a:off x="16380245" y="376407"/>
            <a:ext cx="1645920" cy="1762230"/>
            <a:chOff x="0" y="0"/>
            <a:chExt cx="2194560" cy="2349640"/>
          </a:xfrm>
        </p:grpSpPr>
        <p:sp>
          <p:nvSpPr>
            <p:cNvPr name="Freeform 4" id="4" descr="/home/claude/deck3/img/d_joinha.png"/>
            <p:cNvSpPr/>
            <p:nvPr/>
          </p:nvSpPr>
          <p:spPr>
            <a:xfrm flipH="false" flipV="false" rot="0">
              <a:off x="0" y="0"/>
              <a:ext cx="2194560" cy="2349627"/>
            </a:xfrm>
            <a:custGeom>
              <a:avLst/>
              <a:gdLst/>
              <a:ahLst/>
              <a:cxnLst/>
              <a:rect r="r" b="b" t="t" l="l"/>
              <a:pathLst>
                <a:path h="2349627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49627"/>
                  </a:lnTo>
                  <a:lnTo>
                    <a:pt x="0" y="23496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" t="0" r="-14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PNED e o calendário da exigência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822960" y="1988820"/>
            <a:ext cx="822960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Eixo Educação Digital Escolar (art. 3º)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09447" y="2802255"/>
            <a:ext cx="8015478" cy="704850"/>
            <a:chOff x="0" y="0"/>
            <a:chExt cx="10687304" cy="939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687304" cy="939800"/>
            </a:xfrm>
            <a:custGeom>
              <a:avLst/>
              <a:gdLst/>
              <a:ahLst/>
              <a:cxnLst/>
              <a:rect r="r" b="b" t="t" l="l"/>
              <a:pathLst>
                <a:path h="939800" w="10687304">
                  <a:moveTo>
                    <a:pt x="0" y="0"/>
                  </a:moveTo>
                  <a:lnTo>
                    <a:pt x="10687304" y="0"/>
                  </a:lnTo>
                  <a:lnTo>
                    <a:pt x="10687304" y="939800"/>
                  </a:lnTo>
                  <a:lnTo>
                    <a:pt x="0" y="9398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811054" y="2703862"/>
            <a:ext cx="8020240" cy="709612"/>
            <a:chOff x="0" y="0"/>
            <a:chExt cx="10693654" cy="94615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693654" cy="946150"/>
            </a:xfrm>
            <a:custGeom>
              <a:avLst/>
              <a:gdLst/>
              <a:ahLst/>
              <a:cxnLst/>
              <a:rect r="r" b="b" t="t" l="l"/>
              <a:pathLst>
                <a:path h="946150" w="10693654">
                  <a:moveTo>
                    <a:pt x="0" y="0"/>
                  </a:moveTo>
                  <a:lnTo>
                    <a:pt x="10693654" y="0"/>
                  </a:lnTo>
                  <a:lnTo>
                    <a:pt x="10693654" y="946150"/>
                  </a:lnTo>
                  <a:lnTo>
                    <a:pt x="0" y="9461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822960" y="2715768"/>
            <a:ext cx="7996428" cy="685800"/>
            <a:chOff x="0" y="0"/>
            <a:chExt cx="10661904" cy="914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661904" cy="914400"/>
            </a:xfrm>
            <a:custGeom>
              <a:avLst/>
              <a:gdLst/>
              <a:ahLst/>
              <a:cxnLst/>
              <a:rect r="r" b="b" t="t" l="l"/>
              <a:pathLst>
                <a:path h="914400" w="10661904">
                  <a:moveTo>
                    <a:pt x="0" y="0"/>
                  </a:moveTo>
                  <a:lnTo>
                    <a:pt x="10661904" y="0"/>
                  </a:lnTo>
                  <a:lnTo>
                    <a:pt x="1066190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7195" r="0" b="-177195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066190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Pensamento computacional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13435" y="3584067"/>
            <a:ext cx="8015478" cy="704850"/>
            <a:chOff x="0" y="0"/>
            <a:chExt cx="10687304" cy="939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87304" cy="939800"/>
            </a:xfrm>
            <a:custGeom>
              <a:avLst/>
              <a:gdLst/>
              <a:ahLst/>
              <a:cxnLst/>
              <a:rect r="r" b="b" t="t" l="l"/>
              <a:pathLst>
                <a:path h="939800" w="10687304">
                  <a:moveTo>
                    <a:pt x="0" y="0"/>
                  </a:moveTo>
                  <a:lnTo>
                    <a:pt x="10687304" y="0"/>
                  </a:lnTo>
                  <a:lnTo>
                    <a:pt x="10687304" y="939800"/>
                  </a:lnTo>
                  <a:lnTo>
                    <a:pt x="0" y="9398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3593592"/>
            <a:ext cx="7996428" cy="685800"/>
            <a:chOff x="0" y="0"/>
            <a:chExt cx="10661904" cy="914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661904" cy="914400"/>
            </a:xfrm>
            <a:custGeom>
              <a:avLst/>
              <a:gdLst/>
              <a:ahLst/>
              <a:cxnLst/>
              <a:rect r="r" b="b" t="t" l="l"/>
              <a:pathLst>
                <a:path h="914400" w="10661904">
                  <a:moveTo>
                    <a:pt x="0" y="0"/>
                  </a:moveTo>
                  <a:lnTo>
                    <a:pt x="10661904" y="0"/>
                  </a:lnTo>
                  <a:lnTo>
                    <a:pt x="1066190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7195" r="0" b="-17719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1066190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Mundo digital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09447" y="4557903"/>
            <a:ext cx="8015478" cy="704850"/>
            <a:chOff x="0" y="0"/>
            <a:chExt cx="10687304" cy="9398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687304" cy="939800"/>
            </a:xfrm>
            <a:custGeom>
              <a:avLst/>
              <a:gdLst/>
              <a:ahLst/>
              <a:cxnLst/>
              <a:rect r="r" b="b" t="t" l="l"/>
              <a:pathLst>
                <a:path h="939800" w="10687304">
                  <a:moveTo>
                    <a:pt x="0" y="0"/>
                  </a:moveTo>
                  <a:lnTo>
                    <a:pt x="10687304" y="0"/>
                  </a:lnTo>
                  <a:lnTo>
                    <a:pt x="10687304" y="939800"/>
                  </a:lnTo>
                  <a:lnTo>
                    <a:pt x="0" y="9398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4459510"/>
            <a:ext cx="8020240" cy="709612"/>
            <a:chOff x="0" y="0"/>
            <a:chExt cx="10693654" cy="94615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693654" cy="946150"/>
            </a:xfrm>
            <a:custGeom>
              <a:avLst/>
              <a:gdLst/>
              <a:ahLst/>
              <a:cxnLst/>
              <a:rect r="r" b="b" t="t" l="l"/>
              <a:pathLst>
                <a:path h="946150" w="10693654">
                  <a:moveTo>
                    <a:pt x="0" y="0"/>
                  </a:moveTo>
                  <a:lnTo>
                    <a:pt x="10693654" y="0"/>
                  </a:lnTo>
                  <a:lnTo>
                    <a:pt x="10693654" y="946150"/>
                  </a:lnTo>
                  <a:lnTo>
                    <a:pt x="0" y="9461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822960" y="4471416"/>
            <a:ext cx="7996428" cy="685800"/>
            <a:chOff x="0" y="0"/>
            <a:chExt cx="10661904" cy="9144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661904" cy="914400"/>
            </a:xfrm>
            <a:custGeom>
              <a:avLst/>
              <a:gdLst/>
              <a:ahLst/>
              <a:cxnLst/>
              <a:rect r="r" b="b" t="t" l="l"/>
              <a:pathLst>
                <a:path h="914400" w="10661904">
                  <a:moveTo>
                    <a:pt x="0" y="0"/>
                  </a:moveTo>
                  <a:lnTo>
                    <a:pt x="10661904" y="0"/>
                  </a:lnTo>
                  <a:lnTo>
                    <a:pt x="1066190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7195" r="0" b="-17719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1066190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digital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813435" y="5339715"/>
            <a:ext cx="8015478" cy="704850"/>
            <a:chOff x="0" y="0"/>
            <a:chExt cx="10687304" cy="939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687304" cy="939800"/>
            </a:xfrm>
            <a:custGeom>
              <a:avLst/>
              <a:gdLst/>
              <a:ahLst/>
              <a:cxnLst/>
              <a:rect r="r" b="b" t="t" l="l"/>
              <a:pathLst>
                <a:path h="939800" w="10687304">
                  <a:moveTo>
                    <a:pt x="0" y="0"/>
                  </a:moveTo>
                  <a:lnTo>
                    <a:pt x="10687304" y="0"/>
                  </a:lnTo>
                  <a:lnTo>
                    <a:pt x="10687304" y="939800"/>
                  </a:lnTo>
                  <a:lnTo>
                    <a:pt x="0" y="9398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5349240"/>
            <a:ext cx="7996428" cy="685800"/>
            <a:chOff x="0" y="0"/>
            <a:chExt cx="10661904" cy="9144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661904" cy="914400"/>
            </a:xfrm>
            <a:custGeom>
              <a:avLst/>
              <a:gdLst/>
              <a:ahLst/>
              <a:cxnLst/>
              <a:rect r="r" b="b" t="t" l="l"/>
              <a:pathLst>
                <a:path h="914400" w="10661904">
                  <a:moveTo>
                    <a:pt x="0" y="0"/>
                  </a:moveTo>
                  <a:lnTo>
                    <a:pt x="10661904" y="0"/>
                  </a:lnTo>
                  <a:lnTo>
                    <a:pt x="1066190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7195" r="0" b="-17719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1066190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Direitos digitais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09447" y="6313551"/>
            <a:ext cx="8015478" cy="704850"/>
            <a:chOff x="0" y="0"/>
            <a:chExt cx="10687304" cy="9398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687304" cy="939800"/>
            </a:xfrm>
            <a:custGeom>
              <a:avLst/>
              <a:gdLst/>
              <a:ahLst/>
              <a:cxnLst/>
              <a:rect r="r" b="b" t="t" l="l"/>
              <a:pathLst>
                <a:path h="939800" w="10687304">
                  <a:moveTo>
                    <a:pt x="0" y="0"/>
                  </a:moveTo>
                  <a:lnTo>
                    <a:pt x="10687304" y="0"/>
                  </a:lnTo>
                  <a:lnTo>
                    <a:pt x="10687304" y="939800"/>
                  </a:lnTo>
                  <a:lnTo>
                    <a:pt x="0" y="9398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811054" y="6215158"/>
            <a:ext cx="8020240" cy="709612"/>
            <a:chOff x="0" y="0"/>
            <a:chExt cx="10693654" cy="94615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693654" cy="946150"/>
            </a:xfrm>
            <a:custGeom>
              <a:avLst/>
              <a:gdLst/>
              <a:ahLst/>
              <a:cxnLst/>
              <a:rect r="r" b="b" t="t" l="l"/>
              <a:pathLst>
                <a:path h="946150" w="10693654">
                  <a:moveTo>
                    <a:pt x="0" y="0"/>
                  </a:moveTo>
                  <a:lnTo>
                    <a:pt x="10693654" y="0"/>
                  </a:lnTo>
                  <a:lnTo>
                    <a:pt x="10693654" y="946150"/>
                  </a:lnTo>
                  <a:lnTo>
                    <a:pt x="0" y="9461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822960" y="6227064"/>
            <a:ext cx="7996428" cy="685800"/>
            <a:chOff x="0" y="0"/>
            <a:chExt cx="10661904" cy="9144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661904" cy="914400"/>
            </a:xfrm>
            <a:custGeom>
              <a:avLst/>
              <a:gdLst/>
              <a:ahLst/>
              <a:cxnLst/>
              <a:rect r="r" b="b" t="t" l="l"/>
              <a:pathLst>
                <a:path h="914400" w="10661904">
                  <a:moveTo>
                    <a:pt x="0" y="0"/>
                  </a:moveTo>
                  <a:lnTo>
                    <a:pt x="10661904" y="0"/>
                  </a:lnTo>
                  <a:lnTo>
                    <a:pt x="1066190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7195" r="0" b="-177195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0"/>
              <a:ext cx="1066190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Tecnologia assistiva</a:t>
              </a: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822960" y="7259955"/>
            <a:ext cx="8092440" cy="969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Cabe muita coisa num só eixo, e nenhuma finalidade se sobrepõe às outras.</a:t>
            </a:r>
          </a:p>
        </p:txBody>
      </p:sp>
      <p:sp>
        <p:nvSpPr>
          <p:cNvPr name="AutoShape 46" id="46"/>
          <p:cNvSpPr/>
          <p:nvPr/>
        </p:nvSpPr>
        <p:spPr>
          <a:xfrm rot="5380020">
            <a:off x="6941763" y="5648325"/>
            <a:ext cx="6553314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7" id="47"/>
          <p:cNvGrpSpPr/>
          <p:nvPr/>
        </p:nvGrpSpPr>
        <p:grpSpPr>
          <a:xfrm rot="0">
            <a:off x="10000774" y="2251234"/>
            <a:ext cx="435293" cy="435293"/>
            <a:chOff x="0" y="0"/>
            <a:chExt cx="580390" cy="58039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80390" cy="580390"/>
            </a:xfrm>
            <a:custGeom>
              <a:avLst/>
              <a:gdLst/>
              <a:ahLst/>
              <a:cxnLst/>
              <a:rect r="r" b="b" t="t" l="l"/>
              <a:pathLst>
                <a:path h="580390" w="580390">
                  <a:moveTo>
                    <a:pt x="0" y="290195"/>
                  </a:moveTo>
                  <a:cubicBezTo>
                    <a:pt x="0" y="129921"/>
                    <a:pt x="129921" y="0"/>
                    <a:pt x="290195" y="0"/>
                  </a:cubicBezTo>
                  <a:cubicBezTo>
                    <a:pt x="450469" y="0"/>
                    <a:pt x="580390" y="129921"/>
                    <a:pt x="580390" y="290195"/>
                  </a:cubicBezTo>
                  <a:cubicBezTo>
                    <a:pt x="580390" y="450469"/>
                    <a:pt x="450469" y="580390"/>
                    <a:pt x="290195" y="580390"/>
                  </a:cubicBezTo>
                  <a:cubicBezTo>
                    <a:pt x="129921" y="580390"/>
                    <a:pt x="0" y="450469"/>
                    <a:pt x="0" y="290195"/>
                  </a:cubicBez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10767060" y="2194560"/>
            <a:ext cx="672084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jan. 2023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0767060" y="2715768"/>
            <a:ext cx="6720840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Lei sancionada com o Veto Parcial nº 3: o dispositivo que tornava a educação digital componente curricular é vetado.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10000774" y="3924586"/>
            <a:ext cx="435293" cy="435293"/>
            <a:chOff x="0" y="0"/>
            <a:chExt cx="580390" cy="58039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80390" cy="580390"/>
            </a:xfrm>
            <a:custGeom>
              <a:avLst/>
              <a:gdLst/>
              <a:ahLst/>
              <a:cxnLst/>
              <a:rect r="r" b="b" t="t" l="l"/>
              <a:pathLst>
                <a:path h="580390" w="580390">
                  <a:moveTo>
                    <a:pt x="0" y="290195"/>
                  </a:moveTo>
                  <a:cubicBezTo>
                    <a:pt x="0" y="129921"/>
                    <a:pt x="129921" y="0"/>
                    <a:pt x="290195" y="0"/>
                  </a:cubicBezTo>
                  <a:cubicBezTo>
                    <a:pt x="450469" y="0"/>
                    <a:pt x="580390" y="129921"/>
                    <a:pt x="580390" y="290195"/>
                  </a:cubicBezTo>
                  <a:cubicBezTo>
                    <a:pt x="580390" y="450469"/>
                    <a:pt x="450469" y="580390"/>
                    <a:pt x="290195" y="580390"/>
                  </a:cubicBezTo>
                  <a:cubicBezTo>
                    <a:pt x="129921" y="580390"/>
                    <a:pt x="0" y="450469"/>
                    <a:pt x="0" y="290195"/>
                  </a:cubicBez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3" id="53"/>
          <p:cNvSpPr txBox="true"/>
          <p:nvPr/>
        </p:nvSpPr>
        <p:spPr>
          <a:xfrm rot="0">
            <a:off x="10767060" y="3867912"/>
            <a:ext cx="672084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dez. 2023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0767060" y="4389120"/>
            <a:ext cx="6720840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Congresso rejeita o item 1 do veto. A educação digital entra na LDB como componente curricular (art. 26, § 11).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0000774" y="5597938"/>
            <a:ext cx="435293" cy="435293"/>
            <a:chOff x="0" y="0"/>
            <a:chExt cx="580390" cy="58039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580390" cy="580390"/>
            </a:xfrm>
            <a:custGeom>
              <a:avLst/>
              <a:gdLst/>
              <a:ahLst/>
              <a:cxnLst/>
              <a:rect r="r" b="b" t="t" l="l"/>
              <a:pathLst>
                <a:path h="580390" w="580390">
                  <a:moveTo>
                    <a:pt x="0" y="290195"/>
                  </a:moveTo>
                  <a:cubicBezTo>
                    <a:pt x="0" y="129921"/>
                    <a:pt x="129921" y="0"/>
                    <a:pt x="290195" y="0"/>
                  </a:cubicBezTo>
                  <a:cubicBezTo>
                    <a:pt x="450469" y="0"/>
                    <a:pt x="580390" y="129921"/>
                    <a:pt x="580390" y="290195"/>
                  </a:cubicBezTo>
                  <a:cubicBezTo>
                    <a:pt x="580390" y="450469"/>
                    <a:pt x="450469" y="580390"/>
                    <a:pt x="290195" y="580390"/>
                  </a:cubicBezTo>
                  <a:cubicBezTo>
                    <a:pt x="129921" y="580390"/>
                    <a:pt x="0" y="450469"/>
                    <a:pt x="0" y="290195"/>
                  </a:cubicBez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7" id="57"/>
          <p:cNvSpPr txBox="true"/>
          <p:nvPr/>
        </p:nvSpPr>
        <p:spPr>
          <a:xfrm rot="0">
            <a:off x="10767060" y="5541264"/>
            <a:ext cx="672084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2025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0767060" y="6062472"/>
            <a:ext cx="6720840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Resolução CNE/CEB nº 2/2025: novos currículos, com plano de formação docente, elaborados ao longo de 2025.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10000774" y="7271290"/>
            <a:ext cx="435293" cy="435293"/>
            <a:chOff x="0" y="0"/>
            <a:chExt cx="580390" cy="58039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580390" cy="580390"/>
            </a:xfrm>
            <a:custGeom>
              <a:avLst/>
              <a:gdLst/>
              <a:ahLst/>
              <a:cxnLst/>
              <a:rect r="r" b="b" t="t" l="l"/>
              <a:pathLst>
                <a:path h="580390" w="580390">
                  <a:moveTo>
                    <a:pt x="0" y="290195"/>
                  </a:moveTo>
                  <a:cubicBezTo>
                    <a:pt x="0" y="129921"/>
                    <a:pt x="129921" y="0"/>
                    <a:pt x="290195" y="0"/>
                  </a:cubicBezTo>
                  <a:cubicBezTo>
                    <a:pt x="450469" y="0"/>
                    <a:pt x="580390" y="129921"/>
                    <a:pt x="580390" y="290195"/>
                  </a:cubicBezTo>
                  <a:cubicBezTo>
                    <a:pt x="580390" y="450469"/>
                    <a:pt x="450469" y="580390"/>
                    <a:pt x="290195" y="580390"/>
                  </a:cubicBezTo>
                  <a:cubicBezTo>
                    <a:pt x="129921" y="580390"/>
                    <a:pt x="0" y="450469"/>
                    <a:pt x="0" y="290195"/>
                  </a:cubicBezTo>
                  <a:close/>
                </a:path>
              </a:pathLst>
            </a:custGeom>
            <a:solidFill>
              <a:srgbClr val="EE6A1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61" id="61"/>
          <p:cNvSpPr txBox="true"/>
          <p:nvPr/>
        </p:nvSpPr>
        <p:spPr>
          <a:xfrm rot="0">
            <a:off x="10767060" y="7214616"/>
            <a:ext cx="672084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2026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0767060" y="7735824"/>
            <a:ext cx="6720840" cy="1097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Implementação curricular obrigatória. É neste momento que a pesquisa acontece.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 de produção do texto.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Brasil (2023a, art. 3º); LDB, art. 26, § 11; Resolução CNE/CEB nº 2/2025, art. 36.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35225" y="452571"/>
            <a:ext cx="1886072" cy="1332909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promessa e o desenho: a lei promete muito e garante pouco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8056626" cy="2625090"/>
            <a:chOff x="0" y="0"/>
            <a:chExt cx="10742168" cy="35001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76914"/>
            <a:ext cx="8061388" cy="2629852"/>
            <a:chOff x="0" y="0"/>
            <a:chExt cx="10748518" cy="350647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234440" y="2235708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1º, § 3º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34440" y="2852928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PNED se define como “instância de articulação”, que não substitui as políticas de infraestrutura digital e conectividade.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413367" y="2075307"/>
            <a:ext cx="8056626" cy="2625090"/>
            <a:chOff x="0" y="0"/>
            <a:chExt cx="10742168" cy="35001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9314974" y="1976914"/>
            <a:ext cx="8061388" cy="2629852"/>
            <a:chOff x="0" y="0"/>
            <a:chExt cx="10748518" cy="35064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9738360" y="2235708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2º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738360" y="2852928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eixo de inclusão digital, onde está a conectividade das escolas, se desenvolve “dentro dos limites orçamentários” de cada órgão envolvido.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9447" y="4983099"/>
            <a:ext cx="8056626" cy="2625090"/>
            <a:chOff x="0" y="0"/>
            <a:chExt cx="10742168" cy="35001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811054" y="4884706"/>
            <a:ext cx="8061388" cy="2629852"/>
            <a:chOff x="0" y="0"/>
            <a:chExt cx="10748518" cy="350647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9" id="29"/>
          <p:cNvSpPr txBox="true"/>
          <p:nvPr/>
        </p:nvSpPr>
        <p:spPr>
          <a:xfrm rot="0">
            <a:off x="1234440" y="5143500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11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34440" y="5760720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Fontes: dotações dos entes, doações, FUST e Funttel. Nenhum fundo próprio e nenhuma transferência obrigatória aos municípios.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413367" y="4983099"/>
            <a:ext cx="8056626" cy="2625090"/>
            <a:chOff x="0" y="0"/>
            <a:chExt cx="10742168" cy="35001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314974" y="4884706"/>
            <a:ext cx="8061388" cy="2629852"/>
            <a:chOff x="0" y="0"/>
            <a:chExt cx="10748518" cy="35064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9738360" y="5143500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3º, § 1º, IX e X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38360" y="5760720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formação de professores aparece como ação de promoção, sem responsáveis, prazos, carga horária ou custeio.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13435" y="7945755"/>
            <a:ext cx="16656558" cy="1390650"/>
            <a:chOff x="0" y="0"/>
            <a:chExt cx="22208744" cy="18542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2087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34440" y="7955280"/>
            <a:ext cx="15910560" cy="1371600"/>
            <a:chOff x="0" y="0"/>
            <a:chExt cx="21214080" cy="18288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12140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9525"/>
              <a:ext cx="21214080" cy="18192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Vazio material: </a:t>
              </a:r>
              <a:r>
                <a:rPr lang="en-US" sz="24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norma declara o direito e deixa a chegada dos meios à capacidade de cada ente. A exigência curricular tem data marcada; os meios, não.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(2006); Lipsky (2019).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Brasil (2023a).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219170" y="294601"/>
            <a:ext cx="1851660" cy="1618583"/>
            <a:chOff x="0" y="0"/>
            <a:chExt cx="2468880" cy="2158111"/>
          </a:xfrm>
        </p:grpSpPr>
        <p:sp>
          <p:nvSpPr>
            <p:cNvPr name="Freeform 4" id="4" descr="/home/claude/deck3/img/d_lupa.png"/>
            <p:cNvSpPr/>
            <p:nvPr/>
          </p:nvSpPr>
          <p:spPr>
            <a:xfrm flipH="false" flipV="false" rot="0">
              <a:off x="0" y="0"/>
              <a:ext cx="2468880" cy="2158111"/>
            </a:xfrm>
            <a:custGeom>
              <a:avLst/>
              <a:gdLst/>
              <a:ahLst/>
              <a:cxnLst/>
              <a:rect r="r" b="b" t="t" l="l"/>
              <a:pathLst>
                <a:path h="2158111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2158111"/>
                  </a:lnTo>
                  <a:lnTo>
                    <a:pt x="0" y="2158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1" r="0" b="-2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antiga Pipa: trabalho, moradia e mar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34159"/>
            <a:ext cx="4655058" cy="3036570"/>
            <a:chOff x="0" y="0"/>
            <a:chExt cx="6206744" cy="40487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06744" cy="4048760"/>
            </a:xfrm>
            <a:custGeom>
              <a:avLst/>
              <a:gdLst/>
              <a:ahLst/>
              <a:cxnLst/>
              <a:rect r="r" b="b" t="t" l="l"/>
              <a:pathLst>
                <a:path h="4048760" w="6206744">
                  <a:moveTo>
                    <a:pt x="0" y="0"/>
                  </a:moveTo>
                  <a:lnTo>
                    <a:pt x="6206744" y="0"/>
                  </a:lnTo>
                  <a:lnTo>
                    <a:pt x="6206744" y="4048760"/>
                  </a:lnTo>
                  <a:lnTo>
                    <a:pt x="0" y="40487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47672"/>
            <a:ext cx="4636008" cy="3017520"/>
            <a:chOff x="0" y="0"/>
            <a:chExt cx="6181344" cy="4023360"/>
          </a:xfrm>
        </p:grpSpPr>
        <p:sp>
          <p:nvSpPr>
            <p:cNvPr name="Freeform 16" id="16" descr="/home/claude/deck3/img/fig03.jpg"/>
            <p:cNvSpPr/>
            <p:nvPr/>
          </p:nvSpPr>
          <p:spPr>
            <a:xfrm flipH="false" flipV="false" rot="0">
              <a:off x="0" y="0"/>
              <a:ext cx="6181344" cy="4023360"/>
            </a:xfrm>
            <a:custGeom>
              <a:avLst/>
              <a:gdLst/>
              <a:ahLst/>
              <a:cxnLst/>
              <a:rect r="r" b="b" t="t" l="l"/>
              <a:pathLst>
                <a:path h="4023360" w="6181344">
                  <a:moveTo>
                    <a:pt x="0" y="0"/>
                  </a:moveTo>
                  <a:lnTo>
                    <a:pt x="6181344" y="0"/>
                  </a:lnTo>
                  <a:lnTo>
                    <a:pt x="6181344" y="4023360"/>
                  </a:lnTo>
                  <a:lnTo>
                    <a:pt x="0" y="4023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-11557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35766"/>
            <a:ext cx="4659820" cy="3041333"/>
            <a:chOff x="0" y="0"/>
            <a:chExt cx="6213094" cy="405511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213094" cy="4055110"/>
            </a:xfrm>
            <a:custGeom>
              <a:avLst/>
              <a:gdLst/>
              <a:ahLst/>
              <a:cxnLst/>
              <a:rect r="r" b="b" t="t" l="l"/>
              <a:pathLst>
                <a:path h="4055110" w="6213094">
                  <a:moveTo>
                    <a:pt x="0" y="0"/>
                  </a:moveTo>
                  <a:lnTo>
                    <a:pt x="6213094" y="0"/>
                  </a:lnTo>
                  <a:lnTo>
                    <a:pt x="6213094" y="4055110"/>
                  </a:lnTo>
                  <a:lnTo>
                    <a:pt x="0" y="40551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740" t="0" r="-33740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822960" y="5102352"/>
            <a:ext cx="46360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Construção artesanal de embarcação (Figura 3)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5847207" y="2034159"/>
            <a:ext cx="4655058" cy="3036570"/>
            <a:chOff x="0" y="0"/>
            <a:chExt cx="6206744" cy="40487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206744" cy="4048760"/>
            </a:xfrm>
            <a:custGeom>
              <a:avLst/>
              <a:gdLst/>
              <a:ahLst/>
              <a:cxnLst/>
              <a:rect r="r" b="b" t="t" l="l"/>
              <a:pathLst>
                <a:path h="4048760" w="6206744">
                  <a:moveTo>
                    <a:pt x="0" y="0"/>
                  </a:moveTo>
                  <a:lnTo>
                    <a:pt x="6206744" y="0"/>
                  </a:lnTo>
                  <a:lnTo>
                    <a:pt x="6206744" y="4048760"/>
                  </a:lnTo>
                  <a:lnTo>
                    <a:pt x="0" y="40487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760720" y="1947672"/>
            <a:ext cx="4636008" cy="3017520"/>
            <a:chOff x="0" y="0"/>
            <a:chExt cx="6181344" cy="4023360"/>
          </a:xfrm>
        </p:grpSpPr>
        <p:sp>
          <p:nvSpPr>
            <p:cNvPr name="Freeform 23" id="23" descr="/home/claude/deck3/img/fig07.jpg"/>
            <p:cNvSpPr/>
            <p:nvPr/>
          </p:nvSpPr>
          <p:spPr>
            <a:xfrm flipH="false" flipV="false" rot="0">
              <a:off x="0" y="0"/>
              <a:ext cx="6181344" cy="4023360"/>
            </a:xfrm>
            <a:custGeom>
              <a:avLst/>
              <a:gdLst/>
              <a:ahLst/>
              <a:cxnLst/>
              <a:rect r="r" b="b" t="t" l="l"/>
              <a:pathLst>
                <a:path h="4023360" w="6181344">
                  <a:moveTo>
                    <a:pt x="0" y="0"/>
                  </a:moveTo>
                  <a:lnTo>
                    <a:pt x="6181344" y="0"/>
                  </a:lnTo>
                  <a:lnTo>
                    <a:pt x="6181344" y="4023360"/>
                  </a:lnTo>
                  <a:lnTo>
                    <a:pt x="0" y="4023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-2546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5748814" y="1935766"/>
            <a:ext cx="4659820" cy="3041333"/>
            <a:chOff x="0" y="0"/>
            <a:chExt cx="6213094" cy="405511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213094" cy="4055110"/>
            </a:xfrm>
            <a:custGeom>
              <a:avLst/>
              <a:gdLst/>
              <a:ahLst/>
              <a:cxnLst/>
              <a:rect r="r" b="b" t="t" l="l"/>
              <a:pathLst>
                <a:path h="4055110" w="6213094">
                  <a:moveTo>
                    <a:pt x="0" y="0"/>
                  </a:moveTo>
                  <a:lnTo>
                    <a:pt x="6213094" y="0"/>
                  </a:lnTo>
                  <a:lnTo>
                    <a:pt x="6213094" y="4055110"/>
                  </a:lnTo>
                  <a:lnTo>
                    <a:pt x="0" y="40551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740" t="0" r="-33740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5760720" y="5102352"/>
            <a:ext cx="46360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Embarcações de pesca na enseada (Figura 7)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909447" y="5764911"/>
            <a:ext cx="4655058" cy="3036570"/>
            <a:chOff x="0" y="0"/>
            <a:chExt cx="6206744" cy="40487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206744" cy="4048760"/>
            </a:xfrm>
            <a:custGeom>
              <a:avLst/>
              <a:gdLst/>
              <a:ahLst/>
              <a:cxnLst/>
              <a:rect r="r" b="b" t="t" l="l"/>
              <a:pathLst>
                <a:path h="4048760" w="6206744">
                  <a:moveTo>
                    <a:pt x="0" y="0"/>
                  </a:moveTo>
                  <a:lnTo>
                    <a:pt x="6206744" y="0"/>
                  </a:lnTo>
                  <a:lnTo>
                    <a:pt x="6206744" y="4048760"/>
                  </a:lnTo>
                  <a:lnTo>
                    <a:pt x="0" y="40487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5678424"/>
            <a:ext cx="4636008" cy="3017520"/>
            <a:chOff x="0" y="0"/>
            <a:chExt cx="6181344" cy="4023360"/>
          </a:xfrm>
        </p:grpSpPr>
        <p:sp>
          <p:nvSpPr>
            <p:cNvPr name="Freeform 30" id="30" descr="/home/claude/deck3/img/fig09.jpg"/>
            <p:cNvSpPr/>
            <p:nvPr/>
          </p:nvSpPr>
          <p:spPr>
            <a:xfrm flipH="false" flipV="false" rot="0">
              <a:off x="0" y="0"/>
              <a:ext cx="6181344" cy="4023360"/>
            </a:xfrm>
            <a:custGeom>
              <a:avLst/>
              <a:gdLst/>
              <a:ahLst/>
              <a:cxnLst/>
              <a:rect r="r" b="b" t="t" l="l"/>
              <a:pathLst>
                <a:path h="4023360" w="6181344">
                  <a:moveTo>
                    <a:pt x="0" y="0"/>
                  </a:moveTo>
                  <a:lnTo>
                    <a:pt x="6181344" y="0"/>
                  </a:lnTo>
                  <a:lnTo>
                    <a:pt x="6181344" y="4023360"/>
                  </a:lnTo>
                  <a:lnTo>
                    <a:pt x="0" y="4023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-23677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11054" y="5666518"/>
            <a:ext cx="4659820" cy="3041333"/>
            <a:chOff x="0" y="0"/>
            <a:chExt cx="6213094" cy="405511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213094" cy="4055110"/>
            </a:xfrm>
            <a:custGeom>
              <a:avLst/>
              <a:gdLst/>
              <a:ahLst/>
              <a:cxnLst/>
              <a:rect r="r" b="b" t="t" l="l"/>
              <a:pathLst>
                <a:path h="4055110" w="6213094">
                  <a:moveTo>
                    <a:pt x="0" y="0"/>
                  </a:moveTo>
                  <a:lnTo>
                    <a:pt x="6213094" y="0"/>
                  </a:lnTo>
                  <a:lnTo>
                    <a:pt x="6213094" y="4055110"/>
                  </a:lnTo>
                  <a:lnTo>
                    <a:pt x="0" y="40551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740" t="0" r="-33740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822960" y="8833104"/>
            <a:ext cx="46360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Mutirão para curral de pesca (Figura 9)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5847207" y="5764911"/>
            <a:ext cx="4655058" cy="3036570"/>
            <a:chOff x="0" y="0"/>
            <a:chExt cx="6206744" cy="404876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206744" cy="4048760"/>
            </a:xfrm>
            <a:custGeom>
              <a:avLst/>
              <a:gdLst/>
              <a:ahLst/>
              <a:cxnLst/>
              <a:rect r="r" b="b" t="t" l="l"/>
              <a:pathLst>
                <a:path h="4048760" w="6206744">
                  <a:moveTo>
                    <a:pt x="0" y="0"/>
                  </a:moveTo>
                  <a:lnTo>
                    <a:pt x="6206744" y="0"/>
                  </a:lnTo>
                  <a:lnTo>
                    <a:pt x="6206744" y="4048760"/>
                  </a:lnTo>
                  <a:lnTo>
                    <a:pt x="0" y="40487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5760720" y="5678424"/>
            <a:ext cx="4636008" cy="3017520"/>
            <a:chOff x="0" y="0"/>
            <a:chExt cx="6181344" cy="4023360"/>
          </a:xfrm>
        </p:grpSpPr>
        <p:sp>
          <p:nvSpPr>
            <p:cNvPr name="Freeform 37" id="37" descr="/home/claude/deck3/img/fig10.jpg"/>
            <p:cNvSpPr/>
            <p:nvPr/>
          </p:nvSpPr>
          <p:spPr>
            <a:xfrm flipH="false" flipV="false" rot="0">
              <a:off x="0" y="0"/>
              <a:ext cx="6181344" cy="4023360"/>
            </a:xfrm>
            <a:custGeom>
              <a:avLst/>
              <a:gdLst/>
              <a:ahLst/>
              <a:cxnLst/>
              <a:rect r="r" b="b" t="t" l="l"/>
              <a:pathLst>
                <a:path h="4023360" w="6181344">
                  <a:moveTo>
                    <a:pt x="0" y="0"/>
                  </a:moveTo>
                  <a:lnTo>
                    <a:pt x="6181344" y="0"/>
                  </a:lnTo>
                  <a:lnTo>
                    <a:pt x="6181344" y="4023360"/>
                  </a:lnTo>
                  <a:lnTo>
                    <a:pt x="0" y="4023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-2210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5748814" y="5666518"/>
            <a:ext cx="4659820" cy="3041333"/>
            <a:chOff x="0" y="0"/>
            <a:chExt cx="6213094" cy="405511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213094" cy="4055110"/>
            </a:xfrm>
            <a:custGeom>
              <a:avLst/>
              <a:gdLst/>
              <a:ahLst/>
              <a:cxnLst/>
              <a:rect r="r" b="b" t="t" l="l"/>
              <a:pathLst>
                <a:path h="4055110" w="6213094">
                  <a:moveTo>
                    <a:pt x="0" y="0"/>
                  </a:moveTo>
                  <a:lnTo>
                    <a:pt x="6213094" y="0"/>
                  </a:lnTo>
                  <a:lnTo>
                    <a:pt x="6213094" y="4055110"/>
                  </a:lnTo>
                  <a:lnTo>
                    <a:pt x="0" y="40551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740" t="0" r="-33740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40" id="40"/>
          <p:cNvSpPr txBox="true"/>
          <p:nvPr/>
        </p:nvSpPr>
        <p:spPr>
          <a:xfrm rot="0">
            <a:off x="5760720" y="8833104"/>
            <a:ext cx="46360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O cruzeiro na falésia (Figura 10)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10990707" y="2034159"/>
            <a:ext cx="6479286" cy="7357110"/>
            <a:chOff x="0" y="0"/>
            <a:chExt cx="8639048" cy="98094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8639048" cy="9809480"/>
            </a:xfrm>
            <a:custGeom>
              <a:avLst/>
              <a:gdLst/>
              <a:ahLst/>
              <a:cxnLst/>
              <a:rect r="r" b="b" t="t" l="l"/>
              <a:pathLst>
                <a:path h="9809480" w="8639048">
                  <a:moveTo>
                    <a:pt x="0" y="0"/>
                  </a:moveTo>
                  <a:lnTo>
                    <a:pt x="8639048" y="0"/>
                  </a:lnTo>
                  <a:lnTo>
                    <a:pt x="8639048" y="9809480"/>
                  </a:lnTo>
                  <a:lnTo>
                    <a:pt x="0" y="98094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10892314" y="1935766"/>
            <a:ext cx="6484048" cy="7361872"/>
            <a:chOff x="0" y="0"/>
            <a:chExt cx="8645398" cy="981583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645398" cy="9815830"/>
            </a:xfrm>
            <a:custGeom>
              <a:avLst/>
              <a:gdLst/>
              <a:ahLst/>
              <a:cxnLst/>
              <a:rect r="r" b="b" t="t" l="l"/>
              <a:pathLst>
                <a:path h="9815830" w="8645398">
                  <a:moveTo>
                    <a:pt x="0" y="0"/>
                  </a:moveTo>
                  <a:lnTo>
                    <a:pt x="8645398" y="0"/>
                  </a:lnTo>
                  <a:lnTo>
                    <a:pt x="8645398" y="9815830"/>
                  </a:lnTo>
                  <a:lnTo>
                    <a:pt x="0" y="98158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45" id="45"/>
          <p:cNvSpPr txBox="true"/>
          <p:nvPr/>
        </p:nvSpPr>
        <p:spPr>
          <a:xfrm rot="0">
            <a:off x="11247120" y="2162937"/>
            <a:ext cx="5897880" cy="539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as imagens registram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1247120" y="2829687"/>
            <a:ext cx="5897880" cy="6318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6474" indent="-183237" lvl="1">
              <a:lnSpc>
                <a:spcPts val="2430"/>
              </a:lnSpc>
              <a:buFont typeface="Arial"/>
              <a:buChar char="•"/>
            </a:pPr>
            <a:r>
              <a:rPr lang="en-US" sz="20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Uma organização do território em que trabalho, moradia e atividade marítima estavam articulados.</a:t>
            </a:r>
          </a:p>
          <a:p>
            <a:pPr algn="l" marL="366474" indent="-183237" lvl="1">
              <a:lnSpc>
                <a:spcPts val="2430"/>
              </a:lnSpc>
              <a:buFont typeface="Arial"/>
              <a:buChar char="•"/>
            </a:pPr>
            <a:r>
              <a:rPr lang="en-US" sz="20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conhecimento aprendido no próprio fazer, em trabalho coletivo, como no mutirão.</a:t>
            </a:r>
          </a:p>
          <a:p>
            <a:pPr algn="l" marL="366474" indent="-183237" lvl="1">
              <a:lnSpc>
                <a:spcPts val="2430"/>
              </a:lnSpc>
              <a:buFont typeface="Arial"/>
              <a:buChar char="•"/>
            </a:pPr>
            <a:r>
              <a:rPr lang="en-US" sz="20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 Santos, a paisagem é “história congelada”: testemunha a sucessão dos meios de trabalho.</a:t>
            </a:r>
          </a:p>
          <a:p>
            <a:pPr algn="l" marL="366474" indent="-183237" lvl="1">
              <a:lnSpc>
                <a:spcPts val="2430"/>
              </a:lnSpc>
              <a:buFont typeface="Arial"/>
              <a:buChar char="•"/>
            </a:pPr>
            <a:r>
              <a:rPr lang="en-US" sz="20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 Massey, evitamos a nostalgia que congelaria a vila de pescadores num passado idealizado.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Santos (2006); Massey (2008); Freire (2019).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Museu Digital de Pipa / acervo da pesquisa (2026).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Pipa de hoje: um território conectado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09447" y="2034159"/>
            <a:ext cx="7288530" cy="5299710"/>
            <a:chOff x="0" y="0"/>
            <a:chExt cx="9718040" cy="70662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718040" cy="7066280"/>
            </a:xfrm>
            <a:custGeom>
              <a:avLst/>
              <a:gdLst/>
              <a:ahLst/>
              <a:cxnLst/>
              <a:rect r="r" b="b" t="t" l="l"/>
              <a:pathLst>
                <a:path h="7066280" w="9718040">
                  <a:moveTo>
                    <a:pt x="0" y="0"/>
                  </a:moveTo>
                  <a:lnTo>
                    <a:pt x="9718040" y="0"/>
                  </a:lnTo>
                  <a:lnTo>
                    <a:pt x="971804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822960" y="1947672"/>
            <a:ext cx="7269480" cy="5280660"/>
            <a:chOff x="0" y="0"/>
            <a:chExt cx="9692640" cy="7040880"/>
          </a:xfrm>
        </p:grpSpPr>
        <p:sp>
          <p:nvSpPr>
            <p:cNvPr name="Freeform 14" id="14" descr="/home/claude/deck3/img/pipa_aerea.jpg"/>
            <p:cNvSpPr/>
            <p:nvPr/>
          </p:nvSpPr>
          <p:spPr>
            <a:xfrm flipH="false" flipV="false" rot="0">
              <a:off x="0" y="0"/>
              <a:ext cx="9692640" cy="7040880"/>
            </a:xfrm>
            <a:custGeom>
              <a:avLst/>
              <a:gdLst/>
              <a:ahLst/>
              <a:cxnLst/>
              <a:rect r="r" b="b" t="t" l="l"/>
              <a:pathLst>
                <a:path h="7040880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-152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35766"/>
            <a:ext cx="7293293" cy="5304472"/>
            <a:chOff x="0" y="0"/>
            <a:chExt cx="9724390" cy="707263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724390" cy="7072630"/>
            </a:xfrm>
            <a:custGeom>
              <a:avLst/>
              <a:gdLst/>
              <a:ahLst/>
              <a:cxnLst/>
              <a:rect r="r" b="b" t="t" l="l"/>
              <a:pathLst>
                <a:path h="7072630" w="9724390">
                  <a:moveTo>
                    <a:pt x="0" y="0"/>
                  </a:moveTo>
                  <a:lnTo>
                    <a:pt x="9724390" y="0"/>
                  </a:lnTo>
                  <a:lnTo>
                    <a:pt x="9724390" y="7072630"/>
                  </a:lnTo>
                  <a:lnTo>
                    <a:pt x="0" y="70726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3316" t="0" r="-43316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822960" y="7365492"/>
            <a:ext cx="726948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Vista contemporânea de Pipa (Figura 15)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480679" y="2034159"/>
            <a:ext cx="3036570" cy="5299710"/>
            <a:chOff x="0" y="0"/>
            <a:chExt cx="4048760" cy="7066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048760" cy="7066280"/>
            </a:xfrm>
            <a:custGeom>
              <a:avLst/>
              <a:gdLst/>
              <a:ahLst/>
              <a:cxnLst/>
              <a:rect r="r" b="b" t="t" l="l"/>
              <a:pathLst>
                <a:path h="7066280" w="4048760">
                  <a:moveTo>
                    <a:pt x="0" y="0"/>
                  </a:moveTo>
                  <a:lnTo>
                    <a:pt x="4048760" y="0"/>
                  </a:lnTo>
                  <a:lnTo>
                    <a:pt x="404876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394192" y="1947672"/>
            <a:ext cx="3017520" cy="5280660"/>
            <a:chOff x="0" y="0"/>
            <a:chExt cx="4023360" cy="7040880"/>
          </a:xfrm>
        </p:grpSpPr>
        <p:sp>
          <p:nvSpPr>
            <p:cNvPr name="Freeform 21" id="21" descr="/home/claude/deck3/img/fig19.jpg"/>
            <p:cNvSpPr/>
            <p:nvPr/>
          </p:nvSpPr>
          <p:spPr>
            <a:xfrm flipH="false" flipV="false" rot="0">
              <a:off x="0" y="0"/>
              <a:ext cx="4023360" cy="7040880"/>
            </a:xfrm>
            <a:custGeom>
              <a:avLst/>
              <a:gdLst/>
              <a:ahLst/>
              <a:cxnLst/>
              <a:rect r="r" b="b" t="t" l="l"/>
              <a:pathLst>
                <a:path h="704088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-1373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382286" y="1935766"/>
            <a:ext cx="3041333" cy="5304472"/>
            <a:chOff x="0" y="0"/>
            <a:chExt cx="4055110" cy="707263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055110" cy="7072630"/>
            </a:xfrm>
            <a:custGeom>
              <a:avLst/>
              <a:gdLst/>
              <a:ahLst/>
              <a:cxnLst/>
              <a:rect r="r" b="b" t="t" l="l"/>
              <a:pathLst>
                <a:path h="7072630" w="4055110">
                  <a:moveTo>
                    <a:pt x="0" y="0"/>
                  </a:moveTo>
                  <a:lnTo>
                    <a:pt x="4055110" y="0"/>
                  </a:lnTo>
                  <a:lnTo>
                    <a:pt x="4055110" y="7072630"/>
                  </a:lnTo>
                  <a:lnTo>
                    <a:pt x="0" y="70726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73777" t="0" r="-173777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8394192" y="7365492"/>
            <a:ext cx="301752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Pescador hoje (Figura 21)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1799951" y="2034159"/>
            <a:ext cx="5670042" cy="5299710"/>
            <a:chOff x="0" y="0"/>
            <a:chExt cx="7560056" cy="706628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560056" cy="7066280"/>
            </a:xfrm>
            <a:custGeom>
              <a:avLst/>
              <a:gdLst/>
              <a:ahLst/>
              <a:cxnLst/>
              <a:rect r="r" b="b" t="t" l="l"/>
              <a:pathLst>
                <a:path h="7066280" w="7560056">
                  <a:moveTo>
                    <a:pt x="0" y="0"/>
                  </a:moveTo>
                  <a:lnTo>
                    <a:pt x="7560056" y="0"/>
                  </a:lnTo>
                  <a:lnTo>
                    <a:pt x="7560056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1713464" y="1947672"/>
            <a:ext cx="5650992" cy="5280660"/>
            <a:chOff x="0" y="0"/>
            <a:chExt cx="7534656" cy="7040880"/>
          </a:xfrm>
        </p:grpSpPr>
        <p:sp>
          <p:nvSpPr>
            <p:cNvPr name="Freeform 28" id="28" descr="/home/claude/deck3/img/fig20.jpg"/>
            <p:cNvSpPr/>
            <p:nvPr/>
          </p:nvSpPr>
          <p:spPr>
            <a:xfrm flipH="false" flipV="false" rot="0">
              <a:off x="0" y="0"/>
              <a:ext cx="7534656" cy="7040880"/>
            </a:xfrm>
            <a:custGeom>
              <a:avLst/>
              <a:gdLst/>
              <a:ahLst/>
              <a:cxnLst/>
              <a:rect r="r" b="b" t="t" l="l"/>
              <a:pathLst>
                <a:path h="7040880" w="7534656">
                  <a:moveTo>
                    <a:pt x="0" y="0"/>
                  </a:moveTo>
                  <a:lnTo>
                    <a:pt x="7534656" y="0"/>
                  </a:lnTo>
                  <a:lnTo>
                    <a:pt x="7534656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26757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1701558" y="1935766"/>
            <a:ext cx="5674804" cy="5304472"/>
            <a:chOff x="0" y="0"/>
            <a:chExt cx="7566406" cy="707263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566406" cy="7072630"/>
            </a:xfrm>
            <a:custGeom>
              <a:avLst/>
              <a:gdLst/>
              <a:ahLst/>
              <a:cxnLst/>
              <a:rect r="r" b="b" t="t" l="l"/>
              <a:pathLst>
                <a:path h="7072630" w="7566406">
                  <a:moveTo>
                    <a:pt x="0" y="0"/>
                  </a:moveTo>
                  <a:lnTo>
                    <a:pt x="7566406" y="0"/>
                  </a:lnTo>
                  <a:lnTo>
                    <a:pt x="7566406" y="7072630"/>
                  </a:lnTo>
                  <a:lnTo>
                    <a:pt x="0" y="70726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9930" t="0" r="-69930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1" id="31"/>
          <p:cNvSpPr txBox="true"/>
          <p:nvPr/>
        </p:nvSpPr>
        <p:spPr>
          <a:xfrm rot="0">
            <a:off x="11713464" y="7365492"/>
            <a:ext cx="5650992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Passeios na baía (Figura 20)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813435" y="7945755"/>
            <a:ext cx="16656558" cy="1390650"/>
            <a:chOff x="0" y="0"/>
            <a:chExt cx="22208744" cy="18542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2087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1234440" y="7955280"/>
            <a:ext cx="15910560" cy="1371600"/>
            <a:chOff x="0" y="0"/>
            <a:chExt cx="21214080" cy="18288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12140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21214080" cy="1828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Habitar digital: </a:t>
              </a:r>
              <a:r>
                <a:rPr lang="en-US" sz="22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tecnologias atravessam os circuitos do turismo e se distribuem de modo desigual; a pesca continua no mesmo mar dos passeios (Figura 21).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Santos (2006): habitar e território usado; Massey (2008).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(2026), Figuras 15, 20 e 21.</a:t>
            </a:r>
          </a:p>
        </p:txBody>
      </p:sp>
      <p:grpSp>
        <p:nvGrpSpPr>
          <p:cNvPr name="Group 38" id="38"/>
          <p:cNvGrpSpPr/>
          <p:nvPr/>
        </p:nvGrpSpPr>
        <p:grpSpPr>
          <a:xfrm rot="-480000">
            <a:off x="16459200" y="144937"/>
            <a:ext cx="1371600" cy="1767526"/>
            <a:chOff x="0" y="0"/>
            <a:chExt cx="1828800" cy="2356701"/>
          </a:xfrm>
        </p:grpSpPr>
        <p:sp>
          <p:nvSpPr>
            <p:cNvPr name="Freeform 39" id="39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22" t="0" r="-22" b="1"/>
              </a:stretch>
            </a:blipFill>
          </p:spPr>
        </p:sp>
      </p:grp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720000">
            <a:off x="16520922" y="140475"/>
            <a:ext cx="1303020" cy="1777651"/>
            <a:chOff x="0" y="0"/>
            <a:chExt cx="1737360" cy="2370201"/>
          </a:xfrm>
        </p:grpSpPr>
        <p:sp>
          <p:nvSpPr>
            <p:cNvPr name="Freeform 4" id="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Na escola: o que existe e onde está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34159"/>
            <a:ext cx="5313426" cy="3173730"/>
            <a:chOff x="0" y="0"/>
            <a:chExt cx="7084568" cy="4231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47672"/>
            <a:ext cx="5294376" cy="3154680"/>
            <a:chOff x="0" y="0"/>
            <a:chExt cx="7059168" cy="4206240"/>
          </a:xfrm>
        </p:grpSpPr>
        <p:sp>
          <p:nvSpPr>
            <p:cNvPr name="Freeform 16" id="16" descr="/home/claude/deck3/img/laboratori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5929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35766"/>
            <a:ext cx="5318188" cy="3178492"/>
            <a:chOff x="0" y="0"/>
            <a:chExt cx="7090918" cy="42379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82296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 (Figura 25)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6533007" y="2034159"/>
            <a:ext cx="5313426" cy="3173730"/>
            <a:chOff x="0" y="0"/>
            <a:chExt cx="7084568" cy="4231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446520" y="1947672"/>
            <a:ext cx="5294376" cy="3154680"/>
            <a:chOff x="0" y="0"/>
            <a:chExt cx="7059168" cy="4206240"/>
          </a:xfrm>
        </p:grpSpPr>
        <p:sp>
          <p:nvSpPr>
            <p:cNvPr name="Freeform 23" id="23" descr="/home/claude/deck3/img/sala_semicircul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5929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434614" y="1935766"/>
            <a:ext cx="5318188" cy="3178492"/>
            <a:chOff x="0" y="0"/>
            <a:chExt cx="7090918" cy="423799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644652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Sala dos anos iniciais (Figura 34)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2156567" y="2034159"/>
            <a:ext cx="5313426" cy="3173730"/>
            <a:chOff x="0" y="0"/>
            <a:chExt cx="7084568" cy="4231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2070080" y="1947672"/>
            <a:ext cx="5294376" cy="3154680"/>
            <a:chOff x="0" y="0"/>
            <a:chExt cx="7059168" cy="4206240"/>
          </a:xfrm>
        </p:grpSpPr>
        <p:sp>
          <p:nvSpPr>
            <p:cNvPr name="Freeform 30" id="30" descr="/home/claude/deck3/img/alfabet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5929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2058174" y="1935766"/>
            <a:ext cx="5318188" cy="3178492"/>
            <a:chOff x="0" y="0"/>
            <a:chExt cx="7090918" cy="423799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1207008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 (Figura 37)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09447" y="5984367"/>
            <a:ext cx="8056626" cy="1555242"/>
            <a:chOff x="0" y="0"/>
            <a:chExt cx="10742168" cy="20736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11054" y="5885974"/>
            <a:ext cx="8061388" cy="1560004"/>
            <a:chOff x="0" y="0"/>
            <a:chExt cx="10748518" cy="208000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19175" y="6190107"/>
            <a:ext cx="842010" cy="842010"/>
            <a:chOff x="0" y="0"/>
            <a:chExt cx="1122680" cy="1122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242670" y="6413602"/>
            <a:ext cx="395021" cy="395021"/>
            <a:chOff x="0" y="0"/>
            <a:chExt cx="526694" cy="526694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2084832" y="5980176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Laboratório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2084832" y="6456045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Computadores desligados no registro. Origem (Prefeitura, 2022) e registros de uso: informação preliminar, a verificar nos documentos.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9413367" y="5984367"/>
            <a:ext cx="8056626" cy="1555242"/>
            <a:chOff x="0" y="0"/>
            <a:chExt cx="10742168" cy="20736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9314974" y="5885974"/>
            <a:ext cx="8061388" cy="1560004"/>
            <a:chOff x="0" y="0"/>
            <a:chExt cx="10748518" cy="208000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9523095" y="6190107"/>
            <a:ext cx="842010" cy="842010"/>
            <a:chOff x="0" y="0"/>
            <a:chExt cx="1122680" cy="11226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9746590" y="6413602"/>
            <a:ext cx="395021" cy="395021"/>
            <a:chOff x="0" y="0"/>
            <a:chExt cx="526694" cy="526694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4" b="-4"/>
              </a:stretch>
            </a:blip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10588752" y="5980176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Conectividade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0588752" y="6456045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Informação preliminar: duas conexões, uma administrativa (município) e uma educacional (verba anual da PIEC). A verificar nos documentos.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909447" y="7726299"/>
            <a:ext cx="8056626" cy="1555242"/>
            <a:chOff x="0" y="0"/>
            <a:chExt cx="10742168" cy="207365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811054" y="7627906"/>
            <a:ext cx="8061388" cy="1560004"/>
            <a:chOff x="0" y="0"/>
            <a:chExt cx="10748518" cy="2080006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019175" y="7932039"/>
            <a:ext cx="842010" cy="842010"/>
            <a:chOff x="0" y="0"/>
            <a:chExt cx="1122680" cy="112268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42670" y="8155534"/>
            <a:ext cx="395021" cy="395021"/>
            <a:chOff x="0" y="0"/>
            <a:chExt cx="526694" cy="526694"/>
          </a:xfrm>
        </p:grpSpPr>
        <p:sp>
          <p:nvSpPr>
            <p:cNvPr name="Freeform 61" id="6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-4" b="-4"/>
              </a:stretch>
            </a:blip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2084832" y="7722108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Uso compartilhado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2084832" y="8197977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Informação preliminar: um único kit multimídia (televisão, projetor e notebook) para toda a escola. A verificar nos registros de aquisição.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9317355" y="7630287"/>
            <a:ext cx="8056626" cy="1555242"/>
            <a:chOff x="0" y="0"/>
            <a:chExt cx="10742168" cy="207365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523095" y="7932039"/>
            <a:ext cx="842010" cy="842010"/>
            <a:chOff x="0" y="0"/>
            <a:chExt cx="1122680" cy="112268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9746590" y="8155534"/>
            <a:ext cx="395021" cy="395021"/>
            <a:chOff x="0" y="0"/>
            <a:chExt cx="526694" cy="526694"/>
          </a:xfrm>
        </p:grpSpPr>
        <p:sp>
          <p:nvSpPr>
            <p:cNvPr name="Freeform 69" id="69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-4" b="-4"/>
              </a:stretch>
            </a:blipFill>
          </p:spPr>
        </p:sp>
      </p:grpSp>
      <p:sp>
        <p:nvSpPr>
          <p:cNvPr name="TextBox 70" id="70"/>
          <p:cNvSpPr txBox="true"/>
          <p:nvPr/>
        </p:nvSpPr>
        <p:spPr>
          <a:xfrm rot="0">
            <a:off x="10588752" y="7722108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Salas de 1º e 2º anos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0588752" y="8197977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Nenhum dispositivo digital. Predominam recursos impressos e artesanais.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Lipsky (2019); Valente (1999): instalar computadores sem preparo não traz os benefícios esperados.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(2026); informações preliminares, a verificar na análise documental.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894683" y="-301752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Onde estamos e o que falta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116455"/>
            <a:ext cx="1692402" cy="2241042"/>
            <a:chOff x="0" y="0"/>
            <a:chExt cx="2256536" cy="29880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26464" y="2276856"/>
            <a:ext cx="466344" cy="466344"/>
            <a:chOff x="0" y="0"/>
            <a:chExt cx="621792" cy="621792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05256" y="2811780"/>
            <a:ext cx="1508760" cy="987552"/>
            <a:chOff x="0" y="0"/>
            <a:chExt cx="2011680" cy="13167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Revisão sistemática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90525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2596515" y="2116455"/>
            <a:ext cx="1692402" cy="2241042"/>
            <a:chOff x="0" y="0"/>
            <a:chExt cx="2256536" cy="29880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3209544" y="2276856"/>
            <a:ext cx="466344" cy="466344"/>
            <a:chOff x="0" y="0"/>
            <a:chExt cx="621792" cy="621792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2688336" y="2811780"/>
            <a:ext cx="1508760" cy="987552"/>
            <a:chOff x="0" y="0"/>
            <a:chExt cx="2011680" cy="131673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Metodologia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268833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4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4379595" y="2116455"/>
            <a:ext cx="1692402" cy="2241042"/>
            <a:chOff x="0" y="0"/>
            <a:chExt cx="2256536" cy="29880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4992624" y="2276856"/>
            <a:ext cx="466344" cy="466344"/>
            <a:chOff x="0" y="0"/>
            <a:chExt cx="621792" cy="621792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4471416" y="2811780"/>
            <a:ext cx="1508760" cy="987552"/>
            <a:chOff x="0" y="0"/>
            <a:chExt cx="2011680" cy="131673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Texto da política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447141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5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6162675" y="2116455"/>
            <a:ext cx="1692402" cy="2241042"/>
            <a:chOff x="0" y="0"/>
            <a:chExt cx="2256536" cy="29880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6775704" y="2276856"/>
            <a:ext cx="466344" cy="466344"/>
            <a:chOff x="0" y="0"/>
            <a:chExt cx="621792" cy="621792"/>
          </a:xfrm>
        </p:grpSpPr>
        <p:sp>
          <p:nvSpPr>
            <p:cNvPr name="Freeform 35" id="35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254496" y="2811780"/>
            <a:ext cx="1508760" cy="987552"/>
            <a:chOff x="0" y="0"/>
            <a:chExt cx="2011680" cy="131673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Território e escola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625449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6, em parte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8041767" y="2212467"/>
            <a:ext cx="1692402" cy="2241042"/>
            <a:chOff x="0" y="0"/>
            <a:chExt cx="2256536" cy="298805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7943374" y="2114074"/>
            <a:ext cx="1697164" cy="2245804"/>
            <a:chOff x="0" y="0"/>
            <a:chExt cx="2262886" cy="2994406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262886" cy="2994406"/>
            </a:xfrm>
            <a:custGeom>
              <a:avLst/>
              <a:gdLst/>
              <a:ahLst/>
              <a:cxnLst/>
              <a:rect r="r" b="b" t="t" l="l"/>
              <a:pathLst>
                <a:path h="2994406" w="2262886">
                  <a:moveTo>
                    <a:pt x="0" y="0"/>
                  </a:moveTo>
                  <a:lnTo>
                    <a:pt x="2262886" y="0"/>
                  </a:lnTo>
                  <a:lnTo>
                    <a:pt x="2262886" y="2994406"/>
                  </a:lnTo>
                  <a:lnTo>
                    <a:pt x="0" y="29944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8037576" y="2331720"/>
            <a:ext cx="1508760" cy="1234440"/>
            <a:chOff x="0" y="0"/>
            <a:chExt cx="2011680" cy="16459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0116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4975" t="0" r="-54975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2011680" cy="1645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e cibercultura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8055483" y="3721227"/>
            <a:ext cx="1472946" cy="485394"/>
            <a:chOff x="0" y="0"/>
            <a:chExt cx="1963928" cy="64719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963928" cy="647192"/>
            </a:xfrm>
            <a:custGeom>
              <a:avLst/>
              <a:gdLst/>
              <a:ahLst/>
              <a:cxnLst/>
              <a:rect r="r" b="b" t="t" l="l"/>
              <a:pathLst>
                <a:path h="647192" w="1963928">
                  <a:moveTo>
                    <a:pt x="0" y="0"/>
                  </a:moveTo>
                  <a:lnTo>
                    <a:pt x="1963928" y="0"/>
                  </a:lnTo>
                  <a:lnTo>
                    <a:pt x="1963928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8065008" y="3730752"/>
            <a:ext cx="1453896" cy="466344"/>
            <a:chOff x="0" y="0"/>
            <a:chExt cx="1938528" cy="62179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938528" cy="621792"/>
            </a:xfrm>
            <a:custGeom>
              <a:avLst/>
              <a:gdLst/>
              <a:ahLst/>
              <a:cxnLst/>
              <a:rect r="r" b="b" t="t" l="l"/>
              <a:pathLst>
                <a:path h="621792" w="1938528">
                  <a:moveTo>
                    <a:pt x="0" y="0"/>
                  </a:moveTo>
                  <a:lnTo>
                    <a:pt x="1938528" y="0"/>
                  </a:lnTo>
                  <a:lnTo>
                    <a:pt x="193852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747" r="0" b="-10747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9525"/>
              <a:ext cx="1938528" cy="631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sz="12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3 · em construção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9687687" y="1842135"/>
            <a:ext cx="430530" cy="2830830"/>
            <a:chOff x="0" y="0"/>
            <a:chExt cx="574040" cy="37744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74040" cy="3774440"/>
            </a:xfrm>
            <a:custGeom>
              <a:avLst/>
              <a:gdLst/>
              <a:ahLst/>
              <a:cxnLst/>
              <a:rect r="r" b="b" t="t" l="l"/>
              <a:pathLst>
                <a:path h="3774440" w="574040">
                  <a:moveTo>
                    <a:pt x="0" y="0"/>
                  </a:moveTo>
                  <a:lnTo>
                    <a:pt x="574040" y="0"/>
                  </a:lnTo>
                  <a:lnTo>
                    <a:pt x="574040" y="3774440"/>
                  </a:lnTo>
                  <a:lnTo>
                    <a:pt x="0" y="3774440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4" id="54"/>
          <p:cNvSpPr txBox="true"/>
          <p:nvPr/>
        </p:nvSpPr>
        <p:spPr>
          <a:xfrm rot="0">
            <a:off x="9217152" y="4732020"/>
            <a:ext cx="137160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HOJE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0258996" y="2111692"/>
            <a:ext cx="1701927" cy="2250567"/>
            <a:chOff x="0" y="0"/>
            <a:chExt cx="2269236" cy="300075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0355580" y="2331720"/>
            <a:ext cx="1508760" cy="1440180"/>
            <a:chOff x="0" y="0"/>
            <a:chExt cx="2011680" cy="19202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Emenda aprovada pelo CEP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2042076" y="2111692"/>
            <a:ext cx="1701927" cy="2250567"/>
            <a:chOff x="0" y="0"/>
            <a:chExt cx="2269236" cy="300075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138660" y="2331720"/>
            <a:ext cx="1508760" cy="1440180"/>
            <a:chOff x="0" y="0"/>
            <a:chExt cx="2011680" cy="19202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Questionários e entrevistas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3825156" y="2111692"/>
            <a:ext cx="1701927" cy="2250567"/>
            <a:chOff x="0" y="0"/>
            <a:chExt cx="2269236" cy="300075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3921740" y="2331720"/>
            <a:ext cx="1508760" cy="1440180"/>
            <a:chOff x="0" y="0"/>
            <a:chExt cx="2011680" cy="19202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Análise no ATLAS.ti</a:t>
              </a:r>
            </a:p>
          </p:txBody>
        </p:sp>
      </p:grpSp>
      <p:sp>
        <p:nvSpPr>
          <p:cNvPr name="TextBox 70" id="70"/>
          <p:cNvSpPr txBox="true"/>
          <p:nvPr/>
        </p:nvSpPr>
        <p:spPr>
          <a:xfrm rot="0">
            <a:off x="13921740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Cap. 7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15608237" y="2111692"/>
            <a:ext cx="1701927" cy="2250567"/>
            <a:chOff x="0" y="0"/>
            <a:chExt cx="2269236" cy="300075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73" id="73"/>
          <p:cNvGrpSpPr/>
          <p:nvPr/>
        </p:nvGrpSpPr>
        <p:grpSpPr>
          <a:xfrm rot="0">
            <a:off x="15704820" y="2331720"/>
            <a:ext cx="1508760" cy="1440180"/>
            <a:chOff x="0" y="0"/>
            <a:chExt cx="2011680" cy="192024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Considerações e devolutiva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704820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Cap. 8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909447" y="5504307"/>
            <a:ext cx="16560546" cy="3859530"/>
            <a:chOff x="0" y="0"/>
            <a:chExt cx="22080728" cy="514604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2080728" cy="5146040"/>
            </a:xfrm>
            <a:custGeom>
              <a:avLst/>
              <a:gdLst/>
              <a:ahLst/>
              <a:cxnLst/>
              <a:rect r="r" b="b" t="t" l="l"/>
              <a:pathLst>
                <a:path h="514604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5146040"/>
                  </a:lnTo>
                  <a:lnTo>
                    <a:pt x="0" y="5146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811054" y="5405914"/>
            <a:ext cx="16565308" cy="3864292"/>
            <a:chOff x="0" y="0"/>
            <a:chExt cx="22087078" cy="515239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2087078" cy="5152390"/>
            </a:xfrm>
            <a:custGeom>
              <a:avLst/>
              <a:gdLst/>
              <a:ahLst/>
              <a:cxnLst/>
              <a:rect r="r" b="b" t="t" l="l"/>
              <a:pathLst>
                <a:path h="515239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5152390"/>
                  </a:lnTo>
                  <a:lnTo>
                    <a:pt x="0" y="51523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81" id="81"/>
          <p:cNvSpPr txBox="true"/>
          <p:nvPr/>
        </p:nvSpPr>
        <p:spPr>
          <a:xfrm rot="0">
            <a:off x="1165860" y="5554980"/>
            <a:ext cx="822960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Pendências antes do campo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165860" y="6154293"/>
            <a:ext cx="7749540" cy="179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Emenda ao CEP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Critérios metodológicos que sustentarão a categoria analítica, datados e assinados antes da 1ª entrevista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Análise documental, ainda não feita: aquisição, conectividade e cadernos de uso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Aquisição do laboratório (2022), kit multimídia e manutenção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Documentos pedagógicos e registros de formação da Secretaria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9326880" y="6154293"/>
            <a:ext cx="7749540" cy="3007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Plano de aplicação e prestação de contas da PIEC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Respostas da escola ao Censo Escolar (microdados do INEP)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Receita e gasto em educação de Tibau do Sul (Siconfi/Finbra)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Testes de velocidade da conexão nas salas de 1º e 2º anos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Capítulo 3 em construção; marcadores do Cap. 6, turmas do 3º ao 5º ano e páginas dos livros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estudo de caso com múltiplas fontes; Resoluções CNS nº 466/2012 e nº 510/2016: tramitação ética.</a:t>
            </a:r>
          </a:p>
        </p:txBody>
      </p: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submeto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720000">
            <a:off x="16596360" y="-205740"/>
            <a:ext cx="1303020" cy="1777651"/>
            <a:chOff x="0" y="0"/>
            <a:chExt cx="1737360" cy="2370201"/>
          </a:xfrm>
        </p:grpSpPr>
        <p:sp>
          <p:nvSpPr>
            <p:cNvPr name="Freeform 7" id="7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1" r="0" b="-32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13435" y="1979295"/>
            <a:ext cx="8056626" cy="3379470"/>
            <a:chOff x="0" y="0"/>
            <a:chExt cx="10742168" cy="45059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742168" cy="4505960"/>
            </a:xfrm>
            <a:custGeom>
              <a:avLst/>
              <a:gdLst/>
              <a:ahLst/>
              <a:cxnLst/>
              <a:rect r="r" b="b" t="t" l="l"/>
              <a:pathLst>
                <a:path h="450596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4505960"/>
                  </a:lnTo>
                  <a:lnTo>
                    <a:pt x="0" y="45059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24915" y="2390775"/>
            <a:ext cx="979170" cy="979170"/>
            <a:chOff x="0" y="0"/>
            <a:chExt cx="1305560" cy="13055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05560" cy="1305560"/>
            </a:xfrm>
            <a:custGeom>
              <a:avLst/>
              <a:gdLst/>
              <a:ahLst/>
              <a:cxnLst/>
              <a:rect r="r" b="b" t="t" l="l"/>
              <a:pathLst>
                <a:path h="1305560" w="1305560">
                  <a:moveTo>
                    <a:pt x="0" y="652780"/>
                  </a:moveTo>
                  <a:cubicBezTo>
                    <a:pt x="0" y="292227"/>
                    <a:pt x="292227" y="0"/>
                    <a:pt x="652780" y="0"/>
                  </a:cubicBezTo>
                  <a:cubicBezTo>
                    <a:pt x="1013333" y="0"/>
                    <a:pt x="1305560" y="292227"/>
                    <a:pt x="1305560" y="652780"/>
                  </a:cubicBezTo>
                  <a:cubicBezTo>
                    <a:pt x="1305560" y="1013333"/>
                    <a:pt x="1013333" y="1305560"/>
                    <a:pt x="652780" y="1305560"/>
                  </a:cubicBezTo>
                  <a:cubicBezTo>
                    <a:pt x="292227" y="1305560"/>
                    <a:pt x="0" y="1013333"/>
                    <a:pt x="0" y="65278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508760" y="2674620"/>
            <a:ext cx="411480" cy="411480"/>
            <a:chOff x="0" y="0"/>
            <a:chExt cx="548640" cy="548640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537460" y="2331720"/>
            <a:ext cx="6035040" cy="2674620"/>
            <a:chOff x="0" y="0"/>
            <a:chExt cx="8046720" cy="35661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046720" cy="3566160"/>
            </a:xfrm>
            <a:custGeom>
              <a:avLst/>
              <a:gdLst/>
              <a:ahLst/>
              <a:cxnLst/>
              <a:rect r="r" b="b" t="t" l="l"/>
              <a:pathLst>
                <a:path h="356616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3566160"/>
                  </a:lnTo>
                  <a:lnTo>
                    <a:pt x="0" y="3566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861" t="0" r="-6861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8046720" cy="3566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90"/>
                </a:lnSpc>
              </a:pPr>
              <a:r>
                <a:rPr lang="en-US" sz="23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critério de confirmação pede recorrência numa parte expressiva dos doze participantes, sem fixar um número. Ele precisa de um limiar explícito?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413367" y="2075307"/>
            <a:ext cx="8056626" cy="3379470"/>
            <a:chOff x="0" y="0"/>
            <a:chExt cx="10742168" cy="45059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742168" cy="4505960"/>
            </a:xfrm>
            <a:custGeom>
              <a:avLst/>
              <a:gdLst/>
              <a:ahLst/>
              <a:cxnLst/>
              <a:rect r="r" b="b" t="t" l="l"/>
              <a:pathLst>
                <a:path h="450596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4505960"/>
                  </a:lnTo>
                  <a:lnTo>
                    <a:pt x="0" y="45059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9314974" y="1976914"/>
            <a:ext cx="8061388" cy="3384233"/>
            <a:chOff x="0" y="0"/>
            <a:chExt cx="10748518" cy="451231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748518" cy="4512310"/>
            </a:xfrm>
            <a:custGeom>
              <a:avLst/>
              <a:gdLst/>
              <a:ahLst/>
              <a:cxnLst/>
              <a:rect r="r" b="b" t="t" l="l"/>
              <a:pathLst>
                <a:path h="451231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4512310"/>
                  </a:lnTo>
                  <a:lnTo>
                    <a:pt x="0" y="45123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9728835" y="2390775"/>
            <a:ext cx="979170" cy="979170"/>
            <a:chOff x="0" y="0"/>
            <a:chExt cx="1305560" cy="13055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305560" cy="1305560"/>
            </a:xfrm>
            <a:custGeom>
              <a:avLst/>
              <a:gdLst/>
              <a:ahLst/>
              <a:cxnLst/>
              <a:rect r="r" b="b" t="t" l="l"/>
              <a:pathLst>
                <a:path h="1305560" w="1305560">
                  <a:moveTo>
                    <a:pt x="0" y="652780"/>
                  </a:moveTo>
                  <a:cubicBezTo>
                    <a:pt x="0" y="292227"/>
                    <a:pt x="292227" y="0"/>
                    <a:pt x="652780" y="0"/>
                  </a:cubicBezTo>
                  <a:cubicBezTo>
                    <a:pt x="1013333" y="0"/>
                    <a:pt x="1305560" y="292227"/>
                    <a:pt x="1305560" y="652780"/>
                  </a:cubicBezTo>
                  <a:cubicBezTo>
                    <a:pt x="1305560" y="1013333"/>
                    <a:pt x="1013333" y="1305560"/>
                    <a:pt x="652780" y="1305560"/>
                  </a:cubicBezTo>
                  <a:cubicBezTo>
                    <a:pt x="292227" y="1305560"/>
                    <a:pt x="0" y="1013333"/>
                    <a:pt x="0" y="65278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10012680" y="2674620"/>
            <a:ext cx="411480" cy="411480"/>
            <a:chOff x="0" y="0"/>
            <a:chExt cx="548640" cy="548640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1041380" y="2331720"/>
            <a:ext cx="6035040" cy="2674620"/>
            <a:chOff x="0" y="0"/>
            <a:chExt cx="8046720" cy="35661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046720" cy="3566160"/>
            </a:xfrm>
            <a:custGeom>
              <a:avLst/>
              <a:gdLst/>
              <a:ahLst/>
              <a:cxnLst/>
              <a:rect r="r" b="b" t="t" l="l"/>
              <a:pathLst>
                <a:path h="356616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3566160"/>
                  </a:lnTo>
                  <a:lnTo>
                    <a:pt x="0" y="3566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861" t="0" r="-6861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8046720" cy="3566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90"/>
                </a:lnSpc>
              </a:pPr>
              <a:r>
                <a:rPr lang="en-US" sz="23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terceiro componente, o custo sob visibilidade direta, pode ser sustentado só por narrativas, sem observação?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909447" y="5751195"/>
            <a:ext cx="8056626" cy="3379470"/>
            <a:chOff x="0" y="0"/>
            <a:chExt cx="10742168" cy="45059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742168" cy="4505960"/>
            </a:xfrm>
            <a:custGeom>
              <a:avLst/>
              <a:gdLst/>
              <a:ahLst/>
              <a:cxnLst/>
              <a:rect r="r" b="b" t="t" l="l"/>
              <a:pathLst>
                <a:path h="450596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4505960"/>
                  </a:lnTo>
                  <a:lnTo>
                    <a:pt x="0" y="45059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811054" y="5652802"/>
            <a:ext cx="8061388" cy="3384233"/>
            <a:chOff x="0" y="0"/>
            <a:chExt cx="10748518" cy="451231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748518" cy="4512310"/>
            </a:xfrm>
            <a:custGeom>
              <a:avLst/>
              <a:gdLst/>
              <a:ahLst/>
              <a:cxnLst/>
              <a:rect r="r" b="b" t="t" l="l"/>
              <a:pathLst>
                <a:path h="451231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4512310"/>
                  </a:lnTo>
                  <a:lnTo>
                    <a:pt x="0" y="45123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224915" y="6066663"/>
            <a:ext cx="979170" cy="979170"/>
            <a:chOff x="0" y="0"/>
            <a:chExt cx="1305560" cy="130556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305560" cy="1305560"/>
            </a:xfrm>
            <a:custGeom>
              <a:avLst/>
              <a:gdLst/>
              <a:ahLst/>
              <a:cxnLst/>
              <a:rect r="r" b="b" t="t" l="l"/>
              <a:pathLst>
                <a:path h="1305560" w="1305560">
                  <a:moveTo>
                    <a:pt x="0" y="652780"/>
                  </a:moveTo>
                  <a:cubicBezTo>
                    <a:pt x="0" y="292227"/>
                    <a:pt x="292227" y="0"/>
                    <a:pt x="652780" y="0"/>
                  </a:cubicBezTo>
                  <a:cubicBezTo>
                    <a:pt x="1013333" y="0"/>
                    <a:pt x="1305560" y="292227"/>
                    <a:pt x="1305560" y="652780"/>
                  </a:cubicBezTo>
                  <a:cubicBezTo>
                    <a:pt x="1305560" y="1013333"/>
                    <a:pt x="1013333" y="1305560"/>
                    <a:pt x="652780" y="1305560"/>
                  </a:cubicBezTo>
                  <a:cubicBezTo>
                    <a:pt x="292227" y="1305560"/>
                    <a:pt x="0" y="1013333"/>
                    <a:pt x="0" y="65278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1508760" y="6350508"/>
            <a:ext cx="411480" cy="411480"/>
            <a:chOff x="0" y="0"/>
            <a:chExt cx="548640" cy="548640"/>
          </a:xfrm>
        </p:grpSpPr>
        <p:sp>
          <p:nvSpPr>
            <p:cNvPr name="Freeform 35" id="35" descr="preencoded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2537460" y="6007608"/>
            <a:ext cx="6035040" cy="2674620"/>
            <a:chOff x="0" y="0"/>
            <a:chExt cx="8046720" cy="356616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046720" cy="3566160"/>
            </a:xfrm>
            <a:custGeom>
              <a:avLst/>
              <a:gdLst/>
              <a:ahLst/>
              <a:cxnLst/>
              <a:rect r="r" b="b" t="t" l="l"/>
              <a:pathLst>
                <a:path h="356616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3566160"/>
                  </a:lnTo>
                  <a:lnTo>
                    <a:pt x="0" y="3566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861" t="0" r="-6861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8046720" cy="3566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90"/>
                </a:lnSpc>
              </a:pPr>
              <a:r>
                <a:rPr lang="en-US" sz="23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Direção e Secretaria têm um participante cada. Descrever essas posições, sem generalizar, é suficiente para examinar a delimitação?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317355" y="5655183"/>
            <a:ext cx="8056626" cy="3379470"/>
            <a:chOff x="0" y="0"/>
            <a:chExt cx="10742168" cy="450596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742168" cy="4505960"/>
            </a:xfrm>
            <a:custGeom>
              <a:avLst/>
              <a:gdLst/>
              <a:ahLst/>
              <a:cxnLst/>
              <a:rect r="r" b="b" t="t" l="l"/>
              <a:pathLst>
                <a:path h="450596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4505960"/>
                  </a:lnTo>
                  <a:lnTo>
                    <a:pt x="0" y="45059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9728835" y="6066663"/>
            <a:ext cx="979170" cy="979170"/>
            <a:chOff x="0" y="0"/>
            <a:chExt cx="1305560" cy="130556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305560" cy="1305560"/>
            </a:xfrm>
            <a:custGeom>
              <a:avLst/>
              <a:gdLst/>
              <a:ahLst/>
              <a:cxnLst/>
              <a:rect r="r" b="b" t="t" l="l"/>
              <a:pathLst>
                <a:path h="1305560" w="1305560">
                  <a:moveTo>
                    <a:pt x="0" y="652780"/>
                  </a:moveTo>
                  <a:cubicBezTo>
                    <a:pt x="0" y="292227"/>
                    <a:pt x="292227" y="0"/>
                    <a:pt x="652780" y="0"/>
                  </a:cubicBezTo>
                  <a:cubicBezTo>
                    <a:pt x="1013333" y="0"/>
                    <a:pt x="1305560" y="292227"/>
                    <a:pt x="1305560" y="652780"/>
                  </a:cubicBezTo>
                  <a:cubicBezTo>
                    <a:pt x="1305560" y="1013333"/>
                    <a:pt x="1013333" y="1305560"/>
                    <a:pt x="652780" y="1305560"/>
                  </a:cubicBezTo>
                  <a:cubicBezTo>
                    <a:pt x="292227" y="1305560"/>
                    <a:pt x="0" y="1013333"/>
                    <a:pt x="0" y="65278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10012680" y="6350508"/>
            <a:ext cx="411480" cy="411480"/>
            <a:chOff x="0" y="0"/>
            <a:chExt cx="548640" cy="548640"/>
          </a:xfrm>
        </p:grpSpPr>
        <p:sp>
          <p:nvSpPr>
            <p:cNvPr name="Freeform 44" id="44" descr="preencoded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1041380" y="6007608"/>
            <a:ext cx="6035040" cy="2674620"/>
            <a:chOff x="0" y="0"/>
            <a:chExt cx="8046720" cy="356616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046720" cy="3566160"/>
            </a:xfrm>
            <a:custGeom>
              <a:avLst/>
              <a:gdLst/>
              <a:ahLst/>
              <a:cxnLst/>
              <a:rect r="r" b="b" t="t" l="l"/>
              <a:pathLst>
                <a:path h="356616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3566160"/>
                  </a:lnTo>
                  <a:lnTo>
                    <a:pt x="0" y="3566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861" t="0" r="-6861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0"/>
              <a:ext cx="8046720" cy="3566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90"/>
                </a:lnSpc>
              </a:pPr>
              <a:r>
                <a:rPr lang="en-US" sz="23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Os critérios para tratar a formação como condição ausente (chegou antes da exigência, alcançou a função e a etapa, tratou dos conteúdos) estão adequados?</a:t>
              </a: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Critérios metodológicos que sustentarão a categoria analítica (Cap. 4); Yin (2001); Lipsky (2019).</a:t>
            </a:r>
          </a:p>
        </p:txBody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6858000" cy="10287000"/>
            <a:chOff x="0" y="0"/>
            <a:chExt cx="9144000" cy="13716000"/>
          </a:xfrm>
        </p:grpSpPr>
        <p:sp>
          <p:nvSpPr>
            <p:cNvPr name="Freeform 4" id="4" descr="/home/claude/deck3/img/alfabeto.jp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166666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9525" y="9701403"/>
            <a:ext cx="6877050" cy="595122"/>
            <a:chOff x="0" y="0"/>
            <a:chExt cx="9169400" cy="7934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9400" cy="793496"/>
            </a:xfrm>
            <a:custGeom>
              <a:avLst/>
              <a:gdLst/>
              <a:ahLst/>
              <a:cxnLst/>
              <a:rect r="r" b="b" t="t" l="l"/>
              <a:pathLst>
                <a:path h="793496" w="9169400">
                  <a:moveTo>
                    <a:pt x="0" y="0"/>
                  </a:moveTo>
                  <a:lnTo>
                    <a:pt x="9169400" y="0"/>
                  </a:lnTo>
                  <a:lnTo>
                    <a:pt x="9169400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141414">
                <a:alpha val="41961"/>
              </a:srgbClr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205740" y="9738360"/>
            <a:ext cx="6515100" cy="521208"/>
            <a:chOff x="0" y="0"/>
            <a:chExt cx="8686800" cy="69494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686800" cy="694944"/>
            </a:xfrm>
            <a:custGeom>
              <a:avLst/>
              <a:gdLst/>
              <a:ahLst/>
              <a:cxnLst/>
              <a:rect r="r" b="b" t="t" l="l"/>
              <a:pathLst>
                <a:path h="694944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8686800" cy="7044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Alfabeto móvel feito à mão (Figura 37). Fonte: acervo da pesquisa (2026).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720000">
            <a:off x="15704820" y="-480060"/>
            <a:ext cx="2880360" cy="2035588"/>
            <a:chOff x="0" y="0"/>
            <a:chExt cx="3840480" cy="2714117"/>
          </a:xfrm>
        </p:grpSpPr>
        <p:sp>
          <p:nvSpPr>
            <p:cNvPr name="Freeform 11" id="11" descr="/home/claude/deck3/img/d_nuvem.png"/>
            <p:cNvSpPr/>
            <p:nvPr/>
          </p:nvSpPr>
          <p:spPr>
            <a:xfrm flipH="false" flipV="false" rot="0">
              <a:off x="0" y="0"/>
              <a:ext cx="3840480" cy="2714117"/>
            </a:xfrm>
            <a:custGeom>
              <a:avLst/>
              <a:gdLst/>
              <a:ahLst/>
              <a:cxnLst/>
              <a:rect r="r" b="b" t="t" l="l"/>
              <a:pathLst>
                <a:path h="2714117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2714117"/>
                  </a:lnTo>
                  <a:lnTo>
                    <a:pt x="0" y="27141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8" t="0" r="-8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612380" y="617220"/>
            <a:ext cx="8229600" cy="1097280"/>
            <a:chOff x="0" y="0"/>
            <a:chExt cx="10972800" cy="14630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10972800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QUESTÃO ABERTA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7602855" y="1979295"/>
            <a:ext cx="9894570" cy="4956810"/>
            <a:chOff x="0" y="0"/>
            <a:chExt cx="13192760" cy="6609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3192761" cy="6609080"/>
            </a:xfrm>
            <a:custGeom>
              <a:avLst/>
              <a:gdLst/>
              <a:ahLst/>
              <a:cxnLst/>
              <a:rect r="r" b="b" t="t" l="l"/>
              <a:pathLst>
                <a:path h="6609080" w="13192761">
                  <a:moveTo>
                    <a:pt x="0" y="0"/>
                  </a:moveTo>
                  <a:lnTo>
                    <a:pt x="13192761" y="0"/>
                  </a:lnTo>
                  <a:lnTo>
                    <a:pt x="13192761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8023860" y="2194560"/>
            <a:ext cx="9121140" cy="1577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literatura sabe que os recursos faltam. A pergunta de fundo, que só as narrativas podem responder, é: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023860" y="3771900"/>
            <a:ext cx="9121140" cy="2194560"/>
            <a:chOff x="0" y="0"/>
            <a:chExt cx="12161520" cy="29260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161520" cy="2926080"/>
            </a:xfrm>
            <a:custGeom>
              <a:avLst/>
              <a:gdLst/>
              <a:ahLst/>
              <a:cxnLst/>
              <a:rect r="r" b="b" t="t" l="l"/>
              <a:pathLst>
                <a:path h="2926080" w="12161520">
                  <a:moveTo>
                    <a:pt x="0" y="0"/>
                  </a:moveTo>
                  <a:lnTo>
                    <a:pt x="12161520" y="0"/>
                  </a:lnTo>
                  <a:lnTo>
                    <a:pt x="12161520" y="2926080"/>
                  </a:lnTo>
                  <a:lnTo>
                    <a:pt x="0" y="2926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0984" r="0" b="-3098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2161520" cy="2926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779"/>
                </a:lnSpc>
              </a:pPr>
              <a:r>
                <a:rPr lang="en-US" b="true" sz="3150" i="true">
                  <a:solidFill>
                    <a:srgbClr val="1A1A1A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Quando a política não faz chegar o equipamento nem a formação, quem paga, no silêncio do cotidiano escolar, o preço dessa ausência?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8023860" y="6025515"/>
            <a:ext cx="9121140" cy="763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b="true" sz="2025" i="true">
                <a:solidFill>
                  <a:srgbClr val="3942B5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E o que isso significa para os direitos que a lei prometeu às crianças?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7612380" y="7338060"/>
            <a:ext cx="7680960" cy="1097280"/>
            <a:chOff x="0" y="0"/>
            <a:chExt cx="10241280" cy="14630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412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10241280" cy="14535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MUITO OBRIGADA!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7612380" y="8494395"/>
            <a:ext cx="7680960" cy="8599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Ma. Yzynya Silva Rezende Machado</a:t>
            </a:r>
          </a:p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Orientadora: Dra. Maria Cristina Leandro de Paiva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5567660" y="7338060"/>
            <a:ext cx="2331720" cy="2496483"/>
            <a:chOff x="0" y="0"/>
            <a:chExt cx="3108960" cy="3328645"/>
          </a:xfrm>
        </p:grpSpPr>
        <p:sp>
          <p:nvSpPr>
            <p:cNvPr name="Freeform 27" id="27" descr="/home/claude/deck3/img/d_joinha.png"/>
            <p:cNvSpPr/>
            <p:nvPr/>
          </p:nvSpPr>
          <p:spPr>
            <a:xfrm flipH="false" flipV="false" rot="0">
              <a:off x="0" y="0"/>
              <a:ext cx="3108960" cy="3328670"/>
            </a:xfrm>
            <a:custGeom>
              <a:avLst/>
              <a:gdLst/>
              <a:ahLst/>
              <a:cxnLst/>
              <a:rect r="r" b="b" t="t" l="l"/>
              <a:pathLst>
                <a:path h="332867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3328670"/>
                  </a:lnTo>
                  <a:lnTo>
                    <a:pt x="0" y="3328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3" t="0" r="-14" b="0"/>
              </a:stretch>
            </a:blipFill>
          </p:spPr>
        </p:sp>
      </p:grp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7007840" y="-301752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Referências mobilizadas na apresentação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9447" y="1938147"/>
            <a:ext cx="16560546" cy="7494270"/>
            <a:chOff x="0" y="0"/>
            <a:chExt cx="22080728" cy="99923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080728" cy="9992360"/>
            </a:xfrm>
            <a:custGeom>
              <a:avLst/>
              <a:gdLst/>
              <a:ahLst/>
              <a:cxnLst/>
              <a:rect r="r" b="b" t="t" l="l"/>
              <a:pathLst>
                <a:path h="999236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9992360"/>
                  </a:lnTo>
                  <a:lnTo>
                    <a:pt x="0" y="9992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11054" y="1839754"/>
            <a:ext cx="16565308" cy="7499032"/>
            <a:chOff x="0" y="0"/>
            <a:chExt cx="22087078" cy="999871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87078" cy="9998710"/>
            </a:xfrm>
            <a:custGeom>
              <a:avLst/>
              <a:gdLst/>
              <a:ahLst/>
              <a:cxnLst/>
              <a:rect r="r" b="b" t="t" l="l"/>
              <a:pathLst>
                <a:path h="999871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9998710"/>
                  </a:lnTo>
                  <a:lnTo>
                    <a:pt x="0" y="99987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165860" y="2057400"/>
            <a:ext cx="7680960" cy="5953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Ponta Grossa: Editora UEPG, 2016.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BAUMAN, Zygmunt.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Globalização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as consequências humanas. Rio de Janeiro: Jorge Zahar, 1999.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Diário Oficial da União: Brasília, DF, 12 jan. 2023.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BUCKINGHAM, David.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Crescer na era das mídias eletrônicas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São Paulo: Loyola, 2007.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CASTELLS, Manuel.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sociedade em rede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14. ed. São Paulo: Paz e Terra, 2013.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HALL, Stuart.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identidade cultural na pós-modernidade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11. ed. Rio de Janeiro: DP&amp;A, 2006.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210558" y="1938147"/>
            <a:ext cx="7680960" cy="6667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LIPSKY, Michael.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Burocracia de nível de rua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dilemas do indivíduo nos serviços públicos. Brasília, DF: Enap, 2019.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Rio de Janeiro: Bertrand Brasil, 2008.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QUEIROZ, Maria Aparecida de; PAIVA, Maria Cristina Leandro de. A valorização do trabalho docente e a formação profissional. In: FRANÇA, Magna; MOMO, Mariângela (org.).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Processo democrático participativo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 construção do PNE. Campinas: Mercado de Letras, 2014. p. 249-286.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São Paulo: Edusp,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Edusp, 2012.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DAHWhr1U9Ck</dc:identifier>
  <dcterms:modified xsi:type="dcterms:W3CDTF">2011-08-01T06:04:30Z</dcterms:modified>
  <cp:revision>1</cp:revision>
  <dc:title>Seminário.pptx</dc:title>
</cp:coreProperties>
</file>