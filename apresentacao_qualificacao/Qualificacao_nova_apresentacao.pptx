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fntdata" ContentType="application/x-fontdata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8288000" cy="10287000" type="screen4x3"/>
  <p:notesSz cx="6858000" cy="9144000"/>
  <p:embeddedFontLst>
    <p:embeddedFont>
      <p:font typeface="Canva Sans" panose="020B0503030501040103" charset="1"/>
      <p:regular r:id="rIdF1"/>
    </p:embeddedFont>
    <p:embeddedFont>
      <p:font typeface="Canva Sans Bold" panose="020B0803030501040103" charset="1"/>
      <p:regular r:id="rIdF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F1" Type="http://schemas.openxmlformats.org/officeDocument/2006/relationships/font" Target="fonts/font1.fntdata"/><Relationship Id="rIdF2" Type="http://schemas.openxmlformats.org/officeDocument/2006/relationships/font" Target="fonts/font2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Apresentação da tese e de seu título.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Relationship Id="rId4" Type="http://schemas.openxmlformats.org/officeDocument/2006/relationships/image" Target="../media/image10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jpg"/><Relationship Id="rId4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8.jpg"/><Relationship Id="rId4" Type="http://schemas.openxmlformats.org/officeDocument/2006/relationships/image" Target="../media/image19.jpg"/><Relationship Id="rId5" Type="http://schemas.openxmlformats.org/officeDocument/2006/relationships/image" Target="../media/image10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0.png"/><Relationship Id="rId4" Type="http://schemas.openxmlformats.org/officeDocument/2006/relationships/image" Target="../media/image11.png"/><Relationship Id="rId5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Ilustração decorativ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"/>
            <a:ext cx="3291840" cy="2995574"/>
          </a:xfrm>
          <a:prstGeom prst="rect">
            <a:avLst/>
          </a:prstGeom>
        </p:spPr>
      </p:pic>
      <p:pic>
        <p:nvPicPr>
          <p:cNvPr id="4" name="Picture 3" descr="Ilustração decorativ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583680"/>
            <a:ext cx="2743200" cy="3533484"/>
          </a:xfrm>
          <a:prstGeom prst="rect">
            <a:avLst/>
          </a:prstGeom>
        </p:spPr>
      </p:pic>
      <p:pic>
        <p:nvPicPr>
          <p:cNvPr id="5" name="Picture 4" descr="Ilustração decorativ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87600" y="457200"/>
            <a:ext cx="2743200" cy="2897184"/>
          </a:xfrm>
          <a:prstGeom prst="rect">
            <a:avLst/>
          </a:prstGeom>
        </p:spPr>
      </p:pic>
      <p:pic>
        <p:nvPicPr>
          <p:cNvPr id="6" name="Picture 5" descr="Ilustração decorativa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04720" y="5852160"/>
            <a:ext cx="3108960" cy="34703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91840" y="1371600"/>
            <a:ext cx="11704320" cy="384048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ctr">
              <a:lnSpc>
                <a:spcPct val="100000"/>
              </a:lnSpc>
            </a:pPr>
            <a:r>
              <a:rPr sz="5800" b="0">
                <a:solidFill>
                  <a:srgbClr val="FFFFFF"/>
                </a:solidFill>
                <a:latin typeface="Canva Sans Bold"/>
              </a:rPr>
              <a:t>A ENCENAÇÃO DA POLÍTICA NACIONAL DE EDUCAÇÃO DIGITAL EM PIPA/RN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5440680"/>
            <a:ext cx="10972800" cy="1234440"/>
          </a:xfrm>
          <a:prstGeom prst="roundRect">
            <a:avLst>
              <a:gd name="adj" fmla="val 25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5440680"/>
            <a:ext cx="10972800" cy="123444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ctr">
              <a:lnSpc>
                <a:spcPct val="100000"/>
              </a:lnSpc>
            </a:pPr>
            <a:r>
              <a:rPr sz="2800" b="0">
                <a:solidFill>
                  <a:srgbClr val="1A1A1A"/>
                </a:solidFill>
                <a:latin typeface="Canva Sans Bold"/>
              </a:rPr>
              <a:t>Culturas profissionais, território e resistências no contexto da prática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7086600"/>
            <a:ext cx="11887200" cy="2194560"/>
          </a:xfrm>
          <a:prstGeom prst="rect">
            <a:avLst/>
          </a:prstGeom>
          <a:noFill/>
        </p:spPr>
        <p:txBody>
          <a:bodyPr wrap="square" lIns="109728" rIns="109728" tIns="109728" bIns="109728" anchor="t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400" b="0">
                <a:solidFill>
                  <a:srgbClr val="FFFFFF"/>
                </a:solidFill>
                <a:latin typeface="Canva Sans Bold"/>
              </a:rPr>
              <a:t>Yzynya Silva Rezende Machado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400" b="0">
                <a:solidFill>
                  <a:srgbClr val="FFFFFF"/>
                </a:solidFill>
                <a:latin typeface="Canva Sans"/>
              </a:rPr>
              <a:t>Orientadora: Profa. Dra. Maria Cristina Leandro de Paiva</a:t>
            </a:r>
          </a:p>
          <a:p>
            <a:pPr algn="ctr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Canva Sans"/>
              </a:rPr>
              <a:t>Qualificação de doutorado · PPGEd/UFRN · Natal,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16459200" cy="137160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ctr">
              <a:lnSpc>
                <a:spcPct val="100000"/>
              </a:lnSpc>
            </a:pPr>
            <a:r>
              <a:rPr sz="6000" b="0">
                <a:solidFill>
                  <a:srgbClr val="FFFFFF"/>
                </a:solidFill>
                <a:latin typeface="Canva Sans Bold"/>
              </a:rPr>
              <a:t>PERCURSO DA APRESENTAÇÃO</a:t>
            </a:r>
          </a:p>
        </p:txBody>
      </p:sp>
      <p:pic>
        <p:nvPicPr>
          <p:cNvPr id="4" name="Picture 3" descr="Ilustração decorativ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1280160" cy="2075599"/>
          </a:xfrm>
          <a:prstGeom prst="rect">
            <a:avLst/>
          </a:prstGeom>
        </p:spPr>
      </p:pic>
      <p:pic>
        <p:nvPicPr>
          <p:cNvPr id="5" name="Picture 4" descr="Ilustração decorativ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67759" y="274320"/>
            <a:ext cx="1463040" cy="163247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188720" y="2743200"/>
            <a:ext cx="4846320" cy="2468880"/>
          </a:xfrm>
          <a:prstGeom prst="roundRect">
            <a:avLst>
              <a:gd name="adj" fmla="val 10000"/>
            </a:avLst>
          </a:prstGeom>
          <a:solidFill>
            <a:srgbClr val="F1E7D9"/>
          </a:solidFill>
          <a:ln w="381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92608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5600" b="0">
                <a:solidFill>
                  <a:srgbClr val="6C4FD8"/>
                </a:solidFill>
                <a:latin typeface="Canva Sans 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749039"/>
            <a:ext cx="429768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2900" b="0">
                <a:solidFill>
                  <a:srgbClr val="1A1A1A"/>
                </a:solidFill>
                <a:latin typeface="Canva Sans Bold"/>
              </a:rPr>
              <a:t>A proposta da tese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2743200"/>
            <a:ext cx="4846320" cy="2468880"/>
          </a:xfrm>
          <a:prstGeom prst="roundRect">
            <a:avLst>
              <a:gd name="adj" fmla="val 10000"/>
            </a:avLst>
          </a:prstGeom>
          <a:solidFill>
            <a:srgbClr val="F1E7D9"/>
          </a:solidFill>
          <a:ln w="381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59" y="292608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5600" b="0">
                <a:solidFill>
                  <a:srgbClr val="6C4FD8"/>
                </a:solidFill>
                <a:latin typeface="Canva Sans 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59" y="3749039"/>
            <a:ext cx="429768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2900" b="0">
                <a:solidFill>
                  <a:srgbClr val="1A1A1A"/>
                </a:solidFill>
                <a:latin typeface="Canva Sans Bold"/>
              </a:rPr>
              <a:t>O que a literatura mostra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252960" y="2743200"/>
            <a:ext cx="4846320" cy="2468880"/>
          </a:xfrm>
          <a:prstGeom prst="roundRect">
            <a:avLst>
              <a:gd name="adj" fmla="val 10000"/>
            </a:avLst>
          </a:prstGeom>
          <a:solidFill>
            <a:srgbClr val="F1E7D9"/>
          </a:solidFill>
          <a:ln w="381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0" y="292608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5600" b="0">
                <a:solidFill>
                  <a:srgbClr val="6C4FD8"/>
                </a:solidFill>
                <a:latin typeface="Canva Sans 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0" y="3749039"/>
            <a:ext cx="429768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2900" b="0">
                <a:solidFill>
                  <a:srgbClr val="1A1A1A"/>
                </a:solidFill>
                <a:latin typeface="Canva Sans Bold"/>
              </a:rPr>
              <a:t>Como a política será escutada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6035040"/>
            <a:ext cx="4846320" cy="2468880"/>
          </a:xfrm>
          <a:prstGeom prst="roundRect">
            <a:avLst>
              <a:gd name="adj" fmla="val 10000"/>
            </a:avLst>
          </a:prstGeom>
          <a:solidFill>
            <a:srgbClr val="F1E7D9"/>
          </a:solidFill>
          <a:ln w="381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621792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5600" b="0">
                <a:solidFill>
                  <a:srgbClr val="6C4FD8"/>
                </a:solidFill>
                <a:latin typeface="Canva Sans 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7040879"/>
            <a:ext cx="429768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2900" b="0">
                <a:solidFill>
                  <a:srgbClr val="1A1A1A"/>
                </a:solidFill>
                <a:latin typeface="Canva Sans Bold"/>
              </a:rPr>
              <a:t>O texto da política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6035040"/>
            <a:ext cx="4846320" cy="2468880"/>
          </a:xfrm>
          <a:prstGeom prst="roundRect">
            <a:avLst>
              <a:gd name="adj" fmla="val 10000"/>
            </a:avLst>
          </a:prstGeom>
          <a:solidFill>
            <a:srgbClr val="F1E7D9"/>
          </a:solidFill>
          <a:ln w="381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621792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5600" b="0">
                <a:solidFill>
                  <a:srgbClr val="6C4FD8"/>
                </a:solidFill>
                <a:latin typeface="Canva Sans Bold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7040879"/>
            <a:ext cx="429768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2900" b="0">
                <a:solidFill>
                  <a:srgbClr val="1A1A1A"/>
                </a:solidFill>
                <a:latin typeface="Canva Sans Bold"/>
              </a:rPr>
              <a:t>O território, a escola e os próximos passos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02920"/>
            <a:ext cx="10058400" cy="137160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l">
              <a:lnSpc>
                <a:spcPct val="100000"/>
              </a:lnSpc>
            </a:pPr>
            <a:r>
              <a:rPr sz="6000" b="0">
                <a:solidFill>
                  <a:srgbClr val="FFFFFF"/>
                </a:solidFill>
                <a:latin typeface="Canva Sans Bold"/>
              </a:rPr>
              <a:t>DE ONDE PARTO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058400" cy="7040880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9326880" cy="6583680"/>
          </a:xfrm>
          <a:prstGeom prst="rect">
            <a:avLst/>
          </a:prstGeom>
          <a:noFill/>
        </p:spPr>
        <p:txBody>
          <a:bodyPr wrap="square" lIns="109728" rIns="109728" tIns="109728" bIns="109728" anchor="t"/>
          <a:lstStyle/>
          <a:p>
            <a:pPr algn="l">
              <a:lnSpc>
                <a:spcPct val="115000"/>
              </a:lnSpc>
              <a:spcAft>
                <a:spcPts val="2200"/>
              </a:spcAft>
            </a:pPr>
            <a:r>
              <a:rPr sz="3000" b="0">
                <a:solidFill>
                  <a:srgbClr val="1A1A1A"/>
                </a:solidFill>
                <a:latin typeface="Canva Sans Bold"/>
              </a:rPr>
              <a:t>Território e rede. </a:t>
            </a:r>
            <a:r>
              <a:rPr sz="3000" b="0">
                <a:solidFill>
                  <a:srgbClr val="1A1A1A"/>
                </a:solidFill>
                <a:latin typeface="Canva Sans"/>
              </a:rPr>
              <a:t>Quase duas décadas de convivência com Pipa e dezoito anos de trabalho na rede municipal de Tibau do Sul.</a:t>
            </a:r>
          </a:p>
          <a:p>
            <a:pPr algn="l">
              <a:lnSpc>
                <a:spcPct val="115000"/>
              </a:lnSpc>
              <a:spcAft>
                <a:spcPts val="2200"/>
              </a:spcAft>
            </a:pPr>
            <a:r>
              <a:rPr sz="3000" b="0">
                <a:solidFill>
                  <a:srgbClr val="1A1A1A"/>
                </a:solidFill>
                <a:latin typeface="Canva Sans Bold"/>
              </a:rPr>
              <a:t>Mestrado na mesma escola. </a:t>
            </a:r>
            <a:r>
              <a:rPr sz="3000" b="0">
                <a:solidFill>
                  <a:srgbClr val="1A1A1A"/>
                </a:solidFill>
                <a:latin typeface="Canva Sans"/>
              </a:rPr>
              <a:t>Pesquisa-ação no ensino remoto: 70% das crianças da turma dividiam o celular com adultos (MACHADO, 2021).</a:t>
            </a:r>
          </a:p>
          <a:p>
            <a:pPr algn="l">
              <a:lnSpc>
                <a:spcPct val="115000"/>
              </a:lnSpc>
            </a:pPr>
            <a:r>
              <a:rPr sz="3000" b="0">
                <a:solidFill>
                  <a:srgbClr val="1A1A1A"/>
                </a:solidFill>
                <a:latin typeface="Canva Sans Bold"/>
              </a:rPr>
              <a:t>Uma tese nova. </a:t>
            </a:r>
            <a:r>
              <a:rPr sz="3000" b="0">
                <a:solidFill>
                  <a:srgbClr val="1A1A1A"/>
                </a:solidFill>
                <a:latin typeface="Canva Sans"/>
              </a:rPr>
              <a:t>Objeto, pergunta e desenho próprios. A trajetória orienta o olhar e não conta como dado; o diário de campo registra o percurso.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960352" y="804672"/>
            <a:ext cx="5157216" cy="867765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scola Municipal Domitila Castelo, Pipa (RN). Acervo da pesquisa (2026)."/>
          <p:cNvPicPr>
            <a:picLocks noChangeAspect="1"/>
          </p:cNvPicPr>
          <p:nvPr/>
        </p:nvPicPr>
        <p:blipFill>
          <a:blip r:embed="rId3"/>
          <a:srcRect t="5990" b="5990"/>
          <a:stretch>
            <a:fillRect/>
          </a:stretch>
        </p:blipFill>
        <p:spPr>
          <a:xfrm>
            <a:off x="12070080" y="914400"/>
            <a:ext cx="4937760" cy="77266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070080" y="8659367"/>
            <a:ext cx="4937760" cy="73152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A1A1A"/>
                </a:solidFill>
                <a:latin typeface="Canva Sans"/>
              </a:rPr>
              <a:t>Escola Municipal Domitila Castelo, Pipa (RN). Acervo da pesquisa (2026).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46920"/>
            <a:ext cx="10515600" cy="45720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nva Sans Bold"/>
              </a:rPr>
              <a:t>Fundamentos: </a:t>
            </a:r>
            <a:r>
              <a:rPr sz="1500" b="0">
                <a:solidFill>
                  <a:srgbClr val="FFFFFF"/>
                </a:solidFill>
                <a:latin typeface="Canva Sans"/>
              </a:rPr>
              <a:t>Freire (2019); Braun e Clarke (2019): reflexividade.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02920"/>
            <a:ext cx="16459200" cy="137160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ctr">
              <a:lnSpc>
                <a:spcPct val="100000"/>
              </a:lnSpc>
            </a:pPr>
            <a:r>
              <a:rPr sz="5400" b="0">
                <a:solidFill>
                  <a:srgbClr val="FFFFFF"/>
                </a:solidFill>
                <a:latin typeface="Canva Sans Bold"/>
              </a:rPr>
              <a:t>O DIREITO CHEGA ANTES DOS MEIOS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94560"/>
            <a:ext cx="10607040" cy="3291840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377440"/>
            <a:ext cx="9966960" cy="3017520"/>
          </a:xfrm>
          <a:prstGeom prst="rect">
            <a:avLst/>
          </a:prstGeom>
          <a:noFill/>
        </p:spPr>
        <p:txBody>
          <a:bodyPr wrap="square" lIns="109728" rIns="109728" tIns="109728" bIns="109728" anchor="t"/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500" b="0">
                <a:solidFill>
                  <a:srgbClr val="1A1A1A"/>
                </a:solidFill>
                <a:latin typeface="Canva Sans Bold"/>
              </a:rPr>
              <a:t>A LEI PROMETE</a:t>
            </a:r>
          </a:p>
          <a:p>
            <a:pPr algn="l">
              <a:lnSpc>
                <a:spcPct val="115000"/>
              </a:lnSpc>
            </a:pPr>
            <a:r>
              <a:rPr sz="2500" b="0">
                <a:solidFill>
                  <a:srgbClr val="1A1A1A"/>
                </a:solidFill>
                <a:latin typeface="Canva Sans"/>
              </a:rPr>
              <a:t>Educação digital como direito, dever do Estado e componente curricular, com implementação obrigatória a partir de 2026 (Lei nº 14.533/2023; Resolução CNE/CEB nº 2/2025).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5852160"/>
            <a:ext cx="10607040" cy="3291840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0" y="6035040"/>
            <a:ext cx="9966960" cy="3017520"/>
          </a:xfrm>
          <a:prstGeom prst="rect">
            <a:avLst/>
          </a:prstGeom>
          <a:noFill/>
        </p:spPr>
        <p:txBody>
          <a:bodyPr wrap="square" lIns="109728" rIns="109728" tIns="109728" bIns="109728" anchor="t"/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500" b="0">
                <a:solidFill>
                  <a:srgbClr val="1A1A1A"/>
                </a:solidFill>
                <a:latin typeface="Canva Sans Bold"/>
              </a:rPr>
              <a:t>A SALA RECEBE</a:t>
            </a:r>
          </a:p>
          <a:p>
            <a:pPr algn="l">
              <a:lnSpc>
                <a:spcPct val="115000"/>
              </a:lnSpc>
            </a:pPr>
            <a:r>
              <a:rPr sz="2500" b="0">
                <a:solidFill>
                  <a:srgbClr val="1A1A1A"/>
                </a:solidFill>
                <a:latin typeface="Canva Sans"/>
              </a:rPr>
              <a:t>Salas dos anos iniciais sem tela, um laboratório com uso a verificar, formação prevista como simples promoção e meios que dependem de cada ente federado.</a:t>
            </a:r>
          </a:p>
        </p:txBody>
      </p:sp>
      <p:pic>
        <p:nvPicPr>
          <p:cNvPr id="8" name="Picture 7" descr="Ilustração decorativ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5840" y="2103120"/>
            <a:ext cx="3291840" cy="297645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87552" y="5925312"/>
            <a:ext cx="5157216" cy="296265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lfabeto móvel feito à mão numa sala dos anos iniciais"/>
          <p:cNvPicPr>
            <a:picLocks noChangeAspect="1"/>
          </p:cNvPicPr>
          <p:nvPr/>
        </p:nvPicPr>
        <p:blipFill>
          <a:blip r:embed="rId4"/>
          <a:srcRect t="617" b="617"/>
          <a:stretch>
            <a:fillRect/>
          </a:stretch>
        </p:blipFill>
        <p:spPr>
          <a:xfrm>
            <a:off x="1097280" y="6035040"/>
            <a:ext cx="4937760" cy="2743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9646920"/>
            <a:ext cx="16459200" cy="45720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nva Sans Bold"/>
              </a:rPr>
              <a:t>Fundamentos: </a:t>
            </a:r>
            <a:r>
              <a:rPr sz="1500" b="0">
                <a:solidFill>
                  <a:srgbClr val="FFFFFF"/>
                </a:solidFill>
                <a:latin typeface="Canva Sans"/>
              </a:rPr>
              <a:t>Lei nº 14.533/2023; Mainardes (2006); Ball, Maguire e Braun (2016).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02920"/>
            <a:ext cx="16459200" cy="137160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ctr">
              <a:lnSpc>
                <a:spcPct val="100000"/>
              </a:lnSpc>
            </a:pPr>
            <a:r>
              <a:rPr sz="5400" b="0">
                <a:solidFill>
                  <a:srgbClr val="FFFFFF"/>
                </a:solidFill>
                <a:latin typeface="Canva Sans Bold"/>
              </a:rPr>
              <a:t>OBJETO E QUESTÃO DE PESQUISA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7863840" cy="7223760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377440"/>
            <a:ext cx="7132320" cy="6766560"/>
          </a:xfrm>
          <a:prstGeom prst="rect">
            <a:avLst/>
          </a:prstGeom>
          <a:noFill/>
        </p:spPr>
        <p:txBody>
          <a:bodyPr wrap="square" lIns="109728" rIns="109728" tIns="109728" bIns="109728" anchor="t"/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2900" b="0">
                <a:solidFill>
                  <a:srgbClr val="1A1A1A"/>
                </a:solidFill>
                <a:latin typeface="Canva Sans Bold"/>
              </a:rPr>
              <a:t>OBJETO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2900" b="0">
                <a:solidFill>
                  <a:srgbClr val="1A1A1A"/>
                </a:solidFill>
                <a:latin typeface="Canva Sans"/>
              </a:rPr>
              <a:t>A encenação da PNED, em seu eixo Educação Digital Escolar, pelos profissionais da educação do 1º ao 5º ano da Escola Municipal Domitila Castelo, em Pipa, Tibau do Sul (RN).</a:t>
            </a:r>
          </a:p>
          <a:p>
            <a:pPr algn="l">
              <a:lnSpc>
                <a:spcPct val="115000"/>
              </a:lnSpc>
            </a:pPr>
            <a:r>
              <a:rPr sz="2900" b="0">
                <a:solidFill>
                  <a:srgbClr val="1A1A1A"/>
                </a:solidFill>
                <a:latin typeface="Canva Sans"/>
              </a:rPr>
              <a:t>Todos constroem a política: docentes, coordenação, direção e demais profissionais ligados ao trabalho pedagógico.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103120"/>
            <a:ext cx="7863840" cy="7223760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2377440"/>
            <a:ext cx="7132320" cy="6766560"/>
          </a:xfrm>
          <a:prstGeom prst="rect">
            <a:avLst/>
          </a:prstGeom>
          <a:noFill/>
        </p:spPr>
        <p:txBody>
          <a:bodyPr wrap="square" lIns="109728" rIns="109728" tIns="109728" bIns="109728" anchor="t"/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600" b="0">
                <a:solidFill>
                  <a:srgbClr val="1A1A1A"/>
                </a:solidFill>
                <a:latin typeface="Canva Sans Bold"/>
              </a:rPr>
              <a:t>QUESTÃO</a:t>
            </a:r>
          </a:p>
          <a:p>
            <a:pPr algn="l">
              <a:lnSpc>
                <a:spcPct val="115000"/>
              </a:lnSpc>
            </a:pPr>
            <a:r>
              <a:rPr sz="2600" b="0">
                <a:solidFill>
                  <a:srgbClr val="1A1A1A"/>
                </a:solidFill>
                <a:latin typeface="Canva Sans"/>
              </a:rPr>
              <a:t>Como os profissionais da educação encenam e recontextualizam a PNED no contexto da prática da Escola Municipal Domitila Castelo, em Pipa (RN), e como as culturas profissionais, as condições materiais e institucionais da escola e as especificidades socioespaciais do território atravessam esse processo, produzindo diferentes formas de atuação, entre as quais podem emergir acomodações, negociações, ressignificações e resistências?</a:t>
            </a:r>
          </a:p>
        </p:txBody>
      </p:sp>
      <p:pic>
        <p:nvPicPr>
          <p:cNvPr id="8" name="Picture 7" descr="Ilustração decorativ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3520" y="365760"/>
            <a:ext cx="1188720" cy="16227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9646920"/>
            <a:ext cx="16459200" cy="45720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nva Sans Bold"/>
              </a:rPr>
              <a:t>Fundamentos: </a:t>
            </a:r>
            <a:r>
              <a:rPr sz="1500" b="0">
                <a:solidFill>
                  <a:srgbClr val="FFFFFF"/>
                </a:solidFill>
                <a:latin typeface="Canva Sans"/>
              </a:rPr>
              <a:t>Bowe, Ball e Gold (1992); Mainardes (2006); Ball, Maguire e Braun (2016).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5760"/>
            <a:ext cx="16459200" cy="137160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ctr">
              <a:lnSpc>
                <a:spcPct val="100000"/>
              </a:lnSpc>
            </a:pPr>
            <a:r>
              <a:rPr sz="6000" b="0">
                <a:solidFill>
                  <a:srgbClr val="FFFFFF"/>
                </a:solidFill>
                <a:latin typeface="Canva Sans Bold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6459200" cy="155448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ctr">
              <a:lnSpc>
                <a:spcPct val="115000"/>
              </a:lnSpc>
            </a:pPr>
            <a:r>
              <a:rPr sz="2300" b="0">
                <a:solidFill>
                  <a:srgbClr val="FFFFFF"/>
                </a:solidFill>
                <a:latin typeface="Canva Sans Bold"/>
              </a:rPr>
              <a:t>Geral: </a:t>
            </a:r>
            <a:r>
              <a:rPr sz="2300" b="0">
                <a:solidFill>
                  <a:srgbClr val="FFFFFF"/>
                </a:solidFill>
                <a:latin typeface="Canva Sans"/>
              </a:rPr>
              <a:t>analisar como os profissionais da educação encenam e recontextualizam a PNED no contexto da prática da escola, considerando as relações entre a política, as culturas profissionais, as condições materiais e institucionais e o território.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429000"/>
            <a:ext cx="3950208" cy="5852160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381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566160"/>
            <a:ext cx="109728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5400" b="0">
                <a:solidFill>
                  <a:srgbClr val="6C4FD8"/>
                </a:solidFill>
                <a:latin typeface="Canva Sans Bold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663440"/>
            <a:ext cx="3520440" cy="4389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600" b="0">
                <a:solidFill>
                  <a:srgbClr val="1A1A1A"/>
                </a:solidFill>
                <a:latin typeface="Canva Sans"/>
              </a:rPr>
              <a:t>Compreender como os profissionais interpretam a PNED a partir de experiências, crenças, valores e formas de organizar o trabalho.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7488" y="3429000"/>
            <a:ext cx="3950208" cy="5852160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381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76088" y="3566160"/>
            <a:ext cx="109728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5400" b="0">
                <a:solidFill>
                  <a:srgbClr val="6C4FD8"/>
                </a:solidFill>
                <a:latin typeface="Canva Sans Bold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76088" y="4663440"/>
            <a:ext cx="3520440" cy="4389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600" b="0">
                <a:solidFill>
                  <a:srgbClr val="1A1A1A"/>
                </a:solidFill>
                <a:latin typeface="Canva Sans"/>
              </a:rPr>
              <a:t>Analisar como as condições materiais e institucionais da escola e o território atravessam a tradução da política.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72016" y="3429000"/>
            <a:ext cx="3950208" cy="5852160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381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0616" y="3566160"/>
            <a:ext cx="109728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5400" b="0">
                <a:solidFill>
                  <a:srgbClr val="6C4FD8"/>
                </a:solidFill>
                <a:latin typeface="Canva Sans Bold"/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0616" y="4663440"/>
            <a:ext cx="3520440" cy="4389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600" b="0">
                <a:solidFill>
                  <a:srgbClr val="1A1A1A"/>
                </a:solidFill>
                <a:latin typeface="Canva Sans"/>
              </a:rPr>
              <a:t>Identificar formas de atuação: adesão, acomodação, adaptação, omissão seletiva, negociação, ressignificação ou resistência.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496544" y="3429000"/>
            <a:ext cx="3950208" cy="5852160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381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25144" y="3566160"/>
            <a:ext cx="109728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5400" b="0">
                <a:solidFill>
                  <a:srgbClr val="6C4FD8"/>
                </a:solidFill>
                <a:latin typeface="Canva Sans Bold"/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25144" y="4663440"/>
            <a:ext cx="3520440" cy="4389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600" b="0">
                <a:solidFill>
                  <a:srgbClr val="1A1A1A"/>
                </a:solidFill>
                <a:latin typeface="Canva Sans"/>
              </a:rPr>
              <a:t>Discutir as implicações para as crianças: provisão, proteção e participação no ambiente digital.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9646920"/>
            <a:ext cx="16459200" cy="45720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nva Sans Bold"/>
              </a:rPr>
              <a:t>Fundamentos: </a:t>
            </a:r>
            <a:r>
              <a:rPr sz="1500" b="0">
                <a:solidFill>
                  <a:srgbClr val="FFFFFF"/>
                </a:solidFill>
                <a:latin typeface="Canva Sans"/>
              </a:rPr>
              <a:t>Hargreaves (2005); Ball, Maguire e Braun (2016); ONU (2021).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02920"/>
            <a:ext cx="16459200" cy="137160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ctr">
              <a:lnSpc>
                <a:spcPct val="100000"/>
              </a:lnSpc>
            </a:pPr>
            <a:r>
              <a:rPr sz="5200" b="0">
                <a:solidFill>
                  <a:srgbClr val="FFFFFF"/>
                </a:solidFill>
                <a:latin typeface="Canva Sans Bold"/>
              </a:rPr>
              <a:t>REFERENCIAL TEÓRICO-METODOLÓGICO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94560"/>
            <a:ext cx="5349240" cy="3337560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423160"/>
            <a:ext cx="4800600" cy="2926080"/>
          </a:xfrm>
          <a:prstGeom prst="rect">
            <a:avLst/>
          </a:prstGeom>
          <a:noFill/>
        </p:spPr>
        <p:txBody>
          <a:bodyPr wrap="square" lIns="109728" rIns="109728" tIns="109728" bIns="109728" anchor="t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500" b="0">
                <a:solidFill>
                  <a:srgbClr val="1A1A1A"/>
                </a:solidFill>
                <a:latin typeface="Canva Sans Bold"/>
              </a:rPr>
              <a:t>Ciclo de Políticas</a:t>
            </a:r>
          </a:p>
          <a:p>
            <a:pPr algn="l">
              <a:lnSpc>
                <a:spcPct val="115000"/>
              </a:lnSpc>
            </a:pPr>
            <a:r>
              <a:rPr sz="2500" b="0">
                <a:solidFill>
                  <a:srgbClr val="1A1A1A"/>
                </a:solidFill>
                <a:latin typeface="Canva Sans"/>
              </a:rPr>
              <a:t>Bowe, Ball e Gold (1992); Mainardes (2006). A política é recriada no contexto da prática.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2194560"/>
            <a:ext cx="5349240" cy="3337560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2423160"/>
            <a:ext cx="4800600" cy="2926080"/>
          </a:xfrm>
          <a:prstGeom prst="rect">
            <a:avLst/>
          </a:prstGeom>
          <a:noFill/>
        </p:spPr>
        <p:txBody>
          <a:bodyPr wrap="square" lIns="109728" rIns="109728" tIns="109728" bIns="109728" anchor="t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500" b="0">
                <a:solidFill>
                  <a:srgbClr val="1A1A1A"/>
                </a:solidFill>
                <a:latin typeface="Canva Sans Bold"/>
              </a:rPr>
              <a:t>Teoria da atuação</a:t>
            </a:r>
          </a:p>
          <a:p>
            <a:pPr algn="l">
              <a:lnSpc>
                <a:spcPct val="115000"/>
              </a:lnSpc>
            </a:pPr>
            <a:r>
              <a:rPr sz="2500" b="0">
                <a:solidFill>
                  <a:srgbClr val="1A1A1A"/>
                </a:solidFill>
                <a:latin typeface="Canva Sans"/>
              </a:rPr>
              <a:t>Ball, Maguire e Braun (2016). Dimensões situacional, profissional, material e externa.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070080" y="2194560"/>
            <a:ext cx="5349240" cy="3337560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0" y="2423160"/>
            <a:ext cx="4800600" cy="2926080"/>
          </a:xfrm>
          <a:prstGeom prst="rect">
            <a:avLst/>
          </a:prstGeom>
          <a:noFill/>
        </p:spPr>
        <p:txBody>
          <a:bodyPr wrap="square" lIns="109728" rIns="109728" tIns="109728" bIns="109728" anchor="t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500" b="0">
                <a:solidFill>
                  <a:srgbClr val="1A1A1A"/>
                </a:solidFill>
                <a:latin typeface="Canva Sans Bold"/>
              </a:rPr>
              <a:t>Culturas profissionais</a:t>
            </a:r>
          </a:p>
          <a:p>
            <a:pPr algn="l">
              <a:lnSpc>
                <a:spcPct val="115000"/>
              </a:lnSpc>
            </a:pPr>
            <a:r>
              <a:rPr sz="2500" b="0">
                <a:solidFill>
                  <a:srgbClr val="1A1A1A"/>
                </a:solidFill>
                <a:latin typeface="Canva Sans"/>
              </a:rPr>
              <a:t>Hargreaves (2005). Conteúdo e forma das culturas do trabalho docente.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806440"/>
            <a:ext cx="5349240" cy="3337560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6035040"/>
            <a:ext cx="4800600" cy="2926080"/>
          </a:xfrm>
          <a:prstGeom prst="rect">
            <a:avLst/>
          </a:prstGeom>
          <a:noFill/>
        </p:spPr>
        <p:txBody>
          <a:bodyPr wrap="square" lIns="109728" rIns="109728" tIns="109728" bIns="109728" anchor="t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500" b="0">
                <a:solidFill>
                  <a:srgbClr val="1A1A1A"/>
                </a:solidFill>
                <a:latin typeface="Canva Sans Bold"/>
              </a:rPr>
              <a:t>Performatividade</a:t>
            </a:r>
          </a:p>
          <a:p>
            <a:pPr algn="l">
              <a:lnSpc>
                <a:spcPct val="115000"/>
              </a:lnSpc>
            </a:pPr>
            <a:r>
              <a:rPr sz="2500" b="0">
                <a:solidFill>
                  <a:srgbClr val="1A1A1A"/>
                </a:solidFill>
                <a:latin typeface="Canva Sans"/>
              </a:rPr>
              <a:t>Ball (2002; 2004). Metas, registros e fabricações que acompanham a política.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5806440"/>
            <a:ext cx="5349240" cy="3337560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6035040"/>
            <a:ext cx="4800600" cy="2926080"/>
          </a:xfrm>
          <a:prstGeom prst="rect">
            <a:avLst/>
          </a:prstGeom>
          <a:noFill/>
        </p:spPr>
        <p:txBody>
          <a:bodyPr wrap="square" lIns="109728" rIns="109728" tIns="109728" bIns="109728" anchor="t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500" b="0">
                <a:solidFill>
                  <a:srgbClr val="1A1A1A"/>
                </a:solidFill>
                <a:latin typeface="Canva Sans Bold"/>
              </a:rPr>
              <a:t>Território e lugar</a:t>
            </a:r>
          </a:p>
          <a:p>
            <a:pPr algn="l">
              <a:lnSpc>
                <a:spcPct val="115000"/>
              </a:lnSpc>
            </a:pPr>
            <a:r>
              <a:rPr sz="2500" b="0">
                <a:solidFill>
                  <a:srgbClr val="1A1A1A"/>
                </a:solidFill>
                <a:latin typeface="Canva Sans"/>
              </a:rPr>
              <a:t>Santos (1999; 2006); Massey (2008). Território usado, rugosidade, encontro de trajetórias.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070080" y="5806440"/>
            <a:ext cx="5349240" cy="3337560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0" y="6035040"/>
            <a:ext cx="4800600" cy="2926080"/>
          </a:xfrm>
          <a:prstGeom prst="rect">
            <a:avLst/>
          </a:prstGeom>
          <a:noFill/>
        </p:spPr>
        <p:txBody>
          <a:bodyPr wrap="square" lIns="109728" rIns="109728" tIns="109728" bIns="109728" anchor="t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500" b="0">
                <a:solidFill>
                  <a:srgbClr val="1A1A1A"/>
                </a:solidFill>
                <a:latin typeface="Canva Sans Bold"/>
              </a:rPr>
              <a:t>Direitos da criança</a:t>
            </a:r>
          </a:p>
          <a:p>
            <a:pPr algn="l">
              <a:lnSpc>
                <a:spcPct val="115000"/>
              </a:lnSpc>
            </a:pPr>
            <a:r>
              <a:rPr sz="2500" b="0">
                <a:solidFill>
                  <a:srgbClr val="1A1A1A"/>
                </a:solidFill>
                <a:latin typeface="Canva Sans"/>
              </a:rPr>
              <a:t>ONU (2021). Provisão, proteção e participação no ambiente digital.</a:t>
            </a:r>
          </a:p>
        </p:txBody>
      </p:sp>
      <p:pic>
        <p:nvPicPr>
          <p:cNvPr id="16" name="Picture 15" descr="Ilustração decorativ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2080" y="320040"/>
            <a:ext cx="1280160" cy="142841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2960" y="9418320"/>
            <a:ext cx="16642080" cy="54864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FFFFFF"/>
                </a:solidFill>
                <a:latin typeface="Canva Sans"/>
              </a:rPr>
              <a:t>As noções funcionam como lentes de leitura, abertas ao que o campo trouxer.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02920"/>
            <a:ext cx="16459200" cy="137160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ctr">
              <a:lnSpc>
                <a:spcPct val="100000"/>
              </a:lnSpc>
            </a:pPr>
            <a:r>
              <a:rPr sz="4800" b="0">
                <a:solidFill>
                  <a:srgbClr val="FFFFFF"/>
                </a:solidFill>
                <a:latin typeface="Canva Sans Bold"/>
              </a:rPr>
              <a:t>HABITAR O DIGITAL: UMA FORMULAÇÃO DA TESE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8595360" cy="1463040"/>
          </a:xfrm>
          <a:prstGeom prst="roundRect">
            <a:avLst>
              <a:gd name="adj" fmla="val 15000"/>
            </a:avLst>
          </a:prstGeom>
          <a:solidFill>
            <a:srgbClr val="F1E7D9"/>
          </a:solidFill>
          <a:ln w="381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176272"/>
            <a:ext cx="8229600" cy="132588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6C4FD8"/>
                </a:solidFill>
                <a:latin typeface="Canva Sans Bold"/>
              </a:rPr>
              <a:t>Schlemmer et al. (2021)</a:t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1A1A1A"/>
                </a:solidFill>
                <a:latin typeface="Canva Sans"/>
              </a:rPr>
              <a:t>Habitar como experiência relacional entre sujeitos, ambientes, tecnologias e redes.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794760"/>
            <a:ext cx="8595360" cy="1463040"/>
          </a:xfrm>
          <a:prstGeom prst="roundRect">
            <a:avLst>
              <a:gd name="adj" fmla="val 15000"/>
            </a:avLst>
          </a:prstGeom>
          <a:solidFill>
            <a:srgbClr val="F1E7D9"/>
          </a:solidFill>
          <a:ln w="381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867912"/>
            <a:ext cx="8229600" cy="132588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6C4FD8"/>
                </a:solidFill>
                <a:latin typeface="Canva Sans Bold"/>
              </a:rPr>
              <a:t>Di Felice (2009)</a:t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1A1A1A"/>
                </a:solidFill>
                <a:latin typeface="Canva Sans"/>
              </a:rPr>
              <a:t>O habitar transformado pelas redes digitais: o habitar atópico.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486400"/>
            <a:ext cx="8595360" cy="1463040"/>
          </a:xfrm>
          <a:prstGeom prst="roundRect">
            <a:avLst>
              <a:gd name="adj" fmla="val 15000"/>
            </a:avLst>
          </a:prstGeom>
          <a:solidFill>
            <a:srgbClr val="F1E7D9"/>
          </a:solidFill>
          <a:ln w="381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559552"/>
            <a:ext cx="8229600" cy="132588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6C4FD8"/>
                </a:solidFill>
                <a:latin typeface="Canva Sans Bold"/>
              </a:rPr>
              <a:t>Santos (2006)</a:t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1A1A1A"/>
                </a:solidFill>
                <a:latin typeface="Canva Sans"/>
              </a:rPr>
              <a:t>Objetos técnicos distribuídos de modo desigual, com idades e funções diferentes.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178040"/>
            <a:ext cx="8595360" cy="1463040"/>
          </a:xfrm>
          <a:prstGeom prst="roundRect">
            <a:avLst>
              <a:gd name="adj" fmla="val 15000"/>
            </a:avLst>
          </a:prstGeom>
          <a:solidFill>
            <a:srgbClr val="F1E7D9"/>
          </a:solidFill>
          <a:ln w="381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7251192"/>
            <a:ext cx="8229600" cy="132588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6C4FD8"/>
                </a:solidFill>
                <a:latin typeface="Canva Sans Bold"/>
              </a:rPr>
              <a:t>Massey (2008)</a:t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1A1A1A"/>
                </a:solidFill>
                <a:latin typeface="Canva Sans"/>
              </a:rPr>
              <a:t>O lugar como encontro de trajetórias.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8915400"/>
            <a:ext cx="8595360" cy="1051560"/>
          </a:xfrm>
          <a:prstGeom prst="roundRect">
            <a:avLst>
              <a:gd name="adj" fmla="val 2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8915400"/>
            <a:ext cx="8229600" cy="105156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1A1A1A"/>
                </a:solidFill>
                <a:latin typeface="Canva Sans Bold"/>
              </a:rPr>
              <a:t>Maneiras desiguais de acesso, participação e apropriação do digital num território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48672" y="2084831"/>
            <a:ext cx="7534656" cy="625449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Vista contemporânea de Pipa (Figura 15). Acervo da pesquisa (2026)."/>
          <p:cNvPicPr>
            <a:picLocks noChangeAspect="1"/>
          </p:cNvPicPr>
          <p:nvPr/>
        </p:nvPicPr>
        <p:blipFill>
          <a:blip r:embed="rId3"/>
          <a:srcRect t="847" b="847"/>
          <a:stretch>
            <a:fillRect/>
          </a:stretch>
        </p:blipFill>
        <p:spPr>
          <a:xfrm>
            <a:off x="10058400" y="2194560"/>
            <a:ext cx="7315200" cy="53035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058400" y="7516367"/>
            <a:ext cx="7315200" cy="73152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A1A1A"/>
                </a:solidFill>
                <a:latin typeface="Canva Sans"/>
              </a:rPr>
              <a:t>Vista contemporânea de Pipa (Figura 15). Acervo da pesquisa (2026).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8549640"/>
            <a:ext cx="7315200" cy="1371600"/>
          </a:xfrm>
          <a:prstGeom prst="rect">
            <a:avLst/>
          </a:prstGeom>
          <a:noFill/>
        </p:spPr>
        <p:txBody>
          <a:bodyPr wrap="square" lIns="109728" rIns="109728" tIns="109728" bIns="109728" anchor="t"/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FFFFFF"/>
                </a:solidFill>
                <a:latin typeface="Canva Sans"/>
              </a:rPr>
              <a:t>Em Pipa: densidade tecnológica nos circuitos do turismo e poucas telas nos espaços pedagógicos da escola.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02920"/>
            <a:ext cx="16459200" cy="137160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ctr">
              <a:lnSpc>
                <a:spcPct val="100000"/>
              </a:lnSpc>
            </a:pPr>
            <a:r>
              <a:rPr sz="5400" b="0">
                <a:solidFill>
                  <a:srgbClr val="FFFFFF"/>
                </a:solidFill>
                <a:latin typeface="Canva Sans Bold"/>
              </a:rPr>
              <a:t>INEDITISMO EM TRÊS DIMENSÕES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77440"/>
            <a:ext cx="5349240" cy="6583680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381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06040"/>
            <a:ext cx="4800600" cy="118872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6C4FD8"/>
                </a:solidFill>
                <a:latin typeface="Canva Sans Bold"/>
              </a:rPr>
              <a:t>EMPÍRICO-TEMPORAL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931920"/>
            <a:ext cx="4800600" cy="4846320"/>
          </a:xfrm>
          <a:prstGeom prst="rect">
            <a:avLst/>
          </a:prstGeom>
          <a:noFill/>
        </p:spPr>
        <p:txBody>
          <a:bodyPr wrap="square" lIns="109728" rIns="109728" tIns="109728" bIns="109728" anchor="t"/>
          <a:lstStyle/>
          <a:p>
            <a:pPr algn="l">
              <a:lnSpc>
                <a:spcPct val="115000"/>
              </a:lnSpc>
            </a:pPr>
            <a:r>
              <a:rPr sz="2900" b="0">
                <a:solidFill>
                  <a:srgbClr val="1A1A1A"/>
                </a:solidFill>
                <a:latin typeface="Canva Sans"/>
              </a:rPr>
              <a:t>A PNED chega à escola quando o componente se torna obrigatório, em 2026. Nenhum dos 9 estudos da RSL trata dela nem de rede municipal de pequeno porte.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2377440"/>
            <a:ext cx="5349240" cy="6583680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381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2606040"/>
            <a:ext cx="4800600" cy="118872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6C4FD8"/>
                </a:solidFill>
                <a:latin typeface="Canva Sans Bold"/>
              </a:rPr>
              <a:t>ANALÍTICO-ESPACIAL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3931920"/>
            <a:ext cx="4800600" cy="4846320"/>
          </a:xfrm>
          <a:prstGeom prst="rect">
            <a:avLst/>
          </a:prstGeom>
          <a:noFill/>
        </p:spPr>
        <p:txBody>
          <a:bodyPr wrap="square" lIns="109728" rIns="109728" tIns="109728" bIns="109728" anchor="t"/>
          <a:lstStyle/>
          <a:p>
            <a:pPr algn="l">
              <a:lnSpc>
                <a:spcPct val="115000"/>
              </a:lnSpc>
            </a:pPr>
            <a:r>
              <a:rPr sz="2900" b="0">
                <a:solidFill>
                  <a:srgbClr val="1A1A1A"/>
                </a:solidFill>
                <a:latin typeface="Canva Sans"/>
              </a:rPr>
              <a:t>Pipa como dimensão constitutiva do contexto da prática, que atravessa toda a tese (SANTOS, 1999; MASSEY, 2008).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070080" y="2377440"/>
            <a:ext cx="5349240" cy="6583680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381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0" y="2606040"/>
            <a:ext cx="4800600" cy="118872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6C4FD8"/>
                </a:solidFill>
                <a:latin typeface="Canva Sans Bold"/>
              </a:rPr>
              <a:t>TEÓRICO-CONCEITUAL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0" y="3931920"/>
            <a:ext cx="4800600" cy="4846320"/>
          </a:xfrm>
          <a:prstGeom prst="rect">
            <a:avLst/>
          </a:prstGeom>
          <a:noFill/>
        </p:spPr>
        <p:txBody>
          <a:bodyPr wrap="square" lIns="109728" rIns="109728" tIns="109728" bIns="109728" anchor="t"/>
          <a:lstStyle/>
          <a:p>
            <a:pPr algn="l">
              <a:lnSpc>
                <a:spcPct val="115000"/>
              </a:lnSpc>
            </a:pPr>
            <a:r>
              <a:rPr sz="2900" b="0">
                <a:solidFill>
                  <a:srgbClr val="1A1A1A"/>
                </a:solidFill>
                <a:latin typeface="Canva Sans"/>
              </a:rPr>
              <a:t>Teoria da atuação, culturas profissionais, dimensão material e território articulados, com a noção de habitar o digital.</a:t>
            </a:r>
          </a:p>
        </p:txBody>
      </p:sp>
      <p:pic>
        <p:nvPicPr>
          <p:cNvPr id="13" name="Picture 12" descr="Ilustração decorativ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74320"/>
            <a:ext cx="1371600" cy="1468109"/>
          </a:xfrm>
          <a:prstGeom prst="rect">
            <a:avLst/>
          </a:prstGeom>
        </p:spPr>
      </p:pic>
      <p:pic>
        <p:nvPicPr>
          <p:cNvPr id="14" name="Picture 13" descr="Ilustração decorativ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2080" y="274320"/>
            <a:ext cx="1280160" cy="142841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4400" y="9646920"/>
            <a:ext cx="16459200" cy="45720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nva Sans Bold"/>
              </a:rPr>
              <a:t>Fundamentos: </a:t>
            </a:r>
            <a:r>
              <a:rPr sz="1500" b="0">
                <a:solidFill>
                  <a:srgbClr val="FFFFFF"/>
                </a:solidFill>
                <a:latin typeface="Canva Sans"/>
              </a:rPr>
              <a:t>Revisão sistemática (Cap. 2); Ball, Maguire e Braun (2016); Hargreaves (2005).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Ilustração decorativ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11680"/>
            <a:ext cx="6035040" cy="78502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502920"/>
            <a:ext cx="10058400" cy="137160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l">
              <a:lnSpc>
                <a:spcPct val="100000"/>
              </a:lnSpc>
            </a:pPr>
            <a:r>
              <a:rPr sz="6000" b="0">
                <a:solidFill>
                  <a:srgbClr val="FFFFFF"/>
                </a:solidFill>
                <a:latin typeface="Canva Sans Bold"/>
              </a:rPr>
              <a:t>TESE DE PARTIDA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2103120"/>
            <a:ext cx="9966960" cy="4572000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2286000"/>
            <a:ext cx="9235440" cy="420624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l">
              <a:lnSpc>
                <a:spcPct val="115000"/>
              </a:lnSpc>
            </a:pPr>
            <a:r>
              <a:rPr sz="2500" b="0">
                <a:solidFill>
                  <a:srgbClr val="1A1A1A"/>
                </a:solidFill>
                <a:latin typeface="Canva Sans"/>
              </a:rPr>
              <a:t>A PNED chega à escola como orientação a ser lida e interpretada. A forma que assume no cotidiano resulta da relação entre o que prescreve e as condições em que os profissionais precisam atuar, atravessadas pelas culturas profissionais e pelo território. Nenhuma forma de atuação é pressuposta.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949440"/>
            <a:ext cx="9966960" cy="2377440"/>
          </a:xfrm>
          <a:prstGeom prst="rect">
            <a:avLst/>
          </a:prstGeom>
          <a:noFill/>
        </p:spPr>
        <p:txBody>
          <a:bodyPr wrap="square" lIns="109728" rIns="109728" tIns="109728" bIns="109728" anchor="t"/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FFFFF"/>
                </a:solidFill>
                <a:latin typeface="Canva Sans Bold"/>
              </a:rPr>
              <a:t>Pergunta de fundo: </a:t>
            </a:r>
            <a:r>
              <a:rPr sz="2400" b="0">
                <a:solidFill>
                  <a:srgbClr val="FFFFFF"/>
                </a:solidFill>
                <a:latin typeface="Canva Sans"/>
              </a:rPr>
              <a:t>o que acontece com uma política de educação digital quando encontra uma escola, seus profissionais, suas condições materiais e um território específico?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9646920"/>
            <a:ext cx="9966960" cy="45720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nva Sans Bold"/>
              </a:rPr>
              <a:t>Fundamentos: </a:t>
            </a:r>
            <a:r>
              <a:rPr sz="1500" b="0">
                <a:solidFill>
                  <a:srgbClr val="FFFFFF"/>
                </a:solidFill>
                <a:latin typeface="Canva Sans"/>
              </a:rPr>
              <a:t>Bowe, Ball e Gold (1992); Mainardes (2006); Ball, Maguire e Braun (2016).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02920"/>
            <a:ext cx="16459200" cy="137160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ctr">
              <a:lnSpc>
                <a:spcPct val="100000"/>
              </a:lnSpc>
            </a:pPr>
            <a:r>
              <a:rPr sz="5600" b="0">
                <a:solidFill>
                  <a:srgbClr val="FFFFFF"/>
                </a:solidFill>
                <a:latin typeface="Canva Sans Bold"/>
              </a:rPr>
              <a:t>O QUE A LITERATURA MOSTRA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6642080" cy="73152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FFFFFF"/>
                </a:solidFill>
                <a:latin typeface="Canva Sans"/>
              </a:rPr>
              <a:t>Revisão sistemática (PRISMA 2020), 7 bases, de 2019 a setembro de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34640"/>
            <a:ext cx="3017520" cy="2286000"/>
          </a:xfrm>
          <a:prstGeom prst="roundRect">
            <a:avLst>
              <a:gd name="adj" fmla="val 12000"/>
            </a:avLst>
          </a:prstGeom>
          <a:solidFill>
            <a:srgbClr val="F1E7D9"/>
          </a:solidFill>
          <a:ln w="381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3017520" cy="128016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ctr">
              <a:lnSpc>
                <a:spcPct val="100000"/>
              </a:lnSpc>
            </a:pPr>
            <a:r>
              <a:rPr sz="5800" b="0">
                <a:solidFill>
                  <a:srgbClr val="6C4FD8"/>
                </a:solidFill>
                <a:latin typeface="Canva Sans Bold"/>
              </a:rPr>
              <a:t>176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3017520" cy="82296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Canva Sans"/>
              </a:rPr>
              <a:t>registros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2834640"/>
            <a:ext cx="3017520" cy="2286000"/>
          </a:xfrm>
          <a:prstGeom prst="roundRect">
            <a:avLst>
              <a:gd name="adj" fmla="val 12000"/>
            </a:avLst>
          </a:prstGeom>
          <a:solidFill>
            <a:srgbClr val="F1E7D9"/>
          </a:solidFill>
          <a:ln w="381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2926080"/>
            <a:ext cx="3017520" cy="128016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ctr">
              <a:lnSpc>
                <a:spcPct val="100000"/>
              </a:lnSpc>
            </a:pPr>
            <a:r>
              <a:rPr sz="5800" b="0">
                <a:solidFill>
                  <a:srgbClr val="6C4FD8"/>
                </a:solidFill>
                <a:latin typeface="Canva Sans Bold"/>
              </a:rPr>
              <a:t>171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4206240"/>
            <a:ext cx="3017520" cy="82296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Canva Sans"/>
              </a:rPr>
              <a:t>sem duplicatas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2834640"/>
            <a:ext cx="3017520" cy="2286000"/>
          </a:xfrm>
          <a:prstGeom prst="roundRect">
            <a:avLst>
              <a:gd name="adj" fmla="val 12000"/>
            </a:avLst>
          </a:prstGeom>
          <a:solidFill>
            <a:srgbClr val="F1E7D9"/>
          </a:solidFill>
          <a:ln w="381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2926080"/>
            <a:ext cx="3017520" cy="128016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ctr">
              <a:lnSpc>
                <a:spcPct val="100000"/>
              </a:lnSpc>
            </a:pPr>
            <a:r>
              <a:rPr sz="5800" b="0">
                <a:solidFill>
                  <a:srgbClr val="6C4FD8"/>
                </a:solidFill>
                <a:latin typeface="Canva Sans Bold"/>
              </a:rPr>
              <a:t>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4206240"/>
            <a:ext cx="3017520" cy="82296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Canva Sans"/>
              </a:rPr>
              <a:t>buscados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0" y="2834640"/>
            <a:ext cx="3017520" cy="2286000"/>
          </a:xfrm>
          <a:prstGeom prst="roundRect">
            <a:avLst>
              <a:gd name="adj" fmla="val 12000"/>
            </a:avLst>
          </a:prstGeom>
          <a:solidFill>
            <a:srgbClr val="F1E7D9"/>
          </a:solidFill>
          <a:ln w="381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0" y="2926080"/>
            <a:ext cx="3017520" cy="128016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ctr">
              <a:lnSpc>
                <a:spcPct val="100000"/>
              </a:lnSpc>
            </a:pPr>
            <a:r>
              <a:rPr sz="5800" b="0">
                <a:solidFill>
                  <a:srgbClr val="6C4FD8"/>
                </a:solidFill>
                <a:latin typeface="Canva Sans Bold"/>
              </a:rPr>
              <a:t>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4206240"/>
            <a:ext cx="3017520" cy="82296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Canva Sans"/>
              </a:rPr>
              <a:t>lidos na íntegra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356080" y="2834640"/>
            <a:ext cx="3017520" cy="2286000"/>
          </a:xfrm>
          <a:prstGeom prst="roundRect">
            <a:avLst>
              <a:gd name="adj" fmla="val 12000"/>
            </a:avLst>
          </a:prstGeom>
          <a:solidFill>
            <a:srgbClr val="FFCE32"/>
          </a:solidFill>
          <a:ln w="381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356080" y="2926080"/>
            <a:ext cx="3017520" cy="128016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ctr">
              <a:lnSpc>
                <a:spcPct val="100000"/>
              </a:lnSpc>
            </a:pPr>
            <a:r>
              <a:rPr sz="5800" b="0">
                <a:solidFill>
                  <a:srgbClr val="1A1A1A"/>
                </a:solidFill>
                <a:latin typeface="Canva Sans Bold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56080" y="4206240"/>
            <a:ext cx="3017520" cy="82296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Canva Sans"/>
              </a:rPr>
              <a:t>estudos incluídos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577840"/>
            <a:ext cx="16642080" cy="3840480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5760720"/>
            <a:ext cx="15910559" cy="3566160"/>
          </a:xfrm>
          <a:prstGeom prst="rect">
            <a:avLst/>
          </a:prstGeom>
          <a:noFill/>
        </p:spPr>
        <p:txBody>
          <a:bodyPr wrap="square" lIns="109728" rIns="109728" tIns="109728" bIns="109728" anchor="t"/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300" b="0">
                <a:solidFill>
                  <a:srgbClr val="1A1A1A"/>
                </a:solidFill>
                <a:latin typeface="Canva Sans Bold"/>
              </a:rPr>
              <a:t>Lacunas: </a:t>
            </a:r>
            <a:r>
              <a:rPr sz="2300" b="0">
                <a:solidFill>
                  <a:srgbClr val="1A1A1A"/>
                </a:solidFill>
                <a:latin typeface="Canva Sans"/>
              </a:rPr>
              <a:t>nenhum estudo examina a PNED; só um delimita o ciclo de alfabetização; nenhum trata de rede municipal de pequeno porte.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300" b="0">
                <a:solidFill>
                  <a:srgbClr val="1A1A1A"/>
                </a:solidFill>
                <a:latin typeface="Canva Sans Bold"/>
              </a:rPr>
              <a:t>O que falta ao corpus: </a:t>
            </a:r>
            <a:r>
              <a:rPr sz="2300" b="0">
                <a:solidFill>
                  <a:srgbClr val="1A1A1A"/>
                </a:solidFill>
                <a:latin typeface="Canva Sans"/>
              </a:rPr>
              <a:t>culturas profissionais, pressão por resultados e o território, que aparece só como contraste entre países.</a:t>
            </a:r>
          </a:p>
          <a:p>
            <a:pPr algn="l">
              <a:lnSpc>
                <a:spcPct val="115000"/>
              </a:lnSpc>
            </a:pPr>
            <a:r>
              <a:rPr sz="2300" b="0">
                <a:solidFill>
                  <a:srgbClr val="1A1A1A"/>
                </a:solidFill>
                <a:latin typeface="Canva Sans Bold"/>
              </a:rPr>
              <a:t>O que o corpus sustenta: </a:t>
            </a:r>
            <a:r>
              <a:rPr sz="2300" b="0">
                <a:solidFill>
                  <a:srgbClr val="1A1A1A"/>
                </a:solidFill>
                <a:latin typeface="Canva Sans"/>
              </a:rPr>
              <a:t>a política depende da articulação entre recursos, condições institucionais e trabalho interpretativo dos profissionais.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02920"/>
            <a:ext cx="16459200" cy="137160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ctr">
              <a:lnSpc>
                <a:spcPct val="100000"/>
              </a:lnSpc>
            </a:pPr>
            <a:r>
              <a:rPr sz="5400" b="0">
                <a:solidFill>
                  <a:srgbClr val="FFFFFF"/>
                </a:solidFill>
                <a:latin typeface="Canva Sans Bold"/>
              </a:rPr>
              <a:t>COMO A POLÍTICA SERÁ ESCUTADA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6642080" cy="118872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FFFFFF"/>
                </a:solidFill>
                <a:latin typeface="Canva Sans"/>
              </a:rPr>
              <a:t>Estudo de caso único, qualitativo (MINAYO, 2009; YIN, 2001), com os profissionais do 1º ao 5º ano e um técnico da Secretaria como fonte complementar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108960"/>
            <a:ext cx="3108960" cy="5943600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381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24612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5000" b="0">
                <a:solidFill>
                  <a:srgbClr val="6C4FD8"/>
                </a:solidFill>
                <a:latin typeface="Canva Sans 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20624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A1A1A"/>
                </a:solidFill>
                <a:latin typeface="Canva Sans Bold"/>
              </a:rPr>
              <a:t>Análise documental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577840"/>
            <a:ext cx="2743200" cy="3291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300" b="0">
                <a:solidFill>
                  <a:srgbClr val="1A1A1A"/>
                </a:solidFill>
                <a:latin typeface="Canva Sans"/>
              </a:rPr>
              <a:t>Lei, Resolução CNE/CEB nº 2/2025, PPP, planos, atas, aquisição e PIEC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3108960"/>
            <a:ext cx="3108960" cy="5943600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381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324612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5000" b="0">
                <a:solidFill>
                  <a:srgbClr val="6C4FD8"/>
                </a:solidFill>
                <a:latin typeface="Canva Sans 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420624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A1A1A"/>
                </a:solidFill>
                <a:latin typeface="Canva Sans Bold"/>
              </a:rPr>
              <a:t>Registro iconográfico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5577840"/>
            <a:ext cx="2743200" cy="3291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300" b="0">
                <a:solidFill>
                  <a:srgbClr val="1A1A1A"/>
                </a:solidFill>
                <a:latin typeface="Canva Sans"/>
              </a:rPr>
              <a:t>38 figuras lidas com Santos e Massey; já realizado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3108960"/>
            <a:ext cx="3108960" cy="5943600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381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324612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5000" b="0">
                <a:solidFill>
                  <a:srgbClr val="6C4FD8"/>
                </a:solidFill>
                <a:latin typeface="Canva Sans Bold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20624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A1A1A"/>
                </a:solidFill>
                <a:latin typeface="Canva Sans Bold"/>
              </a:rPr>
              <a:t>Questionário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5577840"/>
            <a:ext cx="2743200" cy="3291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300" b="0">
                <a:solidFill>
                  <a:srgbClr val="1A1A1A"/>
                </a:solidFill>
                <a:latin typeface="Canva Sans"/>
              </a:rPr>
              <a:t>Perfil e percepções, em cinco blocos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0" y="3108960"/>
            <a:ext cx="3108960" cy="5943600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381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0" y="324612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5000" b="0">
                <a:solidFill>
                  <a:srgbClr val="6C4FD8"/>
                </a:solidFill>
                <a:latin typeface="Canva Sans Bol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420624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A1A1A"/>
                </a:solidFill>
                <a:latin typeface="Canva Sans Bold"/>
              </a:rPr>
              <a:t>Entrevistas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5577840"/>
            <a:ext cx="2743200" cy="3291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300" b="0">
                <a:solidFill>
                  <a:srgbClr val="1A1A1A"/>
                </a:solidFill>
                <a:latin typeface="Canva Sans"/>
              </a:rPr>
              <a:t>Seis eixos, de 60 a 90 minutos, sem nomear as categorias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356080" y="3108960"/>
            <a:ext cx="3108960" cy="5943600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381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538960" y="324612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5000" b="0">
                <a:solidFill>
                  <a:srgbClr val="6C4FD8"/>
                </a:solidFill>
                <a:latin typeface="Canva Sans Bold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538960" y="420624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A1A1A"/>
                </a:solidFill>
                <a:latin typeface="Canva Sans Bold"/>
              </a:rPr>
              <a:t>Análise e devolutiva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538960" y="5577840"/>
            <a:ext cx="2743200" cy="3291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300" b="0">
                <a:solidFill>
                  <a:srgbClr val="1A1A1A"/>
                </a:solidFill>
                <a:latin typeface="Canva Sans"/>
              </a:rPr>
              <a:t>Análise temática reflexiva, triangulação e retorno à escola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9646920"/>
            <a:ext cx="16459200" cy="45720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nva Sans Bold"/>
              </a:rPr>
              <a:t>Fundamentos: </a:t>
            </a:r>
            <a:r>
              <a:rPr sz="1500" b="0">
                <a:solidFill>
                  <a:srgbClr val="FFFFFF"/>
                </a:solidFill>
                <a:latin typeface="Canva Sans"/>
              </a:rPr>
              <a:t>Braun e Clarke (2006; 2019): análise temática reflexiva; Resoluções CNS nº 466/2012 e 510/2016.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02920"/>
            <a:ext cx="16459200" cy="137160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ctr">
              <a:lnSpc>
                <a:spcPct val="100000"/>
              </a:lnSpc>
            </a:pPr>
            <a:r>
              <a:rPr sz="5000" b="0">
                <a:solidFill>
                  <a:srgbClr val="FFFFFF"/>
                </a:solidFill>
                <a:latin typeface="Canva Sans Bold"/>
              </a:rPr>
              <a:t>FORMAS DE ATUAÇÃO E COMO SERÃO LIDAS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94560"/>
            <a:ext cx="3566160" cy="1325880"/>
          </a:xfrm>
          <a:prstGeom prst="roundRect">
            <a:avLst>
              <a:gd name="adj" fmla="val 3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3566160" cy="132588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1A1A1A"/>
                </a:solidFill>
                <a:latin typeface="Canva Sans Bold"/>
              </a:rPr>
              <a:t>Adesão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2194560"/>
            <a:ext cx="3566160" cy="1325880"/>
          </a:xfrm>
          <a:prstGeom prst="roundRect">
            <a:avLst>
              <a:gd name="adj" fmla="val 3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2194560"/>
            <a:ext cx="3566160" cy="132588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1A1A1A"/>
                </a:solidFill>
                <a:latin typeface="Canva Sans Bold"/>
              </a:rPr>
              <a:t>Acomodação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94760"/>
            <a:ext cx="3566160" cy="1325880"/>
          </a:xfrm>
          <a:prstGeom prst="roundRect">
            <a:avLst>
              <a:gd name="adj" fmla="val 3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3566160" cy="132588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1A1A1A"/>
                </a:solidFill>
                <a:latin typeface="Canva Sans Bold"/>
              </a:rPr>
              <a:t>Adaptação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3794760"/>
            <a:ext cx="3566160" cy="1325880"/>
          </a:xfrm>
          <a:prstGeom prst="roundRect">
            <a:avLst>
              <a:gd name="adj" fmla="val 3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3794760"/>
            <a:ext cx="3566160" cy="132588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1A1A1A"/>
                </a:solidFill>
                <a:latin typeface="Canva Sans Bold"/>
              </a:rPr>
              <a:t>Omissão seletiva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394960"/>
            <a:ext cx="3566160" cy="1325880"/>
          </a:xfrm>
          <a:prstGeom prst="roundRect">
            <a:avLst>
              <a:gd name="adj" fmla="val 3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394960"/>
            <a:ext cx="3566160" cy="132588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1A1A1A"/>
                </a:solidFill>
                <a:latin typeface="Canva Sans Bold"/>
              </a:rPr>
              <a:t>Negociação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5394960"/>
            <a:ext cx="3566160" cy="1325880"/>
          </a:xfrm>
          <a:prstGeom prst="roundRect">
            <a:avLst>
              <a:gd name="adj" fmla="val 3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5394960"/>
            <a:ext cx="3566160" cy="132588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1A1A1A"/>
                </a:solidFill>
                <a:latin typeface="Canva Sans Bold"/>
              </a:rPr>
              <a:t>Ressignificação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6995160"/>
            <a:ext cx="3566160" cy="1325880"/>
          </a:xfrm>
          <a:prstGeom prst="roundRect">
            <a:avLst>
              <a:gd name="adj" fmla="val 30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995160"/>
            <a:ext cx="3566160" cy="132588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1A1A1A"/>
                </a:solidFill>
                <a:latin typeface="Canva Sans Bold"/>
              </a:rPr>
              <a:t>Resistência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8595360"/>
            <a:ext cx="7315200" cy="914400"/>
          </a:xfrm>
          <a:prstGeom prst="rect">
            <a:avLst/>
          </a:prstGeom>
          <a:noFill/>
        </p:spPr>
        <p:txBody>
          <a:bodyPr wrap="square" lIns="109728" rIns="109728" tIns="109728" bIns="109728" anchor="t"/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FFFFFF"/>
                </a:solidFill>
                <a:latin typeface="Canva Sans"/>
              </a:rPr>
              <a:t>Nenhuma forma é pressuposta; outras podem surgir do material.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0" y="2194560"/>
            <a:ext cx="8686800" cy="7223760"/>
          </a:xfrm>
          <a:prstGeom prst="roundRect">
            <a:avLst>
              <a:gd name="adj" fmla="val 6000"/>
            </a:avLst>
          </a:prstGeom>
          <a:solidFill>
            <a:srgbClr val="F1E7D9"/>
          </a:solidFill>
          <a:ln w="381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2377440"/>
            <a:ext cx="7955279" cy="6858000"/>
          </a:xfrm>
          <a:prstGeom prst="rect">
            <a:avLst/>
          </a:prstGeom>
          <a:noFill/>
        </p:spPr>
        <p:txBody>
          <a:bodyPr wrap="square" lIns="109728" rIns="109728" tIns="109728" bIns="109728" anchor="t"/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2600" b="0">
                <a:solidFill>
                  <a:srgbClr val="1A1A1A"/>
                </a:solidFill>
                <a:latin typeface="Canva Sans Bold"/>
              </a:rPr>
              <a:t>Recorrência. </a:t>
            </a:r>
            <a:r>
              <a:rPr sz="2600" b="0">
                <a:solidFill>
                  <a:srgbClr val="1A1A1A"/>
                </a:solidFill>
                <a:latin typeface="Canva Sans"/>
              </a:rPr>
              <a:t>Uma forma só vira achado quando aparece de modo recorrente e sem indução pela pergunta.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2600" b="0">
                <a:solidFill>
                  <a:srgbClr val="1A1A1A"/>
                </a:solidFill>
                <a:latin typeface="Canva Sans Bold"/>
              </a:rPr>
              <a:t>Posição. </a:t>
            </a:r>
            <a:r>
              <a:rPr sz="2600" b="0">
                <a:solidFill>
                  <a:srgbClr val="1A1A1A"/>
                </a:solidFill>
                <a:latin typeface="Canva Sans"/>
              </a:rPr>
              <a:t>As formas podem variar entre docência, coordenação, direção, apoio e Secretaria.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2600" b="0">
                <a:solidFill>
                  <a:srgbClr val="1A1A1A"/>
                </a:solidFill>
                <a:latin typeface="Canva Sans Bold"/>
              </a:rPr>
              <a:t>Nome justo. </a:t>
            </a:r>
            <a:r>
              <a:rPr sz="2600" b="0">
                <a:solidFill>
                  <a:srgbClr val="1A1A1A"/>
                </a:solidFill>
                <a:latin typeface="Canva Sans"/>
              </a:rPr>
              <a:t>Quando não há alternativa, o que se vê é custo transferido ao trabalhador, e assim será nomeado.</a:t>
            </a:r>
          </a:p>
          <a:p>
            <a:pPr algn="l">
              <a:lnSpc>
                <a:spcPct val="115000"/>
              </a:lnSpc>
            </a:pPr>
            <a:r>
              <a:rPr sz="2600" b="0">
                <a:solidFill>
                  <a:srgbClr val="1A1A1A"/>
                </a:solidFill>
                <a:latin typeface="Canva Sans Bold"/>
              </a:rPr>
              <a:t>Sem antecipar. </a:t>
            </a:r>
            <a:r>
              <a:rPr sz="2600" b="0">
                <a:solidFill>
                  <a:srgbClr val="1A1A1A"/>
                </a:solidFill>
                <a:latin typeface="Canva Sans"/>
              </a:rPr>
              <a:t>As categorias não são ditas aos participantes; os critérios são datados antes da 1ª entrevista.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9646920"/>
            <a:ext cx="16459200" cy="45720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nva Sans Bold"/>
              </a:rPr>
              <a:t>Fundamentos: </a:t>
            </a:r>
            <a:r>
              <a:rPr sz="1500" b="0">
                <a:solidFill>
                  <a:srgbClr val="FFFFFF"/>
                </a:solidFill>
                <a:latin typeface="Canva Sans"/>
              </a:rPr>
              <a:t>Ball (2002; 2004); Hargreaves (2005); Ball, Maguire e Braun (2016).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02920"/>
            <a:ext cx="16459200" cy="137160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ctr">
              <a:lnSpc>
                <a:spcPct val="100000"/>
              </a:lnSpc>
            </a:pPr>
            <a:r>
              <a:rPr sz="5200" b="0">
                <a:solidFill>
                  <a:srgbClr val="FFFFFF"/>
                </a:solidFill>
                <a:latin typeface="Canva Sans Bold"/>
              </a:rPr>
              <a:t>O TEXTO DA POLÍTICA: O VAZIO MATERIAL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8138160" cy="2560320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381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40279"/>
            <a:ext cx="7589520" cy="2286000"/>
          </a:xfrm>
          <a:prstGeom prst="rect">
            <a:avLst/>
          </a:prstGeom>
          <a:noFill/>
        </p:spPr>
        <p:txBody>
          <a:bodyPr wrap="square" lIns="109728" rIns="109728" tIns="109728" bIns="109728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0">
                <a:solidFill>
                  <a:srgbClr val="6C4FD8"/>
                </a:solidFill>
                <a:latin typeface="Canva Sans Bold"/>
              </a:rPr>
              <a:t>Art. 1º, § 3º</a:t>
            </a:r>
          </a:p>
          <a:p>
            <a:pPr algn="l">
              <a:lnSpc>
                <a:spcPct val="115000"/>
              </a:lnSpc>
            </a:pPr>
            <a:r>
              <a:rPr sz="2400" b="0">
                <a:solidFill>
                  <a:srgbClr val="1A1A1A"/>
                </a:solidFill>
                <a:latin typeface="Canva Sans"/>
              </a:rPr>
              <a:t>A PNED se define como “instância de articulação” e não substitui as políticas de infraestrutura e conectividade.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5440" y="2103120"/>
            <a:ext cx="8138160" cy="2560320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381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0" y="2240279"/>
            <a:ext cx="7589520" cy="2286000"/>
          </a:xfrm>
          <a:prstGeom prst="rect">
            <a:avLst/>
          </a:prstGeom>
          <a:noFill/>
        </p:spPr>
        <p:txBody>
          <a:bodyPr wrap="square" lIns="109728" rIns="109728" tIns="109728" bIns="109728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0">
                <a:solidFill>
                  <a:srgbClr val="6C4FD8"/>
                </a:solidFill>
                <a:latin typeface="Canva Sans Bold"/>
              </a:rPr>
              <a:t>Art. 2º</a:t>
            </a:r>
          </a:p>
          <a:p>
            <a:pPr algn="l">
              <a:lnSpc>
                <a:spcPct val="115000"/>
              </a:lnSpc>
            </a:pPr>
            <a:r>
              <a:rPr sz="2400" b="0">
                <a:solidFill>
                  <a:srgbClr val="1A1A1A"/>
                </a:solidFill>
                <a:latin typeface="Canva Sans"/>
              </a:rPr>
              <a:t>A inclusão digital, onde está a conectividade das escolas, segue “dentro dos limites orçamentários” de cada 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937760"/>
            <a:ext cx="8138160" cy="2560320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381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074920"/>
            <a:ext cx="7589520" cy="2286000"/>
          </a:xfrm>
          <a:prstGeom prst="rect">
            <a:avLst/>
          </a:prstGeom>
          <a:noFill/>
        </p:spPr>
        <p:txBody>
          <a:bodyPr wrap="square" lIns="109728" rIns="109728" tIns="109728" bIns="109728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0">
                <a:solidFill>
                  <a:srgbClr val="6C4FD8"/>
                </a:solidFill>
                <a:latin typeface="Canva Sans Bold"/>
              </a:rPr>
              <a:t>Art. 11</a:t>
            </a:r>
          </a:p>
          <a:p>
            <a:pPr algn="l">
              <a:lnSpc>
                <a:spcPct val="115000"/>
              </a:lnSpc>
            </a:pPr>
            <a:r>
              <a:rPr sz="2400" b="0">
                <a:solidFill>
                  <a:srgbClr val="1A1A1A"/>
                </a:solidFill>
                <a:latin typeface="Canva Sans"/>
              </a:rPr>
              <a:t>Dotações dos entes, doações, FUST e Funttel: nenhum fundo próprio, nenhum repasse obrigatório aos municípios.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4937760"/>
            <a:ext cx="8138160" cy="2560320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381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0" y="5074920"/>
            <a:ext cx="7589520" cy="2286000"/>
          </a:xfrm>
          <a:prstGeom prst="rect">
            <a:avLst/>
          </a:prstGeom>
          <a:noFill/>
        </p:spPr>
        <p:txBody>
          <a:bodyPr wrap="square" lIns="109728" rIns="109728" tIns="109728" bIns="109728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0">
                <a:solidFill>
                  <a:srgbClr val="6C4FD8"/>
                </a:solidFill>
                <a:latin typeface="Canva Sans Bold"/>
              </a:rPr>
              <a:t>Art. 3º, § 1º, IX e X</a:t>
            </a:r>
          </a:p>
          <a:p>
            <a:pPr algn="l">
              <a:lnSpc>
                <a:spcPct val="115000"/>
              </a:lnSpc>
            </a:pPr>
            <a:r>
              <a:rPr sz="2400" b="0">
                <a:solidFill>
                  <a:srgbClr val="1A1A1A"/>
                </a:solidFill>
                <a:latin typeface="Canva Sans"/>
              </a:rPr>
              <a:t>A formação de professores aparece como promoção, sem responsáveis, prazos, carga horária ou custeio.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7863840"/>
            <a:ext cx="16550640" cy="1600200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7863840"/>
            <a:ext cx="15819120" cy="160020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A1A1A"/>
                </a:solidFill>
                <a:latin typeface="Canva Sans Bold"/>
              </a:rPr>
              <a:t>Para a tese: </a:t>
            </a:r>
            <a:r>
              <a:rPr sz="2200" b="0">
                <a:solidFill>
                  <a:srgbClr val="1A1A1A"/>
                </a:solidFill>
                <a:latin typeface="Canva Sans"/>
              </a:rPr>
              <a:t>o texto delimita o espaço de interpretação (a), as condições que podem faltar (b), as situações em que surgem formas de atuação (c) e as promessas às crianças (d).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9646920"/>
            <a:ext cx="16459200" cy="45720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nva Sans Bold"/>
              </a:rPr>
              <a:t>Fundamentos: </a:t>
            </a:r>
            <a:r>
              <a:rPr sz="1500" b="0">
                <a:solidFill>
                  <a:srgbClr val="FFFFFF"/>
                </a:solidFill>
                <a:latin typeface="Canva Sans"/>
              </a:rPr>
              <a:t>Brasil (2023); Brasil (2025); Mainardes (2006); Ball (2004).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02920"/>
            <a:ext cx="16459200" cy="137160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ctr">
              <a:lnSpc>
                <a:spcPct val="100000"/>
              </a:lnSpc>
            </a:pPr>
            <a:r>
              <a:rPr sz="5000" b="0">
                <a:solidFill>
                  <a:srgbClr val="FFFFFF"/>
                </a:solidFill>
                <a:latin typeface="Canva Sans Bold"/>
              </a:rPr>
              <a:t>PIPA: O ANTIGO E O CONECTADO JUNTOS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993391"/>
            <a:ext cx="8083296" cy="63459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sseios na baía (Figura 20). Acervo da pesquisa (2026)."/>
          <p:cNvPicPr>
            <a:picLocks noChangeAspect="1"/>
          </p:cNvPicPr>
          <p:nvPr/>
        </p:nvPicPr>
        <p:blipFill>
          <a:blip r:embed="rId3"/>
          <a:srcRect t="3491" b="3491"/>
          <a:stretch>
            <a:fillRect/>
          </a:stretch>
        </p:blipFill>
        <p:spPr>
          <a:xfrm>
            <a:off x="822960" y="2103120"/>
            <a:ext cx="7863840" cy="5394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7516367"/>
            <a:ext cx="7863840" cy="73152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A1A1A"/>
                </a:solidFill>
                <a:latin typeface="Canva Sans"/>
              </a:rPr>
              <a:t>Passeios na baía (Figura 20). Acervo da pesquisa (2026).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08592" y="1993391"/>
            <a:ext cx="3877056" cy="63459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escador em Pipa (Figura 21)."/>
          <p:cNvPicPr>
            <a:picLocks noChangeAspect="1"/>
          </p:cNvPicPr>
          <p:nvPr/>
        </p:nvPicPr>
        <p:blipFill>
          <a:blip r:embed="rId4"/>
          <a:srcRect t="7845" b="7845"/>
          <a:stretch>
            <a:fillRect/>
          </a:stretch>
        </p:blipFill>
        <p:spPr>
          <a:xfrm>
            <a:off x="9418320" y="2103120"/>
            <a:ext cx="3657600" cy="5394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418320" y="7516367"/>
            <a:ext cx="3657600" cy="73152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A1A1A"/>
                </a:solidFill>
                <a:latin typeface="Canva Sans"/>
              </a:rPr>
              <a:t>Pescador em Pipa (Figura 21).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807440" y="1993392"/>
            <a:ext cx="3657600" cy="6117336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36040" y="2148840"/>
            <a:ext cx="3200400" cy="585216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l">
              <a:lnSpc>
                <a:spcPct val="115000"/>
              </a:lnSpc>
            </a:pPr>
            <a:r>
              <a:rPr sz="2500" b="0">
                <a:solidFill>
                  <a:srgbClr val="1A1A1A"/>
                </a:solidFill>
                <a:latin typeface="Canva Sans"/>
              </a:rPr>
              <a:t>O digital atravessa o turismo, de reservas a pagamentos, enquanto a pesca segue no mesmo mar. A tecnologia está em quase todo o distrito, menos nas salas das crianças.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8686800"/>
            <a:ext cx="16459200" cy="45720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nva Sans Bold"/>
              </a:rPr>
              <a:t>Fundamentos: </a:t>
            </a:r>
            <a:r>
              <a:rPr sz="1500" b="0">
                <a:solidFill>
                  <a:srgbClr val="FFFFFF"/>
                </a:solidFill>
                <a:latin typeface="Canva Sans"/>
              </a:rPr>
              <a:t>Santos (1999): território usado; Massey (2008): lugar como encontro de trajetórias.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02920"/>
            <a:ext cx="16459200" cy="137160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ctr">
              <a:lnSpc>
                <a:spcPct val="100000"/>
              </a:lnSpc>
            </a:pPr>
            <a:r>
              <a:rPr sz="4600" b="0">
                <a:solidFill>
                  <a:srgbClr val="FFFFFF"/>
                </a:solidFill>
                <a:latin typeface="Canva Sans Bold"/>
              </a:rPr>
              <a:t>A ESCOLA: O QUE EXISTE PARA A EDUCAÇÃO DIGITAL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2039112"/>
            <a:ext cx="5340096" cy="424281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aboratório de informática (Figura 25)"/>
          <p:cNvPicPr>
            <a:picLocks noChangeAspect="1"/>
          </p:cNvPicPr>
          <p:nvPr/>
        </p:nvPicPr>
        <p:blipFill>
          <a:blip r:embed="rId3"/>
          <a:srcRect l="6250" r="6250"/>
          <a:stretch>
            <a:fillRect/>
          </a:stretch>
        </p:blipFill>
        <p:spPr>
          <a:xfrm>
            <a:off x="822960" y="2148840"/>
            <a:ext cx="5120640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458968"/>
            <a:ext cx="5120640" cy="73152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A1A1A"/>
                </a:solidFill>
                <a:latin typeface="Canva Sans"/>
              </a:rPr>
              <a:t>Laboratório de informática (Figura 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6400800"/>
            <a:ext cx="5340096" cy="2651760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492240"/>
            <a:ext cx="4937760" cy="246888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1A1A1A"/>
                </a:solidFill>
                <a:latin typeface="Canva Sans"/>
              </a:rPr>
              <a:t>Montado pela Prefeitura em 2022 e com uso pedagógico a verificar nos documentos (informação preliminar).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6792" y="2039112"/>
            <a:ext cx="5340096" cy="424281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ala dos anos iniciais (Figura 34)"/>
          <p:cNvPicPr>
            <a:picLocks noChangeAspect="1"/>
          </p:cNvPicPr>
          <p:nvPr/>
        </p:nvPicPr>
        <p:blipFill>
          <a:blip r:embed="rId4"/>
          <a:srcRect l="6250" r="6250"/>
          <a:stretch>
            <a:fillRect/>
          </a:stretch>
        </p:blipFill>
        <p:spPr>
          <a:xfrm>
            <a:off x="6446520" y="2148840"/>
            <a:ext cx="5120640" cy="3291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46520" y="5458968"/>
            <a:ext cx="5120640" cy="73152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A1A1A"/>
                </a:solidFill>
                <a:latin typeface="Canva Sans"/>
              </a:rPr>
              <a:t>Sala dos anos iniciais (Figura 34)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6792" y="6400800"/>
            <a:ext cx="5340096" cy="2651760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6492240"/>
            <a:ext cx="4937760" cy="246888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1A1A1A"/>
                </a:solidFill>
                <a:latin typeface="Canva Sans"/>
              </a:rPr>
              <a:t>Nas salas de 1º e 2º anos registradas, nenhum dispositivo digital.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960352" y="2039112"/>
            <a:ext cx="5340096" cy="424281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lfabeto móvel feito à mão (Figura 37)"/>
          <p:cNvPicPr>
            <a:picLocks noChangeAspect="1"/>
          </p:cNvPicPr>
          <p:nvPr/>
        </p:nvPicPr>
        <p:blipFill>
          <a:blip r:embed="rId5"/>
          <a:srcRect l="6250" r="6250"/>
          <a:stretch>
            <a:fillRect/>
          </a:stretch>
        </p:blipFill>
        <p:spPr>
          <a:xfrm>
            <a:off x="12070080" y="2148840"/>
            <a:ext cx="5120640" cy="32918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070080" y="5458968"/>
            <a:ext cx="5120640" cy="73152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A1A1A"/>
                </a:solidFill>
                <a:latin typeface="Canva Sans"/>
              </a:rPr>
              <a:t>Alfabeto móvel feito à mão (Figura 37)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960352" y="6400800"/>
            <a:ext cx="5340096" cy="2651760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61520" y="6492240"/>
            <a:ext cx="4937760" cy="246888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1A1A1A"/>
                </a:solidFill>
                <a:latin typeface="Canva Sans"/>
              </a:rPr>
              <a:t>Predominam recursos impressos e artesanais.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9646920"/>
            <a:ext cx="16459200" cy="45720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nva Sans Bold"/>
              </a:rPr>
              <a:t>Fundamentos: </a:t>
            </a:r>
            <a:r>
              <a:rPr sz="1500" b="0">
                <a:solidFill>
                  <a:srgbClr val="FFFFFF"/>
                </a:solidFill>
                <a:latin typeface="Canva Sans"/>
              </a:rPr>
              <a:t>Ball, Maguire e Braun (2016): dimensão material; Santos (2012): rugosidade.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02920"/>
            <a:ext cx="16459200" cy="137160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ctr">
              <a:lnSpc>
                <a:spcPct val="100000"/>
              </a:lnSpc>
            </a:pPr>
            <a:r>
              <a:rPr sz="5400" b="0">
                <a:solidFill>
                  <a:srgbClr val="FFFFFF"/>
                </a:solidFill>
                <a:latin typeface="Canva Sans Bold"/>
              </a:rPr>
              <a:t>O TERRITÓRIO ATRAVESSA A TESE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94560"/>
            <a:ext cx="5349240" cy="3108960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381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4800600" cy="2743200"/>
          </a:xfrm>
          <a:prstGeom prst="rect">
            <a:avLst/>
          </a:prstGeom>
          <a:noFill/>
        </p:spPr>
        <p:txBody>
          <a:bodyPr wrap="square" lIns="109728" rIns="109728" tIns="109728" bIns="109728" anchor="t"/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700" b="0">
                <a:solidFill>
                  <a:srgbClr val="6C4FD8"/>
                </a:solidFill>
                <a:latin typeface="Canva Sans Bold"/>
              </a:rPr>
              <a:t>Introdução</a:t>
            </a:r>
          </a:p>
          <a:p>
            <a:pPr algn="l">
              <a:lnSpc>
                <a:spcPct val="115000"/>
              </a:lnSpc>
            </a:pPr>
            <a:r>
              <a:rPr sz="2700" b="0">
                <a:solidFill>
                  <a:srgbClr val="1A1A1A"/>
                </a:solidFill>
                <a:latin typeface="Canva Sans"/>
              </a:rPr>
              <a:t>Na questão e no ineditismo analítico-espacial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2194560"/>
            <a:ext cx="5349240" cy="3108960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381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2377440"/>
            <a:ext cx="4800600" cy="2743200"/>
          </a:xfrm>
          <a:prstGeom prst="rect">
            <a:avLst/>
          </a:prstGeom>
          <a:noFill/>
        </p:spPr>
        <p:txBody>
          <a:bodyPr wrap="square" lIns="109728" rIns="109728" tIns="109728" bIns="109728" anchor="t"/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700" b="0">
                <a:solidFill>
                  <a:srgbClr val="6C4FD8"/>
                </a:solidFill>
                <a:latin typeface="Canva Sans Bold"/>
              </a:rPr>
              <a:t>Cap. 2 · RSL</a:t>
            </a:r>
          </a:p>
          <a:p>
            <a:pPr algn="l">
              <a:lnSpc>
                <a:spcPct val="115000"/>
              </a:lnSpc>
            </a:pPr>
            <a:r>
              <a:rPr sz="2700" b="0">
                <a:solidFill>
                  <a:srgbClr val="1A1A1A"/>
                </a:solidFill>
                <a:latin typeface="Canva Sans"/>
              </a:rPr>
              <a:t>Só contraste entre países; nenhuma rede pequena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070080" y="2194560"/>
            <a:ext cx="5349240" cy="3108960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381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0" y="2377440"/>
            <a:ext cx="4800600" cy="2743200"/>
          </a:xfrm>
          <a:prstGeom prst="rect">
            <a:avLst/>
          </a:prstGeom>
          <a:noFill/>
        </p:spPr>
        <p:txBody>
          <a:bodyPr wrap="square" lIns="109728" rIns="109728" tIns="109728" bIns="109728" anchor="t"/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700" b="0">
                <a:solidFill>
                  <a:srgbClr val="6C4FD8"/>
                </a:solidFill>
                <a:latin typeface="Canva Sans Bold"/>
              </a:rPr>
              <a:t>Cap. 4 · Método</a:t>
            </a:r>
          </a:p>
          <a:p>
            <a:pPr algn="l">
              <a:lnSpc>
                <a:spcPct val="115000"/>
              </a:lnSpc>
            </a:pPr>
            <a:r>
              <a:rPr sz="2700" b="0">
                <a:solidFill>
                  <a:srgbClr val="1A1A1A"/>
                </a:solidFill>
                <a:latin typeface="Canva Sans"/>
              </a:rPr>
              <a:t>Dimensão situacional, registro iconográfico, entrevistas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669279"/>
            <a:ext cx="5349240" cy="3108960"/>
          </a:xfrm>
          <a:prstGeom prst="roundRect">
            <a:avLst>
              <a:gd name="adj" fmla="val 8000"/>
            </a:avLst>
          </a:prstGeom>
          <a:solidFill>
            <a:srgbClr val="F1E7D9"/>
          </a:solidFill>
          <a:ln w="381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852159"/>
            <a:ext cx="4800600" cy="2743200"/>
          </a:xfrm>
          <a:prstGeom prst="rect">
            <a:avLst/>
          </a:prstGeom>
          <a:noFill/>
        </p:spPr>
        <p:txBody>
          <a:bodyPr wrap="square" lIns="109728" rIns="109728" tIns="109728" bIns="109728" anchor="t"/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700" b="0">
                <a:solidFill>
                  <a:srgbClr val="6C4FD8"/>
                </a:solidFill>
                <a:latin typeface="Canva Sans Bold"/>
              </a:rPr>
              <a:t>Cap. 5 · Lei</a:t>
            </a:r>
          </a:p>
          <a:p>
            <a:pPr algn="l">
              <a:lnSpc>
                <a:spcPct val="115000"/>
              </a:lnSpc>
            </a:pPr>
            <a:r>
              <a:rPr sz="2700" b="0">
                <a:solidFill>
                  <a:srgbClr val="1A1A1A"/>
                </a:solidFill>
                <a:latin typeface="Canva Sans"/>
              </a:rPr>
              <a:t>Prioridade aos vulneráveis e meios por conta de cada ente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5669279"/>
            <a:ext cx="5349240" cy="3108960"/>
          </a:xfrm>
          <a:prstGeom prst="roundRect">
            <a:avLst>
              <a:gd name="adj" fmla="val 8000"/>
            </a:avLst>
          </a:prstGeom>
          <a:solidFill>
            <a:srgbClr val="FFCE32"/>
          </a:solidFill>
          <a:ln w="381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5852159"/>
            <a:ext cx="4800600" cy="2743200"/>
          </a:xfrm>
          <a:prstGeom prst="rect">
            <a:avLst/>
          </a:prstGeom>
          <a:noFill/>
        </p:spPr>
        <p:txBody>
          <a:bodyPr wrap="square" lIns="109728" rIns="109728" tIns="109728" bIns="109728" anchor="t"/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700" b="0">
                <a:solidFill>
                  <a:srgbClr val="1A1A1A"/>
                </a:solidFill>
                <a:latin typeface="Canva Sans Bold"/>
              </a:rPr>
              <a:t>Cap. 6 · Território</a:t>
            </a:r>
          </a:p>
          <a:p>
            <a:pPr algn="l">
              <a:lnSpc>
                <a:spcPct val="115000"/>
              </a:lnSpc>
            </a:pPr>
            <a:r>
              <a:rPr sz="2700" b="0">
                <a:solidFill>
                  <a:srgbClr val="1A1A1A"/>
                </a:solidFill>
                <a:latin typeface="Canva Sans"/>
              </a:rPr>
              <a:t>Condições documentadas, habitar o digital, rugosidade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070080" y="5669279"/>
            <a:ext cx="5349240" cy="3108960"/>
          </a:xfrm>
          <a:prstGeom prst="roundRect">
            <a:avLst>
              <a:gd name="adj" fmla="val 8000"/>
            </a:avLst>
          </a:prstGeom>
          <a:solidFill>
            <a:srgbClr val="FFCE32"/>
          </a:solidFill>
          <a:ln w="381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0" y="5852159"/>
            <a:ext cx="4800600" cy="2743200"/>
          </a:xfrm>
          <a:prstGeom prst="rect">
            <a:avLst/>
          </a:prstGeom>
          <a:noFill/>
        </p:spPr>
        <p:txBody>
          <a:bodyPr wrap="square" lIns="109728" rIns="109728" tIns="109728" bIns="109728" anchor="t"/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700" b="0">
                <a:solidFill>
                  <a:srgbClr val="1A1A1A"/>
                </a:solidFill>
                <a:latin typeface="Canva Sans Bold"/>
              </a:rPr>
              <a:t>Cap. 7 · Narrativas</a:t>
            </a:r>
          </a:p>
          <a:p>
            <a:pPr algn="l">
              <a:lnSpc>
                <a:spcPct val="115000"/>
              </a:lnSpc>
            </a:pPr>
            <a:r>
              <a:rPr sz="2700" b="0">
                <a:solidFill>
                  <a:srgbClr val="1A1A1A"/>
                </a:solidFill>
                <a:latin typeface="Canva Sans"/>
              </a:rPr>
              <a:t>Os quatro objetivos lidos em relação ao lugar</a:t>
            </a:r>
          </a:p>
        </p:txBody>
      </p:sp>
      <p:pic>
        <p:nvPicPr>
          <p:cNvPr id="16" name="Picture 15" descr="Ilustração decorativ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0640" y="274320"/>
            <a:ext cx="1371600" cy="176674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2960" y="9235440"/>
            <a:ext cx="16642080" cy="73152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ctr">
              <a:lnSpc>
                <a:spcPct val="115000"/>
              </a:lnSpc>
            </a:pPr>
            <a:r>
              <a:rPr sz="2100" b="0">
                <a:solidFill>
                  <a:srgbClr val="FFFFFF"/>
                </a:solidFill>
                <a:latin typeface="Canva Sans"/>
              </a:rPr>
              <a:t>Pipa é parte constitutiva do contexto da prática, da pergunta às considerações finais.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02920"/>
            <a:ext cx="16459200" cy="137160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ctr">
              <a:lnSpc>
                <a:spcPct val="100000"/>
              </a:lnSpc>
            </a:pPr>
            <a:r>
              <a:rPr sz="5600" b="0">
                <a:solidFill>
                  <a:srgbClr val="FFFFFF"/>
                </a:solidFill>
                <a:latin typeface="Canva Sans Bold"/>
              </a:rPr>
              <a:t>ONDE ESTAMOS E O QUE FALTA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7863840" cy="7223760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286000"/>
            <a:ext cx="7132320" cy="6858000"/>
          </a:xfrm>
          <a:prstGeom prst="rect">
            <a:avLst/>
          </a:prstGeom>
          <a:noFill/>
        </p:spPr>
        <p:txBody>
          <a:bodyPr wrap="square" lIns="109728" rIns="109728" tIns="109728" bIns="109728" anchor="t"/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2800" b="0">
                <a:solidFill>
                  <a:srgbClr val="1A1A1A"/>
                </a:solidFill>
                <a:latin typeface="Canva Sans Bold"/>
              </a:rPr>
              <a:t>FEITO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2800" b="0">
                <a:solidFill>
                  <a:srgbClr val="1A1A1A"/>
                </a:solidFill>
                <a:latin typeface="Canva Sans"/>
              </a:rPr>
              <a:t>Projeto reformulado e capítulos 1, 2, 4, 5 e 6 alinhados a ele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2800" b="0">
                <a:solidFill>
                  <a:srgbClr val="1A1A1A"/>
                </a:solidFill>
                <a:latin typeface="Canva Sans"/>
              </a:rPr>
              <a:t>Revisão sistemática concluída (9 estudos)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2800" b="0">
                <a:solidFill>
                  <a:srgbClr val="1A1A1A"/>
                </a:solidFill>
                <a:latin typeface="Canva Sans"/>
              </a:rPr>
              <a:t>Registro iconográfico e acervo histórico (Cap. 6)</a:t>
            </a:r>
          </a:p>
          <a:p>
            <a:pPr algn="l">
              <a:lnSpc>
                <a:spcPct val="115000"/>
              </a:lnSpc>
            </a:pPr>
            <a:r>
              <a:rPr sz="2800" b="0">
                <a:solidFill>
                  <a:srgbClr val="1A1A1A"/>
                </a:solidFill>
                <a:latin typeface="Canva Sans"/>
              </a:rPr>
              <a:t>Capítulo 3 em construção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103120"/>
            <a:ext cx="7863840" cy="7223760"/>
          </a:xfrm>
          <a:prstGeom prst="roundRect">
            <a:avLst>
              <a:gd name="adj" fmla="val 6000"/>
            </a:avLst>
          </a:prstGeom>
          <a:solidFill>
            <a:srgbClr val="F1E7D9"/>
          </a:solidFill>
          <a:ln w="381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2286000"/>
            <a:ext cx="7132320" cy="6858000"/>
          </a:xfrm>
          <a:prstGeom prst="rect">
            <a:avLst/>
          </a:prstGeom>
          <a:noFill/>
        </p:spPr>
        <p:txBody>
          <a:bodyPr wrap="square" lIns="109728" rIns="109728" tIns="109728" bIns="109728" anchor="t"/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500" b="0">
                <a:solidFill>
                  <a:srgbClr val="6C4FD8"/>
                </a:solidFill>
                <a:latin typeface="Canva Sans Bold"/>
              </a:rPr>
              <a:t>ANTES DO CAMPO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500" b="0">
                <a:solidFill>
                  <a:srgbClr val="1A1A1A"/>
                </a:solidFill>
                <a:latin typeface="Canva Sans"/>
              </a:rPr>
              <a:t>Emenda ao CEP com questionário e roteiro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500" b="0">
                <a:solidFill>
                  <a:srgbClr val="1A1A1A"/>
                </a:solidFill>
                <a:latin typeface="Canva Sans"/>
              </a:rPr>
              <a:t>Critérios de leitura datados antes da 1ª entrevista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500" b="0">
                <a:solidFill>
                  <a:srgbClr val="1A1A1A"/>
                </a:solidFill>
                <a:latin typeface="Canva Sans"/>
              </a:rPr>
              <a:t>Análise documental: aquisição, PIEC, Censo, formação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500" b="0">
                <a:solidFill>
                  <a:srgbClr val="1A1A1A"/>
                </a:solidFill>
                <a:latin typeface="Canva Sans"/>
              </a:rPr>
              <a:t>Receita e gasto em educação do município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500" b="0">
                <a:solidFill>
                  <a:srgbClr val="1A1A1A"/>
                </a:solidFill>
                <a:latin typeface="Canva Sans"/>
              </a:rPr>
              <a:t>Testes de velocidade da conexão nas salas</a:t>
            </a:r>
          </a:p>
          <a:p>
            <a:pPr algn="l">
              <a:lnSpc>
                <a:spcPct val="115000"/>
              </a:lnSpc>
            </a:pPr>
            <a:r>
              <a:rPr sz="2500" b="0">
                <a:solidFill>
                  <a:srgbClr val="1A1A1A"/>
                </a:solidFill>
                <a:latin typeface="Canva Sans"/>
              </a:rPr>
              <a:t>Número de turmas e de crianças do 1º ao 5º 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646920"/>
            <a:ext cx="16459200" cy="45720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nva Sans Bold"/>
              </a:rPr>
              <a:t>Fundamentos: </a:t>
            </a:r>
            <a:r>
              <a:rPr sz="1500" b="0">
                <a:solidFill>
                  <a:srgbClr val="FFFFFF"/>
                </a:solidFill>
                <a:latin typeface="Canva Sans"/>
              </a:rPr>
              <a:t>Yin (2001); Resoluções CNS nº 466/2012 e 510/2016.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02920"/>
            <a:ext cx="16459200" cy="137160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ctr">
              <a:lnSpc>
                <a:spcPct val="100000"/>
              </a:lnSpc>
            </a:pPr>
            <a:r>
              <a:rPr sz="5400" b="0">
                <a:solidFill>
                  <a:srgbClr val="FFFFFF"/>
                </a:solidFill>
                <a:latin typeface="Canva Sans Bold"/>
              </a:rPr>
              <a:t>REFERÊNCIAS PRINCIPAIS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16642080" cy="7863840"/>
          </a:xfrm>
          <a:prstGeom prst="roundRect">
            <a:avLst>
              <a:gd name="adj" fmla="val 3000"/>
            </a:avLst>
          </a:prstGeom>
          <a:solidFill>
            <a:srgbClr val="F1E7D9"/>
          </a:solidFill>
          <a:ln w="381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8046720" cy="7589520"/>
          </a:xfrm>
          <a:prstGeom prst="rect">
            <a:avLst/>
          </a:prstGeom>
          <a:noFill/>
        </p:spPr>
        <p:txBody>
          <a:bodyPr wrap="square" lIns="109728" rIns="109728" tIns="109728" bIns="109728" anchor="t"/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nva Sans"/>
              </a:rPr>
              <a:t>BALL, S. J. Reformar escolas/reformar professores e os terrores da performatividade. Revista Portuguesa de Educação, v. 15, n. 2, p. 3-23, 2002.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nva Sans"/>
              </a:rPr>
              <a:t>BALL, S. J. Performatividade, privatização e o pós-Estado do bem-estar. Educação &amp; Sociedade, v. 25, n. 89, p. 1105-1126, 2004.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nva Sans"/>
              </a:rPr>
              <a:t>BALL, S. J.; MAGUIRE, M.; BRAUN, A. Como as escolas fazem as políticas: atuação em escolas secundárias. Ponta Grossa: UEPG, 2016.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nva Sans"/>
              </a:rPr>
              <a:t>BOWE, R.; BALL, S. J.; GOLD, A. Reforming education and changing schools. London: Routledge, 1992.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nva Sans"/>
              </a:rPr>
              <a:t>BRASIL. Lei nº 14.533, de 11 de janeiro de 2023. Institui a Política Nacional de Educação Digital. Brasília, DF, 2023.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nva Sans"/>
              </a:rPr>
              <a:t>BRAUN, V.; CLARKE, V. Using thematic analysis in psychology. Qualitative Research in Psychology, v. 3, n. 2, p. 77-101, 2006.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nva Sans"/>
              </a:rPr>
              <a:t>DI FELICE, M. Paisagens pós-urbanas: o fim da experiência urbana e as formas comunicativas do habitar. São Paulo: Annablume, 2009.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1A1A1A"/>
                </a:solidFill>
                <a:latin typeface="Canva Sans"/>
              </a:rPr>
              <a:t>HARGREAVES, A. Profesorado, cultura y postmodernidad. 5. ed. Madrid: Morata, 2005.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0" y="2194560"/>
            <a:ext cx="8046720" cy="7589520"/>
          </a:xfrm>
          <a:prstGeom prst="rect">
            <a:avLst/>
          </a:prstGeom>
          <a:noFill/>
        </p:spPr>
        <p:txBody>
          <a:bodyPr wrap="square" lIns="109728" rIns="109728" tIns="109728" bIns="109728" anchor="t"/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nva Sans"/>
              </a:rPr>
              <a:t>MAINARDES, J. Abordagem do ciclo de políticas. Educação &amp; Sociedade, v. 27, n. 94, p. 47-69, 2006.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nva Sans"/>
              </a:rPr>
              <a:t>MASSEY, D. Pelo espaço: uma nova política da espacialidade. Rio de Janeiro: Bertrand Brasil, 2008.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nva Sans"/>
              </a:rPr>
              <a:t>MINAYO, M. C. S. (org.). Pesquisa social: teoria, método e criatividade. 28. ed. Petrópolis: Vozes, 2009.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nva Sans"/>
              </a:rPr>
              <a:t>ONU. Comitê dos Direitos da Criança. Comentário Geral nº 25 (2021). Genebra: ONU, 2021.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nva Sans"/>
              </a:rPr>
              <a:t>SANTOS, M. O território e o saber local: algumas categorias de análise. Cadernos IPPUR, ano 13, n. 2, p. 15-26, 1999.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nva Sans"/>
              </a:rPr>
              <a:t>SANTOS, M. A natureza do espaço: técnica e tempo, razão e emoção. 4. ed. São Paulo: Edusp, 2006.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nva Sans"/>
              </a:rPr>
              <a:t>SCHLEMMER, E. et al. (org.). O habitar do ensinar e do aprender OnLIFE. São Leopoldo: Casa Leiria, 2021.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1A1A1A"/>
                </a:solidFill>
                <a:latin typeface="Canva Sans"/>
              </a:rPr>
              <a:t>YIN, R. K. Estudo de caso: planejamento e métodos. 2. ed. Porto Alegre: Bookman, 2001.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Ilustração decorativ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2926080" cy="3090329"/>
          </a:xfrm>
          <a:prstGeom prst="rect">
            <a:avLst/>
          </a:prstGeom>
        </p:spPr>
      </p:pic>
      <p:pic>
        <p:nvPicPr>
          <p:cNvPr id="4" name="Picture 3" descr="Ilustração decorativ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53359" y="6035040"/>
            <a:ext cx="2377440" cy="3245497"/>
          </a:xfrm>
          <a:prstGeom prst="rect">
            <a:avLst/>
          </a:prstGeom>
        </p:spPr>
      </p:pic>
      <p:pic>
        <p:nvPicPr>
          <p:cNvPr id="5" name="Picture 4" descr="Ilustração decorativ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852160"/>
            <a:ext cx="3108960" cy="36836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731520"/>
            <a:ext cx="10972800" cy="219456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ctr">
              <a:lnSpc>
                <a:spcPct val="100000"/>
              </a:lnSpc>
            </a:pPr>
            <a:r>
              <a:rPr sz="8400" b="0">
                <a:solidFill>
                  <a:srgbClr val="FFFFFF"/>
                </a:solidFill>
                <a:latin typeface="Canva Sans Bold"/>
              </a:rPr>
              <a:t>MUITO OBRIGADA!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3291840"/>
            <a:ext cx="10607040" cy="4206240"/>
          </a:xfrm>
          <a:prstGeom prst="roundRect">
            <a:avLst>
              <a:gd name="adj" fmla="val 6000"/>
            </a:avLst>
          </a:prstGeom>
          <a:solidFill>
            <a:srgbClr val="FFC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3474720"/>
            <a:ext cx="9875520" cy="3840480"/>
          </a:xfrm>
          <a:prstGeom prst="rect">
            <a:avLst/>
          </a:prstGeom>
          <a:noFill/>
        </p:spPr>
        <p:txBody>
          <a:bodyPr wrap="square" lIns="109728" rIns="109728" tIns="109728" bIns="109728" anchor="ctr"/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2500" b="0">
                <a:solidFill>
                  <a:srgbClr val="1A1A1A"/>
                </a:solidFill>
                <a:latin typeface="Canva Sans Bold"/>
              </a:rPr>
              <a:t>A questão que fica aberta para o campo</a:t>
            </a:r>
          </a:p>
          <a:p>
            <a:pPr algn="l">
              <a:lnSpc>
                <a:spcPct val="115000"/>
              </a:lnSpc>
            </a:pPr>
            <a:r>
              <a:rPr sz="2500" b="0">
                <a:solidFill>
                  <a:srgbClr val="1A1A1A"/>
                </a:solidFill>
                <a:latin typeface="Canva Sans"/>
              </a:rPr>
              <a:t>Quando a política não faz chegar o equipamento nem a formação, quem paga, no cotidiano da escola, o preço dessa ausência? E o que isso significa para os direitos que a lei prometeu às crianças?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7955279"/>
            <a:ext cx="10972800" cy="1463040"/>
          </a:xfrm>
          <a:prstGeom prst="rect">
            <a:avLst/>
          </a:prstGeom>
          <a:noFill/>
        </p:spPr>
        <p:txBody>
          <a:bodyPr wrap="square" lIns="109728" rIns="109728" tIns="109728" bIns="109728" anchor="t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200" b="0">
                <a:solidFill>
                  <a:srgbClr val="FFFFFF"/>
                </a:solidFill>
                <a:latin typeface="Canva Sans Bold"/>
              </a:rPr>
              <a:t>Yzynya Silva Rezende Machado</a:t>
            </a:r>
          </a:p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FFFFFF"/>
                </a:solidFill>
                <a:latin typeface="Canva Sans"/>
              </a:rPr>
              <a:t>Orientadora: Profa. Dra. Maria Cristina Leandro de Paiva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