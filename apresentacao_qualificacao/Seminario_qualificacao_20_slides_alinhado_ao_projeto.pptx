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21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7.xml"/>
  <Override ContentType="application/vnd.openxmlformats-officedocument.presentationml.slide+xml" PartName="/ppt/slides/slide32.xml"/>
  <Override ContentType="application/vnd.openxmlformats-officedocument.presentationml.slide+xml" PartName="/ppt/slides/slide36.xml"/>
  <Override ContentType="application/vnd.openxmlformats-officedocument.presentationml.slide+xml" PartName="/ppt/slides/slide38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52"/>
  </p:notesMasterIdLst>
  <p:sldIdLst>
    <p:sldId id="256" r:id="rId6"/>
    <p:sldId id="257" r:id="rId7"/>
    <p:sldId id="258" r:id="rId8"/>
    <p:sldId id="262" r:id="rId12"/>
    <p:sldId id="263" r:id="rId13"/>
    <p:sldId id="266" r:id="rId16"/>
    <p:sldId id="271" r:id="rId21"/>
    <p:sldId id="267" r:id="rId17"/>
    <p:sldId id="268" r:id="rId18"/>
    <p:sldId id="276" r:id="rId26"/>
    <p:sldId id="278" r:id="rId28"/>
    <p:sldId id="279" r:id="rId29"/>
    <p:sldId id="272" r:id="rId22"/>
    <p:sldId id="282" r:id="rId32"/>
    <p:sldId id="287" r:id="rId37"/>
    <p:sldId id="291" r:id="rId41"/>
    <p:sldId id="293" r:id="rId43"/>
    <p:sldId id="297" r:id="rId47"/>
    <p:sldId id="298" r:id="rId48"/>
    <p:sldId id="299" r:id="rId49"/>
  </p:sldIdLst>
  <p:sldSz cx="18288000" cy="10287000"/>
  <p:notesSz cx="6858000" cy="9144000"/>
  <p:embeddedFontLst>
    <p:embeddedFont>
      <p:font typeface="Canva Sans Bold" charset="1" panose="020B0803030501040103"/>
      <p:regular r:id="rId50"/>
    </p:embeddedFont>
    <p:embeddedFont>
      <p:font typeface="Canva Sans" charset="1" panose="020B0503030501040103"/>
      <p:regular r:id="rId51"/>
    </p:embeddedFont>
    <p:embeddedFont>
      <p:font typeface="Canva Sans Italics" charset="1" panose="020B0503030501040103"/>
      <p:regular r:id="rId55"/>
    </p:embeddedFont>
    <p:embeddedFont>
      <p:font typeface="Canva Sans Bold Italics" charset="1" panose="020B0803030501040103"/>
      <p:regular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2" Target="presProps.xml" Type="http://schemas.openxmlformats.org/officeDocument/2006/relationships/presProps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6" Target="slides/slide21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2" Target="slides/slide27.xml" Type="http://schemas.openxmlformats.org/officeDocument/2006/relationships/slide"/><Relationship Id="rId37" Target="slides/slide32.xml" Type="http://schemas.openxmlformats.org/officeDocument/2006/relationships/slide"/><Relationship Id="rId4" Target="theme/theme1.xml" Type="http://schemas.openxmlformats.org/officeDocument/2006/relationships/theme"/><Relationship Id="rId41" Target="slides/slide36.xml" Type="http://schemas.openxmlformats.org/officeDocument/2006/relationships/slide"/><Relationship Id="rId43" Target="slides/slide38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notesMasters/notesMaster1.xml" Type="http://schemas.openxmlformats.org/officeDocument/2006/relationships/notesMaster"/><Relationship Id="rId53" Target="theme/theme2.xml" Type="http://schemas.openxmlformats.org/officeDocument/2006/relationships/theme"/><Relationship Id="rId54" Target="notesSlides/notesSlide1.xml" Type="http://schemas.openxmlformats.org/officeDocument/2006/relationships/notesSlide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6.jpe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6.jpe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12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6.jpe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6.jpe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12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6.jpe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Relationship Id="rId8" Target="../media/image43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5.png" Type="http://schemas.openxmlformats.org/officeDocument/2006/relationships/image"/><Relationship Id="rId4" Target="../media/image6.jpe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6.jpeg" Type="http://schemas.openxmlformats.org/officeDocument/2006/relationships/image"/><Relationship Id="rId5" Target="../media/image5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28.jpeg" Type="http://schemas.openxmlformats.org/officeDocument/2006/relationships/image"/><Relationship Id="rId5" Target="../media/image63.jpeg" Type="http://schemas.openxmlformats.org/officeDocument/2006/relationships/image"/><Relationship Id="rId6" Target="../media/image22.png" Type="http://schemas.openxmlformats.org/officeDocument/2006/relationships/image"/><Relationship Id="rId7" Target="../media/image64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4.png" Type="http://schemas.openxmlformats.org/officeDocument/2006/relationships/image"/><Relationship Id="rId11" Target="../media/image75.png" Type="http://schemas.openxmlformats.org/officeDocument/2006/relationships/image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6.jpeg" Type="http://schemas.openxmlformats.org/officeDocument/2006/relationships/image"/><Relationship Id="rId5" Target="../media/image29.jpeg" Type="http://schemas.openxmlformats.org/officeDocument/2006/relationships/image"/><Relationship Id="rId6" Target="../media/image71.jpeg" Type="http://schemas.openxmlformats.org/officeDocument/2006/relationships/image"/><Relationship Id="rId7" Target="../media/image72.jpeg" Type="http://schemas.openxmlformats.org/officeDocument/2006/relationships/image"/><Relationship Id="rId8" Target="../media/image7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6.jpeg" Type="http://schemas.openxmlformats.org/officeDocument/2006/relationships/image"/><Relationship Id="rId5" Target="../media/image77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2.jpeg" Type="http://schemas.openxmlformats.org/officeDocument/2006/relationships/image"/><Relationship Id="rId4" Target="../media/image6.jpeg" Type="http://schemas.openxmlformats.org/officeDocument/2006/relationships/image"/><Relationship Id="rId5" Target="../media/image4.png" Type="http://schemas.openxmlformats.org/officeDocument/2006/relationships/image"/><Relationship Id="rId6" Target="../media/image45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07294" y="-6506"/>
            <a:ext cx="6866533" cy="10287000"/>
            <a:chOff x="0" y="0"/>
            <a:chExt cx="9155377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5535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55353">
                  <a:moveTo>
                    <a:pt x="0" y="0"/>
                  </a:moveTo>
                  <a:lnTo>
                    <a:pt x="9155353" y="0"/>
                  </a:lnTo>
                  <a:lnTo>
                    <a:pt x="915535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332" r="0" b="-933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8486" y="-61351"/>
            <a:ext cx="2729484" cy="2180101"/>
            <a:chOff x="0" y="0"/>
            <a:chExt cx="3639312" cy="2906801"/>
          </a:xfrm>
        </p:grpSpPr>
        <p:sp>
          <p:nvSpPr>
            <p:cNvPr name="Freeform 6" id="6" descr="/home/claude/deck3/img/d_seta.png"/>
            <p:cNvSpPr/>
            <p:nvPr/>
          </p:nvSpPr>
          <p:spPr>
            <a:xfrm flipH="false" flipV="false" rot="0">
              <a:off x="0" y="0"/>
              <a:ext cx="3639312" cy="2906776"/>
            </a:xfrm>
            <a:custGeom>
              <a:avLst/>
              <a:gdLst/>
              <a:ahLst/>
              <a:cxnLst/>
              <a:rect r="r" b="b" t="t" l="l"/>
              <a:pathLst>
                <a:path h="2906776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2906776"/>
                  </a:lnTo>
                  <a:lnTo>
                    <a:pt x="0" y="2906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" t="0" r="-1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900000">
            <a:off x="8253522" y="355707"/>
            <a:ext cx="3086100" cy="2180987"/>
            <a:chOff x="0" y="0"/>
            <a:chExt cx="4114800" cy="2907982"/>
          </a:xfrm>
        </p:grpSpPr>
        <p:sp>
          <p:nvSpPr>
            <p:cNvPr name="Freeform 8" id="8" descr="/home/claude/deck3/img/d_nuvem.png"/>
            <p:cNvSpPr/>
            <p:nvPr/>
          </p:nvSpPr>
          <p:spPr>
            <a:xfrm flipH="false" flipV="false" rot="0">
              <a:off x="0" y="0"/>
              <a:ext cx="4114800" cy="2908046"/>
            </a:xfrm>
            <a:custGeom>
              <a:avLst/>
              <a:gdLst/>
              <a:ahLst/>
              <a:cxnLst/>
              <a:rect r="r" b="b" t="t" l="l"/>
              <a:pathLst>
                <a:path h="290804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2908046"/>
                  </a:lnTo>
                  <a:lnTo>
                    <a:pt x="0" y="2908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" t="0" r="-8" b="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841748" y="301752"/>
            <a:ext cx="987552" cy="1399032"/>
            <a:chOff x="0" y="0"/>
            <a:chExt cx="1316736" cy="1865376"/>
          </a:xfrm>
        </p:grpSpPr>
        <p:sp>
          <p:nvSpPr>
            <p:cNvPr name="Freeform 10" id="10" descr="/home/claude/deck3/img/ufrn.png"/>
            <p:cNvSpPr/>
            <p:nvPr/>
          </p:nvSpPr>
          <p:spPr>
            <a:xfrm flipH="false" flipV="false" rot="0">
              <a:off x="0" y="0"/>
              <a:ext cx="1316736" cy="1865376"/>
            </a:xfrm>
            <a:custGeom>
              <a:avLst/>
              <a:gdLst/>
              <a:ahLst/>
              <a:cxnLst/>
              <a:rect r="r" b="b" t="t" l="l"/>
              <a:pathLst>
                <a:path h="186537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865376"/>
                  </a:lnTo>
                  <a:lnTo>
                    <a:pt x="0" y="1865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26" r="0" b="-22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9470" y="3297600"/>
            <a:ext cx="10927291" cy="2880360"/>
            <a:chOff x="0" y="0"/>
            <a:chExt cx="14569722" cy="3840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569722" cy="3840480"/>
            </a:xfrm>
            <a:custGeom>
              <a:avLst/>
              <a:gdLst/>
              <a:ahLst/>
              <a:cxnLst/>
              <a:rect r="r" b="b" t="t" l="l"/>
              <a:pathLst>
                <a:path h="3840480" w="14569722">
                  <a:moveTo>
                    <a:pt x="0" y="0"/>
                  </a:moveTo>
                  <a:lnTo>
                    <a:pt x="14569722" y="0"/>
                  </a:lnTo>
                  <a:lnTo>
                    <a:pt x="14569722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022" r="13390" b="-1402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4569722" cy="3840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ENCENAÇÃO DA POLÍTICA NACIONAL DE EDUCAÇÃO DIGITAL EM PIPA/RN: CULTURAS PROFISSIONAIS, TERRITÓRIO E RESISTÊNCIAS NO CONTEXTO DA PRÁTICA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93495" y="6409563"/>
            <a:ext cx="8111490" cy="1006602"/>
            <a:chOff x="0" y="0"/>
            <a:chExt cx="10815320" cy="13421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153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0815320">
                  <a:moveTo>
                    <a:pt x="0" y="0"/>
                  </a:moveTo>
                  <a:lnTo>
                    <a:pt x="10815320" y="0"/>
                  </a:lnTo>
                  <a:lnTo>
                    <a:pt x="10815320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03020" y="6419088"/>
            <a:ext cx="8092440" cy="987552"/>
            <a:chOff x="0" y="0"/>
            <a:chExt cx="10789920" cy="13167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89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9669" r="0" b="-10966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078992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Pesquisadora: Ma. Yzynya Silva Rezende Machado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Orientadora: Dra. Maria Cristina Leandro de Paiva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497580" y="8161020"/>
            <a:ext cx="4526280" cy="850392"/>
            <a:chOff x="0" y="0"/>
            <a:chExt cx="6035040" cy="11338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350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3710" r="0" b="-5371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03504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Natal/ RN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outubro, 2026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528000">
            <a:off x="-68597" y="7448636"/>
            <a:ext cx="3977640" cy="3619329"/>
            <a:chOff x="0" y="0"/>
            <a:chExt cx="5303520" cy="4825771"/>
          </a:xfrm>
        </p:grpSpPr>
        <p:sp>
          <p:nvSpPr>
            <p:cNvPr name="Freeform 23" id="23" descr="/home/claude/deck3/img/d_laptop.png"/>
            <p:cNvSpPr/>
            <p:nvPr/>
          </p:nvSpPr>
          <p:spPr>
            <a:xfrm flipH="false" flipV="false" rot="0">
              <a:off x="0" y="0"/>
              <a:ext cx="5303520" cy="4825746"/>
            </a:xfrm>
            <a:custGeom>
              <a:avLst/>
              <a:gdLst/>
              <a:ahLst/>
              <a:cxnLst/>
              <a:rect r="r" b="b" t="t" l="l"/>
              <a:pathLst>
                <a:path h="482574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4825746"/>
                  </a:lnTo>
                  <a:lnTo>
                    <a:pt x="0" y="482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" r="0" b="-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737092" y="7420356"/>
            <a:ext cx="2482596" cy="2860138"/>
            <a:chOff x="0" y="0"/>
            <a:chExt cx="3310128" cy="3813518"/>
          </a:xfrm>
        </p:grpSpPr>
        <p:sp>
          <p:nvSpPr>
            <p:cNvPr name="Freeform 25" id="25" descr="/home/claude/deck3/img/d_menino_cel.png"/>
            <p:cNvSpPr/>
            <p:nvPr/>
          </p:nvSpPr>
          <p:spPr>
            <a:xfrm flipH="false" flipV="false" rot="0">
              <a:off x="0" y="0"/>
              <a:ext cx="3310128" cy="3813556"/>
            </a:xfrm>
            <a:custGeom>
              <a:avLst/>
              <a:gdLst/>
              <a:ahLst/>
              <a:cxnLst/>
              <a:rect r="r" b="b" t="t" l="l"/>
              <a:pathLst>
                <a:path h="3813556" w="3310128">
                  <a:moveTo>
                    <a:pt x="0" y="0"/>
                  </a:moveTo>
                  <a:lnTo>
                    <a:pt x="3310128" y="0"/>
                  </a:lnTo>
                  <a:lnTo>
                    <a:pt x="3310128" y="3813556"/>
                  </a:lnTo>
                  <a:lnTo>
                    <a:pt x="0" y="3813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8" r="0" b="-17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480060" y="1865376"/>
            <a:ext cx="9738360" cy="11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UNIVERSIDADE FEDERAL DO RIO GRANDE DO NORTE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CENTRO DE EDUCAÇÃO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PROGRAMA DE PÓS-GRADUAÇÃO EM EDUCAÇÃO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LINHA DE PESQUISA: EDUCAÇÃO, CURRÍCULO E PRÁTICAS PEDAGÓGICAS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202" y="0"/>
            <a:ext cx="3771900" cy="3410398"/>
            <a:chOff x="0" y="0"/>
            <a:chExt cx="5029200" cy="4547197"/>
          </a:xfrm>
        </p:grpSpPr>
        <p:sp>
          <p:nvSpPr>
            <p:cNvPr name="Freeform 4" id="4" descr="/home/claude/deck3/img/d_megafone.png"/>
            <p:cNvSpPr/>
            <p:nvPr/>
          </p:nvSpPr>
          <p:spPr>
            <a:xfrm flipH="false" flipV="false" rot="0">
              <a:off x="0" y="0"/>
              <a:ext cx="5029200" cy="4547235"/>
            </a:xfrm>
            <a:custGeom>
              <a:avLst/>
              <a:gdLst/>
              <a:ahLst/>
              <a:cxnLst/>
              <a:rect r="r" b="b" t="t" l="l"/>
              <a:pathLst>
                <a:path h="4547235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547235"/>
                  </a:lnTo>
                  <a:lnTo>
                    <a:pt x="0" y="4547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" r="0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364462" y="0"/>
            <a:ext cx="3771900" cy="3410398"/>
            <a:chOff x="0" y="0"/>
            <a:chExt cx="5029200" cy="4547197"/>
          </a:xfrm>
        </p:grpSpPr>
        <p:sp>
          <p:nvSpPr>
            <p:cNvPr name="Freeform 6" id="6" descr="/home/claude/deck3/img/d_megafone.png"/>
            <p:cNvSpPr/>
            <p:nvPr/>
          </p:nvSpPr>
          <p:spPr>
            <a:xfrm flipH="true" flipV="false" rot="0">
              <a:off x="0" y="0"/>
              <a:ext cx="5029200" cy="4547235"/>
            </a:xfrm>
            <a:custGeom>
              <a:avLst/>
              <a:gdLst/>
              <a:ahLst/>
              <a:cxnLst/>
              <a:rect r="r" b="b" t="t" l="l"/>
              <a:pathLst>
                <a:path h="4547235" w="5029200">
                  <a:moveTo>
                    <a:pt x="5029200" y="0"/>
                  </a:moveTo>
                  <a:lnTo>
                    <a:pt x="0" y="0"/>
                  </a:lnTo>
                  <a:lnTo>
                    <a:pt x="0" y="4547235"/>
                  </a:lnTo>
                  <a:lnTo>
                    <a:pt x="5029200" y="4547235"/>
                  </a:lnTo>
                  <a:lnTo>
                    <a:pt x="5029200" y="0"/>
                  </a:lnTo>
                  <a:close/>
                </a:path>
              </a:pathLst>
            </a:custGeom>
            <a:blipFill>
              <a:blip r:embed="rId4"/>
              <a:stretch>
                <a:fillRect l="0" t="-1" r="0" b="-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291840" y="1028700"/>
            <a:ext cx="11699748" cy="1234440"/>
            <a:chOff x="0" y="0"/>
            <a:chExt cx="15599664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99665" cy="1645920"/>
            </a:xfrm>
            <a:custGeom>
              <a:avLst/>
              <a:gdLst/>
              <a:ahLst/>
              <a:cxnLst/>
              <a:rect r="r" b="b" t="t" l="l"/>
              <a:pathLst>
                <a:path h="1645920" w="15599665">
                  <a:moveTo>
                    <a:pt x="0" y="0"/>
                  </a:moveTo>
                  <a:lnTo>
                    <a:pt x="15599665" y="0"/>
                  </a:lnTo>
                  <a:lnTo>
                    <a:pt x="15599665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4674" r="0" b="-13467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5599664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PERCURSO DA APRESENTAÇÃO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0392" y="3223260"/>
            <a:ext cx="5280660" cy="2572169"/>
            <a:chOff x="0" y="0"/>
            <a:chExt cx="7040880" cy="3429559"/>
          </a:xfrm>
        </p:grpSpPr>
        <p:sp>
          <p:nvSpPr>
            <p:cNvPr name="Freeform 11" id="11" descr="/home/claude/deck3/img/d_cartao.png"/>
            <p:cNvSpPr/>
            <p:nvPr/>
          </p:nvSpPr>
          <p:spPr>
            <a:xfrm flipH="false" flipV="false" rot="0">
              <a:off x="0" y="0"/>
              <a:ext cx="7040880" cy="3429508"/>
            </a:xfrm>
            <a:custGeom>
              <a:avLst/>
              <a:gdLst/>
              <a:ahLst/>
              <a:cxnLst/>
              <a:rect r="r" b="b" t="t" l="l"/>
              <a:pathLst>
                <a:path h="3429508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3429508"/>
                  </a:lnTo>
                  <a:lnTo>
                    <a:pt x="0" y="342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6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120390" y="2537460"/>
            <a:ext cx="740664" cy="1200426"/>
            <a:chOff x="0" y="0"/>
            <a:chExt cx="987552" cy="1600568"/>
          </a:xfrm>
        </p:grpSpPr>
        <p:sp>
          <p:nvSpPr>
            <p:cNvPr name="Freeform 13" id="13" descr="/home/claude/deck3/img/d_alfinete.png"/>
            <p:cNvSpPr/>
            <p:nvPr/>
          </p:nvSpPr>
          <p:spPr>
            <a:xfrm flipH="false" flipV="false" rot="0">
              <a:off x="0" y="0"/>
              <a:ext cx="987552" cy="1600581"/>
            </a:xfrm>
            <a:custGeom>
              <a:avLst/>
              <a:gdLst/>
              <a:ahLst/>
              <a:cxnLst/>
              <a:rect r="r" b="b" t="t" l="l"/>
              <a:pathLst>
                <a:path h="1600581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1600581"/>
                  </a:lnTo>
                  <a:lnTo>
                    <a:pt x="0" y="160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1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61872" y="3771900"/>
            <a:ext cx="445770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Parte I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44168" y="4117848"/>
            <a:ext cx="4457700" cy="521208"/>
            <a:chOff x="0" y="0"/>
            <a:chExt cx="5943600" cy="6949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43600" cy="694944"/>
            </a:xfrm>
            <a:custGeom>
              <a:avLst/>
              <a:gdLst/>
              <a:ahLst/>
              <a:cxnLst/>
              <a:rect r="r" b="b" t="t" l="l"/>
              <a:pathLst>
                <a:path h="694944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48" r="0" b="-11664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9436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proposta da tese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44168" y="4509345"/>
            <a:ext cx="4293108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Trajetória, problema, tese de partida, objetivos, referencial e contribuição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473952" y="3223260"/>
            <a:ext cx="5280660" cy="2572169"/>
            <a:chOff x="0" y="0"/>
            <a:chExt cx="7040880" cy="3429559"/>
          </a:xfrm>
        </p:grpSpPr>
        <p:sp>
          <p:nvSpPr>
            <p:cNvPr name="Freeform 20" id="20" descr="/home/claude/deck3/img/d_cartao.png"/>
            <p:cNvSpPr/>
            <p:nvPr/>
          </p:nvSpPr>
          <p:spPr>
            <a:xfrm flipH="false" flipV="false" rot="0">
              <a:off x="0" y="0"/>
              <a:ext cx="7040880" cy="3429508"/>
            </a:xfrm>
            <a:custGeom>
              <a:avLst/>
              <a:gdLst/>
              <a:ahLst/>
              <a:cxnLst/>
              <a:rect r="r" b="b" t="t" l="l"/>
              <a:pathLst>
                <a:path h="3429508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3429508"/>
                  </a:lnTo>
                  <a:lnTo>
                    <a:pt x="0" y="342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6" b="-1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743950" y="2537460"/>
            <a:ext cx="740664" cy="1200426"/>
            <a:chOff x="0" y="0"/>
            <a:chExt cx="987552" cy="1600568"/>
          </a:xfrm>
        </p:grpSpPr>
        <p:sp>
          <p:nvSpPr>
            <p:cNvPr name="Freeform 22" id="22" descr="/home/claude/deck3/img/d_alfinete.png"/>
            <p:cNvSpPr/>
            <p:nvPr/>
          </p:nvSpPr>
          <p:spPr>
            <a:xfrm flipH="false" flipV="false" rot="0">
              <a:off x="0" y="0"/>
              <a:ext cx="987552" cy="1600581"/>
            </a:xfrm>
            <a:custGeom>
              <a:avLst/>
              <a:gdLst/>
              <a:ahLst/>
              <a:cxnLst/>
              <a:rect r="r" b="b" t="t" l="l"/>
              <a:pathLst>
                <a:path h="1600581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1600581"/>
                  </a:lnTo>
                  <a:lnTo>
                    <a:pt x="0" y="160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18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885432" y="3771900"/>
            <a:ext cx="445770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Parte II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85432" y="4128516"/>
            <a:ext cx="4457700" cy="521208"/>
            <a:chOff x="0" y="0"/>
            <a:chExt cx="5943600" cy="6949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43600" cy="694944"/>
            </a:xfrm>
            <a:custGeom>
              <a:avLst/>
              <a:gdLst/>
              <a:ahLst/>
              <a:cxnLst/>
              <a:rect r="r" b="b" t="t" l="l"/>
              <a:pathLst>
                <a:path h="694944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48" r="0" b="-11664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59436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Revisão sistemática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967728" y="4677156"/>
            <a:ext cx="4293108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Questão norteadora, resposta e lacunas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097512" y="3223260"/>
            <a:ext cx="5280660" cy="2572169"/>
            <a:chOff x="0" y="0"/>
            <a:chExt cx="7040880" cy="3429559"/>
          </a:xfrm>
        </p:grpSpPr>
        <p:sp>
          <p:nvSpPr>
            <p:cNvPr name="Freeform 29" id="29" descr="/home/claude/deck3/img/d_cartao.png"/>
            <p:cNvSpPr/>
            <p:nvPr/>
          </p:nvSpPr>
          <p:spPr>
            <a:xfrm flipH="false" flipV="false" rot="0">
              <a:off x="0" y="0"/>
              <a:ext cx="7040880" cy="3429508"/>
            </a:xfrm>
            <a:custGeom>
              <a:avLst/>
              <a:gdLst/>
              <a:ahLst/>
              <a:cxnLst/>
              <a:rect r="r" b="b" t="t" l="l"/>
              <a:pathLst>
                <a:path h="3429508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3429508"/>
                  </a:lnTo>
                  <a:lnTo>
                    <a:pt x="0" y="342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6" b="-1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367510" y="2537460"/>
            <a:ext cx="740664" cy="1200426"/>
            <a:chOff x="0" y="0"/>
            <a:chExt cx="987552" cy="1600568"/>
          </a:xfrm>
        </p:grpSpPr>
        <p:sp>
          <p:nvSpPr>
            <p:cNvPr name="Freeform 31" id="31" descr="/home/claude/deck3/img/d_alfinete.png"/>
            <p:cNvSpPr/>
            <p:nvPr/>
          </p:nvSpPr>
          <p:spPr>
            <a:xfrm flipH="false" flipV="false" rot="0">
              <a:off x="0" y="0"/>
              <a:ext cx="987552" cy="1600581"/>
            </a:xfrm>
            <a:custGeom>
              <a:avLst/>
              <a:gdLst/>
              <a:ahLst/>
              <a:cxnLst/>
              <a:rect r="r" b="b" t="t" l="l"/>
              <a:pathLst>
                <a:path h="1600581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1600581"/>
                  </a:lnTo>
                  <a:lnTo>
                    <a:pt x="0" y="160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18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508992" y="3771900"/>
            <a:ext cx="445770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Parte III 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508992" y="4128516"/>
            <a:ext cx="4457700" cy="521208"/>
            <a:chOff x="0" y="0"/>
            <a:chExt cx="5943600" cy="6949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943600" cy="694944"/>
            </a:xfrm>
            <a:custGeom>
              <a:avLst/>
              <a:gdLst/>
              <a:ahLst/>
              <a:cxnLst/>
              <a:rect r="r" b="b" t="t" l="l"/>
              <a:pathLst>
                <a:path h="694944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48" r="0" b="-11664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9436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Metodologia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2591288" y="4677156"/>
            <a:ext cx="4293108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Como a política será escutada e como as formas de atuação serão lidas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50392" y="6515100"/>
            <a:ext cx="5280660" cy="2572169"/>
            <a:chOff x="0" y="0"/>
            <a:chExt cx="7040880" cy="3429559"/>
          </a:xfrm>
        </p:grpSpPr>
        <p:sp>
          <p:nvSpPr>
            <p:cNvPr name="Freeform 38" id="38" descr="/home/claude/deck3/img/d_cartao.png"/>
            <p:cNvSpPr/>
            <p:nvPr/>
          </p:nvSpPr>
          <p:spPr>
            <a:xfrm flipH="false" flipV="false" rot="0">
              <a:off x="0" y="0"/>
              <a:ext cx="7040880" cy="3429508"/>
            </a:xfrm>
            <a:custGeom>
              <a:avLst/>
              <a:gdLst/>
              <a:ahLst/>
              <a:cxnLst/>
              <a:rect r="r" b="b" t="t" l="l"/>
              <a:pathLst>
                <a:path h="3429508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3429508"/>
                  </a:lnTo>
                  <a:lnTo>
                    <a:pt x="0" y="342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6" b="-1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3120390" y="5829300"/>
            <a:ext cx="740664" cy="1200426"/>
            <a:chOff x="0" y="0"/>
            <a:chExt cx="987552" cy="1600568"/>
          </a:xfrm>
        </p:grpSpPr>
        <p:sp>
          <p:nvSpPr>
            <p:cNvPr name="Freeform 40" id="40" descr="/home/claude/deck3/img/d_alfinete.png"/>
            <p:cNvSpPr/>
            <p:nvPr/>
          </p:nvSpPr>
          <p:spPr>
            <a:xfrm flipH="false" flipV="false" rot="0">
              <a:off x="0" y="0"/>
              <a:ext cx="987552" cy="1600581"/>
            </a:xfrm>
            <a:custGeom>
              <a:avLst/>
              <a:gdLst/>
              <a:ahLst/>
              <a:cxnLst/>
              <a:rect r="r" b="b" t="t" l="l"/>
              <a:pathLst>
                <a:path h="1600581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1600581"/>
                  </a:lnTo>
                  <a:lnTo>
                    <a:pt x="0" y="160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18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261872" y="7063740"/>
            <a:ext cx="445770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Parte IV 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261872" y="7420356"/>
            <a:ext cx="4457700" cy="521208"/>
            <a:chOff x="0" y="0"/>
            <a:chExt cx="5943600" cy="69494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943600" cy="694944"/>
            </a:xfrm>
            <a:custGeom>
              <a:avLst/>
              <a:gdLst/>
              <a:ahLst/>
              <a:cxnLst/>
              <a:rect r="r" b="b" t="t" l="l"/>
              <a:pathLst>
                <a:path h="694944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48" r="0" b="-11664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59436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texto da política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344168" y="7968996"/>
            <a:ext cx="4293108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Mapa das políticas e o vazio material na PNED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6473952" y="6515100"/>
            <a:ext cx="5280660" cy="2572169"/>
            <a:chOff x="0" y="0"/>
            <a:chExt cx="7040880" cy="3429559"/>
          </a:xfrm>
        </p:grpSpPr>
        <p:sp>
          <p:nvSpPr>
            <p:cNvPr name="Freeform 47" id="47" descr="/home/claude/deck3/img/d_cartao.png"/>
            <p:cNvSpPr/>
            <p:nvPr/>
          </p:nvSpPr>
          <p:spPr>
            <a:xfrm flipH="false" flipV="false" rot="0">
              <a:off x="0" y="0"/>
              <a:ext cx="7040880" cy="3429508"/>
            </a:xfrm>
            <a:custGeom>
              <a:avLst/>
              <a:gdLst/>
              <a:ahLst/>
              <a:cxnLst/>
              <a:rect r="r" b="b" t="t" l="l"/>
              <a:pathLst>
                <a:path h="3429508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3429508"/>
                  </a:lnTo>
                  <a:lnTo>
                    <a:pt x="0" y="342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6" b="-1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743950" y="5829300"/>
            <a:ext cx="740664" cy="1200426"/>
            <a:chOff x="0" y="0"/>
            <a:chExt cx="987552" cy="1600568"/>
          </a:xfrm>
        </p:grpSpPr>
        <p:sp>
          <p:nvSpPr>
            <p:cNvPr name="Freeform 49" id="49" descr="/home/claude/deck3/img/d_alfinete.png"/>
            <p:cNvSpPr/>
            <p:nvPr/>
          </p:nvSpPr>
          <p:spPr>
            <a:xfrm flipH="false" flipV="false" rot="0">
              <a:off x="0" y="0"/>
              <a:ext cx="987552" cy="1600581"/>
            </a:xfrm>
            <a:custGeom>
              <a:avLst/>
              <a:gdLst/>
              <a:ahLst/>
              <a:cxnLst/>
              <a:rect r="r" b="b" t="t" l="l"/>
              <a:pathLst>
                <a:path h="1600581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1600581"/>
                  </a:lnTo>
                  <a:lnTo>
                    <a:pt x="0" y="160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18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6885432" y="7063740"/>
            <a:ext cx="445770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Parte V 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6885432" y="7420356"/>
            <a:ext cx="4457700" cy="521208"/>
            <a:chOff x="0" y="0"/>
            <a:chExt cx="5943600" cy="6949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943600" cy="694944"/>
            </a:xfrm>
            <a:custGeom>
              <a:avLst/>
              <a:gdLst/>
              <a:ahLst/>
              <a:cxnLst/>
              <a:rect r="r" b="b" t="t" l="l"/>
              <a:pathLst>
                <a:path h="694944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48" r="0" b="-11664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59436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território e a escola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6967728" y="7968996"/>
            <a:ext cx="4293108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O território que atravessa a tese e as condições da escola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2097512" y="6515100"/>
            <a:ext cx="5280660" cy="2572169"/>
            <a:chOff x="0" y="0"/>
            <a:chExt cx="7040880" cy="3429559"/>
          </a:xfrm>
        </p:grpSpPr>
        <p:sp>
          <p:nvSpPr>
            <p:cNvPr name="Freeform 56" id="56" descr="/home/claude/deck3/img/d_cartao.png"/>
            <p:cNvSpPr/>
            <p:nvPr/>
          </p:nvSpPr>
          <p:spPr>
            <a:xfrm flipH="false" flipV="false" rot="0">
              <a:off x="0" y="0"/>
              <a:ext cx="7040880" cy="3429508"/>
            </a:xfrm>
            <a:custGeom>
              <a:avLst/>
              <a:gdLst/>
              <a:ahLst/>
              <a:cxnLst/>
              <a:rect r="r" b="b" t="t" l="l"/>
              <a:pathLst>
                <a:path h="3429508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3429508"/>
                  </a:lnTo>
                  <a:lnTo>
                    <a:pt x="0" y="342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6" b="-1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4367510" y="5829300"/>
            <a:ext cx="740664" cy="1200426"/>
            <a:chOff x="0" y="0"/>
            <a:chExt cx="987552" cy="1600568"/>
          </a:xfrm>
        </p:grpSpPr>
        <p:sp>
          <p:nvSpPr>
            <p:cNvPr name="Freeform 58" id="58" descr="/home/claude/deck3/img/d_alfinete.png"/>
            <p:cNvSpPr/>
            <p:nvPr/>
          </p:nvSpPr>
          <p:spPr>
            <a:xfrm flipH="false" flipV="false" rot="0">
              <a:off x="0" y="0"/>
              <a:ext cx="987552" cy="1600581"/>
            </a:xfrm>
            <a:custGeom>
              <a:avLst/>
              <a:gdLst/>
              <a:ahLst/>
              <a:cxnLst/>
              <a:rect r="r" b="b" t="t" l="l"/>
              <a:pathLst>
                <a:path h="1600581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1600581"/>
                  </a:lnTo>
                  <a:lnTo>
                    <a:pt x="0" y="160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18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2508992" y="7063740"/>
            <a:ext cx="445770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Parte VI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2508992" y="7420356"/>
            <a:ext cx="4457700" cy="521208"/>
            <a:chOff x="0" y="0"/>
            <a:chExt cx="5943600" cy="69494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943600" cy="694944"/>
            </a:xfrm>
            <a:custGeom>
              <a:avLst/>
              <a:gdLst/>
              <a:ahLst/>
              <a:cxnLst/>
              <a:rect r="r" b="b" t="t" l="l"/>
              <a:pathLst>
                <a:path h="694944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48" r="0" b="-11664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59436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que ainda falta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2591288" y="7968996"/>
            <a:ext cx="4293108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Campo, pendências e questões para a banca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600000">
            <a:off x="16894683" y="-301752"/>
            <a:ext cx="1577340" cy="1760420"/>
            <a:chOff x="0" y="0"/>
            <a:chExt cx="2103120" cy="2347227"/>
          </a:xfrm>
        </p:grpSpPr>
        <p:sp>
          <p:nvSpPr>
            <p:cNvPr name="Freeform 4" id="4" descr="/home/claude/deck3/img/d_lampada.png"/>
            <p:cNvSpPr/>
            <p:nvPr/>
          </p:nvSpPr>
          <p:spPr>
            <a:xfrm flipH="false" flipV="false" rot="0">
              <a:off x="0" y="0"/>
              <a:ext cx="2103120" cy="2347214"/>
            </a:xfrm>
            <a:custGeom>
              <a:avLst/>
              <a:gdLst/>
              <a:ahLst/>
              <a:cxnLst/>
              <a:rect r="r" b="b" t="t" l="l"/>
              <a:pathLst>
                <a:path h="234721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2347214"/>
                  </a:lnTo>
                  <a:lnTo>
                    <a:pt x="0" y="2347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t="0" r="-1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Trajetória: de onde parto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39570" y="2006727"/>
            <a:ext cx="3996690" cy="4202430"/>
            <a:chOff x="0" y="0"/>
            <a:chExt cx="5328920" cy="56032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28920" cy="5603240"/>
            </a:xfrm>
            <a:custGeom>
              <a:avLst/>
              <a:gdLst/>
              <a:ahLst/>
              <a:cxnLst/>
              <a:rect r="r" b="b" t="t" l="l"/>
              <a:pathLst>
                <a:path h="56032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5603240"/>
                  </a:lnTo>
                  <a:lnTo>
                    <a:pt x="0" y="56032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-285750" y="-285750"/>
            <a:ext cx="18859043" cy="10858500"/>
            <a:chOff x="0" y="0"/>
            <a:chExt cx="25145390" cy="14478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77190" y="10134600"/>
              <a:ext cx="24517349" cy="1544320"/>
            </a:xfrm>
            <a:custGeom>
              <a:avLst/>
              <a:gdLst/>
              <a:ahLst/>
              <a:cxnLst/>
              <a:rect r="r" b="b" t="t" l="l"/>
              <a:pathLst>
                <a:path h="1544320" w="24517349">
                  <a:moveTo>
                    <a:pt x="0" y="1544320"/>
                  </a:moveTo>
                  <a:cubicBezTo>
                    <a:pt x="7543800" y="-772160"/>
                    <a:pt x="15841980" y="2895600"/>
                    <a:pt x="24517349" y="0"/>
                  </a:cubicBezTo>
                </a:path>
              </a:pathLst>
            </a:custGeom>
            <a:blipFill>
              <a:blip r:embed="rId4">
                <a:alphaModFix amt="0"/>
              </a:blip>
              <a:stretch>
                <a:fillRect l="-26023" t="-656250" r="-25508" b="-181250"/>
              </a:stretch>
            </a:blipFill>
            <a:ln w="5715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-245612" y="-228600"/>
            <a:ext cx="18744743" cy="10744200"/>
            <a:chOff x="0" y="0"/>
            <a:chExt cx="24992990" cy="14325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74904" y="10027920"/>
              <a:ext cx="24368761" cy="1528064"/>
            </a:xfrm>
            <a:custGeom>
              <a:avLst/>
              <a:gdLst/>
              <a:ahLst/>
              <a:cxnLst/>
              <a:rect r="r" b="b" t="t" l="l"/>
              <a:pathLst>
                <a:path h="1528064" w="24368761">
                  <a:moveTo>
                    <a:pt x="0" y="1528064"/>
                  </a:moveTo>
                  <a:cubicBezTo>
                    <a:pt x="7498081" y="-764032"/>
                    <a:pt x="15745968" y="2865120"/>
                    <a:pt x="24368761" y="0"/>
                  </a:cubicBezTo>
                </a:path>
              </a:pathLst>
            </a:custGeom>
            <a:blipFill>
              <a:blip r:embed="rId4">
                <a:alphaModFix amt="0"/>
              </a:blip>
              <a:stretch>
                <a:fillRect l="-25683" t="-656249" r="-25167" b="-181250"/>
              </a:stretch>
            </a:blipFill>
            <a:ln w="457200" cap="sq">
              <a:solidFill>
                <a:srgbClr val="FFCE32"/>
              </a:solidFill>
              <a:prstDash val="solid"/>
              <a:miter/>
            </a:ln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-389344" y="-5187861"/>
            <a:ext cx="18335168" cy="10334625"/>
          </a:xfrm>
          <a:custGeom>
            <a:avLst/>
            <a:gdLst/>
            <a:ahLst/>
            <a:cxnLst/>
            <a:rect r="r" b="b" t="t" l="l"/>
            <a:pathLst>
              <a:path h="10334625" w="18335168">
                <a:moveTo>
                  <a:pt x="0" y="0"/>
                </a:moveTo>
                <a:lnTo>
                  <a:pt x="18335168" y="0"/>
                </a:lnTo>
                <a:lnTo>
                  <a:pt x="18335168" y="10334625"/>
                </a:lnTo>
                <a:lnTo>
                  <a:pt x="0" y="103346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445827" y="2007846"/>
            <a:ext cx="3996690" cy="4202430"/>
            <a:chOff x="0" y="0"/>
            <a:chExt cx="5328920" cy="5603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28920" cy="5603240"/>
            </a:xfrm>
            <a:custGeom>
              <a:avLst/>
              <a:gdLst/>
              <a:ahLst/>
              <a:cxnLst/>
              <a:rect r="r" b="b" t="t" l="l"/>
              <a:pathLst>
                <a:path h="56032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5603240"/>
                  </a:lnTo>
                  <a:lnTo>
                    <a:pt x="0" y="56032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344321" y="1908334"/>
            <a:ext cx="4001453" cy="4207192"/>
            <a:chOff x="0" y="0"/>
            <a:chExt cx="5335270" cy="56095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35270" cy="5609590"/>
            </a:xfrm>
            <a:custGeom>
              <a:avLst/>
              <a:gdLst/>
              <a:ahLst/>
              <a:cxnLst/>
              <a:rect r="r" b="b" t="t" l="l"/>
              <a:pathLst>
                <a:path h="560959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5609590"/>
                  </a:lnTo>
                  <a:lnTo>
                    <a:pt x="0" y="560959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07993" y="2062353"/>
            <a:ext cx="3483864" cy="850392"/>
            <a:chOff x="0" y="0"/>
            <a:chExt cx="4645152" cy="11338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4515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645152">
                  <a:moveTo>
                    <a:pt x="0" y="0"/>
                  </a:moveTo>
                  <a:lnTo>
                    <a:pt x="4645152" y="0"/>
                  </a:lnTo>
                  <a:lnTo>
                    <a:pt x="464515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825" r="0" b="-2982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645152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Uma trajetória longa no território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flipH="true">
            <a:off x="2444172" y="6210276"/>
            <a:ext cx="0" cy="1373152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2015528" y="7398448"/>
            <a:ext cx="576072" cy="933669"/>
            <a:chOff x="0" y="0"/>
            <a:chExt cx="768096" cy="1244892"/>
          </a:xfrm>
        </p:grpSpPr>
        <p:sp>
          <p:nvSpPr>
            <p:cNvPr name="Freeform 29" id="29" descr="/home/claude/deck3/img/d_alfinete.png"/>
            <p:cNvSpPr/>
            <p:nvPr/>
          </p:nvSpPr>
          <p:spPr>
            <a:xfrm flipH="false" flipV="false" rot="0">
              <a:off x="0" y="0"/>
              <a:ext cx="768096" cy="1244854"/>
            </a:xfrm>
            <a:custGeom>
              <a:avLst/>
              <a:gdLst/>
              <a:ahLst/>
              <a:cxnLst/>
              <a:rect r="r" b="b" t="t" l="l"/>
              <a:pathLst>
                <a:path h="124485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1244854"/>
                  </a:lnTo>
                  <a:lnTo>
                    <a:pt x="0" y="1244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21"/>
              </a:stretch>
            </a:blipFill>
          </p:spPr>
        </p:sp>
      </p:grpSp>
      <p:sp>
        <p:nvSpPr>
          <p:cNvPr name="AutoShape 30" id="30"/>
          <p:cNvSpPr/>
          <p:nvPr/>
        </p:nvSpPr>
        <p:spPr>
          <a:xfrm>
            <a:off x="7022022" y="6185343"/>
            <a:ext cx="14286" cy="894301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6733986" y="7030129"/>
            <a:ext cx="576072" cy="933669"/>
            <a:chOff x="0" y="0"/>
            <a:chExt cx="768096" cy="1244892"/>
          </a:xfrm>
        </p:grpSpPr>
        <p:sp>
          <p:nvSpPr>
            <p:cNvPr name="Freeform 32" id="32" descr="/home/claude/deck3/img/d_alfinete.png"/>
            <p:cNvSpPr/>
            <p:nvPr/>
          </p:nvSpPr>
          <p:spPr>
            <a:xfrm flipH="false" flipV="false" rot="0">
              <a:off x="0" y="0"/>
              <a:ext cx="768096" cy="1244854"/>
            </a:xfrm>
            <a:custGeom>
              <a:avLst/>
              <a:gdLst/>
              <a:ahLst/>
              <a:cxnLst/>
              <a:rect r="r" b="b" t="t" l="l"/>
              <a:pathLst>
                <a:path h="124485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1244854"/>
                  </a:lnTo>
                  <a:lnTo>
                    <a:pt x="0" y="1244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21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358503" y="2006727"/>
            <a:ext cx="3996690" cy="4202430"/>
            <a:chOff x="0" y="0"/>
            <a:chExt cx="5328920" cy="5603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28920" cy="5603240"/>
            </a:xfrm>
            <a:custGeom>
              <a:avLst/>
              <a:gdLst/>
              <a:ahLst/>
              <a:cxnLst/>
              <a:rect r="r" b="b" t="t" l="l"/>
              <a:pathLst>
                <a:path h="56032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5603240"/>
                  </a:lnTo>
                  <a:lnTo>
                    <a:pt x="0" y="56032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260110" y="1908334"/>
            <a:ext cx="4001453" cy="4207192"/>
            <a:chOff x="0" y="0"/>
            <a:chExt cx="5335270" cy="5609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35270" cy="5609590"/>
            </a:xfrm>
            <a:custGeom>
              <a:avLst/>
              <a:gdLst/>
              <a:ahLst/>
              <a:cxnLst/>
              <a:rect r="r" b="b" t="t" l="l"/>
              <a:pathLst>
                <a:path h="560959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5609590"/>
                  </a:lnTo>
                  <a:lnTo>
                    <a:pt x="0" y="560959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518904" y="2084832"/>
            <a:ext cx="3483864" cy="850392"/>
            <a:chOff x="0" y="0"/>
            <a:chExt cx="4645152" cy="11338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4515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645152">
                  <a:moveTo>
                    <a:pt x="0" y="0"/>
                  </a:moveTo>
                  <a:lnTo>
                    <a:pt x="4645152" y="0"/>
                  </a:lnTo>
                  <a:lnTo>
                    <a:pt x="464515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825" r="0" b="-2982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4645152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Outra pesquisa, mesma escola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5301840">
            <a:off x="10760431" y="6676015"/>
            <a:ext cx="100080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10959084" y="7116594"/>
            <a:ext cx="576072" cy="933669"/>
            <a:chOff x="0" y="0"/>
            <a:chExt cx="768096" cy="1244892"/>
          </a:xfrm>
        </p:grpSpPr>
        <p:sp>
          <p:nvSpPr>
            <p:cNvPr name="Freeform 42" id="42" descr="/home/claude/deck3/img/d_alfinete.png"/>
            <p:cNvSpPr/>
            <p:nvPr/>
          </p:nvSpPr>
          <p:spPr>
            <a:xfrm flipH="false" flipV="false" rot="0">
              <a:off x="0" y="0"/>
              <a:ext cx="768096" cy="1244854"/>
            </a:xfrm>
            <a:custGeom>
              <a:avLst/>
              <a:gdLst/>
              <a:ahLst/>
              <a:cxnLst/>
              <a:rect r="r" b="b" t="t" l="l"/>
              <a:pathLst>
                <a:path h="124485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1244854"/>
                  </a:lnTo>
                  <a:lnTo>
                    <a:pt x="0" y="1244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21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583031" y="2006727"/>
            <a:ext cx="3996690" cy="4202430"/>
            <a:chOff x="0" y="0"/>
            <a:chExt cx="5328920" cy="56032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28920" cy="5603240"/>
            </a:xfrm>
            <a:custGeom>
              <a:avLst/>
              <a:gdLst/>
              <a:ahLst/>
              <a:cxnLst/>
              <a:rect r="r" b="b" t="t" l="l"/>
              <a:pathLst>
                <a:path h="56032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5603240"/>
                  </a:lnTo>
                  <a:lnTo>
                    <a:pt x="0" y="56032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484638" y="1908334"/>
            <a:ext cx="4001453" cy="4207192"/>
            <a:chOff x="0" y="0"/>
            <a:chExt cx="5335270" cy="560959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35270" cy="5609590"/>
            </a:xfrm>
            <a:custGeom>
              <a:avLst/>
              <a:gdLst/>
              <a:ahLst/>
              <a:cxnLst/>
              <a:rect r="r" b="b" t="t" l="l"/>
              <a:pathLst>
                <a:path h="560959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5609590"/>
                  </a:lnTo>
                  <a:lnTo>
                    <a:pt x="0" y="5609590"/>
                  </a:ln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3743432" y="2084832"/>
            <a:ext cx="3483864" cy="850392"/>
            <a:chOff x="0" y="0"/>
            <a:chExt cx="4645152" cy="11338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64515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645152">
                  <a:moveTo>
                    <a:pt x="0" y="0"/>
                  </a:moveTo>
                  <a:lnTo>
                    <a:pt x="4645152" y="0"/>
                  </a:lnTo>
                  <a:lnTo>
                    <a:pt x="464515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825" r="0" b="-2982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4645152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B8420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Memória não é dado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rot="5275980">
            <a:off x="15089191" y="6571736"/>
            <a:ext cx="79234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5183612" y="6908025"/>
            <a:ext cx="576072" cy="933669"/>
            <a:chOff x="0" y="0"/>
            <a:chExt cx="768096" cy="1244892"/>
          </a:xfrm>
        </p:grpSpPr>
        <p:sp>
          <p:nvSpPr>
            <p:cNvPr name="Freeform 52" id="52" descr="/home/claude/deck3/img/d_alfinete.png"/>
            <p:cNvSpPr/>
            <p:nvPr/>
          </p:nvSpPr>
          <p:spPr>
            <a:xfrm flipH="false" flipV="false" rot="0">
              <a:off x="0" y="0"/>
              <a:ext cx="768096" cy="1244854"/>
            </a:xfrm>
            <a:custGeom>
              <a:avLst/>
              <a:gdLst/>
              <a:ahLst/>
              <a:cxnLst/>
              <a:rect r="r" b="b" t="t" l="l"/>
              <a:pathLst>
                <a:path h="124485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1244854"/>
                  </a:lnTo>
                  <a:lnTo>
                    <a:pt x="0" y="1244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21"/>
              </a:stretch>
            </a:blip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603115" y="3027045"/>
            <a:ext cx="3483864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Quase duas décadas de convivência com Pipa e dezoito anos de trabalho na rede municipal de educação de Tibau do Sul/RN. A pesquisadora não olha o problema de fora.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07993" y="8411959"/>
            <a:ext cx="3566160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Território e rede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4817936" y="1908334"/>
            <a:ext cx="4001453" cy="4207192"/>
            <a:chOff x="0" y="0"/>
            <a:chExt cx="5335270" cy="560959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335270" cy="5609590"/>
            </a:xfrm>
            <a:custGeom>
              <a:avLst/>
              <a:gdLst/>
              <a:ahLst/>
              <a:cxnLst/>
              <a:rect r="r" b="b" t="t" l="l"/>
              <a:pathLst>
                <a:path h="560959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5609590"/>
                  </a:lnTo>
                  <a:lnTo>
                    <a:pt x="0" y="560959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57" id="57"/>
          <p:cNvSpPr txBox="true"/>
          <p:nvPr/>
        </p:nvSpPr>
        <p:spPr>
          <a:xfrm rot="0">
            <a:off x="5115020" y="3857244"/>
            <a:ext cx="3483864" cy="98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89"/>
              </a:lnSpc>
            </a:pP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 crianças da turma dividiam o aparelho com pais ou responsáveis; 30% tinham aparelho próprio (MACHADO, 2021).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5294376" y="2880360"/>
            <a:ext cx="3483864" cy="1209824"/>
            <a:chOff x="0" y="0"/>
            <a:chExt cx="4645152" cy="161309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645152" cy="1613099"/>
            </a:xfrm>
            <a:custGeom>
              <a:avLst/>
              <a:gdLst/>
              <a:ahLst/>
              <a:cxnLst/>
              <a:rect r="r" b="b" t="t" l="l"/>
              <a:pathLst>
                <a:path h="1613099" w="4645152">
                  <a:moveTo>
                    <a:pt x="0" y="0"/>
                  </a:moveTo>
                  <a:lnTo>
                    <a:pt x="4645152" y="0"/>
                  </a:lnTo>
                  <a:lnTo>
                    <a:pt x="4645152" y="1613099"/>
                  </a:lnTo>
                  <a:lnTo>
                    <a:pt x="0" y="16130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429" r="0" b="420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645152" cy="1613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70%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5294376" y="2084832"/>
            <a:ext cx="3483864" cy="850392"/>
            <a:chOff x="0" y="0"/>
            <a:chExt cx="4645152" cy="11338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64515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645152">
                  <a:moveTo>
                    <a:pt x="0" y="0"/>
                  </a:moveTo>
                  <a:lnTo>
                    <a:pt x="4645152" y="0"/>
                  </a:lnTo>
                  <a:lnTo>
                    <a:pt x="464515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825" r="0" b="-2982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4645152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Mestrado na mesma escola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5076730" y="4844796"/>
            <a:ext cx="3483864" cy="11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Pesquisa-ação com uma turma de 2º ano no ensino remoto: atividades assíncronas, por aplicativos de mensagens, no celular de adultos (pais e/ou responsáveis).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253228" y="8210683"/>
            <a:ext cx="3566160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Mestrado · 2021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518904" y="3027045"/>
            <a:ext cx="3483864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mesma escola, agora diante da PNED: interessa como os profissionais leem e traduzem uma lei que fez da educação digital direito e componente curricular.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477756" y="8442855"/>
            <a:ext cx="3566160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Doutorado · hoje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743432" y="3027045"/>
            <a:ext cx="3483864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trajetória orienta o olhar; as evidências virão dos instrumentos. O diário de campo registra o percurso e não é uma quinta fonte.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702284" y="8234286"/>
            <a:ext cx="3566160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Regra de método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Freire (2019): não há neutralidade possível; Braun e Clarke (2019): a reflexividade é parte da análise.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6550834" y="-3800827"/>
            <a:ext cx="4001453" cy="4207192"/>
            <a:chOff x="0" y="0"/>
            <a:chExt cx="5335270" cy="560959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335270" cy="5609590"/>
            </a:xfrm>
            <a:custGeom>
              <a:avLst/>
              <a:gdLst/>
              <a:ahLst/>
              <a:cxnLst/>
              <a:rect r="r" b="b" t="t" l="l"/>
              <a:pathLst>
                <a:path h="560959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5609590"/>
                  </a:lnTo>
                  <a:lnTo>
                    <a:pt x="0" y="560959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246888"/>
            <a:ext cx="15361920" cy="1303020"/>
            <a:chOff x="0" y="0"/>
            <a:chExt cx="20482560" cy="1737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82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718" r="0" b="-17971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0482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problema em uma imagem: o vazio material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600000">
            <a:off x="15751788" y="122728"/>
            <a:ext cx="1577340" cy="1760420"/>
            <a:chOff x="0" y="0"/>
            <a:chExt cx="2103120" cy="2347227"/>
          </a:xfrm>
        </p:grpSpPr>
        <p:sp>
          <p:nvSpPr>
            <p:cNvPr name="Freeform 7" id="7" descr="/home/claude/deck3/img/d_lampada.png"/>
            <p:cNvSpPr/>
            <p:nvPr/>
          </p:nvSpPr>
          <p:spPr>
            <a:xfrm flipH="false" flipV="false" rot="0">
              <a:off x="0" y="0"/>
              <a:ext cx="2103120" cy="2347214"/>
            </a:xfrm>
            <a:custGeom>
              <a:avLst/>
              <a:gdLst/>
              <a:ahLst/>
              <a:cxnLst/>
              <a:rect r="r" b="b" t="t" l="l"/>
              <a:pathLst>
                <a:path h="234721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2347214"/>
                  </a:lnTo>
                  <a:lnTo>
                    <a:pt x="0" y="2347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9447" y="2006727"/>
            <a:ext cx="10374630" cy="3345475"/>
            <a:chOff x="0" y="0"/>
            <a:chExt cx="13832840" cy="44606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32839" cy="4460621"/>
            </a:xfrm>
            <a:custGeom>
              <a:avLst/>
              <a:gdLst/>
              <a:ahLst/>
              <a:cxnLst/>
              <a:rect r="r" b="b" t="t" l="l"/>
              <a:pathLst>
                <a:path h="4460621" w="13832839">
                  <a:moveTo>
                    <a:pt x="0" y="0"/>
                  </a:moveTo>
                  <a:lnTo>
                    <a:pt x="13832839" y="0"/>
                  </a:lnTo>
                  <a:lnTo>
                    <a:pt x="13832839" y="4460621"/>
                  </a:lnTo>
                  <a:lnTo>
                    <a:pt x="0" y="4460621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1920240"/>
            <a:ext cx="10355580" cy="3326425"/>
            <a:chOff x="0" y="0"/>
            <a:chExt cx="13807440" cy="4435234"/>
          </a:xfrm>
        </p:grpSpPr>
        <p:sp>
          <p:nvSpPr>
            <p:cNvPr name="Freeform 11" id="11" descr="/home/claude/deck3/img/crop_ponte.png"/>
            <p:cNvSpPr/>
            <p:nvPr/>
          </p:nvSpPr>
          <p:spPr>
            <a:xfrm flipH="false" flipV="false" rot="0">
              <a:off x="0" y="0"/>
              <a:ext cx="13807439" cy="4435221"/>
            </a:xfrm>
            <a:custGeom>
              <a:avLst/>
              <a:gdLst/>
              <a:ahLst/>
              <a:cxnLst/>
              <a:rect r="r" b="b" t="t" l="l"/>
              <a:pathLst>
                <a:path h="4435221" w="13807439">
                  <a:moveTo>
                    <a:pt x="0" y="0"/>
                  </a:moveTo>
                  <a:lnTo>
                    <a:pt x="13807439" y="0"/>
                  </a:lnTo>
                  <a:lnTo>
                    <a:pt x="13807439" y="4435221"/>
                  </a:lnTo>
                  <a:lnTo>
                    <a:pt x="0" y="4435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11054" y="1908334"/>
            <a:ext cx="10379393" cy="3350238"/>
            <a:chOff x="0" y="0"/>
            <a:chExt cx="13839190" cy="4466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839189" cy="4466971"/>
            </a:xfrm>
            <a:custGeom>
              <a:avLst/>
              <a:gdLst/>
              <a:ahLst/>
              <a:cxnLst/>
              <a:rect r="r" b="b" t="t" l="l"/>
              <a:pathLst>
                <a:path h="4466971" w="13839189">
                  <a:moveTo>
                    <a:pt x="0" y="0"/>
                  </a:moveTo>
                  <a:lnTo>
                    <a:pt x="13839189" y="0"/>
                  </a:lnTo>
                  <a:lnTo>
                    <a:pt x="13839189" y="4466971"/>
                  </a:lnTo>
                  <a:lnTo>
                    <a:pt x="0" y="44669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6" r="0" b="-10367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580495" y="1910715"/>
            <a:ext cx="5889498" cy="1555242"/>
            <a:chOff x="0" y="0"/>
            <a:chExt cx="7852664" cy="20736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52664" cy="2073656"/>
            </a:xfrm>
            <a:custGeom>
              <a:avLst/>
              <a:gdLst/>
              <a:ahLst/>
              <a:cxnLst/>
              <a:rect r="r" b="b" t="t" l="l"/>
              <a:pathLst>
                <a:path h="2073656" w="7852664">
                  <a:moveTo>
                    <a:pt x="0" y="0"/>
                  </a:moveTo>
                  <a:lnTo>
                    <a:pt x="7852664" y="0"/>
                  </a:lnTo>
                  <a:lnTo>
                    <a:pt x="7852664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864340" y="1920240"/>
            <a:ext cx="5349240" cy="1536192"/>
            <a:chOff x="0" y="0"/>
            <a:chExt cx="7132320" cy="20482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32320" cy="2048256"/>
            </a:xfrm>
            <a:custGeom>
              <a:avLst/>
              <a:gdLst/>
              <a:ahLst/>
              <a:cxnLst/>
              <a:rect r="r" b="b" t="t" l="l"/>
              <a:pathLst>
                <a:path h="2048256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2048256"/>
                  </a:lnTo>
                  <a:lnTo>
                    <a:pt x="0" y="20482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49" r="0" b="-1784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7132320" cy="20387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160"/>
                </a:lnSpc>
              </a:pPr>
              <a:r>
                <a:rPr lang="en-US" sz="1800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Ponto de partida: </a:t>
              </a:r>
              <a:r>
                <a:rPr lang="en-US" sz="180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 vazio material, inscrito no texto da lei (Cap. 5): o direito chega à escola antes dos meios.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76507" y="3762375"/>
            <a:ext cx="5793486" cy="1555242"/>
            <a:chOff x="0" y="0"/>
            <a:chExt cx="7724648" cy="20736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24648" cy="2073656"/>
            </a:xfrm>
            <a:custGeom>
              <a:avLst/>
              <a:gdLst/>
              <a:ahLst/>
              <a:cxnLst/>
              <a:rect r="r" b="b" t="t" l="l"/>
              <a:pathLst>
                <a:path h="2073656" w="7724648">
                  <a:moveTo>
                    <a:pt x="0" y="0"/>
                  </a:moveTo>
                  <a:lnTo>
                    <a:pt x="7724648" y="0"/>
                  </a:lnTo>
                  <a:lnTo>
                    <a:pt x="7724648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578114" y="3663982"/>
            <a:ext cx="5798248" cy="1560004"/>
            <a:chOff x="0" y="0"/>
            <a:chExt cx="7730998" cy="20800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730998" cy="2080006"/>
            </a:xfrm>
            <a:custGeom>
              <a:avLst/>
              <a:gdLst/>
              <a:ahLst/>
              <a:cxnLst/>
              <a:rect r="r" b="b" t="t" l="l"/>
              <a:pathLst>
                <a:path h="2080006" w="7730998">
                  <a:moveTo>
                    <a:pt x="0" y="0"/>
                  </a:moveTo>
                  <a:lnTo>
                    <a:pt x="7730998" y="0"/>
                  </a:lnTo>
                  <a:lnTo>
                    <a:pt x="7730998" y="2080006"/>
                  </a:lnTo>
                  <a:lnTo>
                    <a:pt x="0" y="2080006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864340" y="3675888"/>
            <a:ext cx="5280660" cy="1536192"/>
            <a:chOff x="0" y="0"/>
            <a:chExt cx="7040880" cy="20482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40880" cy="2048256"/>
            </a:xfrm>
            <a:custGeom>
              <a:avLst/>
              <a:gdLst/>
              <a:ahLst/>
              <a:cxnLst/>
              <a:rect r="r" b="b" t="t" l="l"/>
              <a:pathLst>
                <a:path h="2048256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2048256"/>
                  </a:lnTo>
                  <a:lnTo>
                    <a:pt x="0" y="20482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79" r="0" b="-1697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7040880" cy="20387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que a imagem não mostra: </a:t>
              </a:r>
              <a:r>
                <a:rPr lang="en-US" sz="180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as pessoas que atravessam essa ponte todos os dias. É aí que a tese olha: como os profissionais encenam a política nesse vazio.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9447" y="5778627"/>
            <a:ext cx="8042910" cy="3173730"/>
            <a:chOff x="0" y="0"/>
            <a:chExt cx="10723880" cy="4231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238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723880">
                  <a:moveTo>
                    <a:pt x="0" y="0"/>
                  </a:moveTo>
                  <a:lnTo>
                    <a:pt x="10723880" y="0"/>
                  </a:lnTo>
                  <a:lnTo>
                    <a:pt x="10723880" y="4231640"/>
                  </a:lnTo>
                  <a:lnTo>
                    <a:pt x="0" y="42316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11054" y="5680234"/>
            <a:ext cx="8047672" cy="3178492"/>
            <a:chOff x="0" y="0"/>
            <a:chExt cx="10730230" cy="42379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30230" cy="4237990"/>
            </a:xfrm>
            <a:custGeom>
              <a:avLst/>
              <a:gdLst/>
              <a:ahLst/>
              <a:cxnLst/>
              <a:rect r="r" b="b" t="t" l="l"/>
              <a:pathLst>
                <a:path h="4237990" w="10730230">
                  <a:moveTo>
                    <a:pt x="0" y="0"/>
                  </a:moveTo>
                  <a:lnTo>
                    <a:pt x="10730230" y="0"/>
                  </a:lnTo>
                  <a:lnTo>
                    <a:pt x="10730230" y="4237990"/>
                  </a:lnTo>
                  <a:lnTo>
                    <a:pt x="0" y="423799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165860" y="5860923"/>
            <a:ext cx="740664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299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5860" y="6419088"/>
            <a:ext cx="7406640" cy="233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</a:pPr>
            <a:r>
              <a:rPr lang="en-US" sz="21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distância entre o direito declarado e os meios garantidos. </a:t>
            </a:r>
            <a:r>
              <a:rPr lang="en-US" sz="21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norma faz da educação digital componente curricular, mas não garante formação específica, infraestrutura de rede e tempo de planejamento, que acabam sendo construídos no dia a dia do contexto da prática.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48775" y="5682615"/>
            <a:ext cx="8221218" cy="3269742"/>
            <a:chOff x="0" y="0"/>
            <a:chExt cx="10961624" cy="43596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61624" cy="4359656"/>
            </a:xfrm>
            <a:custGeom>
              <a:avLst/>
              <a:gdLst/>
              <a:ahLst/>
              <a:cxnLst/>
              <a:rect r="r" b="b" t="t" l="l"/>
              <a:pathLst>
                <a:path h="4359656" w="10961624">
                  <a:moveTo>
                    <a:pt x="0" y="0"/>
                  </a:moveTo>
                  <a:lnTo>
                    <a:pt x="10961624" y="0"/>
                  </a:lnTo>
                  <a:lnTo>
                    <a:pt x="10961624" y="4359656"/>
                  </a:lnTo>
                  <a:lnTo>
                    <a:pt x="0" y="4359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9601200" y="5860923"/>
            <a:ext cx="754380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299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TESE DE PARTIDA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01200" y="6419088"/>
            <a:ext cx="7543800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i="true">
                <a:solidFill>
                  <a:srgbClr val="1A1A1A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 PNED chega à escola como orientação a ser lida e interpretada. Sua forma no cotidiano resulta da relação entre o que ela prescreve e as condições em que os profissionais atuam, atravessadas pelas culturas profissionais e pelo território. Nenhuma forma de atuação é pressuposta.</a:t>
            </a:r>
          </a:p>
          <a:p>
            <a:pPr algn="ctr">
              <a:lnSpc>
                <a:spcPts val="270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822960" y="9601200"/>
            <a:ext cx="1663750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Lei nº 14.533/2023; Mainardes (2006); Ball, Maguire e Braun (2016).   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ilustração conceitual gerada por IA (Gemini Notebook).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480000">
            <a:off x="16774668" y="144937"/>
            <a:ext cx="1371600" cy="1767526"/>
            <a:chOff x="0" y="0"/>
            <a:chExt cx="1828800" cy="2356701"/>
          </a:xfrm>
        </p:grpSpPr>
        <p:sp>
          <p:nvSpPr>
            <p:cNvPr name="Freeform 4" id="4" descr="/home/claude/deck3/img/d_globo.png"/>
            <p:cNvSpPr/>
            <p:nvPr/>
          </p:nvSpPr>
          <p:spPr>
            <a:xfrm flipH="false" flipV="false" rot="0">
              <a:off x="0" y="0"/>
              <a:ext cx="1828800" cy="2356739"/>
            </a:xfrm>
            <a:custGeom>
              <a:avLst/>
              <a:gdLst/>
              <a:ahLst/>
              <a:cxnLst/>
              <a:rect r="r" b="b" t="t" l="l"/>
              <a:pathLst>
                <a:path h="2356739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356739"/>
                  </a:lnTo>
                  <a:lnTo>
                    <a:pt x="0" y="235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" t="0" r="-22" b="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objeto e o recorte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3435" y="1910715"/>
            <a:ext cx="16656558" cy="1664970"/>
            <a:chOff x="0" y="0"/>
            <a:chExt cx="22208744" cy="2219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08744" cy="2219960"/>
            </a:xfrm>
            <a:custGeom>
              <a:avLst/>
              <a:gdLst/>
              <a:ahLst/>
              <a:cxnLst/>
              <a:rect r="r" b="b" t="t" l="l"/>
              <a:pathLst>
                <a:path h="221996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2219960"/>
                  </a:lnTo>
                  <a:lnTo>
                    <a:pt x="0" y="22199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440" y="1920240"/>
            <a:ext cx="15910560" cy="1645920"/>
            <a:chOff x="0" y="0"/>
            <a:chExt cx="212140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140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21408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Objeto: </a:t>
              </a:r>
              <a:r>
                <a:rPr lang="en-US" sz="270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encenação (interpretação e tradução) da PNED pelos profissionais da educação dos anos iniciais (1º ao 5º ano) da Escola Municipal Domitila Castelo, em Pipa.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9447" y="3995547"/>
            <a:ext cx="5313426" cy="3585210"/>
            <a:chOff x="0" y="0"/>
            <a:chExt cx="7084568" cy="4780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84568" cy="4780280"/>
            </a:xfrm>
            <a:custGeom>
              <a:avLst/>
              <a:gdLst/>
              <a:ahLst/>
              <a:cxnLst/>
              <a:rect r="r" b="b" t="t" l="l"/>
              <a:pathLst>
                <a:path h="47802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11054" y="3897154"/>
            <a:ext cx="5318188" cy="3589972"/>
            <a:chOff x="0" y="0"/>
            <a:chExt cx="7090918" cy="47866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90918" cy="4786630"/>
            </a:xfrm>
            <a:custGeom>
              <a:avLst/>
              <a:gdLst/>
              <a:ahLst/>
              <a:cxnLst/>
              <a:rect r="r" b="b" t="t" l="l"/>
              <a:pathLst>
                <a:path h="47866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786630"/>
                  </a:lnTo>
                  <a:lnTo>
                    <a:pt x="0" y="4786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165860" y="4114800"/>
            <a:ext cx="466344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 que do 1º ao 5º ano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5860" y="4791075"/>
            <a:ext cx="4663440" cy="261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educação digital chega a todas as turmas da etapa. Olhar do 1º ao 5º ano permite comparar como a mesma orientação é lida em idades e exigências diferentes.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533007" y="3995547"/>
            <a:ext cx="5313426" cy="3585210"/>
            <a:chOff x="0" y="0"/>
            <a:chExt cx="7084568" cy="4780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84568" cy="4780280"/>
            </a:xfrm>
            <a:custGeom>
              <a:avLst/>
              <a:gdLst/>
              <a:ahLst/>
              <a:cxnLst/>
              <a:rect r="r" b="b" t="t" l="l"/>
              <a:pathLst>
                <a:path h="47802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434614" y="3897154"/>
            <a:ext cx="5318188" cy="3589972"/>
            <a:chOff x="0" y="0"/>
            <a:chExt cx="7090918" cy="47866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90918" cy="4786630"/>
            </a:xfrm>
            <a:custGeom>
              <a:avLst/>
              <a:gdLst/>
              <a:ahLst/>
              <a:cxnLst/>
              <a:rect r="r" b="b" t="t" l="l"/>
              <a:pathLst>
                <a:path h="47866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786630"/>
                  </a:lnTo>
                  <a:lnTo>
                    <a:pt x="0" y="4786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6789420" y="4114800"/>
            <a:ext cx="466344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 que ouvir todos os profissionais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89420" y="4791075"/>
            <a:ext cx="4663440" cy="261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política não se faz só em sala: passa pelo planejamento com a coordenação, pelas prioridades da direção e pelo apoio pedagógico. Todos constroem a política.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156567" y="3995547"/>
            <a:ext cx="5313426" cy="3585210"/>
            <a:chOff x="0" y="0"/>
            <a:chExt cx="7084568" cy="4780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84568" cy="4780280"/>
            </a:xfrm>
            <a:custGeom>
              <a:avLst/>
              <a:gdLst/>
              <a:ahLst/>
              <a:cxnLst/>
              <a:rect r="r" b="b" t="t" l="l"/>
              <a:pathLst>
                <a:path h="47802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058174" y="3897154"/>
            <a:ext cx="5318188" cy="3589972"/>
            <a:chOff x="0" y="0"/>
            <a:chExt cx="7090918" cy="47866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90918" cy="4786630"/>
            </a:xfrm>
            <a:custGeom>
              <a:avLst/>
              <a:gdLst/>
              <a:ahLst/>
              <a:cxnLst/>
              <a:rect r="r" b="b" t="t" l="l"/>
              <a:pathLst>
                <a:path h="47866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786630"/>
                  </a:lnTo>
                  <a:lnTo>
                    <a:pt x="0" y="4786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2412980" y="4114800"/>
            <a:ext cx="466344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Como o objeto é lido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12980" y="4791075"/>
            <a:ext cx="4663440" cy="261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Território, culturas profissionais e condições materiais entram como dimensões do contexto; os direitos da criança (ONU, 2021) orientam a leitura; as narrativas são o caminho principal.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08672" y="7831264"/>
            <a:ext cx="16666083" cy="1468755"/>
            <a:chOff x="0" y="0"/>
            <a:chExt cx="22221444" cy="19583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221444" cy="1958340"/>
            </a:xfrm>
            <a:custGeom>
              <a:avLst/>
              <a:gdLst/>
              <a:ahLst/>
              <a:cxnLst/>
              <a:rect r="r" b="b" t="t" l="l"/>
              <a:pathLst>
                <a:path h="1958340" w="22221444">
                  <a:moveTo>
                    <a:pt x="0" y="0"/>
                  </a:moveTo>
                  <a:lnTo>
                    <a:pt x="22221444" y="0"/>
                  </a:lnTo>
                  <a:lnTo>
                    <a:pt x="22221444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098" r="0" b="-171098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165860" y="7845552"/>
            <a:ext cx="16047720" cy="1440180"/>
            <a:chOff x="0" y="0"/>
            <a:chExt cx="21396960" cy="1920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396961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119" r="0" b="-16711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21396960" cy="192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Fora do objeto: </a:t>
              </a:r>
              <a:r>
                <a:rPr lang="en-US" sz="202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 cumprimento integral da PNED, os efeitos sobre a aprendizagem e a observação de aulas. As crianças não participam da produção de dados. Plataformização e governança de dados entram só como contexto.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822960" y="9601200"/>
            <a:ext cx="1663750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Bowe, Ball e Gold (1992); Mainardes (2006); Ball, Maguire e Braun (2016): encenação; ONU (2021); Zuboff (2021) como contexto.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480000">
            <a:off x="16384610" y="474410"/>
            <a:ext cx="1769694" cy="1250663"/>
            <a:chOff x="0" y="0"/>
            <a:chExt cx="3108960" cy="2197138"/>
          </a:xfrm>
        </p:grpSpPr>
        <p:sp>
          <p:nvSpPr>
            <p:cNvPr name="Freeform 4" id="4" descr="/home/claude/deck3/img/d_nuvem.png"/>
            <p:cNvSpPr/>
            <p:nvPr/>
          </p:nvSpPr>
          <p:spPr>
            <a:xfrm flipH="false" flipV="false" rot="0">
              <a:off x="0" y="0"/>
              <a:ext cx="3108960" cy="2197100"/>
            </a:xfrm>
            <a:custGeom>
              <a:avLst/>
              <a:gdLst/>
              <a:ahLst/>
              <a:cxnLst/>
              <a:rect r="r" b="b" t="t" l="l"/>
              <a:pathLst>
                <a:path h="21971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2197100"/>
                  </a:lnTo>
                  <a:lnTo>
                    <a:pt x="0" y="219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t="0" r="-8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Questão norteadora e objetivos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3435" y="1842135"/>
            <a:ext cx="16656558" cy="1555242"/>
            <a:chOff x="0" y="0"/>
            <a:chExt cx="22208744" cy="20736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08744" cy="2073656"/>
            </a:xfrm>
            <a:custGeom>
              <a:avLst/>
              <a:gdLst/>
              <a:ahLst/>
              <a:cxnLst/>
              <a:rect r="r" b="b" t="t" l="l"/>
              <a:pathLst>
                <a:path h="2073656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1851660"/>
            <a:ext cx="15979140" cy="1536192"/>
            <a:chOff x="0" y="0"/>
            <a:chExt cx="21305520" cy="20482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05520" cy="2048256"/>
            </a:xfrm>
            <a:custGeom>
              <a:avLst/>
              <a:gdLst/>
              <a:ahLst/>
              <a:cxnLst/>
              <a:rect r="r" b="b" t="t" l="l"/>
              <a:pathLst>
                <a:path h="2048256" w="21305520">
                  <a:moveTo>
                    <a:pt x="0" y="0"/>
                  </a:moveTo>
                  <a:lnTo>
                    <a:pt x="21305520" y="0"/>
                  </a:lnTo>
                  <a:lnTo>
                    <a:pt x="21305520" y="2048256"/>
                  </a:lnTo>
                  <a:lnTo>
                    <a:pt x="0" y="20482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2679" r="0" b="-15267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305520" cy="2048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i="true">
                  <a:solidFill>
                    <a:srgbClr val="3942B5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Questão norteadora: como os profissionais da educação encenam e recontextualizam a PNED no contexto da prática da Escola Municipal Domitila Castelo, em Pipa (RN), e como as culturas profissionais, as condições materiais e institucionais da escola e as especificidades socioespaciais do território atravessam esse processo, produzindo diferentes formas de atuação, entre as quais podem emergir acomodações, negociações, ressignificações e resistências?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9447" y="3680079"/>
            <a:ext cx="16560546" cy="1459230"/>
            <a:chOff x="0" y="0"/>
            <a:chExt cx="22080728" cy="1945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080728" cy="1945640"/>
            </a:xfrm>
            <a:custGeom>
              <a:avLst/>
              <a:gdLst/>
              <a:ahLst/>
              <a:cxnLst/>
              <a:rect r="r" b="b" t="t" l="l"/>
              <a:pathLst>
                <a:path h="1945640" w="22080728">
                  <a:moveTo>
                    <a:pt x="0" y="0"/>
                  </a:moveTo>
                  <a:lnTo>
                    <a:pt x="22080728" y="0"/>
                  </a:lnTo>
                  <a:lnTo>
                    <a:pt x="22080728" y="1945640"/>
                  </a:lnTo>
                  <a:lnTo>
                    <a:pt x="0" y="19456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11054" y="3581686"/>
            <a:ext cx="16565308" cy="1463992"/>
            <a:chOff x="0" y="0"/>
            <a:chExt cx="22087078" cy="19519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087078" cy="1951990"/>
            </a:xfrm>
            <a:custGeom>
              <a:avLst/>
              <a:gdLst/>
              <a:ahLst/>
              <a:cxnLst/>
              <a:rect r="r" b="b" t="t" l="l"/>
              <a:pathLst>
                <a:path h="1951990" w="22087078">
                  <a:moveTo>
                    <a:pt x="0" y="0"/>
                  </a:moveTo>
                  <a:lnTo>
                    <a:pt x="22087078" y="0"/>
                  </a:lnTo>
                  <a:lnTo>
                    <a:pt x="22087078" y="1951990"/>
                  </a:lnTo>
                  <a:lnTo>
                    <a:pt x="0" y="195199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65860" y="3593592"/>
            <a:ext cx="15910560" cy="1440180"/>
            <a:chOff x="0" y="0"/>
            <a:chExt cx="21214080" cy="1920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2140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5263" r="0" b="-16526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21214080" cy="1910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B8420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Objetivo geral: analisar como os profissionais da educação encenam e recontextualizam a PNED no contexto da prática da Escola Municipal Domitila Castelo, considerando as relações entre a política, as culturas profissionais, as condições materiais e institucionais da escola e o território.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22960" y="5249037"/>
            <a:ext cx="822960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300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OBJETIVOS ESPECÍFICOS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09447" y="5847207"/>
            <a:ext cx="5313426" cy="3585210"/>
            <a:chOff x="0" y="0"/>
            <a:chExt cx="7084568" cy="4780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84568" cy="4780280"/>
            </a:xfrm>
            <a:custGeom>
              <a:avLst/>
              <a:gdLst/>
              <a:ahLst/>
              <a:cxnLst/>
              <a:rect r="r" b="b" t="t" l="l"/>
              <a:pathLst>
                <a:path h="47802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11054" y="5748814"/>
            <a:ext cx="5318188" cy="3589972"/>
            <a:chOff x="0" y="0"/>
            <a:chExt cx="7090918" cy="47866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90918" cy="4786630"/>
            </a:xfrm>
            <a:custGeom>
              <a:avLst/>
              <a:gdLst/>
              <a:ahLst/>
              <a:cxnLst/>
              <a:rect r="r" b="b" t="t" l="l"/>
              <a:pathLst>
                <a:path h="47866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786630"/>
                  </a:lnTo>
                  <a:lnTo>
                    <a:pt x="0" y="4786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87755" y="5956935"/>
            <a:ext cx="732282" cy="732282"/>
            <a:chOff x="0" y="0"/>
            <a:chExt cx="976376" cy="9763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97280" y="5966460"/>
            <a:ext cx="713232" cy="713232"/>
            <a:chOff x="0" y="0"/>
            <a:chExt cx="950976" cy="9509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950976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988820" y="5966460"/>
            <a:ext cx="3977640" cy="713232"/>
            <a:chOff x="0" y="0"/>
            <a:chExt cx="5303520" cy="9509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03520" cy="950976"/>
            </a:xfrm>
            <a:custGeom>
              <a:avLst/>
              <a:gdLst/>
              <a:ahLst/>
              <a:cxnLst/>
              <a:rect r="r" b="b" t="t" l="l"/>
              <a:pathLst>
                <a:path h="95097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666" r="0" b="-5866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5303520" cy="941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leitura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97280" y="6812661"/>
            <a:ext cx="4732020" cy="122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Compreender como os profissionais interpretam a PNED a partir de suas experiências, crenças, valores e formas de organizar o trabalho.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97280" y="8047101"/>
            <a:ext cx="47320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i="true">
                <a:solidFill>
                  <a:srgbClr val="3942B5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Que sentidos a política ganha em cada posição?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97280" y="8750808"/>
            <a:ext cx="4732020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F5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Base: Cap. 5 (texto da lei) · resposta: Cap. 7 (questionário e entrevistas)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533007" y="5847207"/>
            <a:ext cx="5313426" cy="3585210"/>
            <a:chOff x="0" y="0"/>
            <a:chExt cx="7084568" cy="4780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84568" cy="4780280"/>
            </a:xfrm>
            <a:custGeom>
              <a:avLst/>
              <a:gdLst/>
              <a:ahLst/>
              <a:cxnLst/>
              <a:rect r="r" b="b" t="t" l="l"/>
              <a:pathLst>
                <a:path h="47802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6434614" y="5748814"/>
            <a:ext cx="5318188" cy="3589972"/>
            <a:chOff x="0" y="0"/>
            <a:chExt cx="7090918" cy="478663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90918" cy="4786630"/>
            </a:xfrm>
            <a:custGeom>
              <a:avLst/>
              <a:gdLst/>
              <a:ahLst/>
              <a:cxnLst/>
              <a:rect r="r" b="b" t="t" l="l"/>
              <a:pathLst>
                <a:path h="47866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786630"/>
                  </a:lnTo>
                  <a:lnTo>
                    <a:pt x="0" y="4786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711315" y="5956935"/>
            <a:ext cx="732282" cy="732282"/>
            <a:chOff x="0" y="0"/>
            <a:chExt cx="976376" cy="97637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7462E3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6720840" y="5966460"/>
            <a:ext cx="713232" cy="713232"/>
            <a:chOff x="0" y="0"/>
            <a:chExt cx="950976" cy="95097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950976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612380" y="5966460"/>
            <a:ext cx="3977640" cy="713232"/>
            <a:chOff x="0" y="0"/>
            <a:chExt cx="5303520" cy="95097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03520" cy="950976"/>
            </a:xfrm>
            <a:custGeom>
              <a:avLst/>
              <a:gdLst/>
              <a:ahLst/>
              <a:cxnLst/>
              <a:rect r="r" b="b" t="t" l="l"/>
              <a:pathLst>
                <a:path h="95097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666" r="0" b="-5866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9525"/>
              <a:ext cx="5303520" cy="941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tradução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6720840" y="6812661"/>
            <a:ext cx="4732020" cy="122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Analisar como as condições materiais e institucionais da escola e o território atravessam a tradução da PNED no cotidiano.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720840" y="8047101"/>
            <a:ext cx="47320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i="true">
                <a:solidFill>
                  <a:srgbClr val="7462E3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Como a política é posta em prática?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720840" y="8750808"/>
            <a:ext cx="4732020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F5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Base: Cap. 6 (território e escola) · resposta: Cap. 7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2156567" y="5847207"/>
            <a:ext cx="5313426" cy="3585210"/>
            <a:chOff x="0" y="0"/>
            <a:chExt cx="7084568" cy="4780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084568" cy="4780280"/>
            </a:xfrm>
            <a:custGeom>
              <a:avLst/>
              <a:gdLst/>
              <a:ahLst/>
              <a:cxnLst/>
              <a:rect r="r" b="b" t="t" l="l"/>
              <a:pathLst>
                <a:path h="47802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2058174" y="5748814"/>
            <a:ext cx="5318188" cy="3589972"/>
            <a:chOff x="0" y="0"/>
            <a:chExt cx="7090918" cy="478663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090918" cy="4786630"/>
            </a:xfrm>
            <a:custGeom>
              <a:avLst/>
              <a:gdLst/>
              <a:ahLst/>
              <a:cxnLst/>
              <a:rect r="r" b="b" t="t" l="l"/>
              <a:pathLst>
                <a:path h="47866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786630"/>
                  </a:lnTo>
                  <a:lnTo>
                    <a:pt x="0" y="4786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2334875" y="5956935"/>
            <a:ext cx="732282" cy="732282"/>
            <a:chOff x="0" y="0"/>
            <a:chExt cx="976376" cy="9763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2344400" y="5966460"/>
            <a:ext cx="713232" cy="713232"/>
            <a:chOff x="0" y="0"/>
            <a:chExt cx="950976" cy="95097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950976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235940" y="5966460"/>
            <a:ext cx="3977640" cy="713232"/>
            <a:chOff x="0" y="0"/>
            <a:chExt cx="5303520" cy="95097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303520" cy="950976"/>
            </a:xfrm>
            <a:custGeom>
              <a:avLst/>
              <a:gdLst/>
              <a:ahLst/>
              <a:cxnLst/>
              <a:rect r="r" b="b" t="t" l="l"/>
              <a:pathLst>
                <a:path h="95097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666" r="0" b="-5866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9525"/>
              <a:ext cx="5303520" cy="941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atuação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2344400" y="6812661"/>
            <a:ext cx="4732020" cy="122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Identificar formas de atuação (adesão, acomodação, adaptação, omissão seletiva, negociação, ressignificação, resistência), sem pressupor nenhuma.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344400" y="8047101"/>
            <a:ext cx="47320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i="true">
                <a:solidFill>
                  <a:srgbClr val="B8420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(d) Implicações para as crianças: provisão, proteção e participação no ambiente digital.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344400" y="8750808"/>
            <a:ext cx="4732020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F5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Base: Caps. 5 e 6 · resposta: Cap. 7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Mainardes (2006): contextos da ACP; Ball, Maguire e Braun (2016): dimensões do contexto; Hargreaves (2005); ONU (2021).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480000">
            <a:off x="16355272" y="509295"/>
            <a:ext cx="1851660" cy="1618583"/>
            <a:chOff x="0" y="0"/>
            <a:chExt cx="2468880" cy="2158111"/>
          </a:xfrm>
        </p:grpSpPr>
        <p:sp>
          <p:nvSpPr>
            <p:cNvPr name="Freeform 4" id="4" descr="/home/claude/deck3/img/d_lupa.png"/>
            <p:cNvSpPr/>
            <p:nvPr/>
          </p:nvSpPr>
          <p:spPr>
            <a:xfrm flipH="false" flipV="false" rot="0">
              <a:off x="0" y="0"/>
              <a:ext cx="2468880" cy="2158111"/>
            </a:xfrm>
            <a:custGeom>
              <a:avLst/>
              <a:gdLst/>
              <a:ahLst/>
              <a:cxnLst/>
              <a:rect r="r" b="b" t="t" l="l"/>
              <a:pathLst>
                <a:path h="2158111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2158111"/>
                  </a:lnTo>
                  <a:lnTo>
                    <a:pt x="0" y="2158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1" r="0" b="-2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Ineditismo: três dimensões articuladas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22960" y="1920240"/>
            <a:ext cx="16596360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Leitura tecnicista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08672" y="2591752"/>
            <a:ext cx="4966335" cy="1537335"/>
            <a:chOff x="0" y="0"/>
            <a:chExt cx="6621780" cy="20497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217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6621780">
                  <a:moveTo>
                    <a:pt x="0" y="0"/>
                  </a:moveTo>
                  <a:lnTo>
                    <a:pt x="6621780" y="0"/>
                  </a:lnTo>
                  <a:lnTo>
                    <a:pt x="6621780" y="2049780"/>
                  </a:lnTo>
                  <a:lnTo>
                    <a:pt x="0" y="20497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946" r="0" b="-12946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" y="2606040"/>
            <a:ext cx="4526280" cy="1508760"/>
            <a:chOff x="0" y="0"/>
            <a:chExt cx="6035040" cy="2011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35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60350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Mede a escola pelo acesso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897880" y="3099816"/>
            <a:ext cx="521208" cy="521208"/>
            <a:chOff x="0" y="0"/>
            <a:chExt cx="694944" cy="694944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500812" y="2591752"/>
            <a:ext cx="4966335" cy="1537335"/>
            <a:chOff x="0" y="0"/>
            <a:chExt cx="6621780" cy="20497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217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6621780">
                  <a:moveTo>
                    <a:pt x="0" y="0"/>
                  </a:moveTo>
                  <a:lnTo>
                    <a:pt x="6621780" y="0"/>
                  </a:lnTo>
                  <a:lnTo>
                    <a:pt x="6621780" y="2049780"/>
                  </a:lnTo>
                  <a:lnTo>
                    <a:pt x="0" y="20497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946" r="0" b="-12946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720840" y="2606040"/>
            <a:ext cx="4526280" cy="1508760"/>
            <a:chOff x="0" y="0"/>
            <a:chExt cx="6035040" cy="2011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35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0350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Distância = falha de implementação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590020" y="3099816"/>
            <a:ext cx="521208" cy="521208"/>
            <a:chOff x="0" y="0"/>
            <a:chExt cx="694944" cy="694944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192952" y="2591752"/>
            <a:ext cx="4966335" cy="1537335"/>
            <a:chOff x="0" y="0"/>
            <a:chExt cx="6621780" cy="20497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217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6621780">
                  <a:moveTo>
                    <a:pt x="0" y="0"/>
                  </a:moveTo>
                  <a:lnTo>
                    <a:pt x="6621780" y="0"/>
                  </a:lnTo>
                  <a:lnTo>
                    <a:pt x="6621780" y="2049780"/>
                  </a:lnTo>
                  <a:lnTo>
                    <a:pt x="0" y="20497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946" r="0" b="-12946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412980" y="2606040"/>
            <a:ext cx="4526280" cy="1508760"/>
            <a:chOff x="0" y="0"/>
            <a:chExt cx="6035040" cy="2011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35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60350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Professor como executor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822960" y="4526280"/>
            <a:ext cx="16596360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Leitura desta tese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09447" y="5298567"/>
            <a:ext cx="4956810" cy="1527810"/>
            <a:chOff x="0" y="0"/>
            <a:chExt cx="6609080" cy="2037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609080" cy="2037080"/>
            </a:xfrm>
            <a:custGeom>
              <a:avLst/>
              <a:gdLst/>
              <a:ahLst/>
              <a:cxnLst/>
              <a:rect r="r" b="b" t="t" l="l"/>
              <a:pathLst>
                <a:path h="203708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811054" y="5200174"/>
            <a:ext cx="4961572" cy="1532573"/>
            <a:chOff x="0" y="0"/>
            <a:chExt cx="6615430" cy="204343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15430" cy="2043430"/>
            </a:xfrm>
            <a:custGeom>
              <a:avLst/>
              <a:gdLst/>
              <a:ahLst/>
              <a:cxnLst/>
              <a:rect r="r" b="b" t="t" l="l"/>
              <a:pathLst>
                <a:path h="2043430" w="6615430">
                  <a:moveTo>
                    <a:pt x="0" y="0"/>
                  </a:moveTo>
                  <a:lnTo>
                    <a:pt x="6615430" y="0"/>
                  </a:lnTo>
                  <a:lnTo>
                    <a:pt x="6615430" y="2043430"/>
                  </a:lnTo>
                  <a:lnTo>
                    <a:pt x="0" y="20434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28700" y="5212080"/>
            <a:ext cx="4526280" cy="1508760"/>
            <a:chOff x="0" y="0"/>
            <a:chExt cx="6035040" cy="2011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35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60350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Habitar o digital: experiência desigual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897880" y="5705856"/>
            <a:ext cx="521208" cy="521208"/>
            <a:chOff x="0" y="0"/>
            <a:chExt cx="694944" cy="694944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601587" y="5298567"/>
            <a:ext cx="4956810" cy="1527810"/>
            <a:chOff x="0" y="0"/>
            <a:chExt cx="6609080" cy="2037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609080" cy="2037080"/>
            </a:xfrm>
            <a:custGeom>
              <a:avLst/>
              <a:gdLst/>
              <a:ahLst/>
              <a:cxnLst/>
              <a:rect r="r" b="b" t="t" l="l"/>
              <a:pathLst>
                <a:path h="203708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503194" y="5200174"/>
            <a:ext cx="4961572" cy="1532573"/>
            <a:chOff x="0" y="0"/>
            <a:chExt cx="6615430" cy="204343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15430" cy="2043430"/>
            </a:xfrm>
            <a:custGeom>
              <a:avLst/>
              <a:gdLst/>
              <a:ahLst/>
              <a:cxnLst/>
              <a:rect r="r" b="b" t="t" l="l"/>
              <a:pathLst>
                <a:path h="2043430" w="6615430">
                  <a:moveTo>
                    <a:pt x="0" y="0"/>
                  </a:moveTo>
                  <a:lnTo>
                    <a:pt x="6615430" y="0"/>
                  </a:lnTo>
                  <a:lnTo>
                    <a:pt x="6615430" y="2043430"/>
                  </a:lnTo>
                  <a:lnTo>
                    <a:pt x="0" y="20434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6720840" y="5212080"/>
            <a:ext cx="4526280" cy="1508760"/>
            <a:chOff x="0" y="0"/>
            <a:chExt cx="6035040" cy="2011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35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60350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Distância como processo político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590020" y="5705856"/>
            <a:ext cx="521208" cy="521208"/>
            <a:chOff x="0" y="0"/>
            <a:chExt cx="694944" cy="694944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293727" y="5298567"/>
            <a:ext cx="4956810" cy="1527810"/>
            <a:chOff x="0" y="0"/>
            <a:chExt cx="6609080" cy="20370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609080" cy="2037080"/>
            </a:xfrm>
            <a:custGeom>
              <a:avLst/>
              <a:gdLst/>
              <a:ahLst/>
              <a:cxnLst/>
              <a:rect r="r" b="b" t="t" l="l"/>
              <a:pathLst>
                <a:path h="203708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2195334" y="5200174"/>
            <a:ext cx="4961572" cy="1532573"/>
            <a:chOff x="0" y="0"/>
            <a:chExt cx="6615430" cy="204343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615430" cy="2043430"/>
            </a:xfrm>
            <a:custGeom>
              <a:avLst/>
              <a:gdLst/>
              <a:ahLst/>
              <a:cxnLst/>
              <a:rect r="r" b="b" t="t" l="l"/>
              <a:pathLst>
                <a:path h="2043430" w="6615430">
                  <a:moveTo>
                    <a:pt x="0" y="0"/>
                  </a:moveTo>
                  <a:lnTo>
                    <a:pt x="6615430" y="0"/>
                  </a:lnTo>
                  <a:lnTo>
                    <a:pt x="6615430" y="2043430"/>
                  </a:lnTo>
                  <a:lnTo>
                    <a:pt x="0" y="20434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2412980" y="5212080"/>
            <a:ext cx="4526280" cy="1508760"/>
            <a:chOff x="0" y="0"/>
            <a:chExt cx="6035040" cy="20116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35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60350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Profissionais fazem política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13435" y="7259955"/>
            <a:ext cx="16656558" cy="2007870"/>
            <a:chOff x="0" y="0"/>
            <a:chExt cx="22208744" cy="26771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208744" cy="2677160"/>
            </a:xfrm>
            <a:custGeom>
              <a:avLst/>
              <a:gdLst/>
              <a:ahLst/>
              <a:cxnLst/>
              <a:rect r="r" b="b" t="t" l="l"/>
              <a:pathLst>
                <a:path h="267716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2677160"/>
                  </a:lnTo>
                  <a:lnTo>
                    <a:pt x="0" y="26771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234440" y="7269480"/>
            <a:ext cx="15910560" cy="1988820"/>
            <a:chOff x="0" y="0"/>
            <a:chExt cx="21214080" cy="26517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214080" cy="2651760"/>
            </a:xfrm>
            <a:custGeom>
              <a:avLst/>
              <a:gdLst/>
              <a:ahLst/>
              <a:cxnLst/>
              <a:rect r="r" b="b" t="t" l="l"/>
              <a:pathLst>
                <a:path h="265176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2651760"/>
                  </a:lnTo>
                  <a:lnTo>
                    <a:pt x="0" y="2651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21214080" cy="2651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Ineditismo: </a:t>
              </a:r>
              <a:r>
                <a:rPr lang="en-US" sz="225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empírico-temporal: a PNED chega à escola quando o componente se torna obrigatório, em 2026, e nenhum dos 9 estudos da RSL trata dela nem de rede municipal de pequeno porte. Analítico-espacial: o território de Pipa como dimensão constitutiva do contexto da prática, que atravessa toda a tese. Teórico-conceitual: teoria da atuação, culturas profissionais, dimensão material e território articulados, com a noção de habitar o digital.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Ball, Maguire e Braun (2016); Hargreaves (2005); Santos (1999); Massey (2008); Schlemmer et al. (2021); Di Felice (2009).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600000">
            <a:off x="16287750" y="148490"/>
            <a:ext cx="1577340" cy="1760420"/>
            <a:chOff x="0" y="0"/>
            <a:chExt cx="2103120" cy="2347227"/>
          </a:xfrm>
        </p:grpSpPr>
        <p:sp>
          <p:nvSpPr>
            <p:cNvPr name="Freeform 4" id="4" descr="/home/claude/deck3/img/d_lampada.png"/>
            <p:cNvSpPr/>
            <p:nvPr/>
          </p:nvSpPr>
          <p:spPr>
            <a:xfrm flipH="false" flipV="false" rot="0">
              <a:off x="0" y="0"/>
              <a:ext cx="2103120" cy="2347214"/>
            </a:xfrm>
            <a:custGeom>
              <a:avLst/>
              <a:gdLst/>
              <a:ahLst/>
              <a:cxnLst/>
              <a:rect r="r" b="b" t="t" l="l"/>
              <a:pathLst>
                <a:path h="234721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2347214"/>
                  </a:lnTo>
                  <a:lnTo>
                    <a:pt x="0" y="2347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t="0" r="-1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Formas de atuação: lentes de leitura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9447" y="2075307"/>
            <a:ext cx="5313426" cy="3790950"/>
            <a:chOff x="0" y="0"/>
            <a:chExt cx="7084568" cy="5054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84568" cy="5054600"/>
            </a:xfrm>
            <a:custGeom>
              <a:avLst/>
              <a:gdLst/>
              <a:ahLst/>
              <a:cxnLst/>
              <a:rect r="r" b="b" t="t" l="l"/>
              <a:pathLst>
                <a:path h="505460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5054600"/>
                  </a:lnTo>
                  <a:lnTo>
                    <a:pt x="0" y="50546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11054" y="1976914"/>
            <a:ext cx="5318188" cy="3795712"/>
            <a:chOff x="0" y="0"/>
            <a:chExt cx="7090918" cy="50609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90918" cy="5060950"/>
            </a:xfrm>
            <a:custGeom>
              <a:avLst/>
              <a:gdLst/>
              <a:ahLst/>
              <a:cxnLst/>
              <a:rect r="r" b="b" t="t" l="l"/>
              <a:pathLst>
                <a:path h="506095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5060950"/>
                  </a:lnTo>
                  <a:lnTo>
                    <a:pt x="0" y="506095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56335" y="2212467"/>
            <a:ext cx="1006602" cy="1006602"/>
            <a:chOff x="0" y="0"/>
            <a:chExt cx="1342136" cy="13421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213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cubicBezTo>
                    <a:pt x="1041654" y="0"/>
                    <a:pt x="1342136" y="300482"/>
                    <a:pt x="1342136" y="671068"/>
                  </a:cubicBezTo>
                  <a:cubicBezTo>
                    <a:pt x="1342136" y="1041654"/>
                    <a:pt x="1041654" y="1342136"/>
                    <a:pt x="671068" y="1342136"/>
                  </a:cubicBez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422625" y="2478757"/>
            <a:ext cx="474021" cy="474021"/>
            <a:chOff x="0" y="0"/>
            <a:chExt cx="632028" cy="632028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632079" cy="632079"/>
            </a:xfrm>
            <a:custGeom>
              <a:avLst/>
              <a:gdLst/>
              <a:ahLst/>
              <a:cxnLst/>
              <a:rect r="r" b="b" t="t" l="l"/>
              <a:pathLst>
                <a:path h="632079" w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8" b="8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074920" y="2125980"/>
            <a:ext cx="75438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80"/>
              </a:lnSpc>
            </a:pPr>
            <a:r>
              <a:rPr lang="en-US" sz="3900" b="true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5860" y="3360420"/>
            <a:ext cx="4663440" cy="850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Adesão e acomodação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5860" y="4210812"/>
            <a:ext cx="4663440" cy="148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orientação é assumida como própria ou cumprida com os meios disponíveis, sem ser feita sua.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436995" y="1979295"/>
            <a:ext cx="5313426" cy="3790950"/>
            <a:chOff x="0" y="0"/>
            <a:chExt cx="7084568" cy="5054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84568" cy="5054600"/>
            </a:xfrm>
            <a:custGeom>
              <a:avLst/>
              <a:gdLst/>
              <a:ahLst/>
              <a:cxnLst/>
              <a:rect r="r" b="b" t="t" l="l"/>
              <a:pathLst>
                <a:path h="505460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5054600"/>
                  </a:lnTo>
                  <a:lnTo>
                    <a:pt x="0" y="50546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779895" y="2212467"/>
            <a:ext cx="1006602" cy="1006602"/>
            <a:chOff x="0" y="0"/>
            <a:chExt cx="1342136" cy="13421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213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cubicBezTo>
                    <a:pt x="1041654" y="0"/>
                    <a:pt x="1342136" y="300482"/>
                    <a:pt x="1342136" y="671068"/>
                  </a:cubicBezTo>
                  <a:cubicBezTo>
                    <a:pt x="1342136" y="1041654"/>
                    <a:pt x="1041654" y="1342136"/>
                    <a:pt x="671068" y="1342136"/>
                  </a:cubicBez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046185" y="2478757"/>
            <a:ext cx="474021" cy="474021"/>
            <a:chOff x="0" y="0"/>
            <a:chExt cx="632028" cy="632028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632079" cy="632079"/>
            </a:xfrm>
            <a:custGeom>
              <a:avLst/>
              <a:gdLst/>
              <a:ahLst/>
              <a:cxnLst/>
              <a:rect r="r" b="b" t="t" l="l"/>
              <a:pathLst>
                <a:path h="632079" w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8" b="8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698480" y="2125980"/>
            <a:ext cx="75438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80"/>
              </a:lnSpc>
            </a:pPr>
            <a:r>
              <a:rPr lang="en-US" sz="3900" b="true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789420" y="3360420"/>
            <a:ext cx="4663440" cy="850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Adaptação, negociação e omissão seletiva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58000" y="3950999"/>
            <a:ext cx="4663440" cy="148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orientação é ajustada, discutida entre os profissionais ou deixada de lado quando é inexequível.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156567" y="2075307"/>
            <a:ext cx="5313426" cy="3790950"/>
            <a:chOff x="0" y="0"/>
            <a:chExt cx="7084568" cy="5054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84568" cy="5054600"/>
            </a:xfrm>
            <a:custGeom>
              <a:avLst/>
              <a:gdLst/>
              <a:ahLst/>
              <a:cxnLst/>
              <a:rect r="r" b="b" t="t" l="l"/>
              <a:pathLst>
                <a:path h="505460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5054600"/>
                  </a:lnTo>
                  <a:lnTo>
                    <a:pt x="0" y="50546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058174" y="1976914"/>
            <a:ext cx="5318188" cy="3795712"/>
            <a:chOff x="0" y="0"/>
            <a:chExt cx="7090918" cy="50609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90918" cy="5060950"/>
            </a:xfrm>
            <a:custGeom>
              <a:avLst/>
              <a:gdLst/>
              <a:ahLst/>
              <a:cxnLst/>
              <a:rect r="r" b="b" t="t" l="l"/>
              <a:pathLst>
                <a:path h="506095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5060950"/>
                  </a:lnTo>
                  <a:lnTo>
                    <a:pt x="0" y="506095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403455" y="2212467"/>
            <a:ext cx="1006602" cy="1006602"/>
            <a:chOff x="0" y="0"/>
            <a:chExt cx="1342136" cy="13421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4213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342136">
                  <a:moveTo>
                    <a:pt x="0" y="671068"/>
                  </a:moveTo>
                  <a:cubicBezTo>
                    <a:pt x="0" y="300482"/>
                    <a:pt x="300482" y="0"/>
                    <a:pt x="671068" y="0"/>
                  </a:cubicBezTo>
                  <a:cubicBezTo>
                    <a:pt x="1041654" y="0"/>
                    <a:pt x="1342136" y="300482"/>
                    <a:pt x="1342136" y="671068"/>
                  </a:cubicBezTo>
                  <a:cubicBezTo>
                    <a:pt x="1342136" y="1041654"/>
                    <a:pt x="1041654" y="1342136"/>
                    <a:pt x="671068" y="1342136"/>
                  </a:cubicBezTo>
                  <a:cubicBezTo>
                    <a:pt x="300482" y="1342136"/>
                    <a:pt x="0" y="1041654"/>
                    <a:pt x="0" y="671068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669745" y="2478757"/>
            <a:ext cx="474021" cy="474021"/>
            <a:chOff x="0" y="0"/>
            <a:chExt cx="632028" cy="632028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632079" cy="632079"/>
            </a:xfrm>
            <a:custGeom>
              <a:avLst/>
              <a:gdLst/>
              <a:ahLst/>
              <a:cxnLst/>
              <a:rect r="r" b="b" t="t" l="l"/>
              <a:pathLst>
                <a:path h="632079" w="632079">
                  <a:moveTo>
                    <a:pt x="0" y="0"/>
                  </a:moveTo>
                  <a:lnTo>
                    <a:pt x="632079" y="0"/>
                  </a:lnTo>
                  <a:lnTo>
                    <a:pt x="632079" y="632079"/>
                  </a:lnTo>
                  <a:lnTo>
                    <a:pt x="0" y="632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8" b="8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6322040" y="2125980"/>
            <a:ext cx="75438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80"/>
              </a:lnSpc>
            </a:pPr>
            <a:r>
              <a:rPr lang="en-US" sz="3900" b="true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12980" y="3360420"/>
            <a:ext cx="4663440" cy="850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Ressignificação, resistência e fabricação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412980" y="4210812"/>
            <a:ext cx="4663440" cy="148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orientação é refeita, contestada ou cumprida só no papel, com registros que não correspondem ao vivido.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22960" y="6103620"/>
            <a:ext cx="1659636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Riscos que o campo vai analisar, sem tratá-los como constatações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08672" y="6775132"/>
            <a:ext cx="8162163" cy="1098423"/>
            <a:chOff x="0" y="0"/>
            <a:chExt cx="10882884" cy="14645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882884" cy="1464564"/>
            </a:xfrm>
            <a:custGeom>
              <a:avLst/>
              <a:gdLst/>
              <a:ahLst/>
              <a:cxnLst/>
              <a:rect r="r" b="b" t="t" l="l"/>
              <a:pathLst>
                <a:path h="1464564" w="10882884">
                  <a:moveTo>
                    <a:pt x="0" y="0"/>
                  </a:moveTo>
                  <a:lnTo>
                    <a:pt x="10882884" y="0"/>
                  </a:lnTo>
                  <a:lnTo>
                    <a:pt x="10882884" y="1464564"/>
                  </a:lnTo>
                  <a:lnTo>
                    <a:pt x="0" y="14645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789" r="0" b="-94789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097280" y="6789420"/>
            <a:ext cx="7612380" cy="1069848"/>
            <a:chOff x="0" y="0"/>
            <a:chExt cx="10149840" cy="14264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14984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014984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 eixo varia de uma turma para outra e se reduz ao que cabe nos meios e no repertório de cada profissional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312593" y="6775132"/>
            <a:ext cx="8162163" cy="1098423"/>
            <a:chOff x="0" y="0"/>
            <a:chExt cx="10882884" cy="14645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882884" cy="1464564"/>
            </a:xfrm>
            <a:custGeom>
              <a:avLst/>
              <a:gdLst/>
              <a:ahLst/>
              <a:cxnLst/>
              <a:rect r="r" b="b" t="t" l="l"/>
              <a:pathLst>
                <a:path h="1464564" w="10882884">
                  <a:moveTo>
                    <a:pt x="0" y="0"/>
                  </a:moveTo>
                  <a:lnTo>
                    <a:pt x="10882884" y="0"/>
                  </a:lnTo>
                  <a:lnTo>
                    <a:pt x="10882884" y="1464564"/>
                  </a:lnTo>
                  <a:lnTo>
                    <a:pt x="0" y="14645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789" r="0" b="-94789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601200" y="6789420"/>
            <a:ext cx="7612380" cy="1069848"/>
            <a:chOff x="0" y="0"/>
            <a:chExt cx="10149840" cy="142646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14984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014984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 custo recai sobre o tempo de uma jornada já ocupada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08672" y="8037004"/>
            <a:ext cx="8162163" cy="1098423"/>
            <a:chOff x="0" y="0"/>
            <a:chExt cx="10882884" cy="146456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882884" cy="1464564"/>
            </a:xfrm>
            <a:custGeom>
              <a:avLst/>
              <a:gdLst/>
              <a:ahLst/>
              <a:cxnLst/>
              <a:rect r="r" b="b" t="t" l="l"/>
              <a:pathLst>
                <a:path h="1464564" w="10882884">
                  <a:moveTo>
                    <a:pt x="0" y="0"/>
                  </a:moveTo>
                  <a:lnTo>
                    <a:pt x="10882884" y="0"/>
                  </a:lnTo>
                  <a:lnTo>
                    <a:pt x="10882884" y="1464564"/>
                  </a:lnTo>
                  <a:lnTo>
                    <a:pt x="0" y="14645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789" r="0" b="-94789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097280" y="8051292"/>
            <a:ext cx="7612380" cy="1069848"/>
            <a:chOff x="0" y="0"/>
            <a:chExt cx="10149840" cy="14264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14984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014984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Aparelhos e aplicativos pessoais usados com crianças podem contrariar a proteção de dados que a lei promete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312593" y="8037004"/>
            <a:ext cx="8162163" cy="1098423"/>
            <a:chOff x="0" y="0"/>
            <a:chExt cx="10882884" cy="14645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882884" cy="1464564"/>
            </a:xfrm>
            <a:custGeom>
              <a:avLst/>
              <a:gdLst/>
              <a:ahLst/>
              <a:cxnLst/>
              <a:rect r="r" b="b" t="t" l="l"/>
              <a:pathLst>
                <a:path h="1464564" w="10882884">
                  <a:moveTo>
                    <a:pt x="0" y="0"/>
                  </a:moveTo>
                  <a:lnTo>
                    <a:pt x="10882884" y="0"/>
                  </a:lnTo>
                  <a:lnTo>
                    <a:pt x="10882884" y="1464564"/>
                  </a:lnTo>
                  <a:lnTo>
                    <a:pt x="0" y="14645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789" r="0" b="-94789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9601200" y="8051292"/>
            <a:ext cx="7612380" cy="1069848"/>
            <a:chOff x="0" y="0"/>
            <a:chExt cx="10149840" cy="14264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14984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10149840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 esforço e os registros fazem a política parecer em curso e escondem a falta dos meios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Ball (2002; 2004): performatividade e fabricações; Hargreaves (2005): culturas profissionais. Nenhuma forma é pressuposta.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motor teórico: duas engrenagens e o fosso entre elas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1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3812" y="-23812"/>
            <a:ext cx="18335168" cy="10334625"/>
          </a:xfrm>
          <a:custGeom>
            <a:avLst/>
            <a:gdLst/>
            <a:ahLst/>
            <a:cxnLst/>
            <a:rect r="r" b="b" t="t" l="l"/>
            <a:pathLst>
              <a:path h="10334625" w="18335168">
                <a:moveTo>
                  <a:pt x="0" y="0"/>
                </a:moveTo>
                <a:lnTo>
                  <a:pt x="18335167" y="0"/>
                </a:lnTo>
                <a:lnTo>
                  <a:pt x="18335167" y="10334624"/>
                </a:lnTo>
                <a:lnTo>
                  <a:pt x="0" y="10334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rot="55260">
            <a:off x="794156" y="7255193"/>
            <a:ext cx="3555187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57480">
            <a:off x="6211967" y="7255193"/>
            <a:ext cx="3418046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4704588" y="7242048"/>
            <a:ext cx="1152144" cy="1285875"/>
            <a:chOff x="0" y="0"/>
            <a:chExt cx="1536192" cy="1714500"/>
          </a:xfrm>
        </p:grpSpPr>
        <p:sp>
          <p:nvSpPr>
            <p:cNvPr name="Freeform 15" id="15" descr="/home/claude/deck3/img/d_lampada.png"/>
            <p:cNvSpPr/>
            <p:nvPr/>
          </p:nvSpPr>
          <p:spPr>
            <a:xfrm flipH="false" flipV="false" rot="0">
              <a:off x="0" y="0"/>
              <a:ext cx="1536192" cy="1714500"/>
            </a:xfrm>
            <a:custGeom>
              <a:avLst/>
              <a:gdLst/>
              <a:ahLst/>
              <a:cxnLst/>
              <a:rect r="r" b="b" t="t" l="l"/>
              <a:pathLst>
                <a:path h="1714500" w="1536192">
                  <a:moveTo>
                    <a:pt x="0" y="0"/>
                  </a:moveTo>
                  <a:lnTo>
                    <a:pt x="1536192" y="0"/>
                  </a:lnTo>
                  <a:lnTo>
                    <a:pt x="1536192" y="1714500"/>
                  </a:lnTo>
                  <a:lnTo>
                    <a:pt x="0" y="171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" t="0" r="-11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446520" y="7443597"/>
            <a:ext cx="315468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fosso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46520" y="7818120"/>
            <a:ext cx="32918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encenar o que não chegou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2490" y="2655570"/>
            <a:ext cx="4564380" cy="4564380"/>
            <a:chOff x="0" y="0"/>
            <a:chExt cx="6085840" cy="608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8829" y="25908"/>
              <a:ext cx="6028182" cy="5936615"/>
            </a:xfrm>
            <a:custGeom>
              <a:avLst/>
              <a:gdLst/>
              <a:ahLst/>
              <a:cxnLst/>
              <a:rect r="r" b="b" t="t" l="l"/>
              <a:pathLst>
                <a:path h="5936615" w="6028182">
                  <a:moveTo>
                    <a:pt x="4290949" y="944372"/>
                  </a:moveTo>
                  <a:lnTo>
                    <a:pt x="4764278" y="547116"/>
                  </a:lnTo>
                  <a:lnTo>
                    <a:pt x="5142484" y="864489"/>
                  </a:lnTo>
                  <a:lnTo>
                    <a:pt x="4833493" y="1399667"/>
                  </a:lnTo>
                  <a:cubicBezTo>
                    <a:pt x="5053203" y="1646809"/>
                    <a:pt x="5220208" y="1936115"/>
                    <a:pt x="5324475" y="2250059"/>
                  </a:cubicBezTo>
                  <a:lnTo>
                    <a:pt x="5942457" y="2250059"/>
                  </a:lnTo>
                  <a:lnTo>
                    <a:pt x="6028182" y="2736215"/>
                  </a:lnTo>
                  <a:lnTo>
                    <a:pt x="5447538" y="2947543"/>
                  </a:lnTo>
                  <a:cubicBezTo>
                    <a:pt x="5456936" y="3278124"/>
                    <a:pt x="5398897" y="3607181"/>
                    <a:pt x="5276977" y="3914521"/>
                  </a:cubicBezTo>
                  <a:lnTo>
                    <a:pt x="5750433" y="4311777"/>
                  </a:lnTo>
                  <a:lnTo>
                    <a:pt x="5503545" y="4739259"/>
                  </a:lnTo>
                  <a:lnTo>
                    <a:pt x="4922901" y="4527931"/>
                  </a:lnTo>
                  <a:cubicBezTo>
                    <a:pt x="4717669" y="4787265"/>
                    <a:pt x="4461764" y="5002022"/>
                    <a:pt x="4170680" y="5159121"/>
                  </a:cubicBezTo>
                  <a:lnTo>
                    <a:pt x="4277995" y="5767705"/>
                  </a:lnTo>
                  <a:lnTo>
                    <a:pt x="3814064" y="5936615"/>
                  </a:lnTo>
                  <a:lnTo>
                    <a:pt x="3505073" y="5401437"/>
                  </a:lnTo>
                  <a:cubicBezTo>
                    <a:pt x="3181223" y="5468112"/>
                    <a:pt x="2847086" y="5468112"/>
                    <a:pt x="2523109" y="5401437"/>
                  </a:cubicBezTo>
                  <a:lnTo>
                    <a:pt x="2214118" y="5936615"/>
                  </a:lnTo>
                  <a:lnTo>
                    <a:pt x="1750187" y="5767705"/>
                  </a:lnTo>
                  <a:lnTo>
                    <a:pt x="1857502" y="5159121"/>
                  </a:lnTo>
                  <a:cubicBezTo>
                    <a:pt x="1566545" y="5002022"/>
                    <a:pt x="1310513" y="4787265"/>
                    <a:pt x="1105281" y="4527931"/>
                  </a:cubicBezTo>
                  <a:lnTo>
                    <a:pt x="524637" y="4739259"/>
                  </a:lnTo>
                  <a:lnTo>
                    <a:pt x="277876" y="4311777"/>
                  </a:lnTo>
                  <a:lnTo>
                    <a:pt x="751332" y="3914521"/>
                  </a:lnTo>
                  <a:cubicBezTo>
                    <a:pt x="629412" y="3607054"/>
                    <a:pt x="571373" y="3278124"/>
                    <a:pt x="580771" y="2947543"/>
                  </a:cubicBezTo>
                  <a:lnTo>
                    <a:pt x="0" y="2736215"/>
                  </a:lnTo>
                  <a:lnTo>
                    <a:pt x="85725" y="2250059"/>
                  </a:lnTo>
                  <a:lnTo>
                    <a:pt x="703707" y="2250059"/>
                  </a:lnTo>
                  <a:cubicBezTo>
                    <a:pt x="807847" y="1936242"/>
                    <a:pt x="974979" y="1646809"/>
                    <a:pt x="1194689" y="1399667"/>
                  </a:cubicBezTo>
                  <a:lnTo>
                    <a:pt x="885698" y="864489"/>
                  </a:lnTo>
                  <a:lnTo>
                    <a:pt x="1263904" y="547116"/>
                  </a:lnTo>
                  <a:lnTo>
                    <a:pt x="1737233" y="944372"/>
                  </a:lnTo>
                  <a:cubicBezTo>
                    <a:pt x="2018792" y="770890"/>
                    <a:pt x="2332736" y="656590"/>
                    <a:pt x="2659888" y="608584"/>
                  </a:cubicBezTo>
                  <a:lnTo>
                    <a:pt x="2767203" y="0"/>
                  </a:lnTo>
                  <a:lnTo>
                    <a:pt x="3260852" y="0"/>
                  </a:lnTo>
                  <a:lnTo>
                    <a:pt x="3368167" y="608584"/>
                  </a:lnTo>
                  <a:cubicBezTo>
                    <a:pt x="3695319" y="656717"/>
                    <a:pt x="4009263" y="771017"/>
                    <a:pt x="4290822" y="944372"/>
                  </a:cubicBezTo>
                  <a:close/>
                </a:path>
              </a:pathLst>
            </a:custGeom>
            <a:solidFill>
              <a:srgbClr val="FFCE32"/>
            </a:solidFill>
            <a:ln w="381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577340" y="3771900"/>
            <a:ext cx="3154680" cy="2331720"/>
            <a:chOff x="0" y="0"/>
            <a:chExt cx="4206240" cy="3108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06240" cy="3108960"/>
            </a:xfrm>
            <a:custGeom>
              <a:avLst/>
              <a:gdLst/>
              <a:ahLst/>
              <a:cxnLst/>
              <a:rect r="r" b="b" t="t" l="l"/>
              <a:pathLst>
                <a:path h="31089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833" t="0" r="-4483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206240" cy="3108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Ciclo de Políticas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Bowe, Ball e Gold (1992); Mainardes (2006)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política é recriada no contexto da prática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87290" y="3341370"/>
            <a:ext cx="3878580" cy="3878580"/>
            <a:chOff x="0" y="0"/>
            <a:chExt cx="5171440" cy="517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58191" y="60198"/>
              <a:ext cx="4655185" cy="5050790"/>
            </a:xfrm>
            <a:custGeom>
              <a:avLst/>
              <a:gdLst/>
              <a:ahLst/>
              <a:cxnLst/>
              <a:rect r="r" b="b" t="t" l="l"/>
              <a:pathLst>
                <a:path h="5050790" w="4655185">
                  <a:moveTo>
                    <a:pt x="3611372" y="1249553"/>
                  </a:moveTo>
                  <a:lnTo>
                    <a:pt x="4374388" y="1019556"/>
                  </a:lnTo>
                  <a:lnTo>
                    <a:pt x="4655185" y="1505839"/>
                  </a:lnTo>
                  <a:lnTo>
                    <a:pt x="4074541" y="2051558"/>
                  </a:lnTo>
                  <a:cubicBezTo>
                    <a:pt x="4158742" y="2361819"/>
                    <a:pt x="4158742" y="2688971"/>
                    <a:pt x="4074541" y="2999232"/>
                  </a:cubicBezTo>
                  <a:lnTo>
                    <a:pt x="4655185" y="3544951"/>
                  </a:lnTo>
                  <a:lnTo>
                    <a:pt x="4374388" y="4031234"/>
                  </a:lnTo>
                  <a:lnTo>
                    <a:pt x="3611372" y="3801237"/>
                  </a:lnTo>
                  <a:cubicBezTo>
                    <a:pt x="3384677" y="4029329"/>
                    <a:pt x="3101467" y="4192778"/>
                    <a:pt x="2790698" y="4275074"/>
                  </a:cubicBezTo>
                  <a:lnTo>
                    <a:pt x="2608326" y="5050790"/>
                  </a:lnTo>
                  <a:lnTo>
                    <a:pt x="2046732" y="5050790"/>
                  </a:lnTo>
                  <a:lnTo>
                    <a:pt x="1864360" y="4275074"/>
                  </a:lnTo>
                  <a:cubicBezTo>
                    <a:pt x="1553591" y="4192778"/>
                    <a:pt x="1270254" y="4029329"/>
                    <a:pt x="1043686" y="3801237"/>
                  </a:cubicBezTo>
                  <a:lnTo>
                    <a:pt x="280797" y="4031361"/>
                  </a:lnTo>
                  <a:lnTo>
                    <a:pt x="0" y="3545078"/>
                  </a:lnTo>
                  <a:lnTo>
                    <a:pt x="580644" y="2999359"/>
                  </a:lnTo>
                  <a:cubicBezTo>
                    <a:pt x="496443" y="2689098"/>
                    <a:pt x="496443" y="2361946"/>
                    <a:pt x="580644" y="2051685"/>
                  </a:cubicBezTo>
                  <a:lnTo>
                    <a:pt x="0" y="1505966"/>
                  </a:lnTo>
                  <a:lnTo>
                    <a:pt x="280797" y="1019683"/>
                  </a:lnTo>
                  <a:lnTo>
                    <a:pt x="1043813" y="1249680"/>
                  </a:lnTo>
                  <a:cubicBezTo>
                    <a:pt x="1270508" y="1021588"/>
                    <a:pt x="1553718" y="858139"/>
                    <a:pt x="1864487" y="775843"/>
                  </a:cubicBezTo>
                  <a:lnTo>
                    <a:pt x="2046732" y="0"/>
                  </a:lnTo>
                  <a:lnTo>
                    <a:pt x="2608199" y="0"/>
                  </a:lnTo>
                  <a:lnTo>
                    <a:pt x="2790571" y="775716"/>
                  </a:lnTo>
                  <a:cubicBezTo>
                    <a:pt x="3101340" y="858012"/>
                    <a:pt x="3384677" y="1021461"/>
                    <a:pt x="3611245" y="1249553"/>
                  </a:cubicBezTo>
                  <a:close/>
                </a:path>
              </a:pathLst>
            </a:custGeom>
            <a:solidFill>
              <a:srgbClr val="EEE6D6"/>
            </a:solidFill>
            <a:ln w="381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623560" y="4320540"/>
            <a:ext cx="2606040" cy="1920240"/>
            <a:chOff x="0" y="0"/>
            <a:chExt cx="3474720" cy="2560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747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539" t="0" r="-4453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474720" cy="2569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Teoria da atuação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Ball, Maguire e Braun (2016)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escola também faz a política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899535" y="1938147"/>
            <a:ext cx="2830830" cy="595122"/>
            <a:chOff x="0" y="0"/>
            <a:chExt cx="3774440" cy="7934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74440" cy="793496"/>
            </a:xfrm>
            <a:custGeom>
              <a:avLst/>
              <a:gdLst/>
              <a:ahLst/>
              <a:cxnLst/>
              <a:rect r="r" b="b" t="t" l="l"/>
              <a:pathLst>
                <a:path h="793496" w="3774440">
                  <a:moveTo>
                    <a:pt x="0" y="0"/>
                  </a:moveTo>
                  <a:lnTo>
                    <a:pt x="3774440" y="0"/>
                  </a:lnTo>
                  <a:lnTo>
                    <a:pt x="3774440" y="793496"/>
                  </a:lnTo>
                  <a:lnTo>
                    <a:pt x="0" y="7934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3909060" y="1947672"/>
            <a:ext cx="2811780" cy="576072"/>
            <a:chOff x="0" y="0"/>
            <a:chExt cx="3749040" cy="7680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49040" cy="768096"/>
            </a:xfrm>
            <a:custGeom>
              <a:avLst/>
              <a:gdLst/>
              <a:ahLst/>
              <a:cxnLst/>
              <a:rect r="r" b="b" t="t" l="l"/>
              <a:pathLst>
                <a:path h="768096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5" r="0" b="-4510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7490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encaixe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074920" y="2606040"/>
            <a:ext cx="466344" cy="466344"/>
            <a:chOff x="0" y="0"/>
            <a:chExt cx="621792" cy="621792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208895" y="1910715"/>
            <a:ext cx="7261098" cy="2145030"/>
            <a:chOff x="0" y="0"/>
            <a:chExt cx="9681464" cy="2860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814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9681464">
                  <a:moveTo>
                    <a:pt x="0" y="0"/>
                  </a:moveTo>
                  <a:lnTo>
                    <a:pt x="9681464" y="0"/>
                  </a:lnTo>
                  <a:lnTo>
                    <a:pt x="9681464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561320" y="2016252"/>
            <a:ext cx="6652260" cy="1947672"/>
            <a:chOff x="0" y="0"/>
            <a:chExt cx="8869680" cy="25968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869680" cy="2596896"/>
            </a:xfrm>
            <a:custGeom>
              <a:avLst/>
              <a:gdLst/>
              <a:ahLst/>
              <a:cxnLst/>
              <a:rect r="r" b="b" t="t" l="l"/>
              <a:pathLst>
                <a:path h="2596896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2596896"/>
                  </a:lnTo>
                  <a:lnTo>
                    <a:pt x="0" y="2596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51" r="0" b="-1655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8869680" cy="2596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ENCAIXE</a:t>
              </a:r>
            </a:p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Recontextualização</a:t>
              </a:r>
              <a:r>
                <a:rPr lang="en-US" sz="187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, categoria integradora: o processo pelo qual a política ganha sentidos particulares ao encontrar sujeitos, instituições, recursos e limites.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304907" y="4365879"/>
            <a:ext cx="7165086" cy="2419350"/>
            <a:chOff x="0" y="0"/>
            <a:chExt cx="9553448" cy="3225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53448" cy="3225800"/>
            </a:xfrm>
            <a:custGeom>
              <a:avLst/>
              <a:gdLst/>
              <a:ahLst/>
              <a:cxnLst/>
              <a:rect r="r" b="b" t="t" l="l"/>
              <a:pathLst>
                <a:path h="3225800" w="9553448">
                  <a:moveTo>
                    <a:pt x="0" y="0"/>
                  </a:moveTo>
                  <a:lnTo>
                    <a:pt x="9553448" y="0"/>
                  </a:lnTo>
                  <a:lnTo>
                    <a:pt x="9553448" y="3225800"/>
                  </a:lnTo>
                  <a:lnTo>
                    <a:pt x="0" y="32258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206514" y="4267486"/>
            <a:ext cx="7169849" cy="2424112"/>
            <a:chOff x="0" y="0"/>
            <a:chExt cx="9559798" cy="32321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559798" cy="3232150"/>
            </a:xfrm>
            <a:custGeom>
              <a:avLst/>
              <a:gdLst/>
              <a:ahLst/>
              <a:cxnLst/>
              <a:rect r="r" b="b" t="t" l="l"/>
              <a:pathLst>
                <a:path h="3232150" w="9559798">
                  <a:moveTo>
                    <a:pt x="0" y="0"/>
                  </a:moveTo>
                  <a:lnTo>
                    <a:pt x="9559798" y="0"/>
                  </a:lnTo>
                  <a:lnTo>
                    <a:pt x="9559798" y="3232150"/>
                  </a:lnTo>
                  <a:lnTo>
                    <a:pt x="0" y="323215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561320" y="4375404"/>
            <a:ext cx="6583680" cy="2221992"/>
            <a:chOff x="0" y="0"/>
            <a:chExt cx="8778240" cy="29626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778240" cy="2962656"/>
            </a:xfrm>
            <a:custGeom>
              <a:avLst/>
              <a:gdLst/>
              <a:ahLst/>
              <a:cxnLst/>
              <a:rect r="r" b="b" t="t" l="l"/>
              <a:pathLst>
                <a:path h="296265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962656"/>
                  </a:lnTo>
                  <a:lnTo>
                    <a:pt x="0" y="2962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3" r="0" b="-773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8778240" cy="2962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B8420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FOSSO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As duas engrenagens supõem que os meios existem: a ACP pensa a recriação da política em relação aos meios disponíveis; a teoria da atuação nasceu em escolas inglesas com recursos. Nenhuma trata da escola que precisa encenar o que não chegou.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204132" y="6939725"/>
            <a:ext cx="7270623" cy="1674495"/>
            <a:chOff x="0" y="0"/>
            <a:chExt cx="9694164" cy="22326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694164" cy="2232660"/>
            </a:xfrm>
            <a:custGeom>
              <a:avLst/>
              <a:gdLst/>
              <a:ahLst/>
              <a:cxnLst/>
              <a:rect r="r" b="b" t="t" l="l"/>
              <a:pathLst>
                <a:path h="2232660" w="9694164">
                  <a:moveTo>
                    <a:pt x="0" y="0"/>
                  </a:moveTo>
                  <a:lnTo>
                    <a:pt x="9694164" y="0"/>
                  </a:lnTo>
                  <a:lnTo>
                    <a:pt x="9694164" y="2232660"/>
                  </a:lnTo>
                  <a:lnTo>
                    <a:pt x="0" y="22326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03" r="0" b="-34603"/>
              </a:stretch>
            </a:blipFill>
            <a:ln w="28575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492740" y="6954012"/>
            <a:ext cx="6720840" cy="1645920"/>
            <a:chOff x="0" y="0"/>
            <a:chExt cx="8961120" cy="21945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961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63" r="0" b="-2956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8961120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DO FOSSO NASCE A CONTRIBUIÇÃO: </a:t>
              </a: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pergunta pelas formas de atuação, da adesão à resistência, que a escola produz quando precisa encenar o que não chegou.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822960" y="8778240"/>
            <a:ext cx="16637508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“A política cria o contexto, mas o contexto também precede a política” (BALL; MAGUIRE; BRAUN, 2016, p. 36).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Bowe, Ball e Gold (1992); Mainardes (2006); Ball, Maguire e Braun (2016): atuação; Hargreaves (2005): culturas profissionais; Ball (2004): performatividade.</a:t>
            </a:r>
          </a:p>
        </p:txBody>
      </p:sp>
      <p:grpSp>
        <p:nvGrpSpPr>
          <p:cNvPr name="Group 54" id="54"/>
          <p:cNvGrpSpPr/>
          <p:nvPr/>
        </p:nvGrpSpPr>
        <p:grpSpPr>
          <a:xfrm rot="600000">
            <a:off x="16470630" y="148490"/>
            <a:ext cx="1577340" cy="1760420"/>
            <a:chOff x="0" y="0"/>
            <a:chExt cx="2103120" cy="2347227"/>
          </a:xfrm>
        </p:grpSpPr>
        <p:sp>
          <p:nvSpPr>
            <p:cNvPr name="Freeform 55" id="55" descr="/home/claude/deck3/img/d_lampada.png"/>
            <p:cNvSpPr/>
            <p:nvPr/>
          </p:nvSpPr>
          <p:spPr>
            <a:xfrm flipH="false" flipV="false" rot="0">
              <a:off x="0" y="0"/>
              <a:ext cx="2103120" cy="2347214"/>
            </a:xfrm>
            <a:custGeom>
              <a:avLst/>
              <a:gdLst/>
              <a:ahLst/>
              <a:cxnLst/>
              <a:rect r="r" b="b" t="t" l="l"/>
              <a:pathLst>
                <a:path h="234721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2347214"/>
                  </a:lnTo>
                  <a:lnTo>
                    <a:pt x="0" y="2347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" t="0" r="-11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480000">
            <a:off x="16303091" y="522003"/>
            <a:ext cx="1855870" cy="1311565"/>
            <a:chOff x="0" y="0"/>
            <a:chExt cx="3108960" cy="2197138"/>
          </a:xfrm>
        </p:grpSpPr>
        <p:sp>
          <p:nvSpPr>
            <p:cNvPr name="Freeform 4" id="4" descr="/home/claude/deck3/img/d_nuvem.png"/>
            <p:cNvSpPr/>
            <p:nvPr/>
          </p:nvSpPr>
          <p:spPr>
            <a:xfrm flipH="false" flipV="false" rot="0">
              <a:off x="0" y="0"/>
              <a:ext cx="3108960" cy="2197100"/>
            </a:xfrm>
            <a:custGeom>
              <a:avLst/>
              <a:gdLst/>
              <a:ahLst/>
              <a:cxnLst/>
              <a:rect r="r" b="b" t="t" l="l"/>
              <a:pathLst>
                <a:path h="21971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2197100"/>
                  </a:lnTo>
                  <a:lnTo>
                    <a:pt x="0" y="219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t="0" r="-8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Como as formas de atuação serão lidas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3435" y="1842135"/>
            <a:ext cx="16656558" cy="1047750"/>
            <a:chOff x="0" y="0"/>
            <a:chExt cx="22208744" cy="139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08744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1851660"/>
            <a:ext cx="16047720" cy="1028700"/>
            <a:chOff x="0" y="0"/>
            <a:chExt cx="21396960" cy="1371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96961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966" r="0" b="-25396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39696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Critérios de leitura: </a:t>
              </a:r>
              <a:r>
                <a:rPr lang="en-US" sz="202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registrados antes da primeira entrevista; as categorias funcionam como lentes de leitura, abertas ao que o campo trouxer.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9447" y="3241167"/>
            <a:ext cx="3996690" cy="5299710"/>
            <a:chOff x="0" y="0"/>
            <a:chExt cx="5328920" cy="7066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28920" cy="7066280"/>
            </a:xfrm>
            <a:custGeom>
              <a:avLst/>
              <a:gdLst/>
              <a:ahLst/>
              <a:cxnLst/>
              <a:rect r="r" b="b" t="t" l="l"/>
              <a:pathLst>
                <a:path h="706628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7066280"/>
                  </a:lnTo>
                  <a:lnTo>
                    <a:pt x="0" y="7066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11054" y="3142774"/>
            <a:ext cx="4001453" cy="5304472"/>
            <a:chOff x="0" y="0"/>
            <a:chExt cx="5335270" cy="70726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35270" cy="7072630"/>
            </a:xfrm>
            <a:custGeom>
              <a:avLst/>
              <a:gdLst/>
              <a:ahLst/>
              <a:cxnLst/>
              <a:rect r="r" b="b" t="t" l="l"/>
              <a:pathLst>
                <a:path h="70726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7072630"/>
                  </a:lnTo>
                  <a:lnTo>
                    <a:pt x="0" y="7072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11054" y="3142774"/>
            <a:ext cx="4001453" cy="846773"/>
            <a:chOff x="0" y="0"/>
            <a:chExt cx="5335270" cy="11290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35270" cy="1129030"/>
            </a:xfrm>
            <a:custGeom>
              <a:avLst/>
              <a:gdLst/>
              <a:ahLst/>
              <a:cxnLst/>
              <a:rect r="r" b="b" t="t" l="l"/>
              <a:pathLst>
                <a:path h="11290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1129030"/>
                  </a:lnTo>
                  <a:lnTo>
                    <a:pt x="0" y="1129030"/>
                  </a:lnTo>
                  <a:close/>
                </a:path>
              </a:pathLst>
            </a:custGeom>
            <a:solidFill>
              <a:srgbClr val="3942B5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3154680"/>
            <a:ext cx="3977640" cy="822960"/>
            <a:chOff x="0" y="0"/>
            <a:chExt cx="530352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03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5303520" cy="1087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Recorrência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69848" y="4183380"/>
            <a:ext cx="3497580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Uma forma de atuação só vira achado se aparecer de forma recorrente e sem indução pela pergunta. Um episódio isolado não basta.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133975" y="3241167"/>
            <a:ext cx="3996690" cy="5299710"/>
            <a:chOff x="0" y="0"/>
            <a:chExt cx="5328920" cy="7066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28920" cy="7066280"/>
            </a:xfrm>
            <a:custGeom>
              <a:avLst/>
              <a:gdLst/>
              <a:ahLst/>
              <a:cxnLst/>
              <a:rect r="r" b="b" t="t" l="l"/>
              <a:pathLst>
                <a:path h="706628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7066280"/>
                  </a:lnTo>
                  <a:lnTo>
                    <a:pt x="0" y="7066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035582" y="3142774"/>
            <a:ext cx="4001453" cy="5304472"/>
            <a:chOff x="0" y="0"/>
            <a:chExt cx="5335270" cy="707263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35270" cy="7072630"/>
            </a:xfrm>
            <a:custGeom>
              <a:avLst/>
              <a:gdLst/>
              <a:ahLst/>
              <a:cxnLst/>
              <a:rect r="r" b="b" t="t" l="l"/>
              <a:pathLst>
                <a:path h="70726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7072630"/>
                  </a:lnTo>
                  <a:lnTo>
                    <a:pt x="0" y="7072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035582" y="3142774"/>
            <a:ext cx="4001453" cy="846773"/>
            <a:chOff x="0" y="0"/>
            <a:chExt cx="5335270" cy="11290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35270" cy="1129030"/>
            </a:xfrm>
            <a:custGeom>
              <a:avLst/>
              <a:gdLst/>
              <a:ahLst/>
              <a:cxnLst/>
              <a:rect r="r" b="b" t="t" l="l"/>
              <a:pathLst>
                <a:path h="11290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1129030"/>
                  </a:lnTo>
                  <a:lnTo>
                    <a:pt x="0" y="1129030"/>
                  </a:lnTo>
                  <a:close/>
                </a:path>
              </a:pathLst>
            </a:custGeom>
            <a:solidFill>
              <a:srgbClr val="7462E3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047488" y="3154680"/>
            <a:ext cx="3977640" cy="822960"/>
            <a:chOff x="0" y="0"/>
            <a:chExt cx="530352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03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5303520" cy="1087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Posição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5294376" y="4183380"/>
            <a:ext cx="3497580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As formas podem variar entre regência, coordenação, direção, apoio e Secretaria: a variação também é achado.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358503" y="3241167"/>
            <a:ext cx="3996690" cy="5299710"/>
            <a:chOff x="0" y="0"/>
            <a:chExt cx="5328920" cy="7066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28920" cy="7066280"/>
            </a:xfrm>
            <a:custGeom>
              <a:avLst/>
              <a:gdLst/>
              <a:ahLst/>
              <a:cxnLst/>
              <a:rect r="r" b="b" t="t" l="l"/>
              <a:pathLst>
                <a:path h="706628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7066280"/>
                  </a:lnTo>
                  <a:lnTo>
                    <a:pt x="0" y="7066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260110" y="3142774"/>
            <a:ext cx="4001453" cy="5304472"/>
            <a:chOff x="0" y="0"/>
            <a:chExt cx="5335270" cy="707263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35270" cy="7072630"/>
            </a:xfrm>
            <a:custGeom>
              <a:avLst/>
              <a:gdLst/>
              <a:ahLst/>
              <a:cxnLst/>
              <a:rect r="r" b="b" t="t" l="l"/>
              <a:pathLst>
                <a:path h="70726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7072630"/>
                  </a:lnTo>
                  <a:lnTo>
                    <a:pt x="0" y="7072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260110" y="3142774"/>
            <a:ext cx="4001453" cy="846773"/>
            <a:chOff x="0" y="0"/>
            <a:chExt cx="5335270" cy="112903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35270" cy="1129030"/>
            </a:xfrm>
            <a:custGeom>
              <a:avLst/>
              <a:gdLst/>
              <a:ahLst/>
              <a:cxnLst/>
              <a:rect r="r" b="b" t="t" l="l"/>
              <a:pathLst>
                <a:path h="11290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1129030"/>
                  </a:lnTo>
                  <a:lnTo>
                    <a:pt x="0" y="1129030"/>
                  </a:lnTo>
                  <a:close/>
                </a:path>
              </a:pathLst>
            </a:custGeom>
            <a:solidFill>
              <a:srgbClr val="7462E3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272016" y="3154680"/>
            <a:ext cx="3977640" cy="822960"/>
            <a:chOff x="0" y="0"/>
            <a:chExt cx="530352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03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5303520" cy="1087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Nome justo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18904" y="4183380"/>
            <a:ext cx="3497580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Quando não há alternativa, o que se vê é custo transferido do Estado ao trabalhador, e assim será nomeado.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3583031" y="3241167"/>
            <a:ext cx="3996690" cy="5299710"/>
            <a:chOff x="0" y="0"/>
            <a:chExt cx="5328920" cy="7066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28920" cy="7066280"/>
            </a:xfrm>
            <a:custGeom>
              <a:avLst/>
              <a:gdLst/>
              <a:ahLst/>
              <a:cxnLst/>
              <a:rect r="r" b="b" t="t" l="l"/>
              <a:pathLst>
                <a:path h="706628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7066280"/>
                  </a:lnTo>
                  <a:lnTo>
                    <a:pt x="0" y="7066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3484638" y="3142774"/>
            <a:ext cx="4001453" cy="5304472"/>
            <a:chOff x="0" y="0"/>
            <a:chExt cx="5335270" cy="707263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35270" cy="7072630"/>
            </a:xfrm>
            <a:custGeom>
              <a:avLst/>
              <a:gdLst/>
              <a:ahLst/>
              <a:cxnLst/>
              <a:rect r="r" b="b" t="t" l="l"/>
              <a:pathLst>
                <a:path h="70726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7072630"/>
                  </a:lnTo>
                  <a:lnTo>
                    <a:pt x="0" y="7072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484638" y="3142774"/>
            <a:ext cx="4001453" cy="846773"/>
            <a:chOff x="0" y="0"/>
            <a:chExt cx="5335270" cy="112903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35270" cy="1129030"/>
            </a:xfrm>
            <a:custGeom>
              <a:avLst/>
              <a:gdLst/>
              <a:ahLst/>
              <a:cxnLst/>
              <a:rect r="r" b="b" t="t" l="l"/>
              <a:pathLst>
                <a:path h="11290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1129030"/>
                  </a:lnTo>
                  <a:lnTo>
                    <a:pt x="0" y="1129030"/>
                  </a:lnTo>
                  <a:close/>
                </a:path>
              </a:pathLst>
            </a:custGeom>
            <a:solidFill>
              <a:srgbClr val="EE6A1F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3496544" y="3154680"/>
            <a:ext cx="3977640" cy="822960"/>
            <a:chOff x="0" y="0"/>
            <a:chExt cx="5303520" cy="10972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03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5303520" cy="1087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Nada excluído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3743432" y="4183380"/>
            <a:ext cx="3497580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Se predominarem adesão ou acomodação, esse será o achado; se a lei for lida só como ambígua, a ACP já explica.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822960" y="8682228"/>
            <a:ext cx="16637508" cy="685800"/>
            <a:chOff x="0" y="0"/>
            <a:chExt cx="22183344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183344" cy="914400"/>
            </a:xfrm>
            <a:custGeom>
              <a:avLst/>
              <a:gdLst/>
              <a:ahLst/>
              <a:cxnLst/>
              <a:rect r="r" b="b" t="t" l="l"/>
              <a:pathLst>
                <a:path h="91440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2707" r="0" b="-42270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22183344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 Capítulo 7, mostramos que formas de atuação a PNED encontra na escola e em que condições aparecem.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Yin (2001): proposições teóricas prévias; Ball, Maguire e Braun (2016): atuação; Bowe, Ball e Gold (1992): recontextualização.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720000">
            <a:off x="17045559" y="-301752"/>
            <a:ext cx="1303020" cy="1777651"/>
            <a:chOff x="0" y="0"/>
            <a:chExt cx="1737360" cy="2370201"/>
          </a:xfrm>
        </p:grpSpPr>
        <p:sp>
          <p:nvSpPr>
            <p:cNvPr name="Freeform 4" id="4" descr="/home/claude/deck3/img/d_interrog.png"/>
            <p:cNvSpPr/>
            <p:nvPr/>
          </p:nvSpPr>
          <p:spPr>
            <a:xfrm flipH="false" flipV="false" rot="0">
              <a:off x="0" y="0"/>
              <a:ext cx="1737360" cy="2370201"/>
            </a:xfrm>
            <a:custGeom>
              <a:avLst/>
              <a:gdLst/>
              <a:ahLst/>
              <a:cxnLst/>
              <a:rect r="r" b="b" t="t" l="l"/>
              <a:pathLst>
                <a:path h="2370201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2370201"/>
                  </a:lnTo>
                  <a:lnTo>
                    <a:pt x="0" y="2370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" r="0" b="-3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RSL: questão norteadora e resposta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3435" y="1773555"/>
            <a:ext cx="16656558" cy="1143762"/>
            <a:chOff x="0" y="0"/>
            <a:chExt cx="22208744" cy="15250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08744" cy="1525016"/>
            </a:xfrm>
            <a:custGeom>
              <a:avLst/>
              <a:gdLst/>
              <a:ahLst/>
              <a:cxnLst/>
              <a:rect r="r" b="b" t="t" l="l"/>
              <a:pathLst>
                <a:path h="1525016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1525016"/>
                  </a:lnTo>
                  <a:lnTo>
                    <a:pt x="0" y="152501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1783080"/>
            <a:ext cx="16047720" cy="1124712"/>
            <a:chOff x="0" y="0"/>
            <a:chExt cx="21396960" cy="14996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96961" cy="1499616"/>
            </a:xfrm>
            <a:custGeom>
              <a:avLst/>
              <a:gdLst/>
              <a:ahLst/>
              <a:cxnLst/>
              <a:rect r="r" b="b" t="t" l="l"/>
              <a:pathLst>
                <a:path h="1499616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8018" r="0" b="-22801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396960" cy="1499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i="true">
                  <a:solidFill>
                    <a:srgbClr val="3942B5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Questão norteadora da revisão: </a:t>
              </a:r>
              <a:r>
                <a:rPr lang="en-US" sz="2100" i="true">
                  <a:solidFill>
                    <a:srgbClr val="1A1A1A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o que a produção científica nacional e internacional evidencia sobre a implementação de políticas públicas de educação digital nos anos iniciais do Ensino Fundamental?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3044952"/>
            <a:ext cx="16637508" cy="493776"/>
            <a:chOff x="0" y="0"/>
            <a:chExt cx="22183344" cy="6583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83344" cy="658368"/>
            </a:xfrm>
            <a:custGeom>
              <a:avLst/>
              <a:gdLst/>
              <a:ahLst/>
              <a:cxnLst/>
              <a:rect r="r" b="b" t="t" l="l"/>
              <a:pathLst>
                <a:path h="658368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6537" r="0" b="-60653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2183344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PRISMA 2020 · 7 bases:  </a:t>
              </a:r>
              <a:r>
                <a:rPr lang="en-US" sz="187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176</a:t>
              </a: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identificados  →  </a:t>
              </a:r>
              <a:r>
                <a:rPr lang="en-US" sz="187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171</a:t>
              </a: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sem duplicatas  →  </a:t>
              </a:r>
              <a:r>
                <a:rPr lang="en-US" sz="187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39</a:t>
              </a: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buscados  →  </a:t>
              </a:r>
              <a:r>
                <a:rPr lang="en-US" sz="187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35</a:t>
              </a: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avaliados na íntegra  →  </a:t>
              </a:r>
              <a:r>
                <a:rPr lang="en-US" sz="187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9</a:t>
              </a: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estudos incluídos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09447" y="3817239"/>
            <a:ext cx="5313426" cy="3242310"/>
            <a:chOff x="0" y="0"/>
            <a:chExt cx="7084568" cy="4323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84568" cy="4323080"/>
            </a:xfrm>
            <a:custGeom>
              <a:avLst/>
              <a:gdLst/>
              <a:ahLst/>
              <a:cxnLst/>
              <a:rect r="r" b="b" t="t" l="l"/>
              <a:pathLst>
                <a:path h="43230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323080"/>
                  </a:lnTo>
                  <a:lnTo>
                    <a:pt x="0" y="4323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11054" y="3718846"/>
            <a:ext cx="5318188" cy="3247072"/>
            <a:chOff x="0" y="0"/>
            <a:chExt cx="7090918" cy="43294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90918" cy="4329430"/>
            </a:xfrm>
            <a:custGeom>
              <a:avLst/>
              <a:gdLst/>
              <a:ahLst/>
              <a:cxnLst/>
              <a:rect r="r" b="b" t="t" l="l"/>
              <a:pathLst>
                <a:path h="43294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329430"/>
                  </a:lnTo>
                  <a:lnTo>
                    <a:pt x="0" y="43294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60323" y="3926967"/>
            <a:ext cx="649986" cy="649986"/>
            <a:chOff x="0" y="0"/>
            <a:chExt cx="866648" cy="8666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69848" y="3936492"/>
            <a:ext cx="630936" cy="630936"/>
            <a:chOff x="0" y="0"/>
            <a:chExt cx="841248" cy="8412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851660" y="3895344"/>
            <a:ext cx="4046220" cy="713232"/>
            <a:chOff x="0" y="0"/>
            <a:chExt cx="5394960" cy="9509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94960" cy="950976"/>
            </a:xfrm>
            <a:custGeom>
              <a:avLst/>
              <a:gdLst/>
              <a:ahLst/>
              <a:cxnLst/>
              <a:rect r="r" b="b" t="t" l="l"/>
              <a:pathLst>
                <a:path h="950976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540" r="0" b="-6054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394960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Condições de implementação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60323" y="4708779"/>
            <a:ext cx="3379470" cy="457962"/>
            <a:chOff x="0" y="0"/>
            <a:chExt cx="4505960" cy="6106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05960" cy="610616"/>
            </a:xfrm>
            <a:custGeom>
              <a:avLst/>
              <a:gdLst/>
              <a:ahLst/>
              <a:cxnLst/>
              <a:rect r="r" b="b" t="t" l="l"/>
              <a:pathLst>
                <a:path h="610616" w="4505960">
                  <a:moveTo>
                    <a:pt x="0" y="0"/>
                  </a:moveTo>
                  <a:lnTo>
                    <a:pt x="4505960" y="0"/>
                  </a:lnTo>
                  <a:lnTo>
                    <a:pt x="450596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EEE6D6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069848" y="4718304"/>
            <a:ext cx="3360420" cy="438912"/>
            <a:chOff x="0" y="0"/>
            <a:chExt cx="4480560" cy="585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80560" cy="585216"/>
            </a:xfrm>
            <a:custGeom>
              <a:avLst/>
              <a:gdLst/>
              <a:ahLst/>
              <a:cxnLst/>
              <a:rect r="r" b="b" t="t" l="l"/>
              <a:pathLst>
                <a:path h="585216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182" r="0" b="-9918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44805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Evidência: convergente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69848" y="5266944"/>
            <a:ext cx="4800600" cy="161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Além de equipamentos e conexão, pesam formação continuada e situada, estabilidade das equipes e do suporte, tempo de trabalho e o marco regulatório. O território aparece pouco: nenhum estudo examina rede de pequeno porte.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533007" y="3817239"/>
            <a:ext cx="5313426" cy="3242310"/>
            <a:chOff x="0" y="0"/>
            <a:chExt cx="7084568" cy="4323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84568" cy="4323080"/>
            </a:xfrm>
            <a:custGeom>
              <a:avLst/>
              <a:gdLst/>
              <a:ahLst/>
              <a:cxnLst/>
              <a:rect r="r" b="b" t="t" l="l"/>
              <a:pathLst>
                <a:path h="43230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323080"/>
                  </a:lnTo>
                  <a:lnTo>
                    <a:pt x="0" y="4323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6434614" y="3718846"/>
            <a:ext cx="5318188" cy="3247072"/>
            <a:chOff x="0" y="0"/>
            <a:chExt cx="7090918" cy="43294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90918" cy="4329430"/>
            </a:xfrm>
            <a:custGeom>
              <a:avLst/>
              <a:gdLst/>
              <a:ahLst/>
              <a:cxnLst/>
              <a:rect r="r" b="b" t="t" l="l"/>
              <a:pathLst>
                <a:path h="43294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329430"/>
                  </a:lnTo>
                  <a:lnTo>
                    <a:pt x="0" y="43294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6683883" y="3926967"/>
            <a:ext cx="649986" cy="649986"/>
            <a:chOff x="0" y="0"/>
            <a:chExt cx="866648" cy="8666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693408" y="3936492"/>
            <a:ext cx="630936" cy="630936"/>
            <a:chOff x="0" y="0"/>
            <a:chExt cx="841248" cy="84124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475220" y="3895344"/>
            <a:ext cx="4046220" cy="713232"/>
            <a:chOff x="0" y="0"/>
            <a:chExt cx="5394960" cy="95097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94960" cy="950976"/>
            </a:xfrm>
            <a:custGeom>
              <a:avLst/>
              <a:gdLst/>
              <a:ahLst/>
              <a:cxnLst/>
              <a:rect r="r" b="b" t="t" l="l"/>
              <a:pathLst>
                <a:path h="950976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540" r="0" b="-6054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5394960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Papel dos profissionais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683883" y="4708779"/>
            <a:ext cx="3379470" cy="457962"/>
            <a:chOff x="0" y="0"/>
            <a:chExt cx="4505960" cy="6106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505960" cy="610616"/>
            </a:xfrm>
            <a:custGeom>
              <a:avLst/>
              <a:gdLst/>
              <a:ahLst/>
              <a:cxnLst/>
              <a:rect r="r" b="b" t="t" l="l"/>
              <a:pathLst>
                <a:path h="610616" w="4505960">
                  <a:moveTo>
                    <a:pt x="0" y="0"/>
                  </a:moveTo>
                  <a:lnTo>
                    <a:pt x="4505960" y="0"/>
                  </a:lnTo>
                  <a:lnTo>
                    <a:pt x="450596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6693408" y="4718304"/>
            <a:ext cx="3360420" cy="438912"/>
            <a:chOff x="0" y="0"/>
            <a:chExt cx="4480560" cy="5852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480560" cy="585216"/>
            </a:xfrm>
            <a:custGeom>
              <a:avLst/>
              <a:gdLst/>
              <a:ahLst/>
              <a:cxnLst/>
              <a:rect r="r" b="b" t="t" l="l"/>
              <a:pathLst>
                <a:path h="585216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182" r="0" b="-9918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44805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Evidência: a mais convergente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6693408" y="5266944"/>
            <a:ext cx="4800600" cy="161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atuação da política envolve interpretação e decisões situadas dos profissionais, para além da transmissão de prescrições. As razões e o sentido desse trabalho seguem pouco examinados.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2156567" y="3817239"/>
            <a:ext cx="5313426" cy="3242310"/>
            <a:chOff x="0" y="0"/>
            <a:chExt cx="7084568" cy="43230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084568" cy="4323080"/>
            </a:xfrm>
            <a:custGeom>
              <a:avLst/>
              <a:gdLst/>
              <a:ahLst/>
              <a:cxnLst/>
              <a:rect r="r" b="b" t="t" l="l"/>
              <a:pathLst>
                <a:path h="43230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323080"/>
                  </a:lnTo>
                  <a:lnTo>
                    <a:pt x="0" y="4323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2058174" y="3718846"/>
            <a:ext cx="5318188" cy="3247072"/>
            <a:chOff x="0" y="0"/>
            <a:chExt cx="7090918" cy="432943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090918" cy="4329430"/>
            </a:xfrm>
            <a:custGeom>
              <a:avLst/>
              <a:gdLst/>
              <a:ahLst/>
              <a:cxnLst/>
              <a:rect r="r" b="b" t="t" l="l"/>
              <a:pathLst>
                <a:path h="43294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329430"/>
                  </a:lnTo>
                  <a:lnTo>
                    <a:pt x="0" y="43294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2307443" y="3926967"/>
            <a:ext cx="649986" cy="649986"/>
            <a:chOff x="0" y="0"/>
            <a:chExt cx="866648" cy="86664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2316968" y="3936492"/>
            <a:ext cx="630936" cy="630936"/>
            <a:chOff x="0" y="0"/>
            <a:chExt cx="841248" cy="8412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098780" y="3895344"/>
            <a:ext cx="4046220" cy="713232"/>
            <a:chOff x="0" y="0"/>
            <a:chExt cx="5394960" cy="95097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394960" cy="950976"/>
            </a:xfrm>
            <a:custGeom>
              <a:avLst/>
              <a:gdLst/>
              <a:ahLst/>
              <a:cxnLst/>
              <a:rect r="r" b="b" t="t" l="l"/>
              <a:pathLst>
                <a:path h="950976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540" r="0" b="-6054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5394960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Cultura digital e cidadania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307443" y="4708779"/>
            <a:ext cx="3379470" cy="457962"/>
            <a:chOff x="0" y="0"/>
            <a:chExt cx="4505960" cy="61061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505960" cy="610616"/>
            </a:xfrm>
            <a:custGeom>
              <a:avLst/>
              <a:gdLst/>
              <a:ahLst/>
              <a:cxnLst/>
              <a:rect r="r" b="b" t="t" l="l"/>
              <a:pathLst>
                <a:path h="610616" w="4505960">
                  <a:moveTo>
                    <a:pt x="0" y="0"/>
                  </a:moveTo>
                  <a:lnTo>
                    <a:pt x="4505960" y="0"/>
                  </a:lnTo>
                  <a:lnTo>
                    <a:pt x="450596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F6C3B0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2316968" y="4718304"/>
            <a:ext cx="3360420" cy="438912"/>
            <a:chOff x="0" y="0"/>
            <a:chExt cx="4480560" cy="58521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80560" cy="585216"/>
            </a:xfrm>
            <a:custGeom>
              <a:avLst/>
              <a:gdLst/>
              <a:ahLst/>
              <a:cxnLst/>
              <a:rect r="r" b="b" t="t" l="l"/>
              <a:pathLst>
                <a:path h="585216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182" r="0" b="-9918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44805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Evidência: frágil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2316968" y="5266944"/>
            <a:ext cx="4800600" cy="161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Poucos estudos tratam do tema, e nenhum examina o que as crianças dos anos iniciais aprendem a ser, como sujeitos, numa política de educação digital.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909447" y="7287387"/>
            <a:ext cx="10031730" cy="2172462"/>
            <a:chOff x="0" y="0"/>
            <a:chExt cx="13375640" cy="289661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375639" cy="2896616"/>
            </a:xfrm>
            <a:custGeom>
              <a:avLst/>
              <a:gdLst/>
              <a:ahLst/>
              <a:cxnLst/>
              <a:rect r="r" b="b" t="t" l="l"/>
              <a:pathLst>
                <a:path h="2896616" w="13375639">
                  <a:moveTo>
                    <a:pt x="0" y="0"/>
                  </a:moveTo>
                  <a:lnTo>
                    <a:pt x="13375639" y="0"/>
                  </a:lnTo>
                  <a:lnTo>
                    <a:pt x="13375639" y="2896616"/>
                  </a:lnTo>
                  <a:lnTo>
                    <a:pt x="0" y="289661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811054" y="7188994"/>
            <a:ext cx="10036493" cy="2177224"/>
            <a:chOff x="0" y="0"/>
            <a:chExt cx="13381990" cy="290296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381989" cy="2902966"/>
            </a:xfrm>
            <a:custGeom>
              <a:avLst/>
              <a:gdLst/>
              <a:ahLst/>
              <a:cxnLst/>
              <a:rect r="r" b="b" t="t" l="l"/>
              <a:pathLst>
                <a:path h="2902966" w="13381989">
                  <a:moveTo>
                    <a:pt x="0" y="0"/>
                  </a:moveTo>
                  <a:lnTo>
                    <a:pt x="13381989" y="0"/>
                  </a:lnTo>
                  <a:lnTo>
                    <a:pt x="13381989" y="2902966"/>
                  </a:lnTo>
                  <a:lnTo>
                    <a:pt x="0" y="2902966"/>
                  </a:ln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097280" y="7242048"/>
            <a:ext cx="9532620" cy="2071116"/>
            <a:chOff x="0" y="0"/>
            <a:chExt cx="12710160" cy="276148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710160" cy="2761488"/>
            </a:xfrm>
            <a:custGeom>
              <a:avLst/>
              <a:gdLst/>
              <a:ahLst/>
              <a:cxnLst/>
              <a:rect r="r" b="b" t="t" l="l"/>
              <a:pathLst>
                <a:path h="2761488" w="12710160">
                  <a:moveTo>
                    <a:pt x="0" y="0"/>
                  </a:moveTo>
                  <a:lnTo>
                    <a:pt x="12710160" y="0"/>
                  </a:lnTo>
                  <a:lnTo>
                    <a:pt x="12710160" y="2761488"/>
                  </a:lnTo>
                  <a:lnTo>
                    <a:pt x="0" y="2761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82" r="0" b="-3968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9525"/>
              <a:ext cx="12710160" cy="2751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RESPOSTA À QUESTÃO NORTEADORA</a:t>
              </a:r>
            </a:p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atuação dessas políticas nos anos iniciais depende da articulação entre recursos disponíveis, condições institucionais e trabalho dos profissionais, que participam da interpretação da política diante das condições do cotidiano escolar. O corpus responde melhor sobre as condições e os profissionais do que sobre a formação dirigida às crianças.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169015" y="7191375"/>
            <a:ext cx="6300978" cy="2268474"/>
            <a:chOff x="0" y="0"/>
            <a:chExt cx="8401304" cy="302463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401304" cy="3024632"/>
            </a:xfrm>
            <a:custGeom>
              <a:avLst/>
              <a:gdLst/>
              <a:ahLst/>
              <a:cxnLst/>
              <a:rect r="r" b="b" t="t" l="l"/>
              <a:pathLst>
                <a:path h="3024632" w="8401304">
                  <a:moveTo>
                    <a:pt x="0" y="0"/>
                  </a:moveTo>
                  <a:lnTo>
                    <a:pt x="8401304" y="0"/>
                  </a:lnTo>
                  <a:lnTo>
                    <a:pt x="8401304" y="3024632"/>
                  </a:lnTo>
                  <a:lnTo>
                    <a:pt x="0" y="3024632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1452860" y="7200900"/>
            <a:ext cx="5760720" cy="2249424"/>
            <a:chOff x="0" y="0"/>
            <a:chExt cx="7680960" cy="299923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680960" cy="2999232"/>
            </a:xfrm>
            <a:custGeom>
              <a:avLst/>
              <a:gdLst/>
              <a:ahLst/>
              <a:cxnLst/>
              <a:rect r="r" b="b" t="t" l="l"/>
              <a:pathLst>
                <a:path h="2999232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999232"/>
                  </a:lnTo>
                  <a:lnTo>
                    <a:pt x="0" y="29992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9" t="0" r="-99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7680960" cy="2999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B8420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QUE O CORPUS NÃO EXAMINA</a:t>
              </a: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 de 9 estudos tratam da PNED; 1 de 9 delimita o ciclo de alfabetização; nenhum trata de rede municipal de pequeno porte; culturas profissionais e pressão por resultados quase não aparecem.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et al. (2022): PRISMA 2020.   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Capítulo 2, seção 2.5.1; SciELO, Periódicos CAPES, BDTD, ERIC, Scopus, Web of Science e Lens; válido para o recorte adotado.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668369" y="-301752"/>
            <a:ext cx="1988820" cy="1499864"/>
            <a:chOff x="0" y="0"/>
            <a:chExt cx="2651760" cy="1999818"/>
          </a:xfrm>
        </p:grpSpPr>
        <p:sp>
          <p:nvSpPr>
            <p:cNvPr name="Freeform 4" id="4" descr="/home/claude/deck3/img/d_cronometro.png"/>
            <p:cNvSpPr/>
            <p:nvPr/>
          </p:nvSpPr>
          <p:spPr>
            <a:xfrm flipH="false" flipV="false" rot="0">
              <a:off x="0" y="0"/>
              <a:ext cx="2651760" cy="1999869"/>
            </a:xfrm>
            <a:custGeom>
              <a:avLst/>
              <a:gdLst/>
              <a:ahLst/>
              <a:cxnLst/>
              <a:rect r="r" b="b" t="t" l="l"/>
              <a:pathLst>
                <a:path h="1999869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1999869"/>
                  </a:lnTo>
                  <a:lnTo>
                    <a:pt x="0" y="1999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" r="0" b="-15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Desenho: estudo de caso único, em cinco movimentos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3435" y="1979295"/>
            <a:ext cx="5368290" cy="7288530"/>
            <a:chOff x="0" y="0"/>
            <a:chExt cx="7157720" cy="9718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57720" cy="9718040"/>
            </a:xfrm>
            <a:custGeom>
              <a:avLst/>
              <a:gdLst/>
              <a:ahLst/>
              <a:cxnLst/>
              <a:rect r="r" b="b" t="t" l="l"/>
              <a:pathLst>
                <a:path h="9718040" w="7157720">
                  <a:moveTo>
                    <a:pt x="0" y="0"/>
                  </a:moveTo>
                  <a:lnTo>
                    <a:pt x="7157720" y="0"/>
                  </a:lnTo>
                  <a:lnTo>
                    <a:pt x="7157720" y="9718040"/>
                  </a:lnTo>
                  <a:lnTo>
                    <a:pt x="0" y="97180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65860" y="2204085"/>
            <a:ext cx="466344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Abordagem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5860" y="2870835"/>
            <a:ext cx="4732020" cy="618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Qualitativa e crítico-interpretativa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Bogdan e Biklen (2007); Minayo (2009)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Estudo de caso único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Yin (2001); André (2005)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Ciclo de Políticas e teoria da atuação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Bowe, Ball e Gold (1992); Mainardes (2006); Ball, Maguire e Braun (2016)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Análise temática reflexiva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Braun e Clarke (2006, 2019)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670167" y="2075307"/>
            <a:ext cx="10799826" cy="1253490"/>
            <a:chOff x="0" y="0"/>
            <a:chExt cx="14399768" cy="1671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99768" cy="1671320"/>
            </a:xfrm>
            <a:custGeom>
              <a:avLst/>
              <a:gdLst/>
              <a:ahLst/>
              <a:cxnLst/>
              <a:rect r="r" b="b" t="t" l="l"/>
              <a:pathLst>
                <a:path h="1671320" w="14399768">
                  <a:moveTo>
                    <a:pt x="0" y="0"/>
                  </a:moveTo>
                  <a:lnTo>
                    <a:pt x="14399768" y="0"/>
                  </a:lnTo>
                  <a:lnTo>
                    <a:pt x="14399768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571774" y="1976914"/>
            <a:ext cx="10804588" cy="1258252"/>
            <a:chOff x="0" y="0"/>
            <a:chExt cx="14406118" cy="16776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40611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4406118">
                  <a:moveTo>
                    <a:pt x="0" y="0"/>
                  </a:moveTo>
                  <a:lnTo>
                    <a:pt x="14406118" y="0"/>
                  </a:lnTo>
                  <a:lnTo>
                    <a:pt x="14406118" y="1677670"/>
                  </a:lnTo>
                  <a:lnTo>
                    <a:pt x="0" y="16776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821043" y="2185035"/>
            <a:ext cx="842010" cy="842010"/>
            <a:chOff x="0" y="0"/>
            <a:chExt cx="1122680" cy="1122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044538" y="2408530"/>
            <a:ext cx="395021" cy="395021"/>
            <a:chOff x="0" y="0"/>
            <a:chExt cx="526694" cy="526694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886700" y="2089023"/>
            <a:ext cx="630936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· Análise documental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886700" y="2592324"/>
            <a:ext cx="6309360" cy="603504"/>
            <a:chOff x="0" y="0"/>
            <a:chExt cx="8412480" cy="8046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8412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Lei, Resolução CNE/CEB nº 2/2025, documentos da Secretaria, PPP, planos, atas, aquisição, PIEC, Censo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255115" y="2294763"/>
            <a:ext cx="2899410" cy="622554"/>
            <a:chOff x="0" y="0"/>
            <a:chExt cx="3865880" cy="8300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65880" cy="830072"/>
            </a:xfrm>
            <a:custGeom>
              <a:avLst/>
              <a:gdLst/>
              <a:ahLst/>
              <a:cxnLst/>
              <a:rect r="r" b="b" t="t" l="l"/>
              <a:pathLst>
                <a:path h="830072" w="3865880">
                  <a:moveTo>
                    <a:pt x="0" y="0"/>
                  </a:moveTo>
                  <a:lnTo>
                    <a:pt x="3865880" y="0"/>
                  </a:lnTo>
                  <a:lnTo>
                    <a:pt x="3865880" y="830072"/>
                  </a:lnTo>
                  <a:lnTo>
                    <a:pt x="0" y="830072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4264640" y="2304288"/>
            <a:ext cx="2880360" cy="603504"/>
            <a:chOff x="0" y="0"/>
            <a:chExt cx="3840480" cy="8046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40480" cy="804672"/>
            </a:xfrm>
            <a:custGeom>
              <a:avLst/>
              <a:gdLst/>
              <a:ahLst/>
              <a:cxnLst/>
              <a:rect r="r" b="b" t="t" l="l"/>
              <a:pathLst>
                <a:path h="80467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840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Desde a entrada no campo · Caps. 5 a 7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670167" y="3556635"/>
            <a:ext cx="10799826" cy="1253490"/>
            <a:chOff x="0" y="0"/>
            <a:chExt cx="14399768" cy="1671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399768" cy="1671320"/>
            </a:xfrm>
            <a:custGeom>
              <a:avLst/>
              <a:gdLst/>
              <a:ahLst/>
              <a:cxnLst/>
              <a:rect r="r" b="b" t="t" l="l"/>
              <a:pathLst>
                <a:path h="1671320" w="14399768">
                  <a:moveTo>
                    <a:pt x="0" y="0"/>
                  </a:moveTo>
                  <a:lnTo>
                    <a:pt x="14399768" y="0"/>
                  </a:lnTo>
                  <a:lnTo>
                    <a:pt x="14399768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571774" y="3458242"/>
            <a:ext cx="10804588" cy="1258252"/>
            <a:chOff x="0" y="0"/>
            <a:chExt cx="14406118" cy="167767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40611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4406118">
                  <a:moveTo>
                    <a:pt x="0" y="0"/>
                  </a:moveTo>
                  <a:lnTo>
                    <a:pt x="14406118" y="0"/>
                  </a:lnTo>
                  <a:lnTo>
                    <a:pt x="14406118" y="1677670"/>
                  </a:lnTo>
                  <a:lnTo>
                    <a:pt x="0" y="16776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821043" y="3666363"/>
            <a:ext cx="842010" cy="842010"/>
            <a:chOff x="0" y="0"/>
            <a:chExt cx="1122680" cy="1122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044538" y="3889858"/>
            <a:ext cx="395021" cy="395021"/>
            <a:chOff x="0" y="0"/>
            <a:chExt cx="526694" cy="526694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-4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7886700" y="3570351"/>
            <a:ext cx="630936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 · Registro iconográfico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7886700" y="4073652"/>
            <a:ext cx="6309360" cy="603504"/>
            <a:chOff x="0" y="0"/>
            <a:chExt cx="8412480" cy="8046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8412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38 figuras e 2 peças cartográficas, com Santos e Massey; testes de velocidade a fazer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255115" y="3776091"/>
            <a:ext cx="2899410" cy="622554"/>
            <a:chOff x="0" y="0"/>
            <a:chExt cx="3865880" cy="8300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865880" cy="830072"/>
            </a:xfrm>
            <a:custGeom>
              <a:avLst/>
              <a:gdLst/>
              <a:ahLst/>
              <a:cxnLst/>
              <a:rect r="r" b="b" t="t" l="l"/>
              <a:pathLst>
                <a:path h="830072" w="3865880">
                  <a:moveTo>
                    <a:pt x="0" y="0"/>
                  </a:moveTo>
                  <a:lnTo>
                    <a:pt x="3865880" y="0"/>
                  </a:lnTo>
                  <a:lnTo>
                    <a:pt x="3865880" y="830072"/>
                  </a:lnTo>
                  <a:lnTo>
                    <a:pt x="0" y="83007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4264640" y="3785616"/>
            <a:ext cx="2880360" cy="603504"/>
            <a:chOff x="0" y="0"/>
            <a:chExt cx="3840480" cy="8046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840480" cy="804672"/>
            </a:xfrm>
            <a:custGeom>
              <a:avLst/>
              <a:gdLst/>
              <a:ahLst/>
              <a:cxnLst/>
              <a:rect r="r" b="b" t="t" l="l"/>
              <a:pathLst>
                <a:path h="80467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840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Realizado em parte · Cap. 6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670167" y="5037963"/>
            <a:ext cx="10799826" cy="1253490"/>
            <a:chOff x="0" y="0"/>
            <a:chExt cx="14399768" cy="16713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399768" cy="1671320"/>
            </a:xfrm>
            <a:custGeom>
              <a:avLst/>
              <a:gdLst/>
              <a:ahLst/>
              <a:cxnLst/>
              <a:rect r="r" b="b" t="t" l="l"/>
              <a:pathLst>
                <a:path h="1671320" w="14399768">
                  <a:moveTo>
                    <a:pt x="0" y="0"/>
                  </a:moveTo>
                  <a:lnTo>
                    <a:pt x="14399768" y="0"/>
                  </a:lnTo>
                  <a:lnTo>
                    <a:pt x="14399768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6571774" y="4939570"/>
            <a:ext cx="10804588" cy="1258252"/>
            <a:chOff x="0" y="0"/>
            <a:chExt cx="14406118" cy="167767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40611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4406118">
                  <a:moveTo>
                    <a:pt x="0" y="0"/>
                  </a:moveTo>
                  <a:lnTo>
                    <a:pt x="14406118" y="0"/>
                  </a:lnTo>
                  <a:lnTo>
                    <a:pt x="14406118" y="1677670"/>
                  </a:lnTo>
                  <a:lnTo>
                    <a:pt x="0" y="16776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6821043" y="5147691"/>
            <a:ext cx="842010" cy="842010"/>
            <a:chOff x="0" y="0"/>
            <a:chExt cx="1122680" cy="11226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7044538" y="5371186"/>
            <a:ext cx="395021" cy="395021"/>
            <a:chOff x="0" y="0"/>
            <a:chExt cx="526694" cy="526694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" b="-4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7886700" y="5051679"/>
            <a:ext cx="630936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 · Questionário de perfil e percepções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7804404" y="5371186"/>
            <a:ext cx="6309360" cy="791924"/>
            <a:chOff x="0" y="0"/>
            <a:chExt cx="8412480" cy="105589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412480" cy="1055898"/>
            </a:xfrm>
            <a:custGeom>
              <a:avLst/>
              <a:gdLst/>
              <a:ahLst/>
              <a:cxnLst/>
              <a:rect r="r" b="b" t="t" l="l"/>
              <a:pathLst>
                <a:path h="105589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55898"/>
                  </a:lnTo>
                  <a:lnTo>
                    <a:pt x="0" y="10558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7136" r="0" b="-9334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412480" cy="10558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Todos os profissionais dos anos iniciais, cinco blocos e questão aberta (formulário digital aplicado presencialmente)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255115" y="5257419"/>
            <a:ext cx="2899410" cy="622554"/>
            <a:chOff x="0" y="0"/>
            <a:chExt cx="3865880" cy="83007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865880" cy="830072"/>
            </a:xfrm>
            <a:custGeom>
              <a:avLst/>
              <a:gdLst/>
              <a:ahLst/>
              <a:cxnLst/>
              <a:rect r="r" b="b" t="t" l="l"/>
              <a:pathLst>
                <a:path h="830072" w="3865880">
                  <a:moveTo>
                    <a:pt x="0" y="0"/>
                  </a:moveTo>
                  <a:lnTo>
                    <a:pt x="3865880" y="0"/>
                  </a:lnTo>
                  <a:lnTo>
                    <a:pt x="3865880" y="830072"/>
                  </a:lnTo>
                  <a:lnTo>
                    <a:pt x="0" y="83007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4264640" y="5266944"/>
            <a:ext cx="2880360" cy="603504"/>
            <a:chOff x="0" y="0"/>
            <a:chExt cx="3840480" cy="80467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840480" cy="804672"/>
            </a:xfrm>
            <a:custGeom>
              <a:avLst/>
              <a:gdLst/>
              <a:ahLst/>
              <a:cxnLst/>
              <a:rect r="r" b="b" t="t" l="l"/>
              <a:pathLst>
                <a:path h="80467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840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Após a emenda · Cap. 7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670167" y="6519291"/>
            <a:ext cx="10799826" cy="1253490"/>
            <a:chOff x="0" y="0"/>
            <a:chExt cx="14399768" cy="16713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399768" cy="1671320"/>
            </a:xfrm>
            <a:custGeom>
              <a:avLst/>
              <a:gdLst/>
              <a:ahLst/>
              <a:cxnLst/>
              <a:rect r="r" b="b" t="t" l="l"/>
              <a:pathLst>
                <a:path h="1671320" w="14399768">
                  <a:moveTo>
                    <a:pt x="0" y="0"/>
                  </a:moveTo>
                  <a:lnTo>
                    <a:pt x="14399768" y="0"/>
                  </a:lnTo>
                  <a:lnTo>
                    <a:pt x="14399768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6571774" y="6420898"/>
            <a:ext cx="10804588" cy="1258252"/>
            <a:chOff x="0" y="0"/>
            <a:chExt cx="14406118" cy="167767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40611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4406118">
                  <a:moveTo>
                    <a:pt x="0" y="0"/>
                  </a:moveTo>
                  <a:lnTo>
                    <a:pt x="14406118" y="0"/>
                  </a:lnTo>
                  <a:lnTo>
                    <a:pt x="14406118" y="1677670"/>
                  </a:lnTo>
                  <a:lnTo>
                    <a:pt x="0" y="16776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6821043" y="6629019"/>
            <a:ext cx="842010" cy="842010"/>
            <a:chOff x="0" y="0"/>
            <a:chExt cx="1122680" cy="11226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7044538" y="6852514"/>
            <a:ext cx="395021" cy="395021"/>
            <a:chOff x="0" y="0"/>
            <a:chExt cx="526694" cy="526694"/>
          </a:xfrm>
        </p:grpSpPr>
        <p:sp>
          <p:nvSpPr>
            <p:cNvPr name="Freeform 75" id="75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" b="-4"/>
              </a:stretch>
            </a:blip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7886700" y="6533007"/>
            <a:ext cx="630936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 · Entrevistas semiestruturadas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7886700" y="7036308"/>
            <a:ext cx="6309360" cy="603504"/>
            <a:chOff x="0" y="0"/>
            <a:chExt cx="8412480" cy="80467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8412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Seis eixos; escola e técnico da Secretaria; 60 a 90 minutos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255115" y="6738747"/>
            <a:ext cx="2899410" cy="622554"/>
            <a:chOff x="0" y="0"/>
            <a:chExt cx="3865880" cy="83007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865880" cy="830072"/>
            </a:xfrm>
            <a:custGeom>
              <a:avLst/>
              <a:gdLst/>
              <a:ahLst/>
              <a:cxnLst/>
              <a:rect r="r" b="b" t="t" l="l"/>
              <a:pathLst>
                <a:path h="830072" w="3865880">
                  <a:moveTo>
                    <a:pt x="0" y="0"/>
                  </a:moveTo>
                  <a:lnTo>
                    <a:pt x="3865880" y="0"/>
                  </a:lnTo>
                  <a:lnTo>
                    <a:pt x="3865880" y="830072"/>
                  </a:lnTo>
                  <a:lnTo>
                    <a:pt x="0" y="83007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4264640" y="6748272"/>
            <a:ext cx="2880360" cy="603504"/>
            <a:chOff x="0" y="0"/>
            <a:chExt cx="3840480" cy="80467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840480" cy="804672"/>
            </a:xfrm>
            <a:custGeom>
              <a:avLst/>
              <a:gdLst/>
              <a:ahLst/>
              <a:cxnLst/>
              <a:rect r="r" b="b" t="t" l="l"/>
              <a:pathLst>
                <a:path h="80467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840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Após a emenda · Cap. 7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670167" y="8000619"/>
            <a:ext cx="10799826" cy="1253490"/>
            <a:chOff x="0" y="0"/>
            <a:chExt cx="14399768" cy="16713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4399768" cy="1671320"/>
            </a:xfrm>
            <a:custGeom>
              <a:avLst/>
              <a:gdLst/>
              <a:ahLst/>
              <a:cxnLst/>
              <a:rect r="r" b="b" t="t" l="l"/>
              <a:pathLst>
                <a:path h="1671320" w="14399768">
                  <a:moveTo>
                    <a:pt x="0" y="0"/>
                  </a:moveTo>
                  <a:lnTo>
                    <a:pt x="14399768" y="0"/>
                  </a:lnTo>
                  <a:lnTo>
                    <a:pt x="14399768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6571774" y="7902226"/>
            <a:ext cx="10804588" cy="1258252"/>
            <a:chOff x="0" y="0"/>
            <a:chExt cx="14406118" cy="167767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440611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4406118">
                  <a:moveTo>
                    <a:pt x="0" y="0"/>
                  </a:moveTo>
                  <a:lnTo>
                    <a:pt x="14406118" y="0"/>
                  </a:lnTo>
                  <a:lnTo>
                    <a:pt x="14406118" y="1677670"/>
                  </a:lnTo>
                  <a:lnTo>
                    <a:pt x="0" y="16776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6821043" y="8110347"/>
            <a:ext cx="842010" cy="842010"/>
            <a:chOff x="0" y="0"/>
            <a:chExt cx="1122680" cy="11226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7044538" y="8333842"/>
            <a:ext cx="395021" cy="395021"/>
            <a:chOff x="0" y="0"/>
            <a:chExt cx="526694" cy="526694"/>
          </a:xfrm>
        </p:grpSpPr>
        <p:sp>
          <p:nvSpPr>
            <p:cNvPr name="Freeform 92" id="92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4" b="-4"/>
              </a:stretch>
            </a:blip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7886700" y="8014335"/>
            <a:ext cx="630936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 · Análise e devolutiva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7886700" y="8517636"/>
            <a:ext cx="6309360" cy="603504"/>
            <a:chOff x="0" y="0"/>
            <a:chExt cx="8412480" cy="80467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8412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Análise temática reflexiva, triangulação no ATLAS.ti e devolutiva à escola e à Secretaria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255115" y="8220075"/>
            <a:ext cx="2899410" cy="622554"/>
            <a:chOff x="0" y="0"/>
            <a:chExt cx="3865880" cy="83007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865880" cy="830072"/>
            </a:xfrm>
            <a:custGeom>
              <a:avLst/>
              <a:gdLst/>
              <a:ahLst/>
              <a:cxnLst/>
              <a:rect r="r" b="b" t="t" l="l"/>
              <a:pathLst>
                <a:path h="830072" w="3865880">
                  <a:moveTo>
                    <a:pt x="0" y="0"/>
                  </a:moveTo>
                  <a:lnTo>
                    <a:pt x="3865880" y="0"/>
                  </a:lnTo>
                  <a:lnTo>
                    <a:pt x="3865880" y="830072"/>
                  </a:lnTo>
                  <a:lnTo>
                    <a:pt x="0" y="83007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4264640" y="8229600"/>
            <a:ext cx="2880360" cy="603504"/>
            <a:chOff x="0" y="0"/>
            <a:chExt cx="3840480" cy="80467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840480" cy="804672"/>
            </a:xfrm>
            <a:custGeom>
              <a:avLst/>
              <a:gdLst/>
              <a:ahLst/>
              <a:cxnLst/>
              <a:rect r="r" b="b" t="t" l="l"/>
              <a:pathLst>
                <a:path h="80467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3840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Após o campo · Caps. 7 e 8</a:t>
              </a: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Yin (2001): múltiplas fontes e proposições teóricas prévias; triangulação.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600000">
            <a:off x="16380245" y="376407"/>
            <a:ext cx="1645920" cy="1762230"/>
            <a:chOff x="0" y="0"/>
            <a:chExt cx="2194560" cy="2349640"/>
          </a:xfrm>
        </p:grpSpPr>
        <p:sp>
          <p:nvSpPr>
            <p:cNvPr name="Freeform 4" id="4" descr="/home/claude/deck3/img/d_joinha.png"/>
            <p:cNvSpPr/>
            <p:nvPr/>
          </p:nvSpPr>
          <p:spPr>
            <a:xfrm flipH="false" flipV="false" rot="0">
              <a:off x="0" y="0"/>
              <a:ext cx="2194560" cy="2349627"/>
            </a:xfrm>
            <a:custGeom>
              <a:avLst/>
              <a:gdLst/>
              <a:ahLst/>
              <a:cxnLst/>
              <a:rect r="r" b="b" t="t" l="l"/>
              <a:pathLst>
                <a:path h="2349627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349627"/>
                  </a:lnTo>
                  <a:lnTo>
                    <a:pt x="0" y="2349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" t="0" r="-14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Quem será ouvido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2194560"/>
            <a:ext cx="960120" cy="960120"/>
            <a:chOff x="0" y="0"/>
            <a:chExt cx="1280160" cy="128016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400300" y="2194560"/>
            <a:ext cx="960120" cy="960120"/>
            <a:chOff x="0" y="0"/>
            <a:chExt cx="1280160" cy="128016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703320" y="2194560"/>
            <a:ext cx="960120" cy="960120"/>
            <a:chOff x="0" y="0"/>
            <a:chExt cx="1280160" cy="128016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006340" y="2194560"/>
            <a:ext cx="960120" cy="960120"/>
            <a:chOff x="0" y="0"/>
            <a:chExt cx="1280160" cy="128016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309360" y="2194560"/>
            <a:ext cx="960120" cy="960120"/>
            <a:chOff x="0" y="0"/>
            <a:chExt cx="1280160" cy="128016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612380" y="2194560"/>
            <a:ext cx="960120" cy="960120"/>
            <a:chOff x="0" y="0"/>
            <a:chExt cx="1280160" cy="128016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97280" y="3703320"/>
            <a:ext cx="960120" cy="960120"/>
            <a:chOff x="0" y="0"/>
            <a:chExt cx="1280160" cy="128016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400300" y="3703320"/>
            <a:ext cx="960120" cy="960120"/>
            <a:chOff x="0" y="0"/>
            <a:chExt cx="1280160" cy="128016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703320" y="3703320"/>
            <a:ext cx="960120" cy="960120"/>
            <a:chOff x="0" y="0"/>
            <a:chExt cx="1280160" cy="128016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006340" y="3703320"/>
            <a:ext cx="960120" cy="960120"/>
            <a:chOff x="0" y="0"/>
            <a:chExt cx="1280160" cy="128016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309360" y="3703320"/>
            <a:ext cx="960120" cy="960120"/>
            <a:chOff x="0" y="0"/>
            <a:chExt cx="1280160" cy="128016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612380" y="3703320"/>
            <a:ext cx="960120" cy="960120"/>
            <a:chOff x="0" y="0"/>
            <a:chExt cx="1280160" cy="1280160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97280" y="5609844"/>
            <a:ext cx="438912" cy="438912"/>
            <a:chOff x="0" y="0"/>
            <a:chExt cx="585216" cy="585216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783080" y="5554980"/>
            <a:ext cx="6858000" cy="576072"/>
            <a:chOff x="0" y="0"/>
            <a:chExt cx="9144000" cy="7680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91440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Docentes das turmas do 1º ao 5º ano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97280" y="6323076"/>
            <a:ext cx="438912" cy="438912"/>
            <a:chOff x="0" y="0"/>
            <a:chExt cx="585216" cy="585216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783080" y="6268212"/>
            <a:ext cx="6858000" cy="576072"/>
            <a:chOff x="0" y="0"/>
            <a:chExt cx="9144000" cy="7680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91440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 da coordenação pedagógica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97280" y="7036308"/>
            <a:ext cx="438912" cy="438912"/>
            <a:chOff x="0" y="0"/>
            <a:chExt cx="585216" cy="585216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783080" y="6981444"/>
            <a:ext cx="6858000" cy="576072"/>
            <a:chOff x="0" y="0"/>
            <a:chExt cx="9144000" cy="7680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91440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 da direção escolar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97280" y="7749540"/>
            <a:ext cx="438912" cy="438912"/>
            <a:chOff x="0" y="0"/>
            <a:chExt cx="585216" cy="585216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783080" y="7694676"/>
            <a:ext cx="6858000" cy="576072"/>
            <a:chOff x="0" y="0"/>
            <a:chExt cx="9144000" cy="7680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91440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Apoio pedagógico, AEE e demais funções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097280" y="8513445"/>
            <a:ext cx="7680960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Todos constroem a política: posições postas em relação, sem hierarquia prévia. Um técnico da Secretaria é fonte complementar.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9601200" y="1920240"/>
            <a:ext cx="3291840" cy="1645920"/>
            <a:chOff x="0" y="0"/>
            <a:chExt cx="4389120" cy="21945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89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389120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0"/>
                </a:lnSpc>
              </a:pPr>
              <a:r>
                <a:rPr lang="en-US" sz="10500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140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961620" y="2125980"/>
            <a:ext cx="4526280" cy="1234440"/>
            <a:chOff x="0" y="0"/>
            <a:chExt cx="6035040" cy="16459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0350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603504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crianças só no 1º e no 2º ano (74 e 66); total do 1º ao 5º ano a informar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687687" y="4201287"/>
            <a:ext cx="7782306" cy="5162550"/>
            <a:chOff x="0" y="0"/>
            <a:chExt cx="10376408" cy="6883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376408" cy="6883400"/>
            </a:xfrm>
            <a:custGeom>
              <a:avLst/>
              <a:gdLst/>
              <a:ahLst/>
              <a:cxnLst/>
              <a:rect r="r" b="b" t="t" l="l"/>
              <a:pathLst>
                <a:path h="6883400" w="10376408">
                  <a:moveTo>
                    <a:pt x="0" y="0"/>
                  </a:moveTo>
                  <a:lnTo>
                    <a:pt x="10376408" y="0"/>
                  </a:lnTo>
                  <a:lnTo>
                    <a:pt x="10376408" y="6883400"/>
                  </a:lnTo>
                  <a:lnTo>
                    <a:pt x="0" y="68834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9589294" y="4102894"/>
            <a:ext cx="7787068" cy="5167312"/>
            <a:chOff x="0" y="0"/>
            <a:chExt cx="10382758" cy="688975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382758" cy="6889750"/>
            </a:xfrm>
            <a:custGeom>
              <a:avLst/>
              <a:gdLst/>
              <a:ahLst/>
              <a:cxnLst/>
              <a:rect r="r" b="b" t="t" l="l"/>
              <a:pathLst>
                <a:path h="6889750" w="10382758">
                  <a:moveTo>
                    <a:pt x="0" y="0"/>
                  </a:moveTo>
                  <a:lnTo>
                    <a:pt x="10382758" y="0"/>
                  </a:lnTo>
                  <a:lnTo>
                    <a:pt x="10382758" y="6889750"/>
                  </a:lnTo>
                  <a:lnTo>
                    <a:pt x="0" y="688975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68" id="68"/>
          <p:cNvSpPr txBox="true"/>
          <p:nvPr/>
        </p:nvSpPr>
        <p:spPr>
          <a:xfrm rot="0">
            <a:off x="10012680" y="4389120"/>
            <a:ext cx="6995160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 que ouvir posições diferentes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012680" y="5143500"/>
            <a:ext cx="6995160" cy="397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Quem está na docência, na coordenação, na direção ou no apoio pedagógico recebe a política com margens de decisão, recursos e responsabilidades diferentes. A mesma orientação pode ganhar sentidos e formas de atuação diferentes em cada posição.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Ball, Maguire e Braun (2016): posições diante da política; LDB, arts. 61 e 67; Lei nº 14.817/2024.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84880" y="141722"/>
            <a:ext cx="1645920" cy="1738036"/>
            <a:chOff x="0" y="0"/>
            <a:chExt cx="2194560" cy="2317382"/>
          </a:xfrm>
        </p:grpSpPr>
        <p:sp>
          <p:nvSpPr>
            <p:cNvPr name="Freeform 4" id="4" descr="/home/claude/deck3/img/d_lapis.png"/>
            <p:cNvSpPr/>
            <p:nvPr/>
          </p:nvSpPr>
          <p:spPr>
            <a:xfrm flipH="false" flipV="false" rot="0">
              <a:off x="0" y="0"/>
              <a:ext cx="2194560" cy="2317369"/>
            </a:xfrm>
            <a:custGeom>
              <a:avLst/>
              <a:gdLst/>
              <a:ahLst/>
              <a:cxnLst/>
              <a:rect r="r" b="b" t="t" l="l"/>
              <a:pathLst>
                <a:path h="2317369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317369"/>
                  </a:lnTo>
                  <a:lnTo>
                    <a:pt x="0" y="2317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" r="0" b="-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Mapa das políticas de educação digital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9447" y="2006727"/>
            <a:ext cx="10306050" cy="6061034"/>
            <a:chOff x="0" y="0"/>
            <a:chExt cx="13741400" cy="808137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41400" cy="8081391"/>
            </a:xfrm>
            <a:custGeom>
              <a:avLst/>
              <a:gdLst/>
              <a:ahLst/>
              <a:cxnLst/>
              <a:rect r="r" b="b" t="t" l="l"/>
              <a:pathLst>
                <a:path h="8081391" w="13741400">
                  <a:moveTo>
                    <a:pt x="0" y="0"/>
                  </a:moveTo>
                  <a:lnTo>
                    <a:pt x="13741400" y="0"/>
                  </a:lnTo>
                  <a:lnTo>
                    <a:pt x="13741400" y="8081391"/>
                  </a:lnTo>
                  <a:lnTo>
                    <a:pt x="0" y="8081391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1920240"/>
            <a:ext cx="10287000" cy="6041984"/>
            <a:chOff x="0" y="0"/>
            <a:chExt cx="13716000" cy="8055978"/>
          </a:xfrm>
        </p:grpSpPr>
        <p:sp>
          <p:nvSpPr>
            <p:cNvPr name="Freeform 16" id="16" descr="/home/claude/deck3/img/mapa_politicas.png"/>
            <p:cNvSpPr/>
            <p:nvPr/>
          </p:nvSpPr>
          <p:spPr>
            <a:xfrm flipH="false" flipV="false" rot="0">
              <a:off x="0" y="0"/>
              <a:ext cx="13716000" cy="8055991"/>
            </a:xfrm>
            <a:custGeom>
              <a:avLst/>
              <a:gdLst/>
              <a:ahLst/>
              <a:cxnLst/>
              <a:rect r="r" b="b" t="t" l="l"/>
              <a:pathLst>
                <a:path h="8055991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8055991"/>
                  </a:lnTo>
                  <a:lnTo>
                    <a:pt x="0" y="8055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6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11054" y="1908334"/>
            <a:ext cx="10310812" cy="6065796"/>
            <a:chOff x="0" y="0"/>
            <a:chExt cx="13747750" cy="80877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747750" cy="8087741"/>
            </a:xfrm>
            <a:custGeom>
              <a:avLst/>
              <a:gdLst/>
              <a:ahLst/>
              <a:cxnLst/>
              <a:rect r="r" b="b" t="t" l="l"/>
              <a:pathLst>
                <a:path h="8087741" w="13747750">
                  <a:moveTo>
                    <a:pt x="0" y="0"/>
                  </a:moveTo>
                  <a:lnTo>
                    <a:pt x="13747750" y="0"/>
                  </a:lnTo>
                  <a:lnTo>
                    <a:pt x="13747750" y="8087741"/>
                  </a:lnTo>
                  <a:lnTo>
                    <a:pt x="0" y="80877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480" t="0" r="-25480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11054" y="8492014"/>
            <a:ext cx="325564" cy="325564"/>
            <a:chOff x="0" y="0"/>
            <a:chExt cx="434086" cy="4340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4086" cy="434086"/>
            </a:xfrm>
            <a:custGeom>
              <a:avLst/>
              <a:gdLst/>
              <a:ahLst/>
              <a:cxnLst/>
              <a:rect r="r" b="b" t="t" l="l"/>
              <a:pathLst>
                <a:path h="434086" w="434086">
                  <a:moveTo>
                    <a:pt x="0" y="217043"/>
                  </a:moveTo>
                  <a:cubicBezTo>
                    <a:pt x="0" y="97155"/>
                    <a:pt x="97155" y="0"/>
                    <a:pt x="217043" y="0"/>
                  </a:cubicBezTo>
                  <a:cubicBezTo>
                    <a:pt x="336931" y="0"/>
                    <a:pt x="434086" y="97155"/>
                    <a:pt x="434086" y="217043"/>
                  </a:cubicBezTo>
                  <a:cubicBezTo>
                    <a:pt x="434086" y="336931"/>
                    <a:pt x="336931" y="434086"/>
                    <a:pt x="217043" y="434086"/>
                  </a:cubicBezTo>
                  <a:cubicBezTo>
                    <a:pt x="97155" y="434086"/>
                    <a:pt x="0" y="336931"/>
                    <a:pt x="0" y="217043"/>
                  </a:cubicBezTo>
                  <a:close/>
                </a:path>
              </a:pathLst>
            </a:custGeom>
            <a:solidFill>
              <a:srgbClr val="2A6B67"/>
            </a:solid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34440" y="8407908"/>
            <a:ext cx="2606040" cy="493776"/>
            <a:chOff x="0" y="0"/>
            <a:chExt cx="3474720" cy="6583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Governança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731294" y="8492014"/>
            <a:ext cx="325564" cy="325564"/>
            <a:chOff x="0" y="0"/>
            <a:chExt cx="434086" cy="43408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4086" cy="434086"/>
            </a:xfrm>
            <a:custGeom>
              <a:avLst/>
              <a:gdLst/>
              <a:ahLst/>
              <a:cxnLst/>
              <a:rect r="r" b="b" t="t" l="l"/>
              <a:pathLst>
                <a:path h="434086" w="434086">
                  <a:moveTo>
                    <a:pt x="0" y="217043"/>
                  </a:moveTo>
                  <a:cubicBezTo>
                    <a:pt x="0" y="97155"/>
                    <a:pt x="97155" y="0"/>
                    <a:pt x="217043" y="0"/>
                  </a:cubicBezTo>
                  <a:cubicBezTo>
                    <a:pt x="336931" y="0"/>
                    <a:pt x="434086" y="97155"/>
                    <a:pt x="434086" y="217043"/>
                  </a:cubicBezTo>
                  <a:cubicBezTo>
                    <a:pt x="434086" y="336931"/>
                    <a:pt x="336931" y="434086"/>
                    <a:pt x="217043" y="434086"/>
                  </a:cubicBezTo>
                  <a:cubicBezTo>
                    <a:pt x="97155" y="434086"/>
                    <a:pt x="0" y="336931"/>
                    <a:pt x="0" y="217043"/>
                  </a:cubicBezTo>
                  <a:close/>
                </a:path>
              </a:pathLst>
            </a:custGeom>
            <a:solidFill>
              <a:srgbClr val="C9892B"/>
            </a:solid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3154680" y="8407908"/>
            <a:ext cx="2606040" cy="493776"/>
            <a:chOff x="0" y="0"/>
            <a:chExt cx="3474720" cy="6583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Formação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651534" y="8492014"/>
            <a:ext cx="325564" cy="325564"/>
            <a:chOff x="0" y="0"/>
            <a:chExt cx="434086" cy="4340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4086" cy="434086"/>
            </a:xfrm>
            <a:custGeom>
              <a:avLst/>
              <a:gdLst/>
              <a:ahLst/>
              <a:cxnLst/>
              <a:rect r="r" b="b" t="t" l="l"/>
              <a:pathLst>
                <a:path h="434086" w="434086">
                  <a:moveTo>
                    <a:pt x="0" y="217043"/>
                  </a:moveTo>
                  <a:cubicBezTo>
                    <a:pt x="0" y="97155"/>
                    <a:pt x="97155" y="0"/>
                    <a:pt x="217043" y="0"/>
                  </a:cubicBezTo>
                  <a:cubicBezTo>
                    <a:pt x="336931" y="0"/>
                    <a:pt x="434086" y="97155"/>
                    <a:pt x="434086" y="217043"/>
                  </a:cubicBezTo>
                  <a:cubicBezTo>
                    <a:pt x="434086" y="336931"/>
                    <a:pt x="336931" y="434086"/>
                    <a:pt x="217043" y="434086"/>
                  </a:cubicBezTo>
                  <a:cubicBezTo>
                    <a:pt x="97155" y="434086"/>
                    <a:pt x="0" y="336931"/>
                    <a:pt x="0" y="217043"/>
                  </a:cubicBezTo>
                  <a:close/>
                </a:path>
              </a:pathLst>
            </a:custGeom>
            <a:solidFill>
              <a:srgbClr val="4F7CAC"/>
            </a:solid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5074920" y="8407908"/>
            <a:ext cx="2606040" cy="493776"/>
            <a:chOff x="0" y="0"/>
            <a:chExt cx="3474720" cy="65836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Infraestrutura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71774" y="8492014"/>
            <a:ext cx="325564" cy="325564"/>
            <a:chOff x="0" y="0"/>
            <a:chExt cx="434086" cy="43408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4086" cy="434086"/>
            </a:xfrm>
            <a:custGeom>
              <a:avLst/>
              <a:gdLst/>
              <a:ahLst/>
              <a:cxnLst/>
              <a:rect r="r" b="b" t="t" l="l"/>
              <a:pathLst>
                <a:path h="434086" w="434086">
                  <a:moveTo>
                    <a:pt x="0" y="217043"/>
                  </a:moveTo>
                  <a:cubicBezTo>
                    <a:pt x="0" y="97155"/>
                    <a:pt x="97155" y="0"/>
                    <a:pt x="217043" y="0"/>
                  </a:cubicBezTo>
                  <a:cubicBezTo>
                    <a:pt x="336931" y="0"/>
                    <a:pt x="434086" y="97155"/>
                    <a:pt x="434086" y="217043"/>
                  </a:cubicBezTo>
                  <a:cubicBezTo>
                    <a:pt x="434086" y="336931"/>
                    <a:pt x="336931" y="434086"/>
                    <a:pt x="217043" y="434086"/>
                  </a:cubicBezTo>
                  <a:cubicBezTo>
                    <a:pt x="97155" y="434086"/>
                    <a:pt x="0" y="336931"/>
                    <a:pt x="0" y="217043"/>
                  </a:cubicBezTo>
                  <a:close/>
                </a:path>
              </a:pathLst>
            </a:custGeom>
            <a:solidFill>
              <a:srgbClr val="8A5A9E"/>
            </a:solid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995160" y="8407908"/>
            <a:ext cx="2606040" cy="493776"/>
            <a:chOff x="0" y="0"/>
            <a:chExt cx="3474720" cy="65836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Continuidade institucional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601742" y="8478298"/>
            <a:ext cx="325564" cy="325564"/>
            <a:chOff x="0" y="0"/>
            <a:chExt cx="434086" cy="43408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4086" cy="434086"/>
            </a:xfrm>
            <a:custGeom>
              <a:avLst/>
              <a:gdLst/>
              <a:ahLst/>
              <a:cxnLst/>
              <a:rect r="r" b="b" t="t" l="l"/>
              <a:pathLst>
                <a:path h="434086" w="434086">
                  <a:moveTo>
                    <a:pt x="0" y="217043"/>
                  </a:moveTo>
                  <a:cubicBezTo>
                    <a:pt x="0" y="97155"/>
                    <a:pt x="97155" y="0"/>
                    <a:pt x="217043" y="0"/>
                  </a:cubicBezTo>
                  <a:cubicBezTo>
                    <a:pt x="336931" y="0"/>
                    <a:pt x="434086" y="97155"/>
                    <a:pt x="434086" y="217043"/>
                  </a:cubicBezTo>
                  <a:cubicBezTo>
                    <a:pt x="434086" y="336931"/>
                    <a:pt x="336931" y="434086"/>
                    <a:pt x="217043" y="434086"/>
                  </a:cubicBezTo>
                  <a:cubicBezTo>
                    <a:pt x="97155" y="434086"/>
                    <a:pt x="0" y="336931"/>
                    <a:pt x="0" y="217043"/>
                  </a:cubicBezTo>
                  <a:close/>
                </a:path>
              </a:pathLst>
            </a:custGeom>
            <a:solidFill>
              <a:srgbClr val="D9652E"/>
            </a:solid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121140" y="8437712"/>
            <a:ext cx="2606040" cy="493776"/>
            <a:chOff x="0" y="0"/>
            <a:chExt cx="3474720" cy="6583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Cultura digital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822960" y="8983980"/>
            <a:ext cx="104241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 cor indica a categoria que cada experiência mais informa, segundo a leitura do Capítulo 5.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1539347" y="2006727"/>
            <a:ext cx="5930646" cy="7494270"/>
            <a:chOff x="0" y="0"/>
            <a:chExt cx="7907528" cy="9992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907528" cy="9992360"/>
            </a:xfrm>
            <a:custGeom>
              <a:avLst/>
              <a:gdLst/>
              <a:ahLst/>
              <a:cxnLst/>
              <a:rect r="r" b="b" t="t" l="l"/>
              <a:pathLst>
                <a:path h="9992360" w="7907528">
                  <a:moveTo>
                    <a:pt x="0" y="0"/>
                  </a:moveTo>
                  <a:lnTo>
                    <a:pt x="7907528" y="0"/>
                  </a:lnTo>
                  <a:lnTo>
                    <a:pt x="7907528" y="9992360"/>
                  </a:lnTo>
                  <a:lnTo>
                    <a:pt x="0" y="99923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440954" y="1908334"/>
            <a:ext cx="5935408" cy="7499032"/>
            <a:chOff x="0" y="0"/>
            <a:chExt cx="7913878" cy="999871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913878" cy="9998710"/>
            </a:xfrm>
            <a:custGeom>
              <a:avLst/>
              <a:gdLst/>
              <a:ahLst/>
              <a:cxnLst/>
              <a:rect r="r" b="b" t="t" l="l"/>
              <a:pathLst>
                <a:path h="9998710" w="7913878">
                  <a:moveTo>
                    <a:pt x="0" y="0"/>
                  </a:moveTo>
                  <a:lnTo>
                    <a:pt x="7913878" y="0"/>
                  </a:lnTo>
                  <a:lnTo>
                    <a:pt x="7913878" y="9998710"/>
                  </a:lnTo>
                  <a:lnTo>
                    <a:pt x="0" y="999871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1658600" y="2025777"/>
            <a:ext cx="534924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Américas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1649075" y="2431923"/>
            <a:ext cx="265938" cy="265938"/>
            <a:chOff x="0" y="0"/>
            <a:chExt cx="354584" cy="3545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C9892B"/>
            </a:solidFill>
            <a:ln w="19050" cap="sq">
              <a:solidFill>
                <a:srgbClr val="C9892B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1987784" y="2400300"/>
            <a:ext cx="5321808" cy="312725"/>
            <a:chOff x="0" y="0"/>
            <a:chExt cx="7095744" cy="41696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EUA · National Educational Technology Plan (2024)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649075" y="2744648"/>
            <a:ext cx="265938" cy="265938"/>
            <a:chOff x="0" y="0"/>
            <a:chExt cx="354584" cy="3545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D9652E"/>
            </a:solidFill>
            <a:ln w="19050" cap="sq">
              <a:solidFill>
                <a:srgbClr val="D9652E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1987784" y="2713025"/>
            <a:ext cx="5321808" cy="312725"/>
            <a:chOff x="0" y="0"/>
            <a:chExt cx="7095744" cy="41696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Canadá · Digital Literacy Framework (BC)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649075" y="3057373"/>
            <a:ext cx="265938" cy="265938"/>
            <a:chOff x="0" y="0"/>
            <a:chExt cx="354584" cy="35458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8A5A9E"/>
            </a:solidFill>
            <a:ln w="19050" cap="sq">
              <a:solidFill>
                <a:srgbClr val="8A5A9E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1987784" y="3025750"/>
            <a:ext cx="5321808" cy="312725"/>
            <a:chOff x="0" y="0"/>
            <a:chExt cx="7095744" cy="41696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México · @prende 2.0 e programas anteriores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649075" y="3370097"/>
            <a:ext cx="265938" cy="265938"/>
            <a:chOff x="0" y="0"/>
            <a:chExt cx="354584" cy="3545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8A5A9E"/>
            </a:solidFill>
            <a:ln w="19050" cap="sq">
              <a:solidFill>
                <a:srgbClr val="8A5A9E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1987784" y="3338474"/>
            <a:ext cx="5321808" cy="312725"/>
            <a:chOff x="0" y="0"/>
            <a:chExt cx="7095744" cy="41696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Costa Rica · Programa Nacional de Informática Educativa (1988)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649075" y="3682822"/>
            <a:ext cx="265938" cy="265938"/>
            <a:chOff x="0" y="0"/>
            <a:chExt cx="354584" cy="35458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4F7CAC"/>
            </a:solidFill>
            <a:ln w="19050" cap="sq">
              <a:solidFill>
                <a:srgbClr val="4F7CAC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1987784" y="3651199"/>
            <a:ext cx="5321808" cy="312725"/>
            <a:chOff x="0" y="0"/>
            <a:chExt cx="7095744" cy="41696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Colômbia · Computadores para Educar (2000)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649075" y="3995547"/>
            <a:ext cx="265938" cy="265938"/>
            <a:chOff x="0" y="0"/>
            <a:chExt cx="354584" cy="35458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4F7CAC"/>
            </a:solidFill>
            <a:ln w="19050" cap="sq">
              <a:solidFill>
                <a:srgbClr val="4F7CAC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1987784" y="3963924"/>
            <a:ext cx="5321808" cy="312725"/>
            <a:chOff x="0" y="0"/>
            <a:chExt cx="7095744" cy="41696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6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Peru · Una Laptop por Niño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649075" y="4308272"/>
            <a:ext cx="265938" cy="265938"/>
            <a:chOff x="0" y="0"/>
            <a:chExt cx="354584" cy="3545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8A5A9E"/>
            </a:solidFill>
            <a:ln w="19050" cap="sq">
              <a:solidFill>
                <a:srgbClr val="8A5A9E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1987784" y="4276649"/>
            <a:ext cx="5321808" cy="312725"/>
            <a:chOff x="0" y="0"/>
            <a:chExt cx="7095744" cy="41696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7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Chile · Red Enlaces (1992)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649075" y="4620997"/>
            <a:ext cx="265938" cy="265938"/>
            <a:chOff x="0" y="0"/>
            <a:chExt cx="354584" cy="35458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8A5A9E"/>
            </a:solidFill>
            <a:ln w="19050" cap="sq">
              <a:solidFill>
                <a:srgbClr val="8A5A9E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1987784" y="4589374"/>
            <a:ext cx="5321808" cy="312725"/>
            <a:chOff x="0" y="0"/>
            <a:chExt cx="7095744" cy="41696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8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Argentina · Conectar Igualdad (2010)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649075" y="4933721"/>
            <a:ext cx="265938" cy="265938"/>
            <a:chOff x="0" y="0"/>
            <a:chExt cx="354584" cy="35458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8A5A9E"/>
            </a:solidFill>
            <a:ln w="19050" cap="sq">
              <a:solidFill>
                <a:srgbClr val="8A5A9E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1987784" y="4902098"/>
            <a:ext cx="5321808" cy="312725"/>
            <a:chOff x="0" y="0"/>
            <a:chExt cx="7095744" cy="41696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9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Uruguai · Plan Ceibal (2007)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649075" y="5246446"/>
            <a:ext cx="265938" cy="265938"/>
            <a:chOff x="0" y="0"/>
            <a:chExt cx="354584" cy="3545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1987784" y="5214823"/>
            <a:ext cx="5321808" cy="312725"/>
            <a:chOff x="0" y="0"/>
            <a:chExt cx="7095744" cy="41696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★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Brasil · PNED (Lei nº 14.533/2023)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11658600" y="5564505"/>
            <a:ext cx="534924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Europa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11649075" y="5970651"/>
            <a:ext cx="265938" cy="265938"/>
            <a:chOff x="0" y="0"/>
            <a:chExt cx="354584" cy="3545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2A6B67"/>
            </a:solidFill>
            <a:ln w="19050" cap="sq">
              <a:solidFill>
                <a:srgbClr val="2A6B67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11987784" y="5939028"/>
            <a:ext cx="5321808" cy="312725"/>
            <a:chOff x="0" y="0"/>
            <a:chExt cx="7095744" cy="41696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10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União Europeia · DigComp, DigCompEdu, Plano de Ação, BIK+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1649075" y="6283376"/>
            <a:ext cx="265938" cy="265938"/>
            <a:chOff x="0" y="0"/>
            <a:chExt cx="354584" cy="35458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8A5A9E"/>
            </a:solidFill>
            <a:ln w="19050" cap="sq">
              <a:solidFill>
                <a:srgbClr val="8A5A9E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11987784" y="6251753"/>
            <a:ext cx="5321808" cy="312725"/>
            <a:chOff x="0" y="0"/>
            <a:chExt cx="7095744" cy="41696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11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Portugal · PTE e INCoDe.2030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1649075" y="6596101"/>
            <a:ext cx="265938" cy="265938"/>
            <a:chOff x="0" y="0"/>
            <a:chExt cx="354584" cy="35458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C9892B"/>
            </a:solidFill>
            <a:ln w="19050" cap="sq">
              <a:solidFill>
                <a:srgbClr val="C9892B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11987784" y="6564478"/>
            <a:ext cx="5321808" cy="312725"/>
            <a:chOff x="0" y="0"/>
            <a:chExt cx="7095744" cy="41696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12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Espanha · Competência Digital Docente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1649075" y="6908825"/>
            <a:ext cx="265938" cy="265938"/>
            <a:chOff x="0" y="0"/>
            <a:chExt cx="354584" cy="35458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C9892B"/>
            </a:solidFill>
            <a:ln w="19050" cap="sq">
              <a:solidFill>
                <a:srgbClr val="C9892B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11987784" y="6877202"/>
            <a:ext cx="5321808" cy="312725"/>
            <a:chOff x="0" y="0"/>
            <a:chExt cx="7095744" cy="41696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13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Irlanda · Digital Strategy for Schools to 2027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1649075" y="7221550"/>
            <a:ext cx="265938" cy="265938"/>
            <a:chOff x="0" y="0"/>
            <a:chExt cx="354584" cy="35458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2A6B67"/>
            </a:solidFill>
            <a:ln w="19050" cap="sq">
              <a:solidFill>
                <a:srgbClr val="2A6B67"/>
              </a:solidFill>
              <a:prstDash val="solid"/>
              <a:miter/>
            </a:ln>
          </p:spPr>
        </p:sp>
      </p:grpSp>
      <p:grpSp>
        <p:nvGrpSpPr>
          <p:cNvPr name="Group 123" id="123"/>
          <p:cNvGrpSpPr/>
          <p:nvPr/>
        </p:nvGrpSpPr>
        <p:grpSpPr>
          <a:xfrm rot="0">
            <a:off x="11987784" y="7189927"/>
            <a:ext cx="5321808" cy="312725"/>
            <a:chOff x="0" y="0"/>
            <a:chExt cx="7095744" cy="41696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14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Reino Unido · Realising the potential of technology (2019)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1649075" y="7534275"/>
            <a:ext cx="265938" cy="265938"/>
            <a:chOff x="0" y="0"/>
            <a:chExt cx="354584" cy="354584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D9652E"/>
            </a:solidFill>
            <a:ln w="19050" cap="sq">
              <a:solidFill>
                <a:srgbClr val="D9652E"/>
              </a:solidFill>
              <a:prstDash val="solid"/>
              <a:miter/>
            </a:ln>
          </p:spPr>
        </p:sp>
      </p:grpSp>
      <p:grpSp>
        <p:nvGrpSpPr>
          <p:cNvPr name="Group 128" id="128"/>
          <p:cNvGrpSpPr/>
          <p:nvPr/>
        </p:nvGrpSpPr>
        <p:grpSpPr>
          <a:xfrm rot="0">
            <a:off x="11987784" y="7502652"/>
            <a:ext cx="5321808" cy="312725"/>
            <a:chOff x="0" y="0"/>
            <a:chExt cx="7095744" cy="416966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15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França · Stratégie du numérique 2023-2027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1649075" y="7847000"/>
            <a:ext cx="265938" cy="265938"/>
            <a:chOff x="0" y="0"/>
            <a:chExt cx="354584" cy="35458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4F7CAC"/>
            </a:solidFill>
            <a:ln w="19050" cap="sq">
              <a:solidFill>
                <a:srgbClr val="4F7CAC"/>
              </a:solidFill>
              <a:prstDash val="solid"/>
              <a:miter/>
            </a:ln>
          </p:spPr>
        </p:sp>
      </p:grpSp>
      <p:grpSp>
        <p:nvGrpSpPr>
          <p:cNvPr name="Group 133" id="133"/>
          <p:cNvGrpSpPr/>
          <p:nvPr/>
        </p:nvGrpSpPr>
        <p:grpSpPr>
          <a:xfrm rot="0">
            <a:off x="11987784" y="7815377"/>
            <a:ext cx="5321808" cy="312725"/>
            <a:chOff x="0" y="0"/>
            <a:chExt cx="7095744" cy="41696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16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Países Baixos · digitalização educacional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1649075" y="8159725"/>
            <a:ext cx="265938" cy="265938"/>
            <a:chOff x="0" y="0"/>
            <a:chExt cx="354584" cy="354584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2A6B67"/>
            </a:solidFill>
            <a:ln w="19050" cap="sq">
              <a:solidFill>
                <a:srgbClr val="2A6B67"/>
              </a:solidFill>
              <a:prstDash val="solid"/>
              <a:miter/>
            </a:ln>
          </p:spPr>
        </p:sp>
      </p:grpSp>
      <p:grpSp>
        <p:nvGrpSpPr>
          <p:cNvPr name="Group 138" id="138"/>
          <p:cNvGrpSpPr/>
          <p:nvPr/>
        </p:nvGrpSpPr>
        <p:grpSpPr>
          <a:xfrm rot="0">
            <a:off x="11987784" y="8128102"/>
            <a:ext cx="5321808" cy="312725"/>
            <a:chOff x="0" y="0"/>
            <a:chExt cx="7095744" cy="41696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17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Alemanha · DigitalPakt Schule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1649075" y="8472449"/>
            <a:ext cx="265938" cy="265938"/>
            <a:chOff x="0" y="0"/>
            <a:chExt cx="354584" cy="354584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4F7CAC"/>
            </a:solidFill>
            <a:ln w="19050" cap="sq">
              <a:solidFill>
                <a:srgbClr val="4F7CAC"/>
              </a:solidFill>
              <a:prstDash val="solid"/>
              <a:miter/>
            </a:ln>
          </p:spPr>
        </p:sp>
      </p:grpSp>
      <p:grpSp>
        <p:nvGrpSpPr>
          <p:cNvPr name="Group 143" id="143"/>
          <p:cNvGrpSpPr/>
          <p:nvPr/>
        </p:nvGrpSpPr>
        <p:grpSpPr>
          <a:xfrm rot="0">
            <a:off x="11987784" y="8440826"/>
            <a:ext cx="5321808" cy="312725"/>
            <a:chOff x="0" y="0"/>
            <a:chExt cx="7095744" cy="41696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18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Itália · Piano Nazionale Scuola Digitale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1649075" y="8785174"/>
            <a:ext cx="265938" cy="265938"/>
            <a:chOff x="0" y="0"/>
            <a:chExt cx="354584" cy="35458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2A6B67"/>
            </a:solidFill>
            <a:ln w="19050" cap="sq">
              <a:solidFill>
                <a:srgbClr val="2A6B67"/>
              </a:solidFill>
              <a:prstDash val="solid"/>
              <a:miter/>
            </a:ln>
          </p:spPr>
        </p:sp>
      </p:grpSp>
      <p:grpSp>
        <p:nvGrpSpPr>
          <p:cNvPr name="Group 148" id="148"/>
          <p:cNvGrpSpPr/>
          <p:nvPr/>
        </p:nvGrpSpPr>
        <p:grpSpPr>
          <a:xfrm rot="0">
            <a:off x="11987784" y="8753551"/>
            <a:ext cx="5321808" cy="312725"/>
            <a:chOff x="0" y="0"/>
            <a:chExt cx="7095744" cy="416966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19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Finlândia · Currículo Nacional (2014)</a:t>
              </a:r>
            </a:p>
          </p:txBody>
        </p:sp>
      </p:grpSp>
      <p:sp>
        <p:nvSpPr>
          <p:cNvPr name="TextBox 151" id="151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Mainardes (2006): contexto de influência.   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elaborado a partir dos Quadros do Capítulo 5; base cartográfica Natural Earth.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480000">
            <a:off x="16335225" y="452571"/>
            <a:ext cx="1886072" cy="1332909"/>
            <a:chOff x="0" y="0"/>
            <a:chExt cx="3108960" cy="2197138"/>
          </a:xfrm>
        </p:grpSpPr>
        <p:sp>
          <p:nvSpPr>
            <p:cNvPr name="Freeform 4" id="4" descr="/home/claude/deck3/img/d_nuvem.png"/>
            <p:cNvSpPr/>
            <p:nvPr/>
          </p:nvSpPr>
          <p:spPr>
            <a:xfrm flipH="false" flipV="false" rot="0">
              <a:off x="0" y="0"/>
              <a:ext cx="3108960" cy="2197100"/>
            </a:xfrm>
            <a:custGeom>
              <a:avLst/>
              <a:gdLst/>
              <a:ahLst/>
              <a:cxnLst/>
              <a:rect r="r" b="b" t="t" l="l"/>
              <a:pathLst>
                <a:path h="21971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2197100"/>
                  </a:lnTo>
                  <a:lnTo>
                    <a:pt x="0" y="219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t="0" r="-8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promessa e o desenho: a lei promete muito e garante pouco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9447" y="2075307"/>
            <a:ext cx="8056626" cy="2625090"/>
            <a:chOff x="0" y="0"/>
            <a:chExt cx="10742168" cy="3500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42168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3500120"/>
                  </a:lnTo>
                  <a:lnTo>
                    <a:pt x="0" y="35001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11054" y="1976914"/>
            <a:ext cx="8061388" cy="2629852"/>
            <a:chOff x="0" y="0"/>
            <a:chExt cx="10748518" cy="35064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48518" cy="3506470"/>
            </a:xfrm>
            <a:custGeom>
              <a:avLst/>
              <a:gdLst/>
              <a:ahLst/>
              <a:cxnLst/>
              <a:rect r="r" b="b" t="t" l="l"/>
              <a:pathLst>
                <a:path h="3506470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3506470"/>
                  </a:lnTo>
                  <a:lnTo>
                    <a:pt x="0" y="35064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34440" y="2235708"/>
            <a:ext cx="726948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Art. 1º, § 3º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4440" y="2852928"/>
            <a:ext cx="72694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PNED se define como “instância de articulação”, que não substitui as políticas de infraestrutura digital e conectividade.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13367" y="2075307"/>
            <a:ext cx="8056626" cy="2625090"/>
            <a:chOff x="0" y="0"/>
            <a:chExt cx="10742168" cy="3500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42168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3500120"/>
                  </a:lnTo>
                  <a:lnTo>
                    <a:pt x="0" y="35001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314974" y="1976914"/>
            <a:ext cx="8061388" cy="2629852"/>
            <a:chOff x="0" y="0"/>
            <a:chExt cx="10748518" cy="35064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48518" cy="3506470"/>
            </a:xfrm>
            <a:custGeom>
              <a:avLst/>
              <a:gdLst/>
              <a:ahLst/>
              <a:cxnLst/>
              <a:rect r="r" b="b" t="t" l="l"/>
              <a:pathLst>
                <a:path h="3506470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3506470"/>
                  </a:lnTo>
                  <a:lnTo>
                    <a:pt x="0" y="35064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9738360" y="2235708"/>
            <a:ext cx="726948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Art. 2º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38360" y="2852928"/>
            <a:ext cx="72694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O eixo de inclusão digital, onde está a conectividade das escolas, se desenvolve “dentro dos limites orçamentários” de cada órgão envolvido.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9447" y="4983099"/>
            <a:ext cx="8056626" cy="2625090"/>
            <a:chOff x="0" y="0"/>
            <a:chExt cx="10742168" cy="3500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42168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3500120"/>
                  </a:lnTo>
                  <a:lnTo>
                    <a:pt x="0" y="35001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11054" y="4884706"/>
            <a:ext cx="8061388" cy="2629852"/>
            <a:chOff x="0" y="0"/>
            <a:chExt cx="10748518" cy="35064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48518" cy="3506470"/>
            </a:xfrm>
            <a:custGeom>
              <a:avLst/>
              <a:gdLst/>
              <a:ahLst/>
              <a:cxnLst/>
              <a:rect r="r" b="b" t="t" l="l"/>
              <a:pathLst>
                <a:path h="3506470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3506470"/>
                  </a:lnTo>
                  <a:lnTo>
                    <a:pt x="0" y="35064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34440" y="5143500"/>
            <a:ext cx="726948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Art. 11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4440" y="5760720"/>
            <a:ext cx="72694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Fontes: dotações dos entes, doações, FUST e Funttel. Nenhum fundo próprio e nenhuma transferência obrigatória aos municípios.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413367" y="4983099"/>
            <a:ext cx="8056626" cy="2625090"/>
            <a:chOff x="0" y="0"/>
            <a:chExt cx="10742168" cy="3500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42168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3500120"/>
                  </a:lnTo>
                  <a:lnTo>
                    <a:pt x="0" y="35001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314974" y="4884706"/>
            <a:ext cx="8061388" cy="2629852"/>
            <a:chOff x="0" y="0"/>
            <a:chExt cx="10748518" cy="35064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48518" cy="3506470"/>
            </a:xfrm>
            <a:custGeom>
              <a:avLst/>
              <a:gdLst/>
              <a:ahLst/>
              <a:cxnLst/>
              <a:rect r="r" b="b" t="t" l="l"/>
              <a:pathLst>
                <a:path h="3506470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3506470"/>
                  </a:lnTo>
                  <a:lnTo>
                    <a:pt x="0" y="35064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9738360" y="5143500"/>
            <a:ext cx="726948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Art. 3º, § 1º, IX e X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38360" y="5760720"/>
            <a:ext cx="72694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formação de professores aparece como ação de promoção, sem responsáveis, prazos, carga horária ou custeio.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13435" y="7945755"/>
            <a:ext cx="16656558" cy="1390650"/>
            <a:chOff x="0" y="0"/>
            <a:chExt cx="22208744" cy="1854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208744" cy="1854200"/>
            </a:xfrm>
            <a:custGeom>
              <a:avLst/>
              <a:gdLst/>
              <a:ahLst/>
              <a:cxnLst/>
              <a:rect r="r" b="b" t="t" l="l"/>
              <a:pathLst>
                <a:path h="185420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34440" y="7955280"/>
            <a:ext cx="15910560" cy="1371600"/>
            <a:chOff x="0" y="0"/>
            <a:chExt cx="21214080" cy="1828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2140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21214080" cy="1819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B8420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Vazio material: </a:t>
              </a:r>
              <a:r>
                <a:rPr lang="en-US" sz="240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lei declara o direito e deixa os meios a cargo de cada ente; a exigência tem data e os meios não têm. Para a tese, esse texto delimita o espaço de interpretação (a), as condições que podem faltar (b), as situações em que surgem formas de atuação (c) e as promessas às crianças (d).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Mainardes (2006); Ball (2004): performatividade.   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Brasil (2023a).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Pipa de hoje: o antigo e o conectado no mesmo lugar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9447" y="2034159"/>
            <a:ext cx="6233544" cy="5299710"/>
            <a:chOff x="0" y="0"/>
            <a:chExt cx="8311392" cy="7066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11392" cy="7066280"/>
            </a:xfrm>
            <a:custGeom>
              <a:avLst/>
              <a:gdLst/>
              <a:ahLst/>
              <a:cxnLst/>
              <a:rect r="r" b="b" t="t" l="l"/>
              <a:pathLst>
                <a:path h="7066280" w="8311392">
                  <a:moveTo>
                    <a:pt x="0" y="0"/>
                  </a:moveTo>
                  <a:lnTo>
                    <a:pt x="8311392" y="0"/>
                  </a:lnTo>
                  <a:lnTo>
                    <a:pt x="8311392" y="7066280"/>
                  </a:lnTo>
                  <a:lnTo>
                    <a:pt x="0" y="7066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09447" y="1947672"/>
            <a:ext cx="6019343" cy="5280660"/>
            <a:chOff x="0" y="0"/>
            <a:chExt cx="8025791" cy="7040880"/>
          </a:xfrm>
        </p:grpSpPr>
        <p:sp>
          <p:nvSpPr>
            <p:cNvPr name="Freeform 14" id="14" descr="/home/claude/deck3/img/pipa_aerea.jpg"/>
            <p:cNvSpPr/>
            <p:nvPr/>
          </p:nvSpPr>
          <p:spPr>
            <a:xfrm flipH="false" flipV="false" rot="0">
              <a:off x="0" y="0"/>
              <a:ext cx="8025791" cy="7040880"/>
            </a:xfrm>
            <a:custGeom>
              <a:avLst/>
              <a:gdLst/>
              <a:ahLst/>
              <a:cxnLst/>
              <a:rect r="r" b="b" t="t" l="l"/>
              <a:pathLst>
                <a:path h="7040880" w="8025791">
                  <a:moveTo>
                    <a:pt x="0" y="0"/>
                  </a:moveTo>
                  <a:lnTo>
                    <a:pt x="8025791" y="0"/>
                  </a:lnTo>
                  <a:lnTo>
                    <a:pt x="8025791" y="7040880"/>
                  </a:lnTo>
                  <a:lnTo>
                    <a:pt x="0" y="704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84" t="0" r="-10384" b="-152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277080" y="2097976"/>
            <a:ext cx="5670042" cy="5299710"/>
            <a:chOff x="0" y="0"/>
            <a:chExt cx="7560056" cy="7066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60056" cy="7066280"/>
            </a:xfrm>
            <a:custGeom>
              <a:avLst/>
              <a:gdLst/>
              <a:ahLst/>
              <a:cxnLst/>
              <a:rect r="r" b="b" t="t" l="l"/>
              <a:pathLst>
                <a:path h="7066280" w="7560056">
                  <a:moveTo>
                    <a:pt x="0" y="0"/>
                  </a:moveTo>
                  <a:lnTo>
                    <a:pt x="7560056" y="0"/>
                  </a:lnTo>
                  <a:lnTo>
                    <a:pt x="7560056" y="7066280"/>
                  </a:lnTo>
                  <a:lnTo>
                    <a:pt x="0" y="7066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1246" y="2057972"/>
            <a:ext cx="5650992" cy="5280660"/>
            <a:chOff x="0" y="0"/>
            <a:chExt cx="7534656" cy="7040880"/>
          </a:xfrm>
        </p:grpSpPr>
        <p:sp>
          <p:nvSpPr>
            <p:cNvPr name="Freeform 18" id="18" descr="/home/claude/deck3/img/fig20.jpg"/>
            <p:cNvSpPr/>
            <p:nvPr/>
          </p:nvSpPr>
          <p:spPr>
            <a:xfrm flipH="false" flipV="false" rot="0">
              <a:off x="0" y="0"/>
              <a:ext cx="7534656" cy="7040880"/>
            </a:xfrm>
            <a:custGeom>
              <a:avLst/>
              <a:gdLst/>
              <a:ahLst/>
              <a:cxnLst/>
              <a:rect r="r" b="b" t="t" l="l"/>
              <a:pathLst>
                <a:path h="7040880" w="7534656">
                  <a:moveTo>
                    <a:pt x="0" y="0"/>
                  </a:moveTo>
                  <a:lnTo>
                    <a:pt x="7534656" y="0"/>
                  </a:lnTo>
                  <a:lnTo>
                    <a:pt x="7534656" y="7040880"/>
                  </a:lnTo>
                  <a:lnTo>
                    <a:pt x="0" y="704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6757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13435" y="7945755"/>
            <a:ext cx="16656558" cy="1390650"/>
            <a:chOff x="0" y="0"/>
            <a:chExt cx="22208744" cy="1854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208744" cy="1854200"/>
            </a:xfrm>
            <a:custGeom>
              <a:avLst/>
              <a:gdLst/>
              <a:ahLst/>
              <a:cxnLst/>
              <a:rect r="r" b="b" t="t" l="l"/>
              <a:pathLst>
                <a:path h="185420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34440" y="7955280"/>
            <a:ext cx="15910560" cy="1371600"/>
            <a:chOff x="0" y="0"/>
            <a:chExt cx="21214080" cy="182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2140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21408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Habitar o digital: </a:t>
              </a:r>
              <a:r>
                <a:rPr lang="en-US" sz="225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formulação própria da tese, construída com Schlemmer et al. (2021), Di Felice (2009), Santos e Massey. Em Pipa, o digital atravessa o turismo, de reservas a pagamentos, enquanto a pesca segue no mesmo mar, e se distribui de modo desigual entre famílias, espaços e a escola.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-480000">
            <a:off x="16459200" y="144937"/>
            <a:ext cx="1371600" cy="1767526"/>
            <a:chOff x="0" y="0"/>
            <a:chExt cx="1828800" cy="2356701"/>
          </a:xfrm>
        </p:grpSpPr>
        <p:sp>
          <p:nvSpPr>
            <p:cNvPr name="Freeform 25" id="25" descr="/home/claude/deck3/img/d_globo.png"/>
            <p:cNvSpPr/>
            <p:nvPr/>
          </p:nvSpPr>
          <p:spPr>
            <a:xfrm flipH="false" flipV="false" rot="0">
              <a:off x="0" y="0"/>
              <a:ext cx="1828800" cy="2356739"/>
            </a:xfrm>
            <a:custGeom>
              <a:avLst/>
              <a:gdLst/>
              <a:ahLst/>
              <a:cxnLst/>
              <a:rect r="r" b="b" t="t" l="l"/>
              <a:pathLst>
                <a:path h="2356739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356739"/>
                  </a:lnTo>
                  <a:lnTo>
                    <a:pt x="0" y="235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2" t="0" r="-22" b="1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6269" y="2057972"/>
            <a:ext cx="4121699" cy="5170360"/>
            <a:chOff x="0" y="0"/>
            <a:chExt cx="5495598" cy="689381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95598" cy="6893814"/>
            </a:xfrm>
            <a:custGeom>
              <a:avLst/>
              <a:gdLst/>
              <a:ahLst/>
              <a:cxnLst/>
              <a:rect r="r" b="b" t="t" l="l"/>
              <a:pathLst>
                <a:path h="6893814" w="5495598">
                  <a:moveTo>
                    <a:pt x="0" y="0"/>
                  </a:moveTo>
                  <a:lnTo>
                    <a:pt x="5495598" y="0"/>
                  </a:lnTo>
                  <a:lnTo>
                    <a:pt x="5495598" y="6893814"/>
                  </a:lnTo>
                  <a:lnTo>
                    <a:pt x="0" y="6893814"/>
                  </a:lnTo>
                  <a:close/>
                </a:path>
              </a:pathLst>
            </a:custGeom>
            <a:blipFill>
              <a:blip r:embed="rId7"/>
              <a:stretch>
                <a:fillRect l="0" t="-8519" r="0" b="-30946"/>
              </a:stretch>
            </a:blip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7546269" y="7397686"/>
            <a:ext cx="412169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Pescador em Pipa hoje (Figura 21)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28735" y="7492936"/>
            <a:ext cx="5650992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Passeios na baía (Figura 20)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Schlemmer et al. (2021) e Di Felice (2009): habitar; Santos (1999): território usado; Massey (2008): lugar como encontro de trajetórias.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acervo da pesquisa (2026); Figura 19: divulgação turística em redes sociais.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5360" y="7517892"/>
            <a:ext cx="72694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Vista contemporânea de Pipa (Figura 15)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720000">
            <a:off x="16520922" y="140475"/>
            <a:ext cx="1303020" cy="1777651"/>
            <a:chOff x="0" y="0"/>
            <a:chExt cx="1737360" cy="2370201"/>
          </a:xfrm>
        </p:grpSpPr>
        <p:sp>
          <p:nvSpPr>
            <p:cNvPr name="Freeform 4" id="4" descr="/home/claude/deck3/img/d_interrog.png"/>
            <p:cNvSpPr/>
            <p:nvPr/>
          </p:nvSpPr>
          <p:spPr>
            <a:xfrm flipH="false" flipV="false" rot="0">
              <a:off x="0" y="0"/>
              <a:ext cx="1737360" cy="2370201"/>
            </a:xfrm>
            <a:custGeom>
              <a:avLst/>
              <a:gdLst/>
              <a:ahLst/>
              <a:cxnLst/>
              <a:rect r="r" b="b" t="t" l="l"/>
              <a:pathLst>
                <a:path h="2370201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2370201"/>
                  </a:lnTo>
                  <a:lnTo>
                    <a:pt x="0" y="2370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" r="0" b="-3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Dimensão material: o que existe na escola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9447" y="2034159"/>
            <a:ext cx="5313426" cy="3173730"/>
            <a:chOff x="0" y="0"/>
            <a:chExt cx="7084568" cy="4231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84568" cy="4231640"/>
            </a:xfrm>
            <a:custGeom>
              <a:avLst/>
              <a:gdLst/>
              <a:ahLst/>
              <a:cxnLst/>
              <a:rect r="r" b="b" t="t" l="l"/>
              <a:pathLst>
                <a:path h="423164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231640"/>
                  </a:lnTo>
                  <a:lnTo>
                    <a:pt x="0" y="42316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1947672"/>
            <a:ext cx="5294376" cy="3154680"/>
            <a:chOff x="0" y="0"/>
            <a:chExt cx="7059168" cy="4206240"/>
          </a:xfrm>
        </p:grpSpPr>
        <p:sp>
          <p:nvSpPr>
            <p:cNvPr name="Freeform 16" id="16" descr="/home/claude/deck3/img/laboratorio.jpg"/>
            <p:cNvSpPr/>
            <p:nvPr/>
          </p:nvSpPr>
          <p:spPr>
            <a:xfrm flipH="false" flipV="false" rot="0">
              <a:off x="0" y="0"/>
              <a:ext cx="7059168" cy="4206240"/>
            </a:xfrm>
            <a:custGeom>
              <a:avLst/>
              <a:gdLst/>
              <a:ahLst/>
              <a:cxnLst/>
              <a:rect r="r" b="b" t="t" l="l"/>
              <a:pathLst>
                <a:path h="4206240" w="7059168">
                  <a:moveTo>
                    <a:pt x="0" y="0"/>
                  </a:moveTo>
                  <a:lnTo>
                    <a:pt x="7059168" y="0"/>
                  </a:lnTo>
                  <a:lnTo>
                    <a:pt x="7059168" y="4206240"/>
                  </a:lnTo>
                  <a:lnTo>
                    <a:pt x="0" y="4206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929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11054" y="1935766"/>
            <a:ext cx="5318188" cy="3178492"/>
            <a:chOff x="0" y="0"/>
            <a:chExt cx="7090918" cy="42379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90918" cy="4237990"/>
            </a:xfrm>
            <a:custGeom>
              <a:avLst/>
              <a:gdLst/>
              <a:ahLst/>
              <a:cxnLst/>
              <a:rect r="r" b="b" t="t" l="l"/>
              <a:pathLst>
                <a:path h="423799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237990"/>
                  </a:lnTo>
                  <a:lnTo>
                    <a:pt x="0" y="42379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682" t="0" r="-26682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822960" y="5239512"/>
            <a:ext cx="5294376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Laboratório de informática (Figura 25)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533007" y="2034159"/>
            <a:ext cx="5313426" cy="3173730"/>
            <a:chOff x="0" y="0"/>
            <a:chExt cx="7084568" cy="4231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84568" cy="4231640"/>
            </a:xfrm>
            <a:custGeom>
              <a:avLst/>
              <a:gdLst/>
              <a:ahLst/>
              <a:cxnLst/>
              <a:rect r="r" b="b" t="t" l="l"/>
              <a:pathLst>
                <a:path h="423164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231640"/>
                  </a:lnTo>
                  <a:lnTo>
                    <a:pt x="0" y="42316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446520" y="1947672"/>
            <a:ext cx="5294376" cy="3154680"/>
            <a:chOff x="0" y="0"/>
            <a:chExt cx="7059168" cy="4206240"/>
          </a:xfrm>
        </p:grpSpPr>
        <p:sp>
          <p:nvSpPr>
            <p:cNvPr name="Freeform 23" id="23" descr="/home/claude/deck3/img/sala_semicirculo.jpg"/>
            <p:cNvSpPr/>
            <p:nvPr/>
          </p:nvSpPr>
          <p:spPr>
            <a:xfrm flipH="false" flipV="false" rot="0">
              <a:off x="0" y="0"/>
              <a:ext cx="7059168" cy="4206240"/>
            </a:xfrm>
            <a:custGeom>
              <a:avLst/>
              <a:gdLst/>
              <a:ahLst/>
              <a:cxnLst/>
              <a:rect r="r" b="b" t="t" l="l"/>
              <a:pathLst>
                <a:path h="4206240" w="7059168">
                  <a:moveTo>
                    <a:pt x="0" y="0"/>
                  </a:moveTo>
                  <a:lnTo>
                    <a:pt x="7059168" y="0"/>
                  </a:lnTo>
                  <a:lnTo>
                    <a:pt x="7059168" y="4206240"/>
                  </a:lnTo>
                  <a:lnTo>
                    <a:pt x="0" y="4206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929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434614" y="1935766"/>
            <a:ext cx="5318188" cy="3178492"/>
            <a:chOff x="0" y="0"/>
            <a:chExt cx="7090918" cy="42379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90918" cy="4237990"/>
            </a:xfrm>
            <a:custGeom>
              <a:avLst/>
              <a:gdLst/>
              <a:ahLst/>
              <a:cxnLst/>
              <a:rect r="r" b="b" t="t" l="l"/>
              <a:pathLst>
                <a:path h="423799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237990"/>
                  </a:lnTo>
                  <a:lnTo>
                    <a:pt x="0" y="42379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682" t="0" r="-26682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6446520" y="5239512"/>
            <a:ext cx="5294376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Sala dos anos iniciais (Figura 34)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156567" y="2034159"/>
            <a:ext cx="5313426" cy="3173730"/>
            <a:chOff x="0" y="0"/>
            <a:chExt cx="7084568" cy="4231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84568" cy="4231640"/>
            </a:xfrm>
            <a:custGeom>
              <a:avLst/>
              <a:gdLst/>
              <a:ahLst/>
              <a:cxnLst/>
              <a:rect r="r" b="b" t="t" l="l"/>
              <a:pathLst>
                <a:path h="423164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231640"/>
                  </a:lnTo>
                  <a:lnTo>
                    <a:pt x="0" y="42316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070080" y="1947672"/>
            <a:ext cx="5294376" cy="3154680"/>
            <a:chOff x="0" y="0"/>
            <a:chExt cx="7059168" cy="4206240"/>
          </a:xfrm>
        </p:grpSpPr>
        <p:sp>
          <p:nvSpPr>
            <p:cNvPr name="Freeform 30" id="30" descr="/home/claude/deck3/img/alfabeto.jpg"/>
            <p:cNvSpPr/>
            <p:nvPr/>
          </p:nvSpPr>
          <p:spPr>
            <a:xfrm flipH="false" flipV="false" rot="0">
              <a:off x="0" y="0"/>
              <a:ext cx="7059168" cy="4206240"/>
            </a:xfrm>
            <a:custGeom>
              <a:avLst/>
              <a:gdLst/>
              <a:ahLst/>
              <a:cxnLst/>
              <a:rect r="r" b="b" t="t" l="l"/>
              <a:pathLst>
                <a:path h="4206240" w="7059168">
                  <a:moveTo>
                    <a:pt x="0" y="0"/>
                  </a:moveTo>
                  <a:lnTo>
                    <a:pt x="7059168" y="0"/>
                  </a:lnTo>
                  <a:lnTo>
                    <a:pt x="7059168" y="4206240"/>
                  </a:lnTo>
                  <a:lnTo>
                    <a:pt x="0" y="4206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5929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058174" y="1935766"/>
            <a:ext cx="5318188" cy="3178492"/>
            <a:chOff x="0" y="0"/>
            <a:chExt cx="7090918" cy="42379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90918" cy="4237990"/>
            </a:xfrm>
            <a:custGeom>
              <a:avLst/>
              <a:gdLst/>
              <a:ahLst/>
              <a:cxnLst/>
              <a:rect r="r" b="b" t="t" l="l"/>
              <a:pathLst>
                <a:path h="423799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237990"/>
                  </a:lnTo>
                  <a:lnTo>
                    <a:pt x="0" y="42379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682" t="0" r="-26682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2070080" y="5239512"/>
            <a:ext cx="5294376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Alfabeto móvel feito à mão (Figura 37)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09447" y="5984367"/>
            <a:ext cx="8056626" cy="1555242"/>
            <a:chOff x="0" y="0"/>
            <a:chExt cx="10742168" cy="20736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42168" cy="2073656"/>
            </a:xfrm>
            <a:custGeom>
              <a:avLst/>
              <a:gdLst/>
              <a:ahLst/>
              <a:cxnLst/>
              <a:rect r="r" b="b" t="t" l="l"/>
              <a:pathLst>
                <a:path h="2073656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811054" y="5885974"/>
            <a:ext cx="8061388" cy="1560004"/>
            <a:chOff x="0" y="0"/>
            <a:chExt cx="10748518" cy="20800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48518" cy="2080006"/>
            </a:xfrm>
            <a:custGeom>
              <a:avLst/>
              <a:gdLst/>
              <a:ahLst/>
              <a:cxnLst/>
              <a:rect r="r" b="b" t="t" l="l"/>
              <a:pathLst>
                <a:path h="2080006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2080006"/>
                  </a:lnTo>
                  <a:lnTo>
                    <a:pt x="0" y="2080006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19175" y="6190107"/>
            <a:ext cx="842010" cy="842010"/>
            <a:chOff x="0" y="0"/>
            <a:chExt cx="1122680" cy="1122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42670" y="6413602"/>
            <a:ext cx="395021" cy="395021"/>
            <a:chOff x="0" y="0"/>
            <a:chExt cx="526694" cy="526694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" b="-4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2084832" y="5980176"/>
            <a:ext cx="65836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Laboratório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084832" y="6456045"/>
            <a:ext cx="658368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Computadores desligados no registro. Origem (Prefeitura, 2022) e registros de uso: informação preliminar, a verificar nos documentos.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413367" y="5984367"/>
            <a:ext cx="8056626" cy="1555242"/>
            <a:chOff x="0" y="0"/>
            <a:chExt cx="10742168" cy="20736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742168" cy="2073656"/>
            </a:xfrm>
            <a:custGeom>
              <a:avLst/>
              <a:gdLst/>
              <a:ahLst/>
              <a:cxnLst/>
              <a:rect r="r" b="b" t="t" l="l"/>
              <a:pathLst>
                <a:path h="2073656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314974" y="5885974"/>
            <a:ext cx="8061388" cy="1560004"/>
            <a:chOff x="0" y="0"/>
            <a:chExt cx="10748518" cy="208000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748518" cy="2080006"/>
            </a:xfrm>
            <a:custGeom>
              <a:avLst/>
              <a:gdLst/>
              <a:ahLst/>
              <a:cxnLst/>
              <a:rect r="r" b="b" t="t" l="l"/>
              <a:pathLst>
                <a:path h="2080006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2080006"/>
                  </a:lnTo>
                  <a:lnTo>
                    <a:pt x="0" y="2080006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523095" y="6190107"/>
            <a:ext cx="842010" cy="842010"/>
            <a:chOff x="0" y="0"/>
            <a:chExt cx="1122680" cy="11226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746590" y="6413602"/>
            <a:ext cx="395021" cy="395021"/>
            <a:chOff x="0" y="0"/>
            <a:chExt cx="526694" cy="526694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4" b="-4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0588752" y="5980176"/>
            <a:ext cx="65836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Conectividade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588752" y="6456045"/>
            <a:ext cx="658368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Informação preliminar: duas conexões, uma administrativa (município) e uma educacional (verba anual da PIEC). A verificar nos documentos.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09447" y="7726299"/>
            <a:ext cx="8056626" cy="1555242"/>
            <a:chOff x="0" y="0"/>
            <a:chExt cx="10742168" cy="20736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742168" cy="2073656"/>
            </a:xfrm>
            <a:custGeom>
              <a:avLst/>
              <a:gdLst/>
              <a:ahLst/>
              <a:cxnLst/>
              <a:rect r="r" b="b" t="t" l="l"/>
              <a:pathLst>
                <a:path h="2073656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811054" y="7627906"/>
            <a:ext cx="8061388" cy="1560004"/>
            <a:chOff x="0" y="0"/>
            <a:chExt cx="10748518" cy="208000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748518" cy="2080006"/>
            </a:xfrm>
            <a:custGeom>
              <a:avLst/>
              <a:gdLst/>
              <a:ahLst/>
              <a:cxnLst/>
              <a:rect r="r" b="b" t="t" l="l"/>
              <a:pathLst>
                <a:path h="2080006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2080006"/>
                  </a:lnTo>
                  <a:lnTo>
                    <a:pt x="0" y="2080006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019175" y="7932039"/>
            <a:ext cx="842010" cy="842010"/>
            <a:chOff x="0" y="0"/>
            <a:chExt cx="1122680" cy="11226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242670" y="8155534"/>
            <a:ext cx="395021" cy="395021"/>
            <a:chOff x="0" y="0"/>
            <a:chExt cx="526694" cy="526694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4" b="-4"/>
              </a:stretch>
            </a:blip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2084832" y="7722108"/>
            <a:ext cx="65836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Uso compartilhado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084832" y="8197977"/>
            <a:ext cx="658368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Informação preliminar: um único kit multimídia (televisão, projetor e notebook) para toda a escola. A verificar nos registros de aquisição.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317355" y="7630287"/>
            <a:ext cx="8056626" cy="1555242"/>
            <a:chOff x="0" y="0"/>
            <a:chExt cx="10742168" cy="20736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742168" cy="2073656"/>
            </a:xfrm>
            <a:custGeom>
              <a:avLst/>
              <a:gdLst/>
              <a:ahLst/>
              <a:cxnLst/>
              <a:rect r="r" b="b" t="t" l="l"/>
              <a:pathLst>
                <a:path h="2073656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9523095" y="7932039"/>
            <a:ext cx="842010" cy="842010"/>
            <a:chOff x="0" y="0"/>
            <a:chExt cx="1122680" cy="11226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746590" y="8155534"/>
            <a:ext cx="395021" cy="395021"/>
            <a:chOff x="0" y="0"/>
            <a:chExt cx="526694" cy="526694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4" b="-4"/>
              </a:stretch>
            </a:blip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10588752" y="7722108"/>
            <a:ext cx="65836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Salas de 1º e 2º anos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588752" y="8197977"/>
            <a:ext cx="658368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Nenhum dispositivo digital. Predominam recursos impressos e artesanais.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Ball, Maguire e Braun (2016): dimensão material; Valente (1999): instalar computadores sem preparo não traz os benefícios esperados.   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acervo da pesquisa (2026); informações preliminares, a verificar na análise documental.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600000">
            <a:off x="16894683" y="-301752"/>
            <a:ext cx="1577340" cy="1760420"/>
            <a:chOff x="0" y="0"/>
            <a:chExt cx="2103120" cy="2347227"/>
          </a:xfrm>
        </p:grpSpPr>
        <p:sp>
          <p:nvSpPr>
            <p:cNvPr name="Freeform 4" id="4" descr="/home/claude/deck3/img/d_lampada.png"/>
            <p:cNvSpPr/>
            <p:nvPr/>
          </p:nvSpPr>
          <p:spPr>
            <a:xfrm flipH="false" flipV="false" rot="0">
              <a:off x="0" y="0"/>
              <a:ext cx="2103120" cy="2347214"/>
            </a:xfrm>
            <a:custGeom>
              <a:avLst/>
              <a:gdLst/>
              <a:ahLst/>
              <a:cxnLst/>
              <a:rect r="r" b="b" t="t" l="l"/>
              <a:pathLst>
                <a:path h="234721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2347214"/>
                  </a:lnTo>
                  <a:lnTo>
                    <a:pt x="0" y="2347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t="0" r="-1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5361920" cy="1303020"/>
            <a:chOff x="0" y="0"/>
            <a:chExt cx="20482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82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9718" r="0" b="-17971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482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Onde estamos e o que falta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116455"/>
            <a:ext cx="1692402" cy="2241042"/>
            <a:chOff x="0" y="0"/>
            <a:chExt cx="2256536" cy="29880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6536" cy="2988056"/>
            </a:xfrm>
            <a:custGeom>
              <a:avLst/>
              <a:gdLst/>
              <a:ahLst/>
              <a:cxnLst/>
              <a:rect r="r" b="b" t="t" l="l"/>
              <a:pathLst>
                <a:path h="2988056" w="2256536">
                  <a:moveTo>
                    <a:pt x="0" y="0"/>
                  </a:moveTo>
                  <a:lnTo>
                    <a:pt x="2256536" y="0"/>
                  </a:lnTo>
                  <a:lnTo>
                    <a:pt x="2256536" y="2988056"/>
                  </a:lnTo>
                  <a:lnTo>
                    <a:pt x="0" y="29880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26464" y="2276856"/>
            <a:ext cx="466344" cy="466344"/>
            <a:chOff x="0" y="0"/>
            <a:chExt cx="621792" cy="62179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05256" y="2811780"/>
            <a:ext cx="1508760" cy="987552"/>
            <a:chOff x="0" y="0"/>
            <a:chExt cx="2011680" cy="13167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980" t="0" r="-3398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01168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Revisão sistemática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05256" y="3840480"/>
            <a:ext cx="15087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Cap. 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596515" y="2116455"/>
            <a:ext cx="1692402" cy="2241042"/>
            <a:chOff x="0" y="0"/>
            <a:chExt cx="2256536" cy="29880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56536" cy="2988056"/>
            </a:xfrm>
            <a:custGeom>
              <a:avLst/>
              <a:gdLst/>
              <a:ahLst/>
              <a:cxnLst/>
              <a:rect r="r" b="b" t="t" l="l"/>
              <a:pathLst>
                <a:path h="2988056" w="2256536">
                  <a:moveTo>
                    <a:pt x="0" y="0"/>
                  </a:moveTo>
                  <a:lnTo>
                    <a:pt x="2256536" y="0"/>
                  </a:lnTo>
                  <a:lnTo>
                    <a:pt x="2256536" y="2988056"/>
                  </a:lnTo>
                  <a:lnTo>
                    <a:pt x="0" y="29880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209544" y="2276856"/>
            <a:ext cx="466344" cy="466344"/>
            <a:chOff x="0" y="0"/>
            <a:chExt cx="621792" cy="621792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688336" y="2811780"/>
            <a:ext cx="1508760" cy="987552"/>
            <a:chOff x="0" y="0"/>
            <a:chExt cx="2011680" cy="13167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16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980" t="0" r="-3398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01168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Metodologia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688336" y="3840480"/>
            <a:ext cx="15087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Cap. 4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379595" y="2116455"/>
            <a:ext cx="1692402" cy="2241042"/>
            <a:chOff x="0" y="0"/>
            <a:chExt cx="2256536" cy="29880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56536" cy="2988056"/>
            </a:xfrm>
            <a:custGeom>
              <a:avLst/>
              <a:gdLst/>
              <a:ahLst/>
              <a:cxnLst/>
              <a:rect r="r" b="b" t="t" l="l"/>
              <a:pathLst>
                <a:path h="2988056" w="2256536">
                  <a:moveTo>
                    <a:pt x="0" y="0"/>
                  </a:moveTo>
                  <a:lnTo>
                    <a:pt x="2256536" y="0"/>
                  </a:lnTo>
                  <a:lnTo>
                    <a:pt x="2256536" y="2988056"/>
                  </a:lnTo>
                  <a:lnTo>
                    <a:pt x="0" y="29880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992624" y="2276856"/>
            <a:ext cx="466344" cy="466344"/>
            <a:chOff x="0" y="0"/>
            <a:chExt cx="621792" cy="621792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471416" y="2811780"/>
            <a:ext cx="1508760" cy="987552"/>
            <a:chOff x="0" y="0"/>
            <a:chExt cx="2011680" cy="13167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16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980" t="0" r="-3398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01168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Texto da política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4471416" y="3840480"/>
            <a:ext cx="15087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Cap. 5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162675" y="2116455"/>
            <a:ext cx="1692402" cy="2241042"/>
            <a:chOff x="0" y="0"/>
            <a:chExt cx="2256536" cy="29880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56536" cy="2988056"/>
            </a:xfrm>
            <a:custGeom>
              <a:avLst/>
              <a:gdLst/>
              <a:ahLst/>
              <a:cxnLst/>
              <a:rect r="r" b="b" t="t" l="l"/>
              <a:pathLst>
                <a:path h="2988056" w="2256536">
                  <a:moveTo>
                    <a:pt x="0" y="0"/>
                  </a:moveTo>
                  <a:lnTo>
                    <a:pt x="2256536" y="0"/>
                  </a:lnTo>
                  <a:lnTo>
                    <a:pt x="2256536" y="2988056"/>
                  </a:lnTo>
                  <a:lnTo>
                    <a:pt x="0" y="29880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775704" y="2276856"/>
            <a:ext cx="466344" cy="466344"/>
            <a:chOff x="0" y="0"/>
            <a:chExt cx="621792" cy="621792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254496" y="2811780"/>
            <a:ext cx="1508760" cy="987552"/>
            <a:chOff x="0" y="0"/>
            <a:chExt cx="2011680" cy="13167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116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980" t="0" r="-3398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01168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Território e escola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6254496" y="3840480"/>
            <a:ext cx="15087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Cap. 6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041767" y="2212467"/>
            <a:ext cx="1692402" cy="2241042"/>
            <a:chOff x="0" y="0"/>
            <a:chExt cx="2256536" cy="29880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56536" cy="2988056"/>
            </a:xfrm>
            <a:custGeom>
              <a:avLst/>
              <a:gdLst/>
              <a:ahLst/>
              <a:cxnLst/>
              <a:rect r="r" b="b" t="t" l="l"/>
              <a:pathLst>
                <a:path h="2988056" w="2256536">
                  <a:moveTo>
                    <a:pt x="0" y="0"/>
                  </a:moveTo>
                  <a:lnTo>
                    <a:pt x="2256536" y="0"/>
                  </a:lnTo>
                  <a:lnTo>
                    <a:pt x="2256536" y="2988056"/>
                  </a:lnTo>
                  <a:lnTo>
                    <a:pt x="0" y="29880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7943374" y="2114074"/>
            <a:ext cx="1697164" cy="2245804"/>
            <a:chOff x="0" y="0"/>
            <a:chExt cx="2262886" cy="299440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62886" cy="2994406"/>
            </a:xfrm>
            <a:custGeom>
              <a:avLst/>
              <a:gdLst/>
              <a:ahLst/>
              <a:cxnLst/>
              <a:rect r="r" b="b" t="t" l="l"/>
              <a:pathLst>
                <a:path h="2994406" w="2262886">
                  <a:moveTo>
                    <a:pt x="0" y="0"/>
                  </a:moveTo>
                  <a:lnTo>
                    <a:pt x="2262886" y="0"/>
                  </a:lnTo>
                  <a:lnTo>
                    <a:pt x="2262886" y="2994406"/>
                  </a:lnTo>
                  <a:lnTo>
                    <a:pt x="0" y="2994406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8037576" y="2331720"/>
            <a:ext cx="1508760" cy="1234440"/>
            <a:chOff x="0" y="0"/>
            <a:chExt cx="2011680" cy="1645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116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01168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Cultura e cibercultura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055483" y="3721227"/>
            <a:ext cx="1472946" cy="485394"/>
            <a:chOff x="0" y="0"/>
            <a:chExt cx="1963928" cy="6471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63928" cy="647192"/>
            </a:xfrm>
            <a:custGeom>
              <a:avLst/>
              <a:gdLst/>
              <a:ahLst/>
              <a:cxnLst/>
              <a:rect r="r" b="b" t="t" l="l"/>
              <a:pathLst>
                <a:path h="647192" w="1963928">
                  <a:moveTo>
                    <a:pt x="0" y="0"/>
                  </a:moveTo>
                  <a:lnTo>
                    <a:pt x="1963928" y="0"/>
                  </a:lnTo>
                  <a:lnTo>
                    <a:pt x="1963928" y="647192"/>
                  </a:lnTo>
                  <a:lnTo>
                    <a:pt x="0" y="647192"/>
                  </a:ln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8065008" y="3730752"/>
            <a:ext cx="1453896" cy="466344"/>
            <a:chOff x="0" y="0"/>
            <a:chExt cx="1938528" cy="6217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38528" cy="621792"/>
            </a:xfrm>
            <a:custGeom>
              <a:avLst/>
              <a:gdLst/>
              <a:ahLst/>
              <a:cxnLst/>
              <a:rect r="r" b="b" t="t" l="l"/>
              <a:pathLst>
                <a:path h="621792" w="1938528">
                  <a:moveTo>
                    <a:pt x="0" y="0"/>
                  </a:moveTo>
                  <a:lnTo>
                    <a:pt x="1938528" y="0"/>
                  </a:lnTo>
                  <a:lnTo>
                    <a:pt x="193852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47" r="0" b="-1074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938528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3 · em construção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687687" y="1842135"/>
            <a:ext cx="430530" cy="2830830"/>
            <a:chOff x="0" y="0"/>
            <a:chExt cx="574040" cy="3774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74040" cy="3774440"/>
            </a:xfrm>
            <a:custGeom>
              <a:avLst/>
              <a:gdLst/>
              <a:ahLst/>
              <a:cxnLst/>
              <a:rect r="r" b="b" t="t" l="l"/>
              <a:pathLst>
                <a:path h="3774440" w="574040">
                  <a:moveTo>
                    <a:pt x="0" y="0"/>
                  </a:moveTo>
                  <a:lnTo>
                    <a:pt x="574040" y="0"/>
                  </a:lnTo>
                  <a:lnTo>
                    <a:pt x="574040" y="3774440"/>
                  </a:lnTo>
                  <a:lnTo>
                    <a:pt x="0" y="3774440"/>
                  </a:ln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54" id="54"/>
          <p:cNvSpPr txBox="true"/>
          <p:nvPr/>
        </p:nvSpPr>
        <p:spPr>
          <a:xfrm rot="0">
            <a:off x="9217152" y="4732020"/>
            <a:ext cx="137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HOJE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0258996" y="2111692"/>
            <a:ext cx="1701927" cy="2250567"/>
            <a:chOff x="0" y="0"/>
            <a:chExt cx="2269236" cy="30007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69236" cy="3000756"/>
            </a:xfrm>
            <a:custGeom>
              <a:avLst/>
              <a:gdLst/>
              <a:ahLst/>
              <a:cxnLst/>
              <a:rect r="r" b="b" t="t" l="l"/>
              <a:pathLst>
                <a:path h="3000756" w="2269236">
                  <a:moveTo>
                    <a:pt x="0" y="0"/>
                  </a:moveTo>
                  <a:lnTo>
                    <a:pt x="2269236" y="0"/>
                  </a:lnTo>
                  <a:lnTo>
                    <a:pt x="2269236" y="3000756"/>
                  </a:lnTo>
                  <a:lnTo>
                    <a:pt x="0" y="30007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664" t="0" r="-119664" b="0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0355580" y="2331720"/>
            <a:ext cx="1508760" cy="1440180"/>
            <a:chOff x="0" y="0"/>
            <a:chExt cx="2011680" cy="19202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11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2471" t="0" r="-72471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201168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Emenda aprovada pelo CEP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042076" y="2111692"/>
            <a:ext cx="1701927" cy="2250567"/>
            <a:chOff x="0" y="0"/>
            <a:chExt cx="2269236" cy="30007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69236" cy="3000756"/>
            </a:xfrm>
            <a:custGeom>
              <a:avLst/>
              <a:gdLst/>
              <a:ahLst/>
              <a:cxnLst/>
              <a:rect r="r" b="b" t="t" l="l"/>
              <a:pathLst>
                <a:path h="3000756" w="2269236">
                  <a:moveTo>
                    <a:pt x="0" y="0"/>
                  </a:moveTo>
                  <a:lnTo>
                    <a:pt x="2269236" y="0"/>
                  </a:lnTo>
                  <a:lnTo>
                    <a:pt x="2269236" y="3000756"/>
                  </a:lnTo>
                  <a:lnTo>
                    <a:pt x="0" y="30007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664" t="0" r="-119664" b="0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2138660" y="2331720"/>
            <a:ext cx="1508760" cy="1440180"/>
            <a:chOff x="0" y="0"/>
            <a:chExt cx="2011680" cy="19202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11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2471" t="0" r="-72471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201168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Questionários e entrevistas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825156" y="2111692"/>
            <a:ext cx="1701927" cy="2250567"/>
            <a:chOff x="0" y="0"/>
            <a:chExt cx="2269236" cy="300075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69236" cy="3000756"/>
            </a:xfrm>
            <a:custGeom>
              <a:avLst/>
              <a:gdLst/>
              <a:ahLst/>
              <a:cxnLst/>
              <a:rect r="r" b="b" t="t" l="l"/>
              <a:pathLst>
                <a:path h="3000756" w="2269236">
                  <a:moveTo>
                    <a:pt x="0" y="0"/>
                  </a:moveTo>
                  <a:lnTo>
                    <a:pt x="2269236" y="0"/>
                  </a:lnTo>
                  <a:lnTo>
                    <a:pt x="2269236" y="3000756"/>
                  </a:lnTo>
                  <a:lnTo>
                    <a:pt x="0" y="30007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664" t="0" r="-119664" b="0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3921740" y="2331720"/>
            <a:ext cx="1508760" cy="1440180"/>
            <a:chOff x="0" y="0"/>
            <a:chExt cx="2011680" cy="19202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011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2471" t="0" r="-72471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201168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Análise no ATLAS.ti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3921740" y="3840480"/>
            <a:ext cx="15087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Cap. 7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5608237" y="2111692"/>
            <a:ext cx="1701927" cy="2250567"/>
            <a:chOff x="0" y="0"/>
            <a:chExt cx="2269236" cy="30007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69236" cy="3000756"/>
            </a:xfrm>
            <a:custGeom>
              <a:avLst/>
              <a:gdLst/>
              <a:ahLst/>
              <a:cxnLst/>
              <a:rect r="r" b="b" t="t" l="l"/>
              <a:pathLst>
                <a:path h="3000756" w="2269236">
                  <a:moveTo>
                    <a:pt x="0" y="0"/>
                  </a:moveTo>
                  <a:lnTo>
                    <a:pt x="2269236" y="0"/>
                  </a:lnTo>
                  <a:lnTo>
                    <a:pt x="2269236" y="3000756"/>
                  </a:lnTo>
                  <a:lnTo>
                    <a:pt x="0" y="30007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664" t="0" r="-119664" b="0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5704820" y="2331720"/>
            <a:ext cx="1508760" cy="1440180"/>
            <a:chOff x="0" y="0"/>
            <a:chExt cx="2011680" cy="19202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011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2471" t="0" r="-72471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201168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Considerações e devolutiva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5704820" y="3840480"/>
            <a:ext cx="15087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Cap. 8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909447" y="5504307"/>
            <a:ext cx="16560546" cy="3859530"/>
            <a:chOff x="0" y="0"/>
            <a:chExt cx="22080728" cy="51460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2080728" cy="5146040"/>
            </a:xfrm>
            <a:custGeom>
              <a:avLst/>
              <a:gdLst/>
              <a:ahLst/>
              <a:cxnLst/>
              <a:rect r="r" b="b" t="t" l="l"/>
              <a:pathLst>
                <a:path h="5146040" w="22080728">
                  <a:moveTo>
                    <a:pt x="0" y="0"/>
                  </a:moveTo>
                  <a:lnTo>
                    <a:pt x="22080728" y="0"/>
                  </a:lnTo>
                  <a:lnTo>
                    <a:pt x="22080728" y="5146040"/>
                  </a:lnTo>
                  <a:lnTo>
                    <a:pt x="0" y="51460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811054" y="5405914"/>
            <a:ext cx="16565308" cy="3864292"/>
            <a:chOff x="0" y="0"/>
            <a:chExt cx="22087078" cy="515239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2087078" cy="5152390"/>
            </a:xfrm>
            <a:custGeom>
              <a:avLst/>
              <a:gdLst/>
              <a:ahLst/>
              <a:cxnLst/>
              <a:rect r="r" b="b" t="t" l="l"/>
              <a:pathLst>
                <a:path h="5152390" w="22087078">
                  <a:moveTo>
                    <a:pt x="0" y="0"/>
                  </a:moveTo>
                  <a:lnTo>
                    <a:pt x="22087078" y="0"/>
                  </a:lnTo>
                  <a:lnTo>
                    <a:pt x="22087078" y="5152390"/>
                  </a:lnTo>
                  <a:lnTo>
                    <a:pt x="0" y="515239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81" id="81"/>
          <p:cNvSpPr txBox="true"/>
          <p:nvPr/>
        </p:nvSpPr>
        <p:spPr>
          <a:xfrm rot="0">
            <a:off x="1165860" y="5554980"/>
            <a:ext cx="82296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Pendências antes do campo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65860" y="6154293"/>
            <a:ext cx="7749540" cy="179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Emenda ao CEP com os novos instrumentos (questionário e roteiro)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Critérios de leitura das formas de atuação, datados e assinados antes da 1ª entrevista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Análise documental, ainda não feita: aquisição, conectividade e cadernos de uso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Aquisição do laboratório (2022), kit multimídia e manutenção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Documentos pedagógicos e registros de formação da Secretaria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326880" y="6154293"/>
            <a:ext cx="7749540" cy="300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Plano de aplicação e prestação de contas da PIEC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Respostas da escola ao Censo Escolar (microdados do INEP)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Receita e gasto em educação de Tibau do Sul (Siconfi/Finbra)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Testes de velocidade da conexão nas salas dos anos iniciais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Capítulo 3 em construção; número de turmas e de crianças do 1º ao 5º ano; páginas dos livros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Yin (2001): estudo de caso com múltiplas fontes; Resoluções CNS nº 466/2012 e nº 510/2016: tramitação ética.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4" id="4" descr="/home/claude/deck3/img/alfabeto.jp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66666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9525" y="9701403"/>
            <a:ext cx="6877050" cy="595122"/>
            <a:chOff x="0" y="0"/>
            <a:chExt cx="9169400" cy="7934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69400" cy="793496"/>
            </a:xfrm>
            <a:custGeom>
              <a:avLst/>
              <a:gdLst/>
              <a:ahLst/>
              <a:cxnLst/>
              <a:rect r="r" b="b" t="t" l="l"/>
              <a:pathLst>
                <a:path h="793496" w="9169400">
                  <a:moveTo>
                    <a:pt x="0" y="0"/>
                  </a:moveTo>
                  <a:lnTo>
                    <a:pt x="9169400" y="0"/>
                  </a:lnTo>
                  <a:lnTo>
                    <a:pt x="9169400" y="793496"/>
                  </a:lnTo>
                  <a:lnTo>
                    <a:pt x="0" y="793496"/>
                  </a:lnTo>
                  <a:close/>
                </a:path>
              </a:pathLst>
            </a:custGeom>
            <a:solidFill>
              <a:srgbClr val="141414">
                <a:alpha val="41961"/>
              </a:srgbClr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05740" y="9738360"/>
            <a:ext cx="6515100" cy="521208"/>
            <a:chOff x="0" y="0"/>
            <a:chExt cx="8686800" cy="6949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86800" cy="694944"/>
            </a:xfrm>
            <a:custGeom>
              <a:avLst/>
              <a:gdLst/>
              <a:ahLst/>
              <a:cxnLst/>
              <a:rect r="r" b="b" t="t" l="l"/>
              <a:pathLst>
                <a:path h="694944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686800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Alfabeto móvel feito à mão (Figura 37). Fonte: acervo da pesquisa (2026).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720000">
            <a:off x="15704820" y="-480060"/>
            <a:ext cx="2880360" cy="2035588"/>
            <a:chOff x="0" y="0"/>
            <a:chExt cx="3840480" cy="2714117"/>
          </a:xfrm>
        </p:grpSpPr>
        <p:sp>
          <p:nvSpPr>
            <p:cNvPr name="Freeform 11" id="11" descr="/home/claude/deck3/img/d_nuvem.png"/>
            <p:cNvSpPr/>
            <p:nvPr/>
          </p:nvSpPr>
          <p:spPr>
            <a:xfrm flipH="false" flipV="false" rot="0">
              <a:off x="0" y="0"/>
              <a:ext cx="3840480" cy="2714117"/>
            </a:xfrm>
            <a:custGeom>
              <a:avLst/>
              <a:gdLst/>
              <a:ahLst/>
              <a:cxnLst/>
              <a:rect r="r" b="b" t="t" l="l"/>
              <a:pathLst>
                <a:path h="2714117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2714117"/>
                  </a:lnTo>
                  <a:lnTo>
                    <a:pt x="0" y="27141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" t="0" r="-8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612380" y="617220"/>
            <a:ext cx="8229600" cy="1097280"/>
            <a:chOff x="0" y="0"/>
            <a:chExt cx="10972800" cy="1463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09728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QUESTÃO ABERTA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602855" y="1979295"/>
            <a:ext cx="9894570" cy="4956810"/>
            <a:chOff x="0" y="0"/>
            <a:chExt cx="13192760" cy="6609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92761" cy="6609080"/>
            </a:xfrm>
            <a:custGeom>
              <a:avLst/>
              <a:gdLst/>
              <a:ahLst/>
              <a:cxnLst/>
              <a:rect r="r" b="b" t="t" l="l"/>
              <a:pathLst>
                <a:path h="6609080" w="13192761">
                  <a:moveTo>
                    <a:pt x="0" y="0"/>
                  </a:moveTo>
                  <a:lnTo>
                    <a:pt x="13192761" y="0"/>
                  </a:lnTo>
                  <a:lnTo>
                    <a:pt x="13192761" y="6609080"/>
                  </a:lnTo>
                  <a:lnTo>
                    <a:pt x="0" y="6609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8023860" y="2194560"/>
            <a:ext cx="9121140" cy="157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política fez da educação digital um direito e deixou os meios na dependência de cada ente federado. A literatura sabe que os recursos faltam. A pergunta de fundo, que só as narrativas podem responder, é: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023860" y="3771900"/>
            <a:ext cx="9121140" cy="2194560"/>
            <a:chOff x="0" y="0"/>
            <a:chExt cx="12161520" cy="2926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615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2161520">
                  <a:moveTo>
                    <a:pt x="0" y="0"/>
                  </a:moveTo>
                  <a:lnTo>
                    <a:pt x="12161520" y="0"/>
                  </a:lnTo>
                  <a:lnTo>
                    <a:pt x="121615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84" r="0" b="-3098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2161520" cy="2926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b="true" sz="3150" i="true">
                  <a:solidFill>
                    <a:srgbClr val="1A1A1A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Quando a política não faz chegar o equipamento nem a formação, quem paga, no silêncio do cotidiano escolar, o preço dessa ausência?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023860" y="6025515"/>
            <a:ext cx="912114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 i="true">
                <a:solidFill>
                  <a:srgbClr val="3942B5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 o que isso significa para os direitos que a lei prometeu às crianças?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612380" y="7338060"/>
            <a:ext cx="7680960" cy="1097280"/>
            <a:chOff x="0" y="0"/>
            <a:chExt cx="1024128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1024128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MUITO OBRIGADA!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612380" y="8494395"/>
            <a:ext cx="768096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Ma. Yzynya Silva Rezende Machado</a:t>
            </a:r>
          </a:p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Orientadora: Dra. Maria Cristina Leandro de Paiva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5567660" y="7338060"/>
            <a:ext cx="2331720" cy="2496483"/>
            <a:chOff x="0" y="0"/>
            <a:chExt cx="3108960" cy="3328645"/>
          </a:xfrm>
        </p:grpSpPr>
        <p:sp>
          <p:nvSpPr>
            <p:cNvPr name="Freeform 27" id="27" descr="/home/claude/deck3/img/d_joinha.png"/>
            <p:cNvSpPr/>
            <p:nvPr/>
          </p:nvSpPr>
          <p:spPr>
            <a:xfrm flipH="false" flipV="false" rot="0">
              <a:off x="0" y="0"/>
              <a:ext cx="3108960" cy="3328670"/>
            </a:xfrm>
            <a:custGeom>
              <a:avLst/>
              <a:gdLst/>
              <a:ahLst/>
              <a:cxnLst/>
              <a:rect r="r" b="b" t="t" l="l"/>
              <a:pathLst>
                <a:path h="332867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328670"/>
                  </a:lnTo>
                  <a:lnTo>
                    <a:pt x="0" y="3328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" t="0" r="-14" b="0"/>
              </a:stretch>
            </a:blipFill>
          </p:spPr>
        </p:sp>
      </p:grp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480000">
            <a:off x="17007840" y="-301752"/>
            <a:ext cx="1371600" cy="1767526"/>
            <a:chOff x="0" y="0"/>
            <a:chExt cx="1828800" cy="2356701"/>
          </a:xfrm>
        </p:grpSpPr>
        <p:sp>
          <p:nvSpPr>
            <p:cNvPr name="Freeform 4" id="4" descr="/home/claude/deck3/img/d_globo.png"/>
            <p:cNvSpPr/>
            <p:nvPr/>
          </p:nvSpPr>
          <p:spPr>
            <a:xfrm flipH="false" flipV="false" rot="0">
              <a:off x="0" y="0"/>
              <a:ext cx="1828800" cy="2356739"/>
            </a:xfrm>
            <a:custGeom>
              <a:avLst/>
              <a:gdLst/>
              <a:ahLst/>
              <a:cxnLst/>
              <a:rect r="r" b="b" t="t" l="l"/>
              <a:pathLst>
                <a:path h="2356739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356739"/>
                  </a:lnTo>
                  <a:lnTo>
                    <a:pt x="0" y="235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" t="0" r="-22" b="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5361920" cy="1303020"/>
            <a:chOff x="0" y="0"/>
            <a:chExt cx="20482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82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9718" r="0" b="-17971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482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Referências principais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9447" y="1938147"/>
            <a:ext cx="16560546" cy="7494270"/>
            <a:chOff x="0" y="0"/>
            <a:chExt cx="22080728" cy="9992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80728" cy="9992360"/>
            </a:xfrm>
            <a:custGeom>
              <a:avLst/>
              <a:gdLst/>
              <a:ahLst/>
              <a:cxnLst/>
              <a:rect r="r" b="b" t="t" l="l"/>
              <a:pathLst>
                <a:path h="9992360" w="22080728">
                  <a:moveTo>
                    <a:pt x="0" y="0"/>
                  </a:moveTo>
                  <a:lnTo>
                    <a:pt x="22080728" y="0"/>
                  </a:lnTo>
                  <a:lnTo>
                    <a:pt x="22080728" y="9992360"/>
                  </a:lnTo>
                  <a:lnTo>
                    <a:pt x="0" y="99923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11054" y="1839754"/>
            <a:ext cx="16565308" cy="7499032"/>
            <a:chOff x="0" y="0"/>
            <a:chExt cx="22087078" cy="99987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87078" cy="9998710"/>
            </a:xfrm>
            <a:custGeom>
              <a:avLst/>
              <a:gdLst/>
              <a:ahLst/>
              <a:cxnLst/>
              <a:rect r="r" b="b" t="t" l="l"/>
              <a:pathLst>
                <a:path h="9998710" w="22087078">
                  <a:moveTo>
                    <a:pt x="0" y="0"/>
                  </a:moveTo>
                  <a:lnTo>
                    <a:pt x="22087078" y="0"/>
                  </a:lnTo>
                  <a:lnTo>
                    <a:pt x="22087078" y="9998710"/>
                  </a:lnTo>
                  <a:lnTo>
                    <a:pt x="0" y="999871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165860" y="2057400"/>
            <a:ext cx="7680960" cy="595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BALL, Stephen J. Reformar escolas/reformar professores e os terrores da performatividade.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Revista Portuguesa de Educação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, Braga, v. 15, n. 2, p. 3-23, 2002.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BALL, Stephen J. Performatividade, privatização e o pós-Estado do bem-estar.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Educação &amp; Sociedade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, Campinas, v. 25, n. 89, p. 1105-1126, 2004.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BALL, Stephen J.; MAGUIRE, Meg; BRAUN, Annette.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Como as escolas fazem as políticas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atuação em escolas secundárias. Ponta Grossa: Editora UEPG, 2016.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BOWE, Richard; BALL, Stephen J.; GOLD, Anne.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Reforming education and changing schools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case studies in policy sociology. London: Routledge, 1992.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BRASIL.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Lei nº 14.533, de 11 de janeiro de 2023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. Institui a Política Nacional de Educação Digital. Brasília, DF: Presidência da República, 2023.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BRAUN, Virginia; CLARKE, Victoria. Using thematic analysis in psychology.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Qualitative Research in Psychology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, v. 3, n. 2, p. 77-101, 2006.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BRAUN, Virginia; CLARKE, Victoria. Reflecting on reflexive thematic analysis.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Qualitative Research in Sport, Exercise and Health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, v. 11, n. 4, p. 589-597, 2019.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DI FELICE, Massimo.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Paisagens pós-urbanas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o fim da experiência urbana e as formas comunicativas do habitar. São Paulo: Annablume, 2009.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FREIRE, Paulo.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Pedagogia da autonomia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saberes necessários à prática educativa. 60. ed. Rio de Janeiro: Paz e Terra, 2019.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10558" y="1938147"/>
            <a:ext cx="7680960" cy="666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HARGREAVES, Andy.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Profesorado, cultura y postmodernidad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cambian los tiempos, cambia el profesorado. 5. ed. Madrid: Morata, 2005.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MAINARDES, Jefferson. Abordagem do ciclo de políticas: uma contribuição para a análise de políticas educacionais.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Educação &amp; Sociedade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, Campinas, v. 27, n. 94, p. 47-69, 2006.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MASSEY, Doreen.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Pelo espaço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uma nova política da espacialidade. Rio de Janeiro: Bertrand Brasil, 2008.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ONU. Comitê dos Direitos da Criança.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Comentário Geral nº 25 (2021) sobre os direitos das crianças em relação ao ambiente digital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. Genebra: ONU, 2021.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SANTOS, Milton. O território e o saber local: algumas categorias de análise.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Cadernos IPPUR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, Rio de Janeiro, ano 13, n. 2, p. 15-26, 1999.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SANTOS, Milton.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natureza do espaço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técnica e tempo, razão e emoção. 4. ed. São Paulo: Edusp, 2006.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SCHLEMMER, Eliane et al. (org.).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habitar do ensinar e do aprender OnLIFE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vivências na educação contemporânea. São Leopoldo: Casa Leiria, 2021.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YIN, Robert K.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Estudo de caso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planejamento e métodos. 2. ed. Porto Alegre: Bookman, 2001.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 xml:space="preserve">ZUBOFF, Shoshana.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era do capitalismo de vigilância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a luta por um futuro humano na nova fronteira do poder. Rio de Janeiro: Intrínseca, 2021.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DAHWhr1U9Ck</dc:identifier>
  <dcterms:modified xsi:type="dcterms:W3CDTF">2011-08-01T06:04:30Z</dcterms:modified>
  <cp:revision>1</cp:revision>
  <dc:title>Seminário.pptx</dc:title>
</cp:coreProperties>
</file>