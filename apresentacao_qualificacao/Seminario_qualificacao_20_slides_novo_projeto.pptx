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21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7.xml"/>
  <Override ContentType="application/vnd.openxmlformats-officedocument.presentationml.slide+xml" PartName="/ppt/slides/slide32.xml"/>
  <Override ContentType="application/vnd.openxmlformats-officedocument.presentationml.slide+xml" PartName="/ppt/slides/slide36.xml"/>
  <Override ContentType="application/vnd.openxmlformats-officedocument.presentationml.slide+xml" PartName="/ppt/slides/slide38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52"/>
  </p:notesMasterIdLst>
  <p:sldIdLst>
    <p:sldId id="256" r:id="rId6"/>
    <p:sldId id="257" r:id="rId7"/>
    <p:sldId id="258" r:id="rId8"/>
    <p:sldId id="262" r:id="rId12"/>
    <p:sldId id="263" r:id="rId13"/>
    <p:sldId id="266" r:id="rId16"/>
    <p:sldId id="271" r:id="rId21"/>
    <p:sldId id="267" r:id="rId17"/>
    <p:sldId id="268" r:id="rId18"/>
    <p:sldId id="276" r:id="rId26"/>
    <p:sldId id="278" r:id="rId28"/>
    <p:sldId id="279" r:id="rId29"/>
    <p:sldId id="272" r:id="rId22"/>
    <p:sldId id="282" r:id="rId32"/>
    <p:sldId id="287" r:id="rId37"/>
    <p:sldId id="291" r:id="rId41"/>
    <p:sldId id="293" r:id="rId43"/>
    <p:sldId id="297" r:id="rId47"/>
    <p:sldId id="298" r:id="rId48"/>
    <p:sldId id="299" r:id="rId49"/>
  </p:sldIdLst>
  <p:sldSz cx="18288000" cy="10287000"/>
  <p:notesSz cx="6858000" cy="9144000"/>
  <p:embeddedFontLst>
    <p:embeddedFont>
      <p:font typeface="Canva Sans Bold" charset="1" panose="020B0803030501040103"/>
      <p:regular r:id="rId50"/>
    </p:embeddedFont>
    <p:embeddedFont>
      <p:font typeface="Canva Sans" charset="1" panose="020B0503030501040103"/>
      <p:regular r:id="rId51"/>
    </p:embeddedFont>
    <p:embeddedFont>
      <p:font typeface="Canva Sans Italics" charset="1" panose="020B0503030501040103"/>
      <p:regular r:id="rId55"/>
    </p:embeddedFont>
    <p:embeddedFont>
      <p:font typeface="Canva Sans Bold Italics" charset="1" panose="020B0803030501040103"/>
      <p:regular r:id="rId5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2" Target="presProps.xml" Type="http://schemas.openxmlformats.org/officeDocument/2006/relationships/presProps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6" Target="slides/slide21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2" Target="slides/slide27.xml" Type="http://schemas.openxmlformats.org/officeDocument/2006/relationships/slide"/><Relationship Id="rId37" Target="slides/slide32.xml" Type="http://schemas.openxmlformats.org/officeDocument/2006/relationships/slide"/><Relationship Id="rId4" Target="theme/theme1.xml" Type="http://schemas.openxmlformats.org/officeDocument/2006/relationships/theme"/><Relationship Id="rId41" Target="slides/slide36.xml" Type="http://schemas.openxmlformats.org/officeDocument/2006/relationships/slide"/><Relationship Id="rId43" Target="slides/slide38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fonts/font50.fntdata" Type="http://schemas.openxmlformats.org/officeDocument/2006/relationships/font"/><Relationship Id="rId51" Target="fonts/font51.fntdata" Type="http://schemas.openxmlformats.org/officeDocument/2006/relationships/font"/><Relationship Id="rId52" Target="notesMasters/notesMaster1.xml" Type="http://schemas.openxmlformats.org/officeDocument/2006/relationships/notesMaster"/><Relationship Id="rId53" Target="theme/theme2.xml" Type="http://schemas.openxmlformats.org/officeDocument/2006/relationships/theme"/><Relationship Id="rId54" Target="notesSlides/notesSlide1.xml" Type="http://schemas.openxmlformats.org/officeDocument/2006/relationships/notesSlide"/><Relationship Id="rId55" Target="fonts/font55.fntdata" Type="http://schemas.openxmlformats.org/officeDocument/2006/relationships/font"/><Relationship Id="rId56" Target="fonts/font56.fntdata" Type="http://schemas.openxmlformats.org/officeDocument/2006/relationships/font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jpe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jpe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9.png" Type="http://schemas.openxmlformats.org/officeDocument/2006/relationships/image"/><Relationship Id="rId5" Target="../media/image6.jpeg" Type="http://schemas.openxmlformats.org/officeDocument/2006/relationships/image"/><Relationship Id="rId6" Target="../media/image10.png" Type="http://schemas.openxmlformats.org/officeDocument/2006/relationships/image"/><Relationship Id="rId7" Target="../media/image1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2.png" Type="http://schemas.openxmlformats.org/officeDocument/2006/relationships/image"/><Relationship Id="rId4" Target="../media/image6.jpeg" Type="http://schemas.openxmlformats.org/officeDocument/2006/relationships/image"/><Relationship Id="rId5" Target="../media/image13.png" Type="http://schemas.openxmlformats.org/officeDocument/2006/relationships/image"/><Relationship Id="rId6" Target="../media/image14.svg" Type="http://schemas.openxmlformats.org/officeDocument/2006/relationships/image"/><Relationship Id="rId7" Target="../media/image1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jpeg" Type="http://schemas.openxmlformats.org/officeDocument/2006/relationships/image"/><Relationship Id="rId4" Target="../media/image12.png" Type="http://schemas.openxmlformats.org/officeDocument/2006/relationships/image"/><Relationship Id="rId5" Target="../media/image2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2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0.png" Type="http://schemas.openxmlformats.org/officeDocument/2006/relationships/image"/><Relationship Id="rId4" Target="../media/image6.jpeg" Type="http://schemas.openxmlformats.org/officeDocument/2006/relationships/image"/><Relationship Id="rId5" Target="../media/image30.png" Type="http://schemas.openxmlformats.org/officeDocument/2006/relationships/image"/><Relationship Id="rId6" Target="../media/image3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2.png" Type="http://schemas.openxmlformats.org/officeDocument/2006/relationships/image"/><Relationship Id="rId4" Target="../media/image6.jpeg" Type="http://schemas.openxmlformats.org/officeDocument/2006/relationships/image"/><Relationship Id="rId5" Target="../media/image32.png" Type="http://schemas.openxmlformats.org/officeDocument/2006/relationships/image"/><Relationship Id="rId6" Target="../media/image33.png" Type="http://schemas.openxmlformats.org/officeDocument/2006/relationships/image"/><Relationship Id="rId7" Target="../media/image34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jpeg" Type="http://schemas.openxmlformats.org/officeDocument/2006/relationships/image"/><Relationship Id="rId4" Target="../media/image35.png" Type="http://schemas.openxmlformats.org/officeDocument/2006/relationships/image"/><Relationship Id="rId5" Target="../media/image36.svg" Type="http://schemas.openxmlformats.org/officeDocument/2006/relationships/image"/><Relationship Id="rId6" Target="../media/image12.png" Type="http://schemas.openxmlformats.org/officeDocument/2006/relationships/image"/><Relationship Id="rId7" Target="../media/image37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3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7.png" Type="http://schemas.openxmlformats.org/officeDocument/2006/relationships/image"/><Relationship Id="rId4" Target="../media/image6.jpeg" Type="http://schemas.openxmlformats.org/officeDocument/2006/relationships/image"/><Relationship Id="rId5" Target="../media/image40.png" Type="http://schemas.openxmlformats.org/officeDocument/2006/relationships/image"/><Relationship Id="rId6" Target="../media/image41.png" Type="http://schemas.openxmlformats.org/officeDocument/2006/relationships/image"/><Relationship Id="rId7" Target="../media/image42.png" Type="http://schemas.openxmlformats.org/officeDocument/2006/relationships/image"/><Relationship Id="rId8" Target="../media/image43.png" Type="http://schemas.openxmlformats.org/officeDocument/2006/relationships/image"/><Relationship Id="rId9" Target="../media/image44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5.png" Type="http://schemas.openxmlformats.org/officeDocument/2006/relationships/image"/><Relationship Id="rId4" Target="../media/image6.jpeg" Type="http://schemas.openxmlformats.org/officeDocument/2006/relationships/image"/><Relationship Id="rId5" Target="../media/image46.png" Type="http://schemas.openxmlformats.org/officeDocument/2006/relationships/image"/><Relationship Id="rId6" Target="../media/image47.png" Type="http://schemas.openxmlformats.org/officeDocument/2006/relationships/image"/><Relationship Id="rId7" Target="../media/image48.png" Type="http://schemas.openxmlformats.org/officeDocument/2006/relationships/image"/><Relationship Id="rId8" Target="../media/image49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5.png" Type="http://schemas.openxmlformats.org/officeDocument/2006/relationships/image"/><Relationship Id="rId4" Target="../media/image6.jpeg" Type="http://schemas.openxmlformats.org/officeDocument/2006/relationships/image"/><Relationship Id="rId5" Target="../media/image51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jpeg" Type="http://schemas.openxmlformats.org/officeDocument/2006/relationships/image"/><Relationship Id="rId4" Target="../media/image28.jpeg" Type="http://schemas.openxmlformats.org/officeDocument/2006/relationships/image"/><Relationship Id="rId5" Target="../media/image63.jpeg" Type="http://schemas.openxmlformats.org/officeDocument/2006/relationships/image"/><Relationship Id="rId6" Target="../media/image22.png" Type="http://schemas.openxmlformats.org/officeDocument/2006/relationships/image"/><Relationship Id="rId7" Target="../media/image64.png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4.png" Type="http://schemas.openxmlformats.org/officeDocument/2006/relationships/image"/><Relationship Id="rId11" Target="../media/image75.png" Type="http://schemas.openxmlformats.org/officeDocument/2006/relationships/image"/><Relationship Id="rId2" Target="../media/image1.jpeg" Type="http://schemas.openxmlformats.org/officeDocument/2006/relationships/image"/><Relationship Id="rId3" Target="../media/image23.png" Type="http://schemas.openxmlformats.org/officeDocument/2006/relationships/image"/><Relationship Id="rId4" Target="../media/image6.jpeg" Type="http://schemas.openxmlformats.org/officeDocument/2006/relationships/image"/><Relationship Id="rId5" Target="../media/image29.jpeg" Type="http://schemas.openxmlformats.org/officeDocument/2006/relationships/image"/><Relationship Id="rId6" Target="../media/image71.jpeg" Type="http://schemas.openxmlformats.org/officeDocument/2006/relationships/image"/><Relationship Id="rId7" Target="../media/image72.jpeg" Type="http://schemas.openxmlformats.org/officeDocument/2006/relationships/image"/><Relationship Id="rId8" Target="../media/image73.png" Type="http://schemas.openxmlformats.org/officeDocument/2006/relationships/image"/><Relationship Id="rId9" Target="../media/image54.png" Type="http://schemas.openxmlformats.org/officeDocument/2006/relationships/imag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2.png" Type="http://schemas.openxmlformats.org/officeDocument/2006/relationships/image"/><Relationship Id="rId4" Target="../media/image6.jpeg" Type="http://schemas.openxmlformats.org/officeDocument/2006/relationships/image"/><Relationship Id="rId5" Target="../media/image77.png" Type="http://schemas.openxmlformats.org/officeDocument/2006/relationships/image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72.jpeg" Type="http://schemas.openxmlformats.org/officeDocument/2006/relationships/image"/><Relationship Id="rId4" Target="../media/image6.jpeg" Type="http://schemas.openxmlformats.org/officeDocument/2006/relationships/image"/><Relationship Id="rId5" Target="../media/image4.png" Type="http://schemas.openxmlformats.org/officeDocument/2006/relationships/image"/><Relationship Id="rId6" Target="../media/image45.png" Type="http://schemas.openxmlformats.org/officeDocument/2006/relationships/image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2.png" Type="http://schemas.openxmlformats.org/officeDocument/2006/relationships/image"/><Relationship Id="rId4" Target="../media/image6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1407294" y="-6506"/>
            <a:ext cx="6866533" cy="10287000"/>
            <a:chOff x="0" y="0"/>
            <a:chExt cx="9155377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155353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55353">
                  <a:moveTo>
                    <a:pt x="0" y="0"/>
                  </a:moveTo>
                  <a:lnTo>
                    <a:pt x="9155353" y="0"/>
                  </a:lnTo>
                  <a:lnTo>
                    <a:pt x="9155353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9332" r="0" b="-933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-78486" y="-61351"/>
            <a:ext cx="2729484" cy="2180101"/>
            <a:chOff x="0" y="0"/>
            <a:chExt cx="3639312" cy="2906801"/>
          </a:xfrm>
        </p:grpSpPr>
        <p:sp>
          <p:nvSpPr>
            <p:cNvPr name="Freeform 6" id="6" descr="/home/claude/deck3/img/d_seta.png"/>
            <p:cNvSpPr/>
            <p:nvPr/>
          </p:nvSpPr>
          <p:spPr>
            <a:xfrm flipH="false" flipV="false" rot="0">
              <a:off x="0" y="0"/>
              <a:ext cx="3639312" cy="2906776"/>
            </a:xfrm>
            <a:custGeom>
              <a:avLst/>
              <a:gdLst/>
              <a:ahLst/>
              <a:cxnLst/>
              <a:rect r="r" b="b" t="t" l="l"/>
              <a:pathLst>
                <a:path h="2906776" w="3639312">
                  <a:moveTo>
                    <a:pt x="0" y="0"/>
                  </a:moveTo>
                  <a:lnTo>
                    <a:pt x="3639312" y="0"/>
                  </a:lnTo>
                  <a:lnTo>
                    <a:pt x="3639312" y="2906776"/>
                  </a:lnTo>
                  <a:lnTo>
                    <a:pt x="0" y="2906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9" t="0" r="-19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900000">
            <a:off x="8253522" y="355707"/>
            <a:ext cx="3086100" cy="2180987"/>
            <a:chOff x="0" y="0"/>
            <a:chExt cx="4114800" cy="2907982"/>
          </a:xfrm>
        </p:grpSpPr>
        <p:sp>
          <p:nvSpPr>
            <p:cNvPr name="Freeform 8" id="8" descr="/home/claude/deck3/img/d_nuvem.png"/>
            <p:cNvSpPr/>
            <p:nvPr/>
          </p:nvSpPr>
          <p:spPr>
            <a:xfrm flipH="false" flipV="false" rot="0">
              <a:off x="0" y="0"/>
              <a:ext cx="4114800" cy="2908046"/>
            </a:xfrm>
            <a:custGeom>
              <a:avLst/>
              <a:gdLst/>
              <a:ahLst/>
              <a:cxnLst/>
              <a:rect r="r" b="b" t="t" l="l"/>
              <a:pathLst>
                <a:path h="2908046" w="4114800">
                  <a:moveTo>
                    <a:pt x="0" y="0"/>
                  </a:moveTo>
                  <a:lnTo>
                    <a:pt x="4114800" y="0"/>
                  </a:lnTo>
                  <a:lnTo>
                    <a:pt x="4114800" y="2908046"/>
                  </a:lnTo>
                  <a:lnTo>
                    <a:pt x="0" y="29080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8" t="0" r="-8" b="2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4841748" y="301752"/>
            <a:ext cx="987552" cy="1399032"/>
            <a:chOff x="0" y="0"/>
            <a:chExt cx="1316736" cy="1865376"/>
          </a:xfrm>
        </p:grpSpPr>
        <p:sp>
          <p:nvSpPr>
            <p:cNvPr name="Freeform 10" id="10" descr="/home/claude/deck3/img/ufrn.png"/>
            <p:cNvSpPr/>
            <p:nvPr/>
          </p:nvSpPr>
          <p:spPr>
            <a:xfrm flipH="false" flipV="false" rot="0">
              <a:off x="0" y="0"/>
              <a:ext cx="1316736" cy="1865376"/>
            </a:xfrm>
            <a:custGeom>
              <a:avLst/>
              <a:gdLst/>
              <a:ahLst/>
              <a:cxnLst/>
              <a:rect r="r" b="b" t="t" l="l"/>
              <a:pathLst>
                <a:path h="1865376" w="1316736">
                  <a:moveTo>
                    <a:pt x="0" y="0"/>
                  </a:moveTo>
                  <a:lnTo>
                    <a:pt x="1316736" y="0"/>
                  </a:lnTo>
                  <a:lnTo>
                    <a:pt x="1316736" y="1865376"/>
                  </a:lnTo>
                  <a:lnTo>
                    <a:pt x="0" y="18653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226" r="0" b="-226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29470" y="3297600"/>
            <a:ext cx="10927291" cy="2880360"/>
            <a:chOff x="0" y="0"/>
            <a:chExt cx="14569722" cy="38404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569722" cy="3840480"/>
            </a:xfrm>
            <a:custGeom>
              <a:avLst/>
              <a:gdLst/>
              <a:ahLst/>
              <a:cxnLst/>
              <a:rect r="r" b="b" t="t" l="l"/>
              <a:pathLst>
                <a:path h="3840480" w="14569722">
                  <a:moveTo>
                    <a:pt x="0" y="0"/>
                  </a:moveTo>
                  <a:lnTo>
                    <a:pt x="14569722" y="0"/>
                  </a:lnTo>
                  <a:lnTo>
                    <a:pt x="14569722" y="3840480"/>
                  </a:lnTo>
                  <a:lnTo>
                    <a:pt x="0" y="384048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4022" r="13390" b="-14022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14569722" cy="38404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20"/>
                </a:lnSpc>
              </a:pPr>
              <a:r>
                <a:rPr lang="en-US" b="true" sz="36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ENCENAÇÃO DA POLÍTICA NACIONAL DE EDUCAÇÃO DIGITAL EM PIPA/RN: CULTURAS PROFISSIONAIS, TERRITÓRIO E RESISTÊNCIAS NO CONTEXTO DA PRÁTICA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93495" y="6409563"/>
            <a:ext cx="8111490" cy="1006602"/>
            <a:chOff x="0" y="0"/>
            <a:chExt cx="10815320" cy="134213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815320" cy="1342136"/>
            </a:xfrm>
            <a:custGeom>
              <a:avLst/>
              <a:gdLst/>
              <a:ahLst/>
              <a:cxnLst/>
              <a:rect r="r" b="b" t="t" l="l"/>
              <a:pathLst>
                <a:path h="1342136" w="10815320">
                  <a:moveTo>
                    <a:pt x="0" y="0"/>
                  </a:moveTo>
                  <a:lnTo>
                    <a:pt x="10815320" y="0"/>
                  </a:lnTo>
                  <a:lnTo>
                    <a:pt x="10815320" y="1342136"/>
                  </a:lnTo>
                  <a:lnTo>
                    <a:pt x="0" y="134213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303020" y="6419088"/>
            <a:ext cx="8092440" cy="987552"/>
            <a:chOff x="0" y="0"/>
            <a:chExt cx="10789920" cy="131673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78992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789920">
                  <a:moveTo>
                    <a:pt x="0" y="0"/>
                  </a:moveTo>
                  <a:lnTo>
                    <a:pt x="10789920" y="0"/>
                  </a:lnTo>
                  <a:lnTo>
                    <a:pt x="1078992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09669" r="0" b="-109669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10789920" cy="13262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Pesquisadora: Ma. Yzynya Silva Rezende Machado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Orientadora: Dra. Maria Cristina Leandro de Paiva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3497580" y="8161020"/>
            <a:ext cx="4526280" cy="850392"/>
            <a:chOff x="0" y="0"/>
            <a:chExt cx="6035040" cy="113385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035040" cy="1133856"/>
            </a:xfrm>
            <a:custGeom>
              <a:avLst/>
              <a:gdLst/>
              <a:ahLst/>
              <a:cxnLst/>
              <a:rect r="r" b="b" t="t" l="l"/>
              <a:pathLst>
                <a:path h="1133856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53710" r="0" b="-5371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6035040" cy="11433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Natal/ RN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outubro, 2026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-528000">
            <a:off x="-68597" y="7448636"/>
            <a:ext cx="3977640" cy="3619329"/>
            <a:chOff x="0" y="0"/>
            <a:chExt cx="5303520" cy="4825771"/>
          </a:xfrm>
        </p:grpSpPr>
        <p:sp>
          <p:nvSpPr>
            <p:cNvPr name="Freeform 23" id="23" descr="/home/claude/deck3/img/d_laptop.png"/>
            <p:cNvSpPr/>
            <p:nvPr/>
          </p:nvSpPr>
          <p:spPr>
            <a:xfrm flipH="false" flipV="false" rot="0">
              <a:off x="0" y="0"/>
              <a:ext cx="5303520" cy="4825746"/>
            </a:xfrm>
            <a:custGeom>
              <a:avLst/>
              <a:gdLst/>
              <a:ahLst/>
              <a:cxnLst/>
              <a:rect r="r" b="b" t="t" l="l"/>
              <a:pathLst>
                <a:path h="4825746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4825746"/>
                  </a:lnTo>
                  <a:lnTo>
                    <a:pt x="0" y="48257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-4" r="0" b="-4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8737092" y="7420356"/>
            <a:ext cx="2482596" cy="2860138"/>
            <a:chOff x="0" y="0"/>
            <a:chExt cx="3310128" cy="3813518"/>
          </a:xfrm>
        </p:grpSpPr>
        <p:sp>
          <p:nvSpPr>
            <p:cNvPr name="Freeform 25" id="25" descr="/home/claude/deck3/img/d_menino_cel.png"/>
            <p:cNvSpPr/>
            <p:nvPr/>
          </p:nvSpPr>
          <p:spPr>
            <a:xfrm flipH="false" flipV="false" rot="0">
              <a:off x="0" y="0"/>
              <a:ext cx="3310128" cy="3813556"/>
            </a:xfrm>
            <a:custGeom>
              <a:avLst/>
              <a:gdLst/>
              <a:ahLst/>
              <a:cxnLst/>
              <a:rect r="r" b="b" t="t" l="l"/>
              <a:pathLst>
                <a:path h="3813556" w="3310128">
                  <a:moveTo>
                    <a:pt x="0" y="0"/>
                  </a:moveTo>
                  <a:lnTo>
                    <a:pt x="3310128" y="0"/>
                  </a:lnTo>
                  <a:lnTo>
                    <a:pt x="3310128" y="3813556"/>
                  </a:lnTo>
                  <a:lnTo>
                    <a:pt x="0" y="38135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-18" r="0" b="-17"/>
              </a:stretch>
            </a:blip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480060" y="1865376"/>
            <a:ext cx="9738360" cy="1165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UNIVERSIDADE FEDERAL DO RIO GRANDE DO NORTE</a:t>
            </a:r>
          </a:p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CENTRO DE EDUCAÇÃO</a:t>
            </a:r>
          </a:p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PROGRAMA DE PÓS-GRADUAÇÃO EM EDUCAÇÃO</a:t>
            </a:r>
          </a:p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LINHA DE PESQUISA: EDUCAÇÃO, CURRÍCULO E PRÁTICAS PEDAGÓGICAS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2202" y="0"/>
            <a:ext cx="3771900" cy="3410398"/>
            <a:chOff x="0" y="0"/>
            <a:chExt cx="5029200" cy="4547197"/>
          </a:xfrm>
        </p:grpSpPr>
        <p:sp>
          <p:nvSpPr>
            <p:cNvPr name="Freeform 4" id="4" descr="/home/claude/deck3/img/d_megafone.png"/>
            <p:cNvSpPr/>
            <p:nvPr/>
          </p:nvSpPr>
          <p:spPr>
            <a:xfrm flipH="false" flipV="false" rot="0">
              <a:off x="0" y="0"/>
              <a:ext cx="5029200" cy="4547235"/>
            </a:xfrm>
            <a:custGeom>
              <a:avLst/>
              <a:gdLst/>
              <a:ahLst/>
              <a:cxnLst/>
              <a:rect r="r" b="b" t="t" l="l"/>
              <a:pathLst>
                <a:path h="4547235" w="5029200">
                  <a:moveTo>
                    <a:pt x="0" y="0"/>
                  </a:moveTo>
                  <a:lnTo>
                    <a:pt x="5029200" y="0"/>
                  </a:lnTo>
                  <a:lnTo>
                    <a:pt x="5029200" y="4547235"/>
                  </a:lnTo>
                  <a:lnTo>
                    <a:pt x="0" y="45472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" r="0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4364462" y="0"/>
            <a:ext cx="3771900" cy="3410398"/>
            <a:chOff x="0" y="0"/>
            <a:chExt cx="5029200" cy="4547197"/>
          </a:xfrm>
        </p:grpSpPr>
        <p:sp>
          <p:nvSpPr>
            <p:cNvPr name="Freeform 6" id="6" descr="/home/claude/deck3/img/d_megafone.png"/>
            <p:cNvSpPr/>
            <p:nvPr/>
          </p:nvSpPr>
          <p:spPr>
            <a:xfrm flipH="true" flipV="false" rot="0">
              <a:off x="0" y="0"/>
              <a:ext cx="5029200" cy="4547235"/>
            </a:xfrm>
            <a:custGeom>
              <a:avLst/>
              <a:gdLst/>
              <a:ahLst/>
              <a:cxnLst/>
              <a:rect r="r" b="b" t="t" l="l"/>
              <a:pathLst>
                <a:path h="4547235" w="5029200">
                  <a:moveTo>
                    <a:pt x="5029200" y="0"/>
                  </a:moveTo>
                  <a:lnTo>
                    <a:pt x="0" y="0"/>
                  </a:lnTo>
                  <a:lnTo>
                    <a:pt x="0" y="4547235"/>
                  </a:lnTo>
                  <a:lnTo>
                    <a:pt x="5029200" y="4547235"/>
                  </a:lnTo>
                  <a:lnTo>
                    <a:pt x="5029200" y="0"/>
                  </a:lnTo>
                  <a:close/>
                </a:path>
              </a:pathLst>
            </a:custGeom>
            <a:blipFill>
              <a:blip r:embed="rId4"/>
              <a:stretch>
                <a:fillRect l="0" t="-1" r="0" b="-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3291840" y="1028700"/>
            <a:ext cx="11699748" cy="1234440"/>
            <a:chOff x="0" y="0"/>
            <a:chExt cx="15599664" cy="16459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5599665" cy="1645920"/>
            </a:xfrm>
            <a:custGeom>
              <a:avLst/>
              <a:gdLst/>
              <a:ahLst/>
              <a:cxnLst/>
              <a:rect r="r" b="b" t="t" l="l"/>
              <a:pathLst>
                <a:path h="1645920" w="15599665">
                  <a:moveTo>
                    <a:pt x="0" y="0"/>
                  </a:moveTo>
                  <a:lnTo>
                    <a:pt x="15599665" y="0"/>
                  </a:lnTo>
                  <a:lnTo>
                    <a:pt x="15599665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34674" r="0" b="-13467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15599664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120"/>
                </a:lnSpc>
              </a:pPr>
              <a:r>
                <a:rPr lang="en-US" sz="51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PERCURSO DA APRESENTAÇÃO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850392" y="3223260"/>
            <a:ext cx="5280660" cy="2572169"/>
            <a:chOff x="0" y="0"/>
            <a:chExt cx="7040880" cy="3429559"/>
          </a:xfrm>
        </p:grpSpPr>
        <p:sp>
          <p:nvSpPr>
            <p:cNvPr name="Freeform 11" id="11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3120390" y="2537460"/>
            <a:ext cx="740664" cy="1200426"/>
            <a:chOff x="0" y="0"/>
            <a:chExt cx="987552" cy="1600568"/>
          </a:xfrm>
        </p:grpSpPr>
        <p:sp>
          <p:nvSpPr>
            <p:cNvPr name="Freeform 13" id="13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261872" y="377190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I 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344168" y="4117848"/>
            <a:ext cx="4457700" cy="521208"/>
            <a:chOff x="0" y="0"/>
            <a:chExt cx="5943600" cy="69494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proposta da tese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1344168" y="4509345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Trajetória, problema, tese, objetivos, referencial e contribuição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473952" y="3223260"/>
            <a:ext cx="5280660" cy="2572169"/>
            <a:chOff x="0" y="0"/>
            <a:chExt cx="7040880" cy="3429559"/>
          </a:xfrm>
        </p:grpSpPr>
        <p:sp>
          <p:nvSpPr>
            <p:cNvPr name="Freeform 20" id="20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743950" y="2537460"/>
            <a:ext cx="740664" cy="1200426"/>
            <a:chOff x="0" y="0"/>
            <a:chExt cx="987552" cy="1600568"/>
          </a:xfrm>
        </p:grpSpPr>
        <p:sp>
          <p:nvSpPr>
            <p:cNvPr name="Freeform 22" id="22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6885432" y="377190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II 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885432" y="4128516"/>
            <a:ext cx="4457700" cy="521208"/>
            <a:chOff x="0" y="0"/>
            <a:chExt cx="5943600" cy="69494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Revisão sistemática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6967728" y="467715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Questão norteadora, resposta e lacunas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2097512" y="3223260"/>
            <a:ext cx="5280660" cy="2572169"/>
            <a:chOff x="0" y="0"/>
            <a:chExt cx="7040880" cy="3429559"/>
          </a:xfrm>
        </p:grpSpPr>
        <p:sp>
          <p:nvSpPr>
            <p:cNvPr name="Freeform 29" id="29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4367510" y="2537460"/>
            <a:ext cx="740664" cy="1200426"/>
            <a:chOff x="0" y="0"/>
            <a:chExt cx="987552" cy="1600568"/>
          </a:xfrm>
        </p:grpSpPr>
        <p:sp>
          <p:nvSpPr>
            <p:cNvPr name="Freeform 31" id="31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12508992" y="377190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III 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2508992" y="4128516"/>
            <a:ext cx="4457700" cy="521208"/>
            <a:chOff x="0" y="0"/>
            <a:chExt cx="5943600" cy="69494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Metodologia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2591288" y="467715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Como a política será escutada e como a hipótese pode falhar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850392" y="6515100"/>
            <a:ext cx="5280660" cy="2572169"/>
            <a:chOff x="0" y="0"/>
            <a:chExt cx="7040880" cy="3429559"/>
          </a:xfrm>
        </p:grpSpPr>
        <p:sp>
          <p:nvSpPr>
            <p:cNvPr name="Freeform 38" id="38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3120390" y="5829300"/>
            <a:ext cx="740664" cy="1200426"/>
            <a:chOff x="0" y="0"/>
            <a:chExt cx="987552" cy="1600568"/>
          </a:xfrm>
        </p:grpSpPr>
        <p:sp>
          <p:nvSpPr>
            <p:cNvPr name="Freeform 40" id="40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41" id="41"/>
          <p:cNvSpPr txBox="true"/>
          <p:nvPr/>
        </p:nvSpPr>
        <p:spPr>
          <a:xfrm rot="0">
            <a:off x="1261872" y="706374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IV 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1261872" y="7420356"/>
            <a:ext cx="4457700" cy="521208"/>
            <a:chOff x="0" y="0"/>
            <a:chExt cx="5943600" cy="694944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texto da política</a:t>
              </a:r>
            </a:p>
          </p:txBody>
        </p:sp>
      </p:grpSp>
      <p:sp>
        <p:nvSpPr>
          <p:cNvPr name="TextBox 45" id="45"/>
          <p:cNvSpPr txBox="true"/>
          <p:nvPr/>
        </p:nvSpPr>
        <p:spPr>
          <a:xfrm rot="0">
            <a:off x="1344168" y="796899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Mapa das políticas e o vazio material na PNED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6473952" y="6515100"/>
            <a:ext cx="5280660" cy="2572169"/>
            <a:chOff x="0" y="0"/>
            <a:chExt cx="7040880" cy="3429559"/>
          </a:xfrm>
        </p:grpSpPr>
        <p:sp>
          <p:nvSpPr>
            <p:cNvPr name="Freeform 47" id="47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8743950" y="5829300"/>
            <a:ext cx="740664" cy="1200426"/>
            <a:chOff x="0" y="0"/>
            <a:chExt cx="987552" cy="1600568"/>
          </a:xfrm>
        </p:grpSpPr>
        <p:sp>
          <p:nvSpPr>
            <p:cNvPr name="Freeform 49" id="49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50" id="50"/>
          <p:cNvSpPr txBox="true"/>
          <p:nvPr/>
        </p:nvSpPr>
        <p:spPr>
          <a:xfrm rot="0">
            <a:off x="6885432" y="706374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V </a:t>
            </a:r>
          </a:p>
        </p:txBody>
      </p:sp>
      <p:grpSp>
        <p:nvGrpSpPr>
          <p:cNvPr name="Group 51" id="51"/>
          <p:cNvGrpSpPr/>
          <p:nvPr/>
        </p:nvGrpSpPr>
        <p:grpSpPr>
          <a:xfrm rot="0">
            <a:off x="6885432" y="7420356"/>
            <a:ext cx="4457700" cy="521208"/>
            <a:chOff x="0" y="0"/>
            <a:chExt cx="5943600" cy="694944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território e a escola</a:t>
              </a: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6967728" y="796899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O território como força ativa e as condições da escola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12097512" y="6515100"/>
            <a:ext cx="5280660" cy="2572169"/>
            <a:chOff x="0" y="0"/>
            <a:chExt cx="7040880" cy="3429559"/>
          </a:xfrm>
        </p:grpSpPr>
        <p:sp>
          <p:nvSpPr>
            <p:cNvPr name="Freeform 56" id="56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14367510" y="5829300"/>
            <a:ext cx="740664" cy="1200426"/>
            <a:chOff x="0" y="0"/>
            <a:chExt cx="987552" cy="1600568"/>
          </a:xfrm>
        </p:grpSpPr>
        <p:sp>
          <p:nvSpPr>
            <p:cNvPr name="Freeform 58" id="58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59" id="59"/>
          <p:cNvSpPr txBox="true"/>
          <p:nvPr/>
        </p:nvSpPr>
        <p:spPr>
          <a:xfrm rot="0">
            <a:off x="12508992" y="706374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VI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12508992" y="7420356"/>
            <a:ext cx="4457700" cy="521208"/>
            <a:chOff x="0" y="0"/>
            <a:chExt cx="5943600" cy="69494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que ainda falta</a:t>
              </a:r>
            </a:p>
          </p:txBody>
        </p:sp>
      </p:grpSp>
      <p:sp>
        <p:nvSpPr>
          <p:cNvPr name="TextBox 63" id="63"/>
          <p:cNvSpPr txBox="true"/>
          <p:nvPr/>
        </p:nvSpPr>
        <p:spPr>
          <a:xfrm rot="0">
            <a:off x="12591288" y="796899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Campo, pendências e questões para a banca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600000">
            <a:off x="16894683" y="-301752"/>
            <a:ext cx="1577340" cy="1760420"/>
            <a:chOff x="0" y="0"/>
            <a:chExt cx="2103120" cy="2347227"/>
          </a:xfrm>
        </p:grpSpPr>
        <p:sp>
          <p:nvSpPr>
            <p:cNvPr name="Freeform 4" id="4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1" t="0" r="-11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Trajetória: de onde parto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939570" y="2006727"/>
            <a:ext cx="3996690" cy="4202430"/>
            <a:chOff x="0" y="0"/>
            <a:chExt cx="5328920" cy="56032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328920" cy="5603240"/>
            </a:xfrm>
            <a:custGeom>
              <a:avLst/>
              <a:gdLst/>
              <a:ahLst/>
              <a:cxnLst/>
              <a:rect r="r" b="b" t="t" l="l"/>
              <a:pathLst>
                <a:path h="560324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5603240"/>
                  </a:lnTo>
                  <a:lnTo>
                    <a:pt x="0" y="5603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-285750" y="-285750"/>
            <a:ext cx="18859043" cy="10858500"/>
            <a:chOff x="0" y="0"/>
            <a:chExt cx="25145390" cy="14478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377190" y="10134600"/>
              <a:ext cx="24517349" cy="1544320"/>
            </a:xfrm>
            <a:custGeom>
              <a:avLst/>
              <a:gdLst/>
              <a:ahLst/>
              <a:cxnLst/>
              <a:rect r="r" b="b" t="t" l="l"/>
              <a:pathLst>
                <a:path h="1544320" w="24517349">
                  <a:moveTo>
                    <a:pt x="0" y="1544320"/>
                  </a:moveTo>
                  <a:cubicBezTo>
                    <a:pt x="7543800" y="-772160"/>
                    <a:pt x="15841980" y="2895600"/>
                    <a:pt x="24517349" y="0"/>
                  </a:cubicBezTo>
                </a:path>
              </a:pathLst>
            </a:custGeom>
            <a:blipFill>
              <a:blip r:embed="rId4">
                <a:alphaModFix amt="0"/>
              </a:blip>
              <a:stretch>
                <a:fillRect l="-26023" t="-656250" r="-25508" b="-181250"/>
              </a:stretch>
            </a:blipFill>
            <a:ln w="57150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-245612" y="-228600"/>
            <a:ext cx="18744743" cy="10744200"/>
            <a:chOff x="0" y="0"/>
            <a:chExt cx="24992990" cy="14325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374904" y="10027920"/>
              <a:ext cx="24368761" cy="1528064"/>
            </a:xfrm>
            <a:custGeom>
              <a:avLst/>
              <a:gdLst/>
              <a:ahLst/>
              <a:cxnLst/>
              <a:rect r="r" b="b" t="t" l="l"/>
              <a:pathLst>
                <a:path h="1528064" w="24368761">
                  <a:moveTo>
                    <a:pt x="0" y="1528064"/>
                  </a:moveTo>
                  <a:cubicBezTo>
                    <a:pt x="7498081" y="-764032"/>
                    <a:pt x="15745968" y="2865120"/>
                    <a:pt x="24368761" y="0"/>
                  </a:cubicBezTo>
                </a:path>
              </a:pathLst>
            </a:custGeom>
            <a:blipFill>
              <a:blip r:embed="rId4">
                <a:alphaModFix amt="0"/>
              </a:blip>
              <a:stretch>
                <a:fillRect l="-25683" t="-656249" r="-25167" b="-181250"/>
              </a:stretch>
            </a:blipFill>
            <a:ln w="45720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Freeform 19" id="19"/>
          <p:cNvSpPr/>
          <p:nvPr/>
        </p:nvSpPr>
        <p:spPr>
          <a:xfrm flipH="false" flipV="false" rot="0">
            <a:off x="-389344" y="-5187861"/>
            <a:ext cx="18335168" cy="10334625"/>
          </a:xfrm>
          <a:custGeom>
            <a:avLst/>
            <a:gdLst/>
            <a:ahLst/>
            <a:cxnLst/>
            <a:rect r="r" b="b" t="t" l="l"/>
            <a:pathLst>
              <a:path h="10334625" w="18335168">
                <a:moveTo>
                  <a:pt x="0" y="0"/>
                </a:moveTo>
                <a:lnTo>
                  <a:pt x="18335168" y="0"/>
                </a:lnTo>
                <a:lnTo>
                  <a:pt x="18335168" y="10334625"/>
                </a:lnTo>
                <a:lnTo>
                  <a:pt x="0" y="1033462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445827" y="2007846"/>
            <a:ext cx="3996690" cy="4202430"/>
            <a:chOff x="0" y="0"/>
            <a:chExt cx="5328920" cy="56032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328920" cy="5603240"/>
            </a:xfrm>
            <a:custGeom>
              <a:avLst/>
              <a:gdLst/>
              <a:ahLst/>
              <a:cxnLst/>
              <a:rect r="r" b="b" t="t" l="l"/>
              <a:pathLst>
                <a:path h="560324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5603240"/>
                  </a:lnTo>
                  <a:lnTo>
                    <a:pt x="0" y="5603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344321" y="1908334"/>
            <a:ext cx="4001453" cy="4207192"/>
            <a:chOff x="0" y="0"/>
            <a:chExt cx="5335270" cy="560959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707993" y="2062353"/>
            <a:ext cx="3483864" cy="850392"/>
            <a:chOff x="0" y="0"/>
            <a:chExt cx="4645152" cy="113385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645152" cy="1133856"/>
            </a:xfrm>
            <a:custGeom>
              <a:avLst/>
              <a:gdLst/>
              <a:ahLst/>
              <a:cxnLst/>
              <a:rect r="r" b="b" t="t" l="l"/>
              <a:pathLst>
                <a:path h="1133856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825" r="0" b="-29825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0"/>
              <a:ext cx="4645152" cy="1133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Uma trajetória longa no território</a:t>
              </a:r>
            </a:p>
          </p:txBody>
        </p:sp>
      </p:grpSp>
      <p:sp>
        <p:nvSpPr>
          <p:cNvPr name="AutoShape 27" id="27"/>
          <p:cNvSpPr/>
          <p:nvPr/>
        </p:nvSpPr>
        <p:spPr>
          <a:xfrm flipH="true">
            <a:off x="2444172" y="6210276"/>
            <a:ext cx="0" cy="1373152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8" id="28"/>
          <p:cNvGrpSpPr/>
          <p:nvPr/>
        </p:nvGrpSpPr>
        <p:grpSpPr>
          <a:xfrm rot="0">
            <a:off x="2015528" y="7398448"/>
            <a:ext cx="576072" cy="933669"/>
            <a:chOff x="0" y="0"/>
            <a:chExt cx="768096" cy="1244892"/>
          </a:xfrm>
        </p:grpSpPr>
        <p:sp>
          <p:nvSpPr>
            <p:cNvPr name="Freeform 29" id="29" descr="/home/claude/deck3/img/d_alfinete.png"/>
            <p:cNvSpPr/>
            <p:nvPr/>
          </p:nvSpPr>
          <p:spPr>
            <a:xfrm flipH="false" flipV="false" rot="0">
              <a:off x="0" y="0"/>
              <a:ext cx="768096" cy="1244854"/>
            </a:xfrm>
            <a:custGeom>
              <a:avLst/>
              <a:gdLst/>
              <a:ahLst/>
              <a:cxnLst/>
              <a:rect r="r" b="b" t="t" l="l"/>
              <a:pathLst>
                <a:path h="1244854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1244854"/>
                  </a:lnTo>
                  <a:lnTo>
                    <a:pt x="0" y="124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21"/>
              </a:stretch>
            </a:blipFill>
          </p:spPr>
        </p:sp>
      </p:grpSp>
      <p:sp>
        <p:nvSpPr>
          <p:cNvPr name="AutoShape 30" id="30"/>
          <p:cNvSpPr/>
          <p:nvPr/>
        </p:nvSpPr>
        <p:spPr>
          <a:xfrm>
            <a:off x="7022022" y="6185343"/>
            <a:ext cx="14286" cy="894301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1" id="31"/>
          <p:cNvGrpSpPr/>
          <p:nvPr/>
        </p:nvGrpSpPr>
        <p:grpSpPr>
          <a:xfrm rot="0">
            <a:off x="6733986" y="7030129"/>
            <a:ext cx="576072" cy="933669"/>
            <a:chOff x="0" y="0"/>
            <a:chExt cx="768096" cy="1244892"/>
          </a:xfrm>
        </p:grpSpPr>
        <p:sp>
          <p:nvSpPr>
            <p:cNvPr name="Freeform 32" id="32" descr="/home/claude/deck3/img/d_alfinete.png"/>
            <p:cNvSpPr/>
            <p:nvPr/>
          </p:nvSpPr>
          <p:spPr>
            <a:xfrm flipH="false" flipV="false" rot="0">
              <a:off x="0" y="0"/>
              <a:ext cx="768096" cy="1244854"/>
            </a:xfrm>
            <a:custGeom>
              <a:avLst/>
              <a:gdLst/>
              <a:ahLst/>
              <a:cxnLst/>
              <a:rect r="r" b="b" t="t" l="l"/>
              <a:pathLst>
                <a:path h="1244854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1244854"/>
                  </a:lnTo>
                  <a:lnTo>
                    <a:pt x="0" y="124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21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9358503" y="2006727"/>
            <a:ext cx="3996690" cy="4202430"/>
            <a:chOff x="0" y="0"/>
            <a:chExt cx="5328920" cy="56032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328920" cy="5603240"/>
            </a:xfrm>
            <a:custGeom>
              <a:avLst/>
              <a:gdLst/>
              <a:ahLst/>
              <a:cxnLst/>
              <a:rect r="r" b="b" t="t" l="l"/>
              <a:pathLst>
                <a:path h="560324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5603240"/>
                  </a:lnTo>
                  <a:lnTo>
                    <a:pt x="0" y="5603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9260110" y="1908334"/>
            <a:ext cx="4001453" cy="4207192"/>
            <a:chOff x="0" y="0"/>
            <a:chExt cx="5335270" cy="560959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9518904" y="2084832"/>
            <a:ext cx="3483864" cy="850392"/>
            <a:chOff x="0" y="0"/>
            <a:chExt cx="4645152" cy="113385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645152" cy="1133856"/>
            </a:xfrm>
            <a:custGeom>
              <a:avLst/>
              <a:gdLst/>
              <a:ahLst/>
              <a:cxnLst/>
              <a:rect r="r" b="b" t="t" l="l"/>
              <a:pathLst>
                <a:path h="1133856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825" r="0" b="-29825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0"/>
              <a:ext cx="4645152" cy="1133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Outra pesquisa, mesma escola</a:t>
              </a:r>
            </a:p>
          </p:txBody>
        </p:sp>
      </p:grpSp>
      <p:sp>
        <p:nvSpPr>
          <p:cNvPr name="AutoShape 40" id="40"/>
          <p:cNvSpPr/>
          <p:nvPr/>
        </p:nvSpPr>
        <p:spPr>
          <a:xfrm rot="5301840">
            <a:off x="10760431" y="6676015"/>
            <a:ext cx="1000801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1" id="41"/>
          <p:cNvGrpSpPr/>
          <p:nvPr/>
        </p:nvGrpSpPr>
        <p:grpSpPr>
          <a:xfrm rot="0">
            <a:off x="10959084" y="7116594"/>
            <a:ext cx="576072" cy="933669"/>
            <a:chOff x="0" y="0"/>
            <a:chExt cx="768096" cy="1244892"/>
          </a:xfrm>
        </p:grpSpPr>
        <p:sp>
          <p:nvSpPr>
            <p:cNvPr name="Freeform 42" id="42" descr="/home/claude/deck3/img/d_alfinete.png"/>
            <p:cNvSpPr/>
            <p:nvPr/>
          </p:nvSpPr>
          <p:spPr>
            <a:xfrm flipH="false" flipV="false" rot="0">
              <a:off x="0" y="0"/>
              <a:ext cx="768096" cy="1244854"/>
            </a:xfrm>
            <a:custGeom>
              <a:avLst/>
              <a:gdLst/>
              <a:ahLst/>
              <a:cxnLst/>
              <a:rect r="r" b="b" t="t" l="l"/>
              <a:pathLst>
                <a:path h="1244854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1244854"/>
                  </a:lnTo>
                  <a:lnTo>
                    <a:pt x="0" y="124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21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3583031" y="2006727"/>
            <a:ext cx="3996690" cy="4202430"/>
            <a:chOff x="0" y="0"/>
            <a:chExt cx="5328920" cy="56032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328920" cy="5603240"/>
            </a:xfrm>
            <a:custGeom>
              <a:avLst/>
              <a:gdLst/>
              <a:ahLst/>
              <a:cxnLst/>
              <a:rect r="r" b="b" t="t" l="l"/>
              <a:pathLst>
                <a:path h="560324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5603240"/>
                  </a:lnTo>
                  <a:lnTo>
                    <a:pt x="0" y="5603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13484638" y="1908334"/>
            <a:ext cx="4001453" cy="4207192"/>
            <a:chOff x="0" y="0"/>
            <a:chExt cx="5335270" cy="560959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FFFFFF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13743432" y="2084832"/>
            <a:ext cx="3483864" cy="850392"/>
            <a:chOff x="0" y="0"/>
            <a:chExt cx="4645152" cy="113385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645152" cy="1133856"/>
            </a:xfrm>
            <a:custGeom>
              <a:avLst/>
              <a:gdLst/>
              <a:ahLst/>
              <a:cxnLst/>
              <a:rect r="r" b="b" t="t" l="l"/>
              <a:pathLst>
                <a:path h="1133856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825" r="0" b="-29825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4645152" cy="1133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Memória não é dado</a:t>
              </a:r>
            </a:p>
          </p:txBody>
        </p:sp>
      </p:grpSp>
      <p:sp>
        <p:nvSpPr>
          <p:cNvPr name="AutoShape 50" id="50"/>
          <p:cNvSpPr/>
          <p:nvPr/>
        </p:nvSpPr>
        <p:spPr>
          <a:xfrm rot="5275980">
            <a:off x="15089191" y="6571736"/>
            <a:ext cx="792347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1" id="51"/>
          <p:cNvGrpSpPr/>
          <p:nvPr/>
        </p:nvGrpSpPr>
        <p:grpSpPr>
          <a:xfrm rot="0">
            <a:off x="15183612" y="6908025"/>
            <a:ext cx="576072" cy="933669"/>
            <a:chOff x="0" y="0"/>
            <a:chExt cx="768096" cy="1244892"/>
          </a:xfrm>
        </p:grpSpPr>
        <p:sp>
          <p:nvSpPr>
            <p:cNvPr name="Freeform 52" id="52" descr="/home/claude/deck3/img/d_alfinete.png"/>
            <p:cNvSpPr/>
            <p:nvPr/>
          </p:nvSpPr>
          <p:spPr>
            <a:xfrm flipH="false" flipV="false" rot="0">
              <a:off x="0" y="0"/>
              <a:ext cx="768096" cy="1244854"/>
            </a:xfrm>
            <a:custGeom>
              <a:avLst/>
              <a:gdLst/>
              <a:ahLst/>
              <a:cxnLst/>
              <a:rect r="r" b="b" t="t" l="l"/>
              <a:pathLst>
                <a:path h="1244854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1244854"/>
                  </a:lnTo>
                  <a:lnTo>
                    <a:pt x="0" y="124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21"/>
              </a:stretch>
            </a:blipFill>
          </p:spPr>
        </p:sp>
      </p:grpSp>
      <p:sp>
        <p:nvSpPr>
          <p:cNvPr name="TextBox 53" id="53"/>
          <p:cNvSpPr txBox="true"/>
          <p:nvPr/>
        </p:nvSpPr>
        <p:spPr>
          <a:xfrm rot="0">
            <a:off x="603115" y="3027045"/>
            <a:ext cx="3483864" cy="2939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Quase duas décadas de convivência com Pipa e dezoito anos de trabalho na rede municipal de educação de Tibau do Sul/RN. A pesquisadora não olha o problema de fora.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707993" y="8411959"/>
            <a:ext cx="3566160" cy="42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rede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4817936" y="1908334"/>
            <a:ext cx="4001453" cy="4207192"/>
            <a:chOff x="0" y="0"/>
            <a:chExt cx="5335270" cy="560959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57" id="57"/>
          <p:cNvSpPr txBox="true"/>
          <p:nvPr/>
        </p:nvSpPr>
        <p:spPr>
          <a:xfrm rot="0">
            <a:off x="5115020" y="3857244"/>
            <a:ext cx="3483864" cy="987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89"/>
              </a:lnSpc>
            </a:pP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das crianças da turma dividiam o aparelho com pais ou responsáveis; 30% tinham aparelho próprio (MACHADO, 2021).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5294376" y="2880360"/>
            <a:ext cx="3483864" cy="1209824"/>
            <a:chOff x="0" y="0"/>
            <a:chExt cx="4645152" cy="1613098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4645152" cy="1613099"/>
            </a:xfrm>
            <a:custGeom>
              <a:avLst/>
              <a:gdLst/>
              <a:ahLst/>
              <a:cxnLst/>
              <a:rect r="r" b="b" t="t" l="l"/>
              <a:pathLst>
                <a:path h="1613099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613099"/>
                  </a:lnTo>
                  <a:lnTo>
                    <a:pt x="0" y="161309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429" r="0" b="4209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4645152" cy="16130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70%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5294376" y="2084832"/>
            <a:ext cx="3483864" cy="850392"/>
            <a:chOff x="0" y="0"/>
            <a:chExt cx="4645152" cy="1133856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4645152" cy="1133856"/>
            </a:xfrm>
            <a:custGeom>
              <a:avLst/>
              <a:gdLst/>
              <a:ahLst/>
              <a:cxnLst/>
              <a:rect r="r" b="b" t="t" l="l"/>
              <a:pathLst>
                <a:path h="1133856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825" r="0" b="-2982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0"/>
              <a:ext cx="4645152" cy="1133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Mestrado na mesma escola</a:t>
              </a:r>
            </a:p>
          </p:txBody>
        </p:sp>
      </p:grpSp>
      <p:sp>
        <p:nvSpPr>
          <p:cNvPr name="TextBox 64" id="64"/>
          <p:cNvSpPr txBox="true"/>
          <p:nvPr/>
        </p:nvSpPr>
        <p:spPr>
          <a:xfrm rot="0">
            <a:off x="5076730" y="4844796"/>
            <a:ext cx="3483864" cy="1165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Pesquisa-ação com uma turma de 2º ano no ensino remoto: atividades assíncronas, por aplicativos de mensagens, no celular de adultos (pais e/ou responsáveis).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5253228" y="8210683"/>
            <a:ext cx="3566160" cy="42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Mestrado · 2021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9518904" y="3027045"/>
            <a:ext cx="3483864" cy="2939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mesma escola, agora diante da PNED: interessa como as profissionais leem e traduzem uma lei que fez da educação digital direito e componente curricular.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9477756" y="8442855"/>
            <a:ext cx="3566160" cy="42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Doutorado · hoje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13743432" y="3027045"/>
            <a:ext cx="3483864" cy="1323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trajetória orienta o olhar; as evidências virão dos instrumentos. O diário de campo registra o percurso e não é uma quinta fonte.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13702284" y="8234286"/>
            <a:ext cx="3566160" cy="42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Regra de método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Freire (2019): não há neutralidade possível; Braun e Clarke (2019): a reflexividade é parte da análise.</a:t>
            </a:r>
          </a:p>
        </p:txBody>
      </p:sp>
      <p:grpSp>
        <p:nvGrpSpPr>
          <p:cNvPr name="Group 71" id="71"/>
          <p:cNvGrpSpPr/>
          <p:nvPr/>
        </p:nvGrpSpPr>
        <p:grpSpPr>
          <a:xfrm rot="0">
            <a:off x="6550834" y="-3800827"/>
            <a:ext cx="4001453" cy="4207192"/>
            <a:chOff x="0" y="0"/>
            <a:chExt cx="5335270" cy="560959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22960" y="246888"/>
            <a:ext cx="15361920" cy="1303020"/>
            <a:chOff x="0" y="0"/>
            <a:chExt cx="20482560" cy="1737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0482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20482561">
                  <a:moveTo>
                    <a:pt x="0" y="0"/>
                  </a:moveTo>
                  <a:lnTo>
                    <a:pt x="20482561" y="0"/>
                  </a:lnTo>
                  <a:lnTo>
                    <a:pt x="20482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9718" r="0" b="-179718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20482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problema em uma imagem: o vazio material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600000">
            <a:off x="15751788" y="122728"/>
            <a:ext cx="1577340" cy="1760420"/>
            <a:chOff x="0" y="0"/>
            <a:chExt cx="2103120" cy="2347227"/>
          </a:xfrm>
        </p:grpSpPr>
        <p:sp>
          <p:nvSpPr>
            <p:cNvPr name="Freeform 7" id="7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" t="0" r="-11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09447" y="2006727"/>
            <a:ext cx="10374630" cy="3345475"/>
            <a:chOff x="0" y="0"/>
            <a:chExt cx="13832840" cy="446063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832839" cy="4460621"/>
            </a:xfrm>
            <a:custGeom>
              <a:avLst/>
              <a:gdLst/>
              <a:ahLst/>
              <a:cxnLst/>
              <a:rect r="r" b="b" t="t" l="l"/>
              <a:pathLst>
                <a:path h="4460621" w="13832839">
                  <a:moveTo>
                    <a:pt x="0" y="0"/>
                  </a:moveTo>
                  <a:lnTo>
                    <a:pt x="13832839" y="0"/>
                  </a:lnTo>
                  <a:lnTo>
                    <a:pt x="13832839" y="4460621"/>
                  </a:lnTo>
                  <a:lnTo>
                    <a:pt x="0" y="4460621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822960" y="1920240"/>
            <a:ext cx="10355580" cy="3326425"/>
            <a:chOff x="0" y="0"/>
            <a:chExt cx="13807440" cy="4435234"/>
          </a:xfrm>
        </p:grpSpPr>
        <p:sp>
          <p:nvSpPr>
            <p:cNvPr name="Freeform 11" id="11" descr="/home/claude/deck3/img/crop_ponte.png"/>
            <p:cNvSpPr/>
            <p:nvPr/>
          </p:nvSpPr>
          <p:spPr>
            <a:xfrm flipH="false" flipV="false" rot="0">
              <a:off x="0" y="0"/>
              <a:ext cx="13807439" cy="4435221"/>
            </a:xfrm>
            <a:custGeom>
              <a:avLst/>
              <a:gdLst/>
              <a:ahLst/>
              <a:cxnLst/>
              <a:rect r="r" b="b" t="t" l="l"/>
              <a:pathLst>
                <a:path h="4435221" w="13807439">
                  <a:moveTo>
                    <a:pt x="0" y="0"/>
                  </a:moveTo>
                  <a:lnTo>
                    <a:pt x="13807439" y="0"/>
                  </a:lnTo>
                  <a:lnTo>
                    <a:pt x="13807439" y="4435221"/>
                  </a:lnTo>
                  <a:lnTo>
                    <a:pt x="0" y="44352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11054" y="1908334"/>
            <a:ext cx="10379393" cy="3350238"/>
            <a:chOff x="0" y="0"/>
            <a:chExt cx="13839190" cy="446698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3839189" cy="4466971"/>
            </a:xfrm>
            <a:custGeom>
              <a:avLst/>
              <a:gdLst/>
              <a:ahLst/>
              <a:cxnLst/>
              <a:rect r="r" b="b" t="t" l="l"/>
              <a:pathLst>
                <a:path h="4466971" w="13839189">
                  <a:moveTo>
                    <a:pt x="0" y="0"/>
                  </a:moveTo>
                  <a:lnTo>
                    <a:pt x="13839189" y="0"/>
                  </a:lnTo>
                  <a:lnTo>
                    <a:pt x="13839189" y="4466971"/>
                  </a:lnTo>
                  <a:lnTo>
                    <a:pt x="0" y="446697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366" r="0" b="-10367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1580495" y="1910715"/>
            <a:ext cx="5889498" cy="1555242"/>
            <a:chOff x="0" y="0"/>
            <a:chExt cx="7852664" cy="207365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852664" cy="2073656"/>
            </a:xfrm>
            <a:custGeom>
              <a:avLst/>
              <a:gdLst/>
              <a:ahLst/>
              <a:cxnLst/>
              <a:rect r="r" b="b" t="t" l="l"/>
              <a:pathLst>
                <a:path h="2073656" w="7852664">
                  <a:moveTo>
                    <a:pt x="0" y="0"/>
                  </a:moveTo>
                  <a:lnTo>
                    <a:pt x="7852664" y="0"/>
                  </a:lnTo>
                  <a:lnTo>
                    <a:pt x="7852664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1864340" y="1920240"/>
            <a:ext cx="5349240" cy="1536192"/>
            <a:chOff x="0" y="0"/>
            <a:chExt cx="7132320" cy="204825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132320" cy="2048256"/>
            </a:xfrm>
            <a:custGeom>
              <a:avLst/>
              <a:gdLst/>
              <a:ahLst/>
              <a:cxnLst/>
              <a:rect r="r" b="b" t="t" l="l"/>
              <a:pathLst>
                <a:path h="2048256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2048256"/>
                  </a:lnTo>
                  <a:lnTo>
                    <a:pt x="0" y="20482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849" r="0" b="-17849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9525"/>
              <a:ext cx="7132320" cy="203873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just">
                <a:lnSpc>
                  <a:spcPts val="2160"/>
                </a:lnSpc>
              </a:pPr>
              <a:r>
                <a:rPr lang="en-US" sz="180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Ponto de partida: </a:t>
              </a:r>
              <a:r>
                <a:rPr lang="en-US" sz="18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vazio material, inscrito no texto da lei (Cap. 5): o direito chega à escola antes dos meios.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1676507" y="3762375"/>
            <a:ext cx="5793486" cy="1555242"/>
            <a:chOff x="0" y="0"/>
            <a:chExt cx="7724648" cy="207365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724648" cy="2073656"/>
            </a:xfrm>
            <a:custGeom>
              <a:avLst/>
              <a:gdLst/>
              <a:ahLst/>
              <a:cxnLst/>
              <a:rect r="r" b="b" t="t" l="l"/>
              <a:pathLst>
                <a:path h="2073656" w="7724648">
                  <a:moveTo>
                    <a:pt x="0" y="0"/>
                  </a:moveTo>
                  <a:lnTo>
                    <a:pt x="7724648" y="0"/>
                  </a:lnTo>
                  <a:lnTo>
                    <a:pt x="772464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11578114" y="3663982"/>
            <a:ext cx="5798248" cy="1560004"/>
            <a:chOff x="0" y="0"/>
            <a:chExt cx="7730998" cy="208000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730998" cy="2080006"/>
            </a:xfrm>
            <a:custGeom>
              <a:avLst/>
              <a:gdLst/>
              <a:ahLst/>
              <a:cxnLst/>
              <a:rect r="r" b="b" t="t" l="l"/>
              <a:pathLst>
                <a:path h="2080006" w="7730998">
                  <a:moveTo>
                    <a:pt x="0" y="0"/>
                  </a:moveTo>
                  <a:lnTo>
                    <a:pt x="7730998" y="0"/>
                  </a:lnTo>
                  <a:lnTo>
                    <a:pt x="7730998" y="2080006"/>
                  </a:lnTo>
                  <a:lnTo>
                    <a:pt x="0" y="20800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11864340" y="3675888"/>
            <a:ext cx="5280660" cy="1536192"/>
            <a:chOff x="0" y="0"/>
            <a:chExt cx="7040880" cy="204825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040880" cy="2048256"/>
            </a:xfrm>
            <a:custGeom>
              <a:avLst/>
              <a:gdLst/>
              <a:ahLst/>
              <a:cxnLst/>
              <a:rect r="r" b="b" t="t" l="l"/>
              <a:pathLst>
                <a:path h="2048256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2048256"/>
                  </a:lnTo>
                  <a:lnTo>
                    <a:pt x="0" y="20482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979" r="0" b="-16979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9525"/>
              <a:ext cx="7040880" cy="203873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que a imagem não mostra: </a:t>
              </a:r>
              <a:r>
                <a:rPr lang="en-US" sz="18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as pessoas que atravessam essa ponte todos os dias. É aí que a tese olha: como as profissionais encenam a política no vazio.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09447" y="5778627"/>
            <a:ext cx="8042910" cy="3173730"/>
            <a:chOff x="0" y="0"/>
            <a:chExt cx="10723880" cy="42316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723880" cy="4231640"/>
            </a:xfrm>
            <a:custGeom>
              <a:avLst/>
              <a:gdLst/>
              <a:ahLst/>
              <a:cxnLst/>
              <a:rect r="r" b="b" t="t" l="l"/>
              <a:pathLst>
                <a:path h="4231640" w="10723880">
                  <a:moveTo>
                    <a:pt x="0" y="0"/>
                  </a:moveTo>
                  <a:lnTo>
                    <a:pt x="10723880" y="0"/>
                  </a:lnTo>
                  <a:lnTo>
                    <a:pt x="10723880" y="4231640"/>
                  </a:lnTo>
                  <a:lnTo>
                    <a:pt x="0" y="4231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811054" y="5680234"/>
            <a:ext cx="8047672" cy="3178492"/>
            <a:chOff x="0" y="0"/>
            <a:chExt cx="10730230" cy="423799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730230" cy="4237990"/>
            </a:xfrm>
            <a:custGeom>
              <a:avLst/>
              <a:gdLst/>
              <a:ahLst/>
              <a:cxnLst/>
              <a:rect r="r" b="b" t="t" l="l"/>
              <a:pathLst>
                <a:path h="4237990" w="10730230">
                  <a:moveTo>
                    <a:pt x="0" y="0"/>
                  </a:moveTo>
                  <a:lnTo>
                    <a:pt x="10730230" y="0"/>
                  </a:lnTo>
                  <a:lnTo>
                    <a:pt x="10730230" y="4237990"/>
                  </a:lnTo>
                  <a:lnTo>
                    <a:pt x="0" y="42379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0" id="30"/>
          <p:cNvSpPr txBox="true"/>
          <p:nvPr/>
        </p:nvSpPr>
        <p:spPr>
          <a:xfrm rot="0">
            <a:off x="1165860" y="5860923"/>
            <a:ext cx="7406640" cy="489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b="true" sz="1950" spc="299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PROBLEMA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65860" y="6419088"/>
            <a:ext cx="7406640" cy="2331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10"/>
              </a:lnSpc>
            </a:pPr>
            <a:r>
              <a:rPr lang="en-US" sz="21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distância entre o direito declarado e os meios garantidos. </a:t>
            </a:r>
            <a:r>
              <a:rPr lang="en-US" sz="21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norma faz da educação digital componente curricular, mas não garante formação específica, infraestrutura de rede e tempo de planejamento, que acabam sendo construídos no dia a dia do contexto da prática.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9248775" y="5682615"/>
            <a:ext cx="8221218" cy="3269742"/>
            <a:chOff x="0" y="0"/>
            <a:chExt cx="10961624" cy="435965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61624" cy="4359656"/>
            </a:xfrm>
            <a:custGeom>
              <a:avLst/>
              <a:gdLst/>
              <a:ahLst/>
              <a:cxnLst/>
              <a:rect r="r" b="b" t="t" l="l"/>
              <a:pathLst>
                <a:path h="4359656" w="10961624">
                  <a:moveTo>
                    <a:pt x="0" y="0"/>
                  </a:moveTo>
                  <a:lnTo>
                    <a:pt x="10961624" y="0"/>
                  </a:lnTo>
                  <a:lnTo>
                    <a:pt x="10961624" y="4359656"/>
                  </a:lnTo>
                  <a:lnTo>
                    <a:pt x="0" y="4359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TextBox 34" id="34"/>
          <p:cNvSpPr txBox="true"/>
          <p:nvPr/>
        </p:nvSpPr>
        <p:spPr>
          <a:xfrm rot="0">
            <a:off x="9601200" y="5860923"/>
            <a:ext cx="7543800" cy="489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b="true" sz="1950" spc="299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TESE (HIPÓTESE DE TRABALHO)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601200" y="6419088"/>
            <a:ext cx="7543800" cy="240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2250" i="true">
                <a:solidFill>
                  <a:srgbClr val="1A1A1A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Em Pipa, o território e as culturas profissionais da escola operam como espaços de ressignificação ou de resistência frente à PNED e às pressões da performatividade. A distância entre a norma e a sala de aula é processo político, e não falha de execução.</a:t>
            </a:r>
          </a:p>
          <a:p>
            <a:pPr algn="ctr">
              <a:lnSpc>
                <a:spcPts val="2700"/>
              </a:lnSpc>
            </a:pPr>
          </a:p>
        </p:txBody>
      </p:sp>
      <p:sp>
        <p:nvSpPr>
          <p:cNvPr name="TextBox 36" id="36"/>
          <p:cNvSpPr txBox="true"/>
          <p:nvPr/>
        </p:nvSpPr>
        <p:spPr>
          <a:xfrm rot="0">
            <a:off x="822960" y="9601200"/>
            <a:ext cx="16637508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14.533/2023; Mainardes (2006); Ball, Maguire e Braun (2016).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ilustração conceitual gerada por IA (Gemini Notebook).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480000">
            <a:off x="16774668" y="144937"/>
            <a:ext cx="1371600" cy="1767526"/>
            <a:chOff x="0" y="0"/>
            <a:chExt cx="1828800" cy="2356701"/>
          </a:xfrm>
        </p:grpSpPr>
        <p:sp>
          <p:nvSpPr>
            <p:cNvPr name="Freeform 4" id="4" descr="/home/claude/deck3/img/d_globo.png"/>
            <p:cNvSpPr/>
            <p:nvPr/>
          </p:nvSpPr>
          <p:spPr>
            <a:xfrm flipH="false" flipV="false" rot="0">
              <a:off x="0" y="0"/>
              <a:ext cx="1828800" cy="2356739"/>
            </a:xfrm>
            <a:custGeom>
              <a:avLst/>
              <a:gdLst/>
              <a:ahLst/>
              <a:cxnLst/>
              <a:rect r="r" b="b" t="t" l="l"/>
              <a:pathLst>
                <a:path h="2356739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2356739"/>
                  </a:lnTo>
                  <a:lnTo>
                    <a:pt x="0" y="23567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2" t="0" r="-22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objeto e o recorte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910715"/>
            <a:ext cx="16656558" cy="1664970"/>
            <a:chOff x="0" y="0"/>
            <a:chExt cx="22208744" cy="221996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208744" cy="2219960"/>
            </a:xfrm>
            <a:custGeom>
              <a:avLst/>
              <a:gdLst/>
              <a:ahLst/>
              <a:cxnLst/>
              <a:rect r="r" b="b" t="t" l="l"/>
              <a:pathLst>
                <a:path h="221996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2219960"/>
                  </a:lnTo>
                  <a:lnTo>
                    <a:pt x="0" y="22199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234440" y="1920240"/>
            <a:ext cx="15910560" cy="1645920"/>
            <a:chOff x="0" y="0"/>
            <a:chExt cx="21214080" cy="219456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214080" cy="2194560"/>
            </a:xfrm>
            <a:custGeom>
              <a:avLst/>
              <a:gdLst/>
              <a:ahLst/>
              <a:cxnLst/>
              <a:rect r="r" b="b" t="t" l="l"/>
              <a:pathLst>
                <a:path h="219456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8355" r="0" b="-138355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21214080" cy="22040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Objeto: </a:t>
              </a:r>
              <a:r>
                <a:rPr lang="en-US" sz="27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encenação (interpretação e tradução) da PNED pelos profissionais das turmas de 1º e 2º anos da Escola Municipal Domitila Castelo, em Pipa.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09447" y="3995547"/>
            <a:ext cx="5313426" cy="3585210"/>
            <a:chOff x="0" y="0"/>
            <a:chExt cx="7084568" cy="47802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11054" y="3897154"/>
            <a:ext cx="5318188" cy="3589972"/>
            <a:chOff x="0" y="0"/>
            <a:chExt cx="7090918" cy="478663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1165860" y="4114800"/>
            <a:ext cx="466344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que 1º e 2º anos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65860" y="4791075"/>
            <a:ext cx="4663440" cy="2615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mesma professora conduz a turma toda a jornada e decide onde a educação digital aparece. A interpretação e a tradução passam por uma só pessoa, e as culturas profissionais ficam mais visíveis.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533007" y="3995547"/>
            <a:ext cx="5313426" cy="3585210"/>
            <a:chOff x="0" y="0"/>
            <a:chExt cx="7084568" cy="47802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6434614" y="3897154"/>
            <a:ext cx="5318188" cy="3589972"/>
            <a:chOff x="0" y="0"/>
            <a:chExt cx="7090918" cy="478663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8" id="28"/>
          <p:cNvSpPr txBox="true"/>
          <p:nvPr/>
        </p:nvSpPr>
        <p:spPr>
          <a:xfrm rot="0">
            <a:off x="6789420" y="4114800"/>
            <a:ext cx="466344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que o ciclo de alfabetização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789420" y="4791075"/>
            <a:ext cx="4663440" cy="2615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As crianças chegam com experiências digitais desiguais, e familiaridade com aparelhos não garante compreensão dos usos, riscos e direitos: provisão, participação e proteção (ONU, 2021).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2156567" y="3995547"/>
            <a:ext cx="5313426" cy="3585210"/>
            <a:chOff x="0" y="0"/>
            <a:chExt cx="7084568" cy="478028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2058174" y="3897154"/>
            <a:ext cx="5318188" cy="3589972"/>
            <a:chOff x="0" y="0"/>
            <a:chExt cx="7090918" cy="478663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4" id="34"/>
          <p:cNvSpPr txBox="true"/>
          <p:nvPr/>
        </p:nvSpPr>
        <p:spPr>
          <a:xfrm rot="0">
            <a:off x="12412980" y="4114800"/>
            <a:ext cx="466344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o objeto é lido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2412980" y="4791075"/>
            <a:ext cx="4663440" cy="2615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Território, culturas profissionais e condições materiais entram como dimensões do contexto da prática; as narrativas dos profissionais são o caminho principal.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808672" y="7831264"/>
            <a:ext cx="16666083" cy="1468755"/>
            <a:chOff x="0" y="0"/>
            <a:chExt cx="22221444" cy="19583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2221444" cy="1958340"/>
            </a:xfrm>
            <a:custGeom>
              <a:avLst/>
              <a:gdLst/>
              <a:ahLst/>
              <a:cxnLst/>
              <a:rect r="r" b="b" t="t" l="l"/>
              <a:pathLst>
                <a:path h="1958340" w="22221444">
                  <a:moveTo>
                    <a:pt x="0" y="0"/>
                  </a:moveTo>
                  <a:lnTo>
                    <a:pt x="22221444" y="0"/>
                  </a:lnTo>
                  <a:lnTo>
                    <a:pt x="22221444" y="1958340"/>
                  </a:lnTo>
                  <a:lnTo>
                    <a:pt x="0" y="19583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1098" r="0" b="-171098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165860" y="7845552"/>
            <a:ext cx="16047720" cy="1440180"/>
            <a:chOff x="0" y="0"/>
            <a:chExt cx="21396960" cy="19202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1396961" cy="1920240"/>
            </a:xfrm>
            <a:custGeom>
              <a:avLst/>
              <a:gdLst/>
              <a:ahLst/>
              <a:cxnLst/>
              <a:rect r="r" b="b" t="t" l="l"/>
              <a:pathLst>
                <a:path h="1920240" w="21396961">
                  <a:moveTo>
                    <a:pt x="0" y="0"/>
                  </a:moveTo>
                  <a:lnTo>
                    <a:pt x="21396961" y="0"/>
                  </a:lnTo>
                  <a:lnTo>
                    <a:pt x="21396961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7119" r="0" b="-167119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9525"/>
              <a:ext cx="21396960" cy="1929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Fora do objeto: </a:t>
              </a:r>
              <a:r>
                <a:rPr lang="en-US" sz="202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cumprimento integral da PNED, os efeitos sobre a aprendizagem e a observação de aulas. As crianças não participam da produção de dados. Plataformização e governança de dados entram só como contexto.</a:t>
              </a: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822960" y="9601200"/>
            <a:ext cx="16637508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(1992); Mainardes (2006); Ball, Maguire e Braun (2016): encenação; Buckingham (2007); Zuboff (2021) e Morozov (2018) como contexto.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384610" y="474410"/>
            <a:ext cx="1769694" cy="1250663"/>
            <a:chOff x="0" y="0"/>
            <a:chExt cx="3108960" cy="2197138"/>
          </a:xfrm>
        </p:grpSpPr>
        <p:sp>
          <p:nvSpPr>
            <p:cNvPr name="Freeform 4" id="4" descr="/home/claude/deck3/img/d_nuvem.png"/>
            <p:cNvSpPr/>
            <p:nvPr/>
          </p:nvSpPr>
          <p:spPr>
            <a:xfrm flipH="false" flipV="false" rot="0">
              <a:off x="0" y="0"/>
              <a:ext cx="3108960" cy="2197100"/>
            </a:xfrm>
            <a:custGeom>
              <a:avLst/>
              <a:gdLst/>
              <a:ahLst/>
              <a:cxnLst/>
              <a:rect r="r" b="b" t="t" l="l"/>
              <a:pathLst>
                <a:path h="219710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2197100"/>
                  </a:lnTo>
                  <a:lnTo>
                    <a:pt x="0" y="2197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t="0" r="-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Questão norteadora e objetivos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842135"/>
            <a:ext cx="16656558" cy="1555242"/>
            <a:chOff x="0" y="0"/>
            <a:chExt cx="22208744" cy="207365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208744" cy="2073656"/>
            </a:xfrm>
            <a:custGeom>
              <a:avLst/>
              <a:gdLst/>
              <a:ahLst/>
              <a:cxnLst/>
              <a:rect r="r" b="b" t="t" l="l"/>
              <a:pathLst>
                <a:path h="2073656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165860" y="1851660"/>
            <a:ext cx="15979140" cy="1536192"/>
            <a:chOff x="0" y="0"/>
            <a:chExt cx="21305520" cy="204825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05520" cy="2048256"/>
            </a:xfrm>
            <a:custGeom>
              <a:avLst/>
              <a:gdLst/>
              <a:ahLst/>
              <a:cxnLst/>
              <a:rect r="r" b="b" t="t" l="l"/>
              <a:pathLst>
                <a:path h="2048256" w="21305520">
                  <a:moveTo>
                    <a:pt x="0" y="0"/>
                  </a:moveTo>
                  <a:lnTo>
                    <a:pt x="21305520" y="0"/>
                  </a:lnTo>
                  <a:lnTo>
                    <a:pt x="21305520" y="2048256"/>
                  </a:lnTo>
                  <a:lnTo>
                    <a:pt x="0" y="20482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2679" r="0" b="-152679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21305520" cy="2048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 i="true">
                  <a:solidFill>
                    <a:srgbClr val="3942B5"/>
                  </a:solidFill>
                  <a:latin typeface="Canva Sans Bold Italics"/>
                  <a:ea typeface="Canva Sans Bold Italics"/>
                  <a:cs typeface="Canva Sans Bold Italics"/>
                  <a:sym typeface="Canva Sans Bold Italics"/>
                </a:rPr>
                <a:t>Questão norteadora: como os profissionais da educação encenam (interpretam e traduzem) a PNED na Escola Municipal Domitila Castelo, em Pipa, e de que maneira o território e as culturas profissionais operam como espaços de ressignificação ou de resistência frente à norma e à performatividade?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09447" y="3680079"/>
            <a:ext cx="16560546" cy="1459230"/>
            <a:chOff x="0" y="0"/>
            <a:chExt cx="22080728" cy="19456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080728" cy="1945640"/>
            </a:xfrm>
            <a:custGeom>
              <a:avLst/>
              <a:gdLst/>
              <a:ahLst/>
              <a:cxnLst/>
              <a:rect r="r" b="b" t="t" l="l"/>
              <a:pathLst>
                <a:path h="1945640" w="22080728">
                  <a:moveTo>
                    <a:pt x="0" y="0"/>
                  </a:moveTo>
                  <a:lnTo>
                    <a:pt x="22080728" y="0"/>
                  </a:lnTo>
                  <a:lnTo>
                    <a:pt x="22080728" y="1945640"/>
                  </a:lnTo>
                  <a:lnTo>
                    <a:pt x="0" y="1945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11054" y="3581686"/>
            <a:ext cx="16565308" cy="1463992"/>
            <a:chOff x="0" y="0"/>
            <a:chExt cx="22087078" cy="195199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2087078" cy="1951990"/>
            </a:xfrm>
            <a:custGeom>
              <a:avLst/>
              <a:gdLst/>
              <a:ahLst/>
              <a:cxnLst/>
              <a:rect r="r" b="b" t="t" l="l"/>
              <a:pathLst>
                <a:path h="1951990" w="22087078">
                  <a:moveTo>
                    <a:pt x="0" y="0"/>
                  </a:moveTo>
                  <a:lnTo>
                    <a:pt x="22087078" y="0"/>
                  </a:lnTo>
                  <a:lnTo>
                    <a:pt x="22087078" y="1951990"/>
                  </a:lnTo>
                  <a:lnTo>
                    <a:pt x="0" y="19519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165860" y="3593592"/>
            <a:ext cx="15910560" cy="1440180"/>
            <a:chOff x="0" y="0"/>
            <a:chExt cx="21214080" cy="19202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12140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5263" r="0" b="-165263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9525"/>
              <a:ext cx="21214080" cy="1910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Objetivo geral: analisar a encenação (interpretação e tradução) da PNED pelos profissionais da educação no contexto da prática da Escola Municipal Domitila Castelo (Pipa/RN), investigando as dinâmicas de recontextualização e de resistência produzidas no cruzamento entre a normativa, as culturas profissionais da escola e as especificidades do território.</a:t>
              </a: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822960" y="5249037"/>
            <a:ext cx="822960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spc="300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OBJETIVOS ESPECÍFICOS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909447" y="5847207"/>
            <a:ext cx="5313426" cy="3585210"/>
            <a:chOff x="0" y="0"/>
            <a:chExt cx="7084568" cy="478028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811054" y="5748814"/>
            <a:ext cx="5318188" cy="3589972"/>
            <a:chOff x="0" y="0"/>
            <a:chExt cx="7090918" cy="478663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087755" y="5956935"/>
            <a:ext cx="732282" cy="732282"/>
            <a:chOff x="0" y="0"/>
            <a:chExt cx="976376" cy="97637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976376" cy="976376"/>
            </a:xfrm>
            <a:custGeom>
              <a:avLst/>
              <a:gdLst/>
              <a:ahLst/>
              <a:cxnLst/>
              <a:rect r="r" b="b" t="t" l="l"/>
              <a:pathLst>
                <a:path h="976376" w="976376">
                  <a:moveTo>
                    <a:pt x="0" y="488188"/>
                  </a:moveTo>
                  <a:cubicBezTo>
                    <a:pt x="0" y="218567"/>
                    <a:pt x="218567" y="0"/>
                    <a:pt x="488188" y="0"/>
                  </a:cubicBezTo>
                  <a:cubicBezTo>
                    <a:pt x="757809" y="0"/>
                    <a:pt x="976376" y="218567"/>
                    <a:pt x="976376" y="488188"/>
                  </a:cubicBezTo>
                  <a:cubicBezTo>
                    <a:pt x="976376" y="757809"/>
                    <a:pt x="757809" y="976376"/>
                    <a:pt x="488188" y="976376"/>
                  </a:cubicBezTo>
                  <a:cubicBezTo>
                    <a:pt x="218567" y="976376"/>
                    <a:pt x="0" y="757809"/>
                    <a:pt x="0" y="488188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097280" y="5966460"/>
            <a:ext cx="713232" cy="713232"/>
            <a:chOff x="0" y="0"/>
            <a:chExt cx="950976" cy="95097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950976" cy="9509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988820" y="5966460"/>
            <a:ext cx="3977640" cy="713232"/>
            <a:chOff x="0" y="0"/>
            <a:chExt cx="5303520" cy="950976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303520" cy="950976"/>
            </a:xfrm>
            <a:custGeom>
              <a:avLst/>
              <a:gdLst/>
              <a:ahLst/>
              <a:cxnLst/>
              <a:rect r="r" b="b" t="t" l="l"/>
              <a:pathLst>
                <a:path h="950976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8666" r="0" b="-58666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9525"/>
              <a:ext cx="5303520" cy="941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leitura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097280" y="6812661"/>
            <a:ext cx="4732020" cy="1224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Investigar como os profissionais decodificam a PNED a partir de suas culturas profissionais.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097280" y="8047101"/>
            <a:ext cx="4732020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i="true">
                <a:solidFill>
                  <a:srgbClr val="3942B5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Que sentidos a política ganha em cada posição?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97280" y="8750808"/>
            <a:ext cx="473202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4F506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Base: Cap. 5 (texto da lei) · resposta: Cap. 7 (questionário e entrevistas)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6533007" y="5847207"/>
            <a:ext cx="5313426" cy="3585210"/>
            <a:chOff x="0" y="0"/>
            <a:chExt cx="7084568" cy="478028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3" id="43"/>
          <p:cNvGrpSpPr/>
          <p:nvPr/>
        </p:nvGrpSpPr>
        <p:grpSpPr>
          <a:xfrm rot="0">
            <a:off x="6434614" y="5748814"/>
            <a:ext cx="5318188" cy="3589972"/>
            <a:chOff x="0" y="0"/>
            <a:chExt cx="7090918" cy="478663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6711315" y="5956935"/>
            <a:ext cx="732282" cy="732282"/>
            <a:chOff x="0" y="0"/>
            <a:chExt cx="976376" cy="976376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976376" cy="976376"/>
            </a:xfrm>
            <a:custGeom>
              <a:avLst/>
              <a:gdLst/>
              <a:ahLst/>
              <a:cxnLst/>
              <a:rect r="r" b="b" t="t" l="l"/>
              <a:pathLst>
                <a:path h="976376" w="976376">
                  <a:moveTo>
                    <a:pt x="0" y="488188"/>
                  </a:moveTo>
                  <a:cubicBezTo>
                    <a:pt x="0" y="218567"/>
                    <a:pt x="218567" y="0"/>
                    <a:pt x="488188" y="0"/>
                  </a:cubicBezTo>
                  <a:cubicBezTo>
                    <a:pt x="757809" y="0"/>
                    <a:pt x="976376" y="218567"/>
                    <a:pt x="976376" y="488188"/>
                  </a:cubicBezTo>
                  <a:cubicBezTo>
                    <a:pt x="976376" y="757809"/>
                    <a:pt x="757809" y="976376"/>
                    <a:pt x="488188" y="976376"/>
                  </a:cubicBezTo>
                  <a:cubicBezTo>
                    <a:pt x="218567" y="976376"/>
                    <a:pt x="0" y="757809"/>
                    <a:pt x="0" y="488188"/>
                  </a:cubicBezTo>
                  <a:close/>
                </a:path>
              </a:pathLst>
            </a:custGeom>
            <a:solidFill>
              <a:srgbClr val="7462E3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6720840" y="5966460"/>
            <a:ext cx="713232" cy="713232"/>
            <a:chOff x="0" y="0"/>
            <a:chExt cx="950976" cy="95097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950976" cy="9509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b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7612380" y="5966460"/>
            <a:ext cx="3977640" cy="713232"/>
            <a:chOff x="0" y="0"/>
            <a:chExt cx="5303520" cy="950976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303520" cy="950976"/>
            </a:xfrm>
            <a:custGeom>
              <a:avLst/>
              <a:gdLst/>
              <a:ahLst/>
              <a:cxnLst/>
              <a:rect r="r" b="b" t="t" l="l"/>
              <a:pathLst>
                <a:path h="950976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8666" r="0" b="-58666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9525"/>
              <a:ext cx="5303520" cy="941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tradução</a:t>
              </a:r>
            </a:p>
          </p:txBody>
        </p:sp>
      </p:grpSp>
      <p:sp>
        <p:nvSpPr>
          <p:cNvPr name="TextBox 53" id="53"/>
          <p:cNvSpPr txBox="true"/>
          <p:nvPr/>
        </p:nvSpPr>
        <p:spPr>
          <a:xfrm rot="0">
            <a:off x="6720840" y="6812661"/>
            <a:ext cx="4732020" cy="1224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Mapear as táticas que traduzem a PNED no cotidiano, sob a dimensão material e o território.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6720840" y="8047101"/>
            <a:ext cx="4732020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i="true">
                <a:solidFill>
                  <a:srgbClr val="7462E3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Como a política é posta em prática?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6720840" y="8750808"/>
            <a:ext cx="473202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4F506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Base: Cap. 6 (território e escola) · resposta: Cap. 7</a:t>
            </a:r>
          </a:p>
        </p:txBody>
      </p:sp>
      <p:grpSp>
        <p:nvGrpSpPr>
          <p:cNvPr name="Group 56" id="56"/>
          <p:cNvGrpSpPr/>
          <p:nvPr/>
        </p:nvGrpSpPr>
        <p:grpSpPr>
          <a:xfrm rot="0">
            <a:off x="12156567" y="5847207"/>
            <a:ext cx="5313426" cy="3585210"/>
            <a:chOff x="0" y="0"/>
            <a:chExt cx="7084568" cy="478028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12058174" y="5748814"/>
            <a:ext cx="5318188" cy="3589972"/>
            <a:chOff x="0" y="0"/>
            <a:chExt cx="7090918" cy="478663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0" id="60"/>
          <p:cNvGrpSpPr/>
          <p:nvPr/>
        </p:nvGrpSpPr>
        <p:grpSpPr>
          <a:xfrm rot="0">
            <a:off x="12334875" y="5956935"/>
            <a:ext cx="732282" cy="732282"/>
            <a:chOff x="0" y="0"/>
            <a:chExt cx="976376" cy="976376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976376" cy="976376"/>
            </a:xfrm>
            <a:custGeom>
              <a:avLst/>
              <a:gdLst/>
              <a:ahLst/>
              <a:cxnLst/>
              <a:rect r="r" b="b" t="t" l="l"/>
              <a:pathLst>
                <a:path h="976376" w="976376">
                  <a:moveTo>
                    <a:pt x="0" y="488188"/>
                  </a:moveTo>
                  <a:cubicBezTo>
                    <a:pt x="0" y="218567"/>
                    <a:pt x="218567" y="0"/>
                    <a:pt x="488188" y="0"/>
                  </a:cubicBezTo>
                  <a:cubicBezTo>
                    <a:pt x="757809" y="0"/>
                    <a:pt x="976376" y="218567"/>
                    <a:pt x="976376" y="488188"/>
                  </a:cubicBezTo>
                  <a:cubicBezTo>
                    <a:pt x="976376" y="757809"/>
                    <a:pt x="757809" y="976376"/>
                    <a:pt x="488188" y="976376"/>
                  </a:cubicBezTo>
                  <a:cubicBezTo>
                    <a:pt x="218567" y="976376"/>
                    <a:pt x="0" y="757809"/>
                    <a:pt x="0" y="488188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2344400" y="5966460"/>
            <a:ext cx="713232" cy="713232"/>
            <a:chOff x="0" y="0"/>
            <a:chExt cx="950976" cy="950976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0"/>
              <a:ext cx="950976" cy="9509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3235940" y="5966460"/>
            <a:ext cx="3977640" cy="713232"/>
            <a:chOff x="0" y="0"/>
            <a:chExt cx="5303520" cy="950976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5303520" cy="950976"/>
            </a:xfrm>
            <a:custGeom>
              <a:avLst/>
              <a:gdLst/>
              <a:ahLst/>
              <a:cxnLst/>
              <a:rect r="r" b="b" t="t" l="l"/>
              <a:pathLst>
                <a:path h="950976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8666" r="0" b="-58666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9525"/>
              <a:ext cx="5303520" cy="941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resistência</a:t>
              </a:r>
            </a:p>
          </p:txBody>
        </p:sp>
      </p:grpSp>
      <p:sp>
        <p:nvSpPr>
          <p:cNvPr name="TextBox 68" id="68"/>
          <p:cNvSpPr txBox="true"/>
          <p:nvPr/>
        </p:nvSpPr>
        <p:spPr>
          <a:xfrm rot="0">
            <a:off x="12344400" y="6812661"/>
            <a:ext cx="4732020" cy="1224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Identificar lógicas de performatividade e as estratégias de ressignificação e de resistência.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12344400" y="8047101"/>
            <a:ext cx="4732020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i="true">
                <a:solidFill>
                  <a:srgbClr val="B8420F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O que fazem com a pressão por resultados?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12344400" y="8750808"/>
            <a:ext cx="473202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4F506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Base: Cap. 5 · resposta: Cap. 7 (entrevistas e documentos)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Mainardes (2006): contextos da ACP; Ball, Maguire e Braun (2016): dimensões do contexto.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355272" y="509295"/>
            <a:ext cx="1851660" cy="1618583"/>
            <a:chOff x="0" y="0"/>
            <a:chExt cx="2468880" cy="2158111"/>
          </a:xfrm>
        </p:grpSpPr>
        <p:sp>
          <p:nvSpPr>
            <p:cNvPr name="Freeform 4" id="4" descr="/home/claude/deck3/img/d_lupa.png"/>
            <p:cNvSpPr/>
            <p:nvPr/>
          </p:nvSpPr>
          <p:spPr>
            <a:xfrm flipH="false" flipV="false" rot="0">
              <a:off x="0" y="0"/>
              <a:ext cx="2468880" cy="2158111"/>
            </a:xfrm>
            <a:custGeom>
              <a:avLst/>
              <a:gdLst/>
              <a:ahLst/>
              <a:cxnLst/>
              <a:rect r="r" b="b" t="t" l="l"/>
              <a:pathLst>
                <a:path h="2158111" w="2468880">
                  <a:moveTo>
                    <a:pt x="0" y="0"/>
                  </a:moveTo>
                  <a:lnTo>
                    <a:pt x="2468880" y="0"/>
                  </a:lnTo>
                  <a:lnTo>
                    <a:pt x="2468880" y="2158111"/>
                  </a:lnTo>
                  <a:lnTo>
                    <a:pt x="0" y="2158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21" r="0" b="-2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Contribuição inédita: habitar o digital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822960" y="1920240"/>
            <a:ext cx="1659636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Leitura tecnicista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08672" y="2591752"/>
            <a:ext cx="4966335" cy="1537335"/>
            <a:chOff x="0" y="0"/>
            <a:chExt cx="6621780" cy="204978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621780" cy="2049780"/>
            </a:xfrm>
            <a:custGeom>
              <a:avLst/>
              <a:gdLst/>
              <a:ahLst/>
              <a:cxnLst/>
              <a:rect r="r" b="b" t="t" l="l"/>
              <a:pathLst>
                <a:path h="2049780" w="6621780">
                  <a:moveTo>
                    <a:pt x="0" y="0"/>
                  </a:moveTo>
                  <a:lnTo>
                    <a:pt x="6621780" y="0"/>
                  </a:lnTo>
                  <a:lnTo>
                    <a:pt x="6621780" y="2049780"/>
                  </a:lnTo>
                  <a:lnTo>
                    <a:pt x="0" y="20497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946" r="0" b="-12946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028700" y="2606040"/>
            <a:ext cx="4526280" cy="1508760"/>
            <a:chOff x="0" y="0"/>
            <a:chExt cx="6035040" cy="201168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Mede a escola pelo acesso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5897880" y="3099816"/>
            <a:ext cx="521208" cy="521208"/>
            <a:chOff x="0" y="0"/>
            <a:chExt cx="694944" cy="694944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6500812" y="2591752"/>
            <a:ext cx="4966335" cy="1537335"/>
            <a:chOff x="0" y="0"/>
            <a:chExt cx="6621780" cy="20497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621780" cy="2049780"/>
            </a:xfrm>
            <a:custGeom>
              <a:avLst/>
              <a:gdLst/>
              <a:ahLst/>
              <a:cxnLst/>
              <a:rect r="r" b="b" t="t" l="l"/>
              <a:pathLst>
                <a:path h="2049780" w="6621780">
                  <a:moveTo>
                    <a:pt x="0" y="0"/>
                  </a:moveTo>
                  <a:lnTo>
                    <a:pt x="6621780" y="0"/>
                  </a:lnTo>
                  <a:lnTo>
                    <a:pt x="6621780" y="2049780"/>
                  </a:lnTo>
                  <a:lnTo>
                    <a:pt x="0" y="20497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946" r="0" b="-12946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6720840" y="2606040"/>
            <a:ext cx="4526280" cy="1508760"/>
            <a:chOff x="0" y="0"/>
            <a:chExt cx="6035040" cy="20116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Distância = falha de implementação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1590020" y="3099816"/>
            <a:ext cx="521208" cy="521208"/>
            <a:chOff x="0" y="0"/>
            <a:chExt cx="694944" cy="694944"/>
          </a:xfrm>
        </p:grpSpPr>
        <p:sp>
          <p:nvSpPr>
            <p:cNvPr name="Freeform 27" id="27" descr="preencoded.png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2192952" y="2591752"/>
            <a:ext cx="4966335" cy="1537335"/>
            <a:chOff x="0" y="0"/>
            <a:chExt cx="6621780" cy="204978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621780" cy="2049780"/>
            </a:xfrm>
            <a:custGeom>
              <a:avLst/>
              <a:gdLst/>
              <a:ahLst/>
              <a:cxnLst/>
              <a:rect r="r" b="b" t="t" l="l"/>
              <a:pathLst>
                <a:path h="2049780" w="6621780">
                  <a:moveTo>
                    <a:pt x="0" y="0"/>
                  </a:moveTo>
                  <a:lnTo>
                    <a:pt x="6621780" y="0"/>
                  </a:lnTo>
                  <a:lnTo>
                    <a:pt x="6621780" y="2049780"/>
                  </a:lnTo>
                  <a:lnTo>
                    <a:pt x="0" y="20497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946" r="0" b="-12946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2412980" y="2606040"/>
            <a:ext cx="4526280" cy="1508760"/>
            <a:chOff x="0" y="0"/>
            <a:chExt cx="6035040" cy="201168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Professor como executor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822960" y="4526280"/>
            <a:ext cx="1659636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Leitura desta tese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909447" y="5298567"/>
            <a:ext cx="4956810" cy="1527810"/>
            <a:chOff x="0" y="0"/>
            <a:chExt cx="6609080" cy="203708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609080" cy="2037080"/>
            </a:xfrm>
            <a:custGeom>
              <a:avLst/>
              <a:gdLst/>
              <a:ahLst/>
              <a:cxnLst/>
              <a:rect r="r" b="b" t="t" l="l"/>
              <a:pathLst>
                <a:path h="2037080" w="6609080">
                  <a:moveTo>
                    <a:pt x="0" y="0"/>
                  </a:moveTo>
                  <a:lnTo>
                    <a:pt x="6609080" y="0"/>
                  </a:lnTo>
                  <a:lnTo>
                    <a:pt x="6609080" y="2037080"/>
                  </a:lnTo>
                  <a:lnTo>
                    <a:pt x="0" y="2037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811054" y="5200174"/>
            <a:ext cx="4961572" cy="1532573"/>
            <a:chOff x="0" y="0"/>
            <a:chExt cx="6615430" cy="204343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615430" cy="2043430"/>
            </a:xfrm>
            <a:custGeom>
              <a:avLst/>
              <a:gdLst/>
              <a:ahLst/>
              <a:cxnLst/>
              <a:rect r="r" b="b" t="t" l="l"/>
              <a:pathLst>
                <a:path h="2043430" w="6615430">
                  <a:moveTo>
                    <a:pt x="0" y="0"/>
                  </a:moveTo>
                  <a:lnTo>
                    <a:pt x="6615430" y="0"/>
                  </a:lnTo>
                  <a:lnTo>
                    <a:pt x="6615430" y="2043430"/>
                  </a:lnTo>
                  <a:lnTo>
                    <a:pt x="0" y="2043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028700" y="5212080"/>
            <a:ext cx="4526280" cy="1508760"/>
            <a:chOff x="0" y="0"/>
            <a:chExt cx="6035040" cy="20116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Habitar o digital: experiência desigual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5897880" y="5705856"/>
            <a:ext cx="521208" cy="521208"/>
            <a:chOff x="0" y="0"/>
            <a:chExt cx="694944" cy="694944"/>
          </a:xfrm>
        </p:grpSpPr>
        <p:sp>
          <p:nvSpPr>
            <p:cNvPr name="Freeform 42" id="42" descr="preencoded.png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6601587" y="5298567"/>
            <a:ext cx="4956810" cy="1527810"/>
            <a:chOff x="0" y="0"/>
            <a:chExt cx="6609080" cy="203708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6609080" cy="2037080"/>
            </a:xfrm>
            <a:custGeom>
              <a:avLst/>
              <a:gdLst/>
              <a:ahLst/>
              <a:cxnLst/>
              <a:rect r="r" b="b" t="t" l="l"/>
              <a:pathLst>
                <a:path h="2037080" w="6609080">
                  <a:moveTo>
                    <a:pt x="0" y="0"/>
                  </a:moveTo>
                  <a:lnTo>
                    <a:pt x="6609080" y="0"/>
                  </a:lnTo>
                  <a:lnTo>
                    <a:pt x="6609080" y="2037080"/>
                  </a:lnTo>
                  <a:lnTo>
                    <a:pt x="0" y="2037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6503194" y="5200174"/>
            <a:ext cx="4961572" cy="1532573"/>
            <a:chOff x="0" y="0"/>
            <a:chExt cx="6615430" cy="204343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6615430" cy="2043430"/>
            </a:xfrm>
            <a:custGeom>
              <a:avLst/>
              <a:gdLst/>
              <a:ahLst/>
              <a:cxnLst/>
              <a:rect r="r" b="b" t="t" l="l"/>
              <a:pathLst>
                <a:path h="2043430" w="6615430">
                  <a:moveTo>
                    <a:pt x="0" y="0"/>
                  </a:moveTo>
                  <a:lnTo>
                    <a:pt x="6615430" y="0"/>
                  </a:lnTo>
                  <a:lnTo>
                    <a:pt x="6615430" y="2043430"/>
                  </a:lnTo>
                  <a:lnTo>
                    <a:pt x="0" y="2043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6720840" y="5212080"/>
            <a:ext cx="4526280" cy="1508760"/>
            <a:chOff x="0" y="0"/>
            <a:chExt cx="6035040" cy="201168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Distância como processo político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1590020" y="5705856"/>
            <a:ext cx="521208" cy="521208"/>
            <a:chOff x="0" y="0"/>
            <a:chExt cx="694944" cy="694944"/>
          </a:xfrm>
        </p:grpSpPr>
        <p:sp>
          <p:nvSpPr>
            <p:cNvPr name="Freeform 51" id="51" descr="preencoded.png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12293727" y="5298567"/>
            <a:ext cx="4956810" cy="1527810"/>
            <a:chOff x="0" y="0"/>
            <a:chExt cx="6609080" cy="203708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6609080" cy="2037080"/>
            </a:xfrm>
            <a:custGeom>
              <a:avLst/>
              <a:gdLst/>
              <a:ahLst/>
              <a:cxnLst/>
              <a:rect r="r" b="b" t="t" l="l"/>
              <a:pathLst>
                <a:path h="2037080" w="6609080">
                  <a:moveTo>
                    <a:pt x="0" y="0"/>
                  </a:moveTo>
                  <a:lnTo>
                    <a:pt x="6609080" y="0"/>
                  </a:lnTo>
                  <a:lnTo>
                    <a:pt x="6609080" y="2037080"/>
                  </a:lnTo>
                  <a:lnTo>
                    <a:pt x="0" y="2037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4" id="54"/>
          <p:cNvGrpSpPr/>
          <p:nvPr/>
        </p:nvGrpSpPr>
        <p:grpSpPr>
          <a:xfrm rot="0">
            <a:off x="12195334" y="5200174"/>
            <a:ext cx="4961572" cy="1532573"/>
            <a:chOff x="0" y="0"/>
            <a:chExt cx="6615430" cy="204343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6615430" cy="2043430"/>
            </a:xfrm>
            <a:custGeom>
              <a:avLst/>
              <a:gdLst/>
              <a:ahLst/>
              <a:cxnLst/>
              <a:rect r="r" b="b" t="t" l="l"/>
              <a:pathLst>
                <a:path h="2043430" w="6615430">
                  <a:moveTo>
                    <a:pt x="0" y="0"/>
                  </a:moveTo>
                  <a:lnTo>
                    <a:pt x="6615430" y="0"/>
                  </a:lnTo>
                  <a:lnTo>
                    <a:pt x="6615430" y="2043430"/>
                  </a:lnTo>
                  <a:lnTo>
                    <a:pt x="0" y="2043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6" id="56"/>
          <p:cNvGrpSpPr/>
          <p:nvPr/>
        </p:nvGrpSpPr>
        <p:grpSpPr>
          <a:xfrm rot="0">
            <a:off x="12412980" y="5212080"/>
            <a:ext cx="4526280" cy="1508760"/>
            <a:chOff x="0" y="0"/>
            <a:chExt cx="6035040" cy="201168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Profissionais fazem política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813435" y="7259955"/>
            <a:ext cx="16656558" cy="2007870"/>
            <a:chOff x="0" y="0"/>
            <a:chExt cx="22208744" cy="267716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22208744" cy="2677160"/>
            </a:xfrm>
            <a:custGeom>
              <a:avLst/>
              <a:gdLst/>
              <a:ahLst/>
              <a:cxnLst/>
              <a:rect r="r" b="b" t="t" l="l"/>
              <a:pathLst>
                <a:path h="267716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2677160"/>
                  </a:lnTo>
                  <a:lnTo>
                    <a:pt x="0" y="26771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1234440" y="7269480"/>
            <a:ext cx="15910560" cy="1988820"/>
            <a:chOff x="0" y="0"/>
            <a:chExt cx="21214080" cy="265176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21214080" cy="2651760"/>
            </a:xfrm>
            <a:custGeom>
              <a:avLst/>
              <a:gdLst/>
              <a:ahLst/>
              <a:cxnLst/>
              <a:rect r="r" b="b" t="t" l="l"/>
              <a:pathLst>
                <a:path h="265176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2651760"/>
                  </a:lnTo>
                  <a:lnTo>
                    <a:pt x="0" y="26517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0"/>
              <a:ext cx="21214080" cy="2651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Ineditismo: </a:t>
              </a:r>
              <a:r>
                <a:rPr lang="en-US" sz="225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empírico-temporal (a PNED chega à escola quando o componente se torna obrigatório, em 2026), analítico-espacial (o território como força ativa) e teórico-conceitual (habitar o digital). Nenhum estudo da RSL analisa a PNED nem rede municipal de pequeno porte.</a:t>
              </a:r>
            </a:p>
          </p:txBody>
        </p:sp>
      </p:grpSp>
      <p:sp>
        <p:nvSpPr>
          <p:cNvPr name="TextBox 64" id="64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Ball, Maguire e Braun (2016); Santos (1999); Massey (2008); Zuboff (2021).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600000">
            <a:off x="16287750" y="148490"/>
            <a:ext cx="1577340" cy="1760420"/>
            <a:chOff x="0" y="0"/>
            <a:chExt cx="2103120" cy="2347227"/>
          </a:xfrm>
        </p:grpSpPr>
        <p:sp>
          <p:nvSpPr>
            <p:cNvPr name="Freeform 4" id="4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1" t="0" r="-11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hipótese: movimentos a mapear e riscos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4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75307"/>
            <a:ext cx="5313426" cy="3790950"/>
            <a:chOff x="0" y="0"/>
            <a:chExt cx="7084568" cy="50546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084568" cy="5054600"/>
            </a:xfrm>
            <a:custGeom>
              <a:avLst/>
              <a:gdLst/>
              <a:ahLst/>
              <a:cxnLst/>
              <a:rect r="r" b="b" t="t" l="l"/>
              <a:pathLst>
                <a:path h="505460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5054600"/>
                  </a:lnTo>
                  <a:lnTo>
                    <a:pt x="0" y="50546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11054" y="1976914"/>
            <a:ext cx="5318188" cy="3795712"/>
            <a:chOff x="0" y="0"/>
            <a:chExt cx="7090918" cy="506095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090918" cy="5060950"/>
            </a:xfrm>
            <a:custGeom>
              <a:avLst/>
              <a:gdLst/>
              <a:ahLst/>
              <a:cxnLst/>
              <a:rect r="r" b="b" t="t" l="l"/>
              <a:pathLst>
                <a:path h="506095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5060950"/>
                  </a:lnTo>
                  <a:lnTo>
                    <a:pt x="0" y="50609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156335" y="2212467"/>
            <a:ext cx="1006602" cy="1006602"/>
            <a:chOff x="0" y="0"/>
            <a:chExt cx="1342136" cy="134213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342136" cy="1342136"/>
            </a:xfrm>
            <a:custGeom>
              <a:avLst/>
              <a:gdLst/>
              <a:ahLst/>
              <a:cxnLst/>
              <a:rect r="r" b="b" t="t" l="l"/>
              <a:pathLst>
                <a:path h="1342136" w="1342136">
                  <a:moveTo>
                    <a:pt x="0" y="671068"/>
                  </a:moveTo>
                  <a:cubicBezTo>
                    <a:pt x="0" y="300482"/>
                    <a:pt x="300482" y="0"/>
                    <a:pt x="671068" y="0"/>
                  </a:cubicBezTo>
                  <a:cubicBezTo>
                    <a:pt x="1041654" y="0"/>
                    <a:pt x="1342136" y="300482"/>
                    <a:pt x="1342136" y="671068"/>
                  </a:cubicBezTo>
                  <a:cubicBezTo>
                    <a:pt x="1342136" y="1041654"/>
                    <a:pt x="1041654" y="1342136"/>
                    <a:pt x="671068" y="1342136"/>
                  </a:cubicBezTo>
                  <a:cubicBezTo>
                    <a:pt x="300482" y="1342136"/>
                    <a:pt x="0" y="1041654"/>
                    <a:pt x="0" y="671068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422625" y="2478757"/>
            <a:ext cx="474021" cy="474021"/>
            <a:chOff x="0" y="0"/>
            <a:chExt cx="632028" cy="632028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632079" cy="632079"/>
            </a:xfrm>
            <a:custGeom>
              <a:avLst/>
              <a:gdLst/>
              <a:ahLst/>
              <a:cxnLst/>
              <a:rect r="r" b="b" t="t" l="l"/>
              <a:pathLst>
                <a:path h="632079" w="632079">
                  <a:moveTo>
                    <a:pt x="0" y="0"/>
                  </a:moveTo>
                  <a:lnTo>
                    <a:pt x="632079" y="0"/>
                  </a:lnTo>
                  <a:lnTo>
                    <a:pt x="632079" y="632079"/>
                  </a:lnTo>
                  <a:lnTo>
                    <a:pt x="0" y="632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8" b="8"/>
              </a:stretch>
            </a:blip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5074920" y="2125980"/>
            <a:ext cx="754380" cy="754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680"/>
              </a:lnSpc>
            </a:pPr>
            <a:r>
              <a:rPr lang="en-US" sz="390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65860" y="3360420"/>
            <a:ext cx="4663440" cy="850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Omissão seletiva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65860" y="4210812"/>
            <a:ext cx="4663440" cy="1481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Fica de fora do planejamento o que é inexequível ou não faz sentido para a turma.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436995" y="1979295"/>
            <a:ext cx="5313426" cy="3790950"/>
            <a:chOff x="0" y="0"/>
            <a:chExt cx="7084568" cy="5054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084568" cy="5054600"/>
            </a:xfrm>
            <a:custGeom>
              <a:avLst/>
              <a:gdLst/>
              <a:ahLst/>
              <a:cxnLst/>
              <a:rect r="r" b="b" t="t" l="l"/>
              <a:pathLst>
                <a:path h="505460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5054600"/>
                  </a:lnTo>
                  <a:lnTo>
                    <a:pt x="0" y="50546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6779895" y="2212467"/>
            <a:ext cx="1006602" cy="1006602"/>
            <a:chOff x="0" y="0"/>
            <a:chExt cx="1342136" cy="134213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342136" cy="1342136"/>
            </a:xfrm>
            <a:custGeom>
              <a:avLst/>
              <a:gdLst/>
              <a:ahLst/>
              <a:cxnLst/>
              <a:rect r="r" b="b" t="t" l="l"/>
              <a:pathLst>
                <a:path h="1342136" w="1342136">
                  <a:moveTo>
                    <a:pt x="0" y="671068"/>
                  </a:moveTo>
                  <a:cubicBezTo>
                    <a:pt x="0" y="300482"/>
                    <a:pt x="300482" y="0"/>
                    <a:pt x="671068" y="0"/>
                  </a:cubicBezTo>
                  <a:cubicBezTo>
                    <a:pt x="1041654" y="0"/>
                    <a:pt x="1342136" y="300482"/>
                    <a:pt x="1342136" y="671068"/>
                  </a:cubicBezTo>
                  <a:cubicBezTo>
                    <a:pt x="1342136" y="1041654"/>
                    <a:pt x="1041654" y="1342136"/>
                    <a:pt x="671068" y="1342136"/>
                  </a:cubicBezTo>
                  <a:cubicBezTo>
                    <a:pt x="300482" y="1342136"/>
                    <a:pt x="0" y="1041654"/>
                    <a:pt x="0" y="671068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7046185" y="2478757"/>
            <a:ext cx="474021" cy="474021"/>
            <a:chOff x="0" y="0"/>
            <a:chExt cx="632028" cy="632028"/>
          </a:xfrm>
        </p:grpSpPr>
        <p:sp>
          <p:nvSpPr>
            <p:cNvPr name="Freeform 29" id="29" descr="preencoded.png"/>
            <p:cNvSpPr/>
            <p:nvPr/>
          </p:nvSpPr>
          <p:spPr>
            <a:xfrm flipH="false" flipV="false" rot="0">
              <a:off x="0" y="0"/>
              <a:ext cx="632079" cy="632079"/>
            </a:xfrm>
            <a:custGeom>
              <a:avLst/>
              <a:gdLst/>
              <a:ahLst/>
              <a:cxnLst/>
              <a:rect r="r" b="b" t="t" l="l"/>
              <a:pathLst>
                <a:path h="632079" w="632079">
                  <a:moveTo>
                    <a:pt x="0" y="0"/>
                  </a:moveTo>
                  <a:lnTo>
                    <a:pt x="632079" y="0"/>
                  </a:lnTo>
                  <a:lnTo>
                    <a:pt x="632079" y="632079"/>
                  </a:lnTo>
                  <a:lnTo>
                    <a:pt x="0" y="632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8" b="8"/>
              </a:stretch>
            </a:blip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10698480" y="2125980"/>
            <a:ext cx="754380" cy="754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680"/>
              </a:lnSpc>
            </a:pPr>
            <a:r>
              <a:rPr lang="en-US" sz="390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789420" y="3360420"/>
            <a:ext cx="4663440" cy="850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Tradução para fins locais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858000" y="3950999"/>
            <a:ext cx="4663440" cy="1481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orientação é refeita para servir à turma e à comunidade: por exemplo, direitos digitais ligados à exposição da imagem das crianças num distrito turístico.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2156567" y="2075307"/>
            <a:ext cx="5313426" cy="3790950"/>
            <a:chOff x="0" y="0"/>
            <a:chExt cx="7084568" cy="50546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084568" cy="5054600"/>
            </a:xfrm>
            <a:custGeom>
              <a:avLst/>
              <a:gdLst/>
              <a:ahLst/>
              <a:cxnLst/>
              <a:rect r="r" b="b" t="t" l="l"/>
              <a:pathLst>
                <a:path h="505460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5054600"/>
                  </a:lnTo>
                  <a:lnTo>
                    <a:pt x="0" y="50546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12058174" y="1976914"/>
            <a:ext cx="5318188" cy="3795712"/>
            <a:chOff x="0" y="0"/>
            <a:chExt cx="7090918" cy="506095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090918" cy="5060950"/>
            </a:xfrm>
            <a:custGeom>
              <a:avLst/>
              <a:gdLst/>
              <a:ahLst/>
              <a:cxnLst/>
              <a:rect r="r" b="b" t="t" l="l"/>
              <a:pathLst>
                <a:path h="506095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5060950"/>
                  </a:lnTo>
                  <a:lnTo>
                    <a:pt x="0" y="50609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12403455" y="2212467"/>
            <a:ext cx="1006602" cy="1006602"/>
            <a:chOff x="0" y="0"/>
            <a:chExt cx="1342136" cy="134213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342136" cy="1342136"/>
            </a:xfrm>
            <a:custGeom>
              <a:avLst/>
              <a:gdLst/>
              <a:ahLst/>
              <a:cxnLst/>
              <a:rect r="r" b="b" t="t" l="l"/>
              <a:pathLst>
                <a:path h="1342136" w="1342136">
                  <a:moveTo>
                    <a:pt x="0" y="671068"/>
                  </a:moveTo>
                  <a:cubicBezTo>
                    <a:pt x="0" y="300482"/>
                    <a:pt x="300482" y="0"/>
                    <a:pt x="671068" y="0"/>
                  </a:cubicBezTo>
                  <a:cubicBezTo>
                    <a:pt x="1041654" y="0"/>
                    <a:pt x="1342136" y="300482"/>
                    <a:pt x="1342136" y="671068"/>
                  </a:cubicBezTo>
                  <a:cubicBezTo>
                    <a:pt x="1342136" y="1041654"/>
                    <a:pt x="1041654" y="1342136"/>
                    <a:pt x="671068" y="1342136"/>
                  </a:cubicBezTo>
                  <a:cubicBezTo>
                    <a:pt x="300482" y="1342136"/>
                    <a:pt x="0" y="1041654"/>
                    <a:pt x="0" y="671068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2669745" y="2478757"/>
            <a:ext cx="474021" cy="474021"/>
            <a:chOff x="0" y="0"/>
            <a:chExt cx="632028" cy="632028"/>
          </a:xfrm>
        </p:grpSpPr>
        <p:sp>
          <p:nvSpPr>
            <p:cNvPr name="Freeform 40" id="40" descr="preencoded.png"/>
            <p:cNvSpPr/>
            <p:nvPr/>
          </p:nvSpPr>
          <p:spPr>
            <a:xfrm flipH="false" flipV="false" rot="0">
              <a:off x="0" y="0"/>
              <a:ext cx="632079" cy="632079"/>
            </a:xfrm>
            <a:custGeom>
              <a:avLst/>
              <a:gdLst/>
              <a:ahLst/>
              <a:cxnLst/>
              <a:rect r="r" b="b" t="t" l="l"/>
              <a:pathLst>
                <a:path h="632079" w="632079">
                  <a:moveTo>
                    <a:pt x="0" y="0"/>
                  </a:moveTo>
                  <a:lnTo>
                    <a:pt x="632079" y="0"/>
                  </a:lnTo>
                  <a:lnTo>
                    <a:pt x="632079" y="632079"/>
                  </a:lnTo>
                  <a:lnTo>
                    <a:pt x="0" y="632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8" b="8"/>
              </a:stretch>
            </a:blipFill>
          </p:spPr>
        </p:sp>
      </p:grpSp>
      <p:sp>
        <p:nvSpPr>
          <p:cNvPr name="TextBox 41" id="41"/>
          <p:cNvSpPr txBox="true"/>
          <p:nvPr/>
        </p:nvSpPr>
        <p:spPr>
          <a:xfrm rot="0">
            <a:off x="16322040" y="2125980"/>
            <a:ext cx="754380" cy="754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680"/>
              </a:lnSpc>
            </a:pPr>
            <a:r>
              <a:rPr lang="en-US" sz="390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2412980" y="3360420"/>
            <a:ext cx="4663440" cy="850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Fabricação performativa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2412980" y="4210812"/>
            <a:ext cx="4663440" cy="1481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Registros e evidências produzidos para responder às cobranças, que não correspondem ao que aconteceu com as crianças ou encobrem a falta dos meios.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822960" y="6103620"/>
            <a:ext cx="1659636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Riscos que o campo vai analisar, sem tratá-los como constatações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808672" y="6775132"/>
            <a:ext cx="8162163" cy="1098423"/>
            <a:chOff x="0" y="0"/>
            <a:chExt cx="10882884" cy="1464564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0882884" cy="1464564"/>
            </a:xfrm>
            <a:custGeom>
              <a:avLst/>
              <a:gdLst/>
              <a:ahLst/>
              <a:cxnLst/>
              <a:rect r="r" b="b" t="t" l="l"/>
              <a:pathLst>
                <a:path h="1464564" w="10882884">
                  <a:moveTo>
                    <a:pt x="0" y="0"/>
                  </a:moveTo>
                  <a:lnTo>
                    <a:pt x="10882884" y="0"/>
                  </a:lnTo>
                  <a:lnTo>
                    <a:pt x="10882884" y="1464564"/>
                  </a:lnTo>
                  <a:lnTo>
                    <a:pt x="0" y="14645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4789" r="0" b="-94789"/>
              </a:stretch>
            </a:blip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1097280" y="6789420"/>
            <a:ext cx="7612380" cy="1069848"/>
            <a:chOff x="0" y="0"/>
            <a:chExt cx="10149840" cy="1426464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0149840" cy="1426464"/>
            </a:xfrm>
            <a:custGeom>
              <a:avLst/>
              <a:gdLst/>
              <a:ahLst/>
              <a:cxnLst/>
              <a:rect r="r" b="b" t="t" l="l"/>
              <a:pathLst>
                <a:path h="142646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8643" r="0" b="-88643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10149840" cy="14264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eixo varia de uma turma para outra e se reduz ao que cabe nos meios e no repertório de cada profissional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9312593" y="6775132"/>
            <a:ext cx="8162163" cy="1098423"/>
            <a:chOff x="0" y="0"/>
            <a:chExt cx="10882884" cy="146456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882884" cy="1464564"/>
            </a:xfrm>
            <a:custGeom>
              <a:avLst/>
              <a:gdLst/>
              <a:ahLst/>
              <a:cxnLst/>
              <a:rect r="r" b="b" t="t" l="l"/>
              <a:pathLst>
                <a:path h="1464564" w="10882884">
                  <a:moveTo>
                    <a:pt x="0" y="0"/>
                  </a:moveTo>
                  <a:lnTo>
                    <a:pt x="10882884" y="0"/>
                  </a:lnTo>
                  <a:lnTo>
                    <a:pt x="10882884" y="1464564"/>
                  </a:lnTo>
                  <a:lnTo>
                    <a:pt x="0" y="14645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4789" r="0" b="-94789"/>
              </a:stretch>
            </a:blip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9601200" y="6789420"/>
            <a:ext cx="7612380" cy="1069848"/>
            <a:chOff x="0" y="0"/>
            <a:chExt cx="10149840" cy="1426464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0149840" cy="1426464"/>
            </a:xfrm>
            <a:custGeom>
              <a:avLst/>
              <a:gdLst/>
              <a:ahLst/>
              <a:cxnLst/>
              <a:rect r="r" b="b" t="t" l="l"/>
              <a:pathLst>
                <a:path h="142646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8643" r="0" b="-88643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0"/>
              <a:ext cx="10149840" cy="14264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custo recai sobre o tempo de uma jornada já ocupada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808672" y="8037004"/>
            <a:ext cx="8162163" cy="1098423"/>
            <a:chOff x="0" y="0"/>
            <a:chExt cx="10882884" cy="1464564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0882884" cy="1464564"/>
            </a:xfrm>
            <a:custGeom>
              <a:avLst/>
              <a:gdLst/>
              <a:ahLst/>
              <a:cxnLst/>
              <a:rect r="r" b="b" t="t" l="l"/>
              <a:pathLst>
                <a:path h="1464564" w="10882884">
                  <a:moveTo>
                    <a:pt x="0" y="0"/>
                  </a:moveTo>
                  <a:lnTo>
                    <a:pt x="10882884" y="0"/>
                  </a:lnTo>
                  <a:lnTo>
                    <a:pt x="10882884" y="1464564"/>
                  </a:lnTo>
                  <a:lnTo>
                    <a:pt x="0" y="14645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4789" r="0" b="-94789"/>
              </a:stretch>
            </a:blip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1097280" y="8051292"/>
            <a:ext cx="7612380" cy="1069848"/>
            <a:chOff x="0" y="0"/>
            <a:chExt cx="10149840" cy="1426464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0149840" cy="1426464"/>
            </a:xfrm>
            <a:custGeom>
              <a:avLst/>
              <a:gdLst/>
              <a:ahLst/>
              <a:cxnLst/>
              <a:rect r="r" b="b" t="t" l="l"/>
              <a:pathLst>
                <a:path h="142646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8643" r="0" b="-88643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0"/>
              <a:ext cx="10149840" cy="14264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Aparelhos e aplicativos pessoais usados com crianças podem contrariar a proteção de dados que a lei promete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9312593" y="8037004"/>
            <a:ext cx="8162163" cy="1098423"/>
            <a:chOff x="0" y="0"/>
            <a:chExt cx="10882884" cy="146456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0882884" cy="1464564"/>
            </a:xfrm>
            <a:custGeom>
              <a:avLst/>
              <a:gdLst/>
              <a:ahLst/>
              <a:cxnLst/>
              <a:rect r="r" b="b" t="t" l="l"/>
              <a:pathLst>
                <a:path h="1464564" w="10882884">
                  <a:moveTo>
                    <a:pt x="0" y="0"/>
                  </a:moveTo>
                  <a:lnTo>
                    <a:pt x="10882884" y="0"/>
                  </a:lnTo>
                  <a:lnTo>
                    <a:pt x="10882884" y="1464564"/>
                  </a:lnTo>
                  <a:lnTo>
                    <a:pt x="0" y="14645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4789" r="0" b="-94789"/>
              </a:stretch>
            </a:blip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9601200" y="8051292"/>
            <a:ext cx="7612380" cy="1069848"/>
            <a:chOff x="0" y="0"/>
            <a:chExt cx="10149840" cy="1426464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149840" cy="1426464"/>
            </a:xfrm>
            <a:custGeom>
              <a:avLst/>
              <a:gdLst/>
              <a:ahLst/>
              <a:cxnLst/>
              <a:rect r="r" b="b" t="t" l="l"/>
              <a:pathLst>
                <a:path h="142646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8643" r="0" b="-88643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0"/>
              <a:ext cx="10149840" cy="14264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esforço e os registros fazem a política parecer em curso e escondem a falta dos meios</a:t>
              </a:r>
            </a:p>
          </p:txBody>
        </p:sp>
      </p:grpSp>
      <p:sp>
        <p:nvSpPr>
          <p:cNvPr name="TextBox 65" id="65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Ball (2002; 2004): performatividade e fabricações; Hargreaves (2005): culturas profissionais. A acomodação à norma também é resultado possível.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motor teórico: duas engrenagens e o fosso entre elas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-23812" y="-23812"/>
            <a:ext cx="18335168" cy="10334625"/>
          </a:xfrm>
          <a:custGeom>
            <a:avLst/>
            <a:gdLst/>
            <a:ahLst/>
            <a:cxnLst/>
            <a:rect r="r" b="b" t="t" l="l"/>
            <a:pathLst>
              <a:path h="10334625" w="18335168">
                <a:moveTo>
                  <a:pt x="0" y="0"/>
                </a:moveTo>
                <a:lnTo>
                  <a:pt x="18335167" y="0"/>
                </a:lnTo>
                <a:lnTo>
                  <a:pt x="18335167" y="10334624"/>
                </a:lnTo>
                <a:lnTo>
                  <a:pt x="0" y="103346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2" id="12"/>
          <p:cNvSpPr/>
          <p:nvPr/>
        </p:nvSpPr>
        <p:spPr>
          <a:xfrm rot="55260">
            <a:off x="794156" y="7255193"/>
            <a:ext cx="3555187" cy="0"/>
          </a:xfrm>
          <a:prstGeom prst="line">
            <a:avLst/>
          </a:prstGeom>
          <a:ln cap="rnd" w="2857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 rot="57480">
            <a:off x="6211967" y="7255193"/>
            <a:ext cx="3418046" cy="0"/>
          </a:xfrm>
          <a:prstGeom prst="line">
            <a:avLst/>
          </a:prstGeom>
          <a:ln cap="rnd" w="2857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" id="14"/>
          <p:cNvGrpSpPr/>
          <p:nvPr/>
        </p:nvGrpSpPr>
        <p:grpSpPr>
          <a:xfrm rot="0">
            <a:off x="4704588" y="7242048"/>
            <a:ext cx="1152144" cy="1285875"/>
            <a:chOff x="0" y="0"/>
            <a:chExt cx="1536192" cy="1714500"/>
          </a:xfrm>
        </p:grpSpPr>
        <p:sp>
          <p:nvSpPr>
            <p:cNvPr name="Freeform 15" id="15" descr="/home/claude/deck3/img/d_lampada.png"/>
            <p:cNvSpPr/>
            <p:nvPr/>
          </p:nvSpPr>
          <p:spPr>
            <a:xfrm flipH="false" flipV="false" rot="0">
              <a:off x="0" y="0"/>
              <a:ext cx="1536192" cy="1714500"/>
            </a:xfrm>
            <a:custGeom>
              <a:avLst/>
              <a:gdLst/>
              <a:ahLst/>
              <a:cxnLst/>
              <a:rect r="r" b="b" t="t" l="l"/>
              <a:pathLst>
                <a:path h="1714500" w="1536192">
                  <a:moveTo>
                    <a:pt x="0" y="0"/>
                  </a:moveTo>
                  <a:lnTo>
                    <a:pt x="1536192" y="0"/>
                  </a:lnTo>
                  <a:lnTo>
                    <a:pt x="1536192" y="1714500"/>
                  </a:lnTo>
                  <a:lnTo>
                    <a:pt x="0" y="1714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1" t="0" r="-11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6446520" y="7443597"/>
            <a:ext cx="315468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fosso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446520" y="7818120"/>
            <a:ext cx="32918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encenar o que não chegou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2490" y="2655570"/>
            <a:ext cx="4564380" cy="4564380"/>
            <a:chOff x="0" y="0"/>
            <a:chExt cx="6085840" cy="60858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28829" y="25908"/>
              <a:ext cx="6028182" cy="5936615"/>
            </a:xfrm>
            <a:custGeom>
              <a:avLst/>
              <a:gdLst/>
              <a:ahLst/>
              <a:cxnLst/>
              <a:rect r="r" b="b" t="t" l="l"/>
              <a:pathLst>
                <a:path h="5936615" w="6028182">
                  <a:moveTo>
                    <a:pt x="4290949" y="944372"/>
                  </a:moveTo>
                  <a:lnTo>
                    <a:pt x="4764278" y="547116"/>
                  </a:lnTo>
                  <a:lnTo>
                    <a:pt x="5142484" y="864489"/>
                  </a:lnTo>
                  <a:lnTo>
                    <a:pt x="4833493" y="1399667"/>
                  </a:lnTo>
                  <a:cubicBezTo>
                    <a:pt x="5053203" y="1646809"/>
                    <a:pt x="5220208" y="1936115"/>
                    <a:pt x="5324475" y="2250059"/>
                  </a:cubicBezTo>
                  <a:lnTo>
                    <a:pt x="5942457" y="2250059"/>
                  </a:lnTo>
                  <a:lnTo>
                    <a:pt x="6028182" y="2736215"/>
                  </a:lnTo>
                  <a:lnTo>
                    <a:pt x="5447538" y="2947543"/>
                  </a:lnTo>
                  <a:cubicBezTo>
                    <a:pt x="5456936" y="3278124"/>
                    <a:pt x="5398897" y="3607181"/>
                    <a:pt x="5276977" y="3914521"/>
                  </a:cubicBezTo>
                  <a:lnTo>
                    <a:pt x="5750433" y="4311777"/>
                  </a:lnTo>
                  <a:lnTo>
                    <a:pt x="5503545" y="4739259"/>
                  </a:lnTo>
                  <a:lnTo>
                    <a:pt x="4922901" y="4527931"/>
                  </a:lnTo>
                  <a:cubicBezTo>
                    <a:pt x="4717669" y="4787265"/>
                    <a:pt x="4461764" y="5002022"/>
                    <a:pt x="4170680" y="5159121"/>
                  </a:cubicBezTo>
                  <a:lnTo>
                    <a:pt x="4277995" y="5767705"/>
                  </a:lnTo>
                  <a:lnTo>
                    <a:pt x="3814064" y="5936615"/>
                  </a:lnTo>
                  <a:lnTo>
                    <a:pt x="3505073" y="5401437"/>
                  </a:lnTo>
                  <a:cubicBezTo>
                    <a:pt x="3181223" y="5468112"/>
                    <a:pt x="2847086" y="5468112"/>
                    <a:pt x="2523109" y="5401437"/>
                  </a:cubicBezTo>
                  <a:lnTo>
                    <a:pt x="2214118" y="5936615"/>
                  </a:lnTo>
                  <a:lnTo>
                    <a:pt x="1750187" y="5767705"/>
                  </a:lnTo>
                  <a:lnTo>
                    <a:pt x="1857502" y="5159121"/>
                  </a:lnTo>
                  <a:cubicBezTo>
                    <a:pt x="1566545" y="5002022"/>
                    <a:pt x="1310513" y="4787265"/>
                    <a:pt x="1105281" y="4527931"/>
                  </a:cubicBezTo>
                  <a:lnTo>
                    <a:pt x="524637" y="4739259"/>
                  </a:lnTo>
                  <a:lnTo>
                    <a:pt x="277876" y="4311777"/>
                  </a:lnTo>
                  <a:lnTo>
                    <a:pt x="751332" y="3914521"/>
                  </a:lnTo>
                  <a:cubicBezTo>
                    <a:pt x="629412" y="3607054"/>
                    <a:pt x="571373" y="3278124"/>
                    <a:pt x="580771" y="2947543"/>
                  </a:cubicBezTo>
                  <a:lnTo>
                    <a:pt x="0" y="2736215"/>
                  </a:lnTo>
                  <a:lnTo>
                    <a:pt x="85725" y="2250059"/>
                  </a:lnTo>
                  <a:lnTo>
                    <a:pt x="703707" y="2250059"/>
                  </a:lnTo>
                  <a:cubicBezTo>
                    <a:pt x="807847" y="1936242"/>
                    <a:pt x="974979" y="1646809"/>
                    <a:pt x="1194689" y="1399667"/>
                  </a:cubicBezTo>
                  <a:lnTo>
                    <a:pt x="885698" y="864489"/>
                  </a:lnTo>
                  <a:lnTo>
                    <a:pt x="1263904" y="547116"/>
                  </a:lnTo>
                  <a:lnTo>
                    <a:pt x="1737233" y="944372"/>
                  </a:lnTo>
                  <a:cubicBezTo>
                    <a:pt x="2018792" y="770890"/>
                    <a:pt x="2332736" y="656590"/>
                    <a:pt x="2659888" y="608584"/>
                  </a:cubicBezTo>
                  <a:lnTo>
                    <a:pt x="2767203" y="0"/>
                  </a:lnTo>
                  <a:lnTo>
                    <a:pt x="3260852" y="0"/>
                  </a:lnTo>
                  <a:lnTo>
                    <a:pt x="3368167" y="608584"/>
                  </a:lnTo>
                  <a:cubicBezTo>
                    <a:pt x="3695319" y="656717"/>
                    <a:pt x="4009263" y="771017"/>
                    <a:pt x="4290822" y="944372"/>
                  </a:cubicBezTo>
                  <a:close/>
                </a:path>
              </a:pathLst>
            </a:custGeom>
            <a:solidFill>
              <a:srgbClr val="FFCE32"/>
            </a:solidFill>
            <a:ln w="3810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1577340" y="3771900"/>
            <a:ext cx="3154680" cy="2331720"/>
            <a:chOff x="0" y="0"/>
            <a:chExt cx="4206240" cy="310896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206240" cy="3108960"/>
            </a:xfrm>
            <a:custGeom>
              <a:avLst/>
              <a:gdLst/>
              <a:ahLst/>
              <a:cxnLst/>
              <a:rect r="r" b="b" t="t" l="l"/>
              <a:pathLst>
                <a:path h="3108960" w="4206240">
                  <a:moveTo>
                    <a:pt x="0" y="0"/>
                  </a:moveTo>
                  <a:lnTo>
                    <a:pt x="4206240" y="0"/>
                  </a:lnTo>
                  <a:lnTo>
                    <a:pt x="4206240" y="3108960"/>
                  </a:lnTo>
                  <a:lnTo>
                    <a:pt x="0" y="3108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4833" t="0" r="-44833" b="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4206240" cy="31089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Ciclo de Políticas</a:t>
              </a:r>
            </a:p>
            <a:p>
              <a:pPr algn="ctr">
                <a:lnSpc>
                  <a:spcPts val="1530"/>
                </a:lnSpc>
              </a:pPr>
              <a:r>
                <a:rPr lang="en-US" sz="12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Bowe, Ball e Gold (1992); Mainardes (2006)</a:t>
              </a:r>
            </a:p>
            <a:p>
              <a:pPr algn="ctr">
                <a:lnSpc>
                  <a:spcPts val="1889"/>
                </a:lnSpc>
              </a:pPr>
              <a:r>
                <a:rPr lang="en-US" sz="157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política é recriada no contexto da prática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4987290" y="3341370"/>
            <a:ext cx="3878580" cy="3878580"/>
            <a:chOff x="0" y="0"/>
            <a:chExt cx="5171440" cy="51714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258191" y="60198"/>
              <a:ext cx="4655185" cy="5050790"/>
            </a:xfrm>
            <a:custGeom>
              <a:avLst/>
              <a:gdLst/>
              <a:ahLst/>
              <a:cxnLst/>
              <a:rect r="r" b="b" t="t" l="l"/>
              <a:pathLst>
                <a:path h="5050790" w="4655185">
                  <a:moveTo>
                    <a:pt x="3611372" y="1249553"/>
                  </a:moveTo>
                  <a:lnTo>
                    <a:pt x="4374388" y="1019556"/>
                  </a:lnTo>
                  <a:lnTo>
                    <a:pt x="4655185" y="1505839"/>
                  </a:lnTo>
                  <a:lnTo>
                    <a:pt x="4074541" y="2051558"/>
                  </a:lnTo>
                  <a:cubicBezTo>
                    <a:pt x="4158742" y="2361819"/>
                    <a:pt x="4158742" y="2688971"/>
                    <a:pt x="4074541" y="2999232"/>
                  </a:cubicBezTo>
                  <a:lnTo>
                    <a:pt x="4655185" y="3544951"/>
                  </a:lnTo>
                  <a:lnTo>
                    <a:pt x="4374388" y="4031234"/>
                  </a:lnTo>
                  <a:lnTo>
                    <a:pt x="3611372" y="3801237"/>
                  </a:lnTo>
                  <a:cubicBezTo>
                    <a:pt x="3384677" y="4029329"/>
                    <a:pt x="3101467" y="4192778"/>
                    <a:pt x="2790698" y="4275074"/>
                  </a:cubicBezTo>
                  <a:lnTo>
                    <a:pt x="2608326" y="5050790"/>
                  </a:lnTo>
                  <a:lnTo>
                    <a:pt x="2046732" y="5050790"/>
                  </a:lnTo>
                  <a:lnTo>
                    <a:pt x="1864360" y="4275074"/>
                  </a:lnTo>
                  <a:cubicBezTo>
                    <a:pt x="1553591" y="4192778"/>
                    <a:pt x="1270254" y="4029329"/>
                    <a:pt x="1043686" y="3801237"/>
                  </a:cubicBezTo>
                  <a:lnTo>
                    <a:pt x="280797" y="4031361"/>
                  </a:lnTo>
                  <a:lnTo>
                    <a:pt x="0" y="3545078"/>
                  </a:lnTo>
                  <a:lnTo>
                    <a:pt x="580644" y="2999359"/>
                  </a:lnTo>
                  <a:cubicBezTo>
                    <a:pt x="496443" y="2689098"/>
                    <a:pt x="496443" y="2361946"/>
                    <a:pt x="580644" y="2051685"/>
                  </a:cubicBezTo>
                  <a:lnTo>
                    <a:pt x="0" y="1505966"/>
                  </a:lnTo>
                  <a:lnTo>
                    <a:pt x="280797" y="1019683"/>
                  </a:lnTo>
                  <a:lnTo>
                    <a:pt x="1043813" y="1249680"/>
                  </a:lnTo>
                  <a:cubicBezTo>
                    <a:pt x="1270508" y="1021588"/>
                    <a:pt x="1553718" y="858139"/>
                    <a:pt x="1864487" y="775843"/>
                  </a:cubicBezTo>
                  <a:lnTo>
                    <a:pt x="2046732" y="0"/>
                  </a:lnTo>
                  <a:lnTo>
                    <a:pt x="2608199" y="0"/>
                  </a:lnTo>
                  <a:lnTo>
                    <a:pt x="2790571" y="775716"/>
                  </a:lnTo>
                  <a:cubicBezTo>
                    <a:pt x="3101340" y="858012"/>
                    <a:pt x="3384677" y="1021461"/>
                    <a:pt x="3611245" y="1249553"/>
                  </a:cubicBezTo>
                  <a:close/>
                </a:path>
              </a:pathLst>
            </a:custGeom>
            <a:solidFill>
              <a:srgbClr val="EEE6D6"/>
            </a:solidFill>
            <a:ln w="3810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5623560" y="4320540"/>
            <a:ext cx="2606040" cy="1920240"/>
            <a:chOff x="0" y="0"/>
            <a:chExt cx="3474720" cy="256032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474720" cy="2560320"/>
            </a:xfrm>
            <a:custGeom>
              <a:avLst/>
              <a:gdLst/>
              <a:ahLst/>
              <a:cxnLst/>
              <a:rect r="r" b="b" t="t" l="l"/>
              <a:pathLst>
                <a:path h="2560320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4539" t="0" r="-44539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9525"/>
              <a:ext cx="3474720" cy="25698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Teoria da atuação</a:t>
              </a:r>
            </a:p>
            <a:p>
              <a:pPr algn="ctr">
                <a:lnSpc>
                  <a:spcPts val="1530"/>
                </a:lnSpc>
              </a:pPr>
              <a:r>
                <a:rPr lang="en-US" sz="12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Ball, Maguire e Braun (2016)</a:t>
              </a:r>
            </a:p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escola também faz a política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3899535" y="1938147"/>
            <a:ext cx="2830830" cy="595122"/>
            <a:chOff x="0" y="0"/>
            <a:chExt cx="3774440" cy="79349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774440" cy="793496"/>
            </a:xfrm>
            <a:custGeom>
              <a:avLst/>
              <a:gdLst/>
              <a:ahLst/>
              <a:cxnLst/>
              <a:rect r="r" b="b" t="t" l="l"/>
              <a:pathLst>
                <a:path h="793496" w="3774440">
                  <a:moveTo>
                    <a:pt x="0" y="0"/>
                  </a:moveTo>
                  <a:lnTo>
                    <a:pt x="3774440" y="0"/>
                  </a:lnTo>
                  <a:lnTo>
                    <a:pt x="3774440" y="793496"/>
                  </a:lnTo>
                  <a:lnTo>
                    <a:pt x="0" y="7934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3909060" y="1947672"/>
            <a:ext cx="2811780" cy="576072"/>
            <a:chOff x="0" y="0"/>
            <a:chExt cx="3749040" cy="76809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749040" cy="768096"/>
            </a:xfrm>
            <a:custGeom>
              <a:avLst/>
              <a:gdLst/>
              <a:ahLst/>
              <a:cxnLst/>
              <a:rect r="r" b="b" t="t" l="l"/>
              <a:pathLst>
                <a:path h="768096" w="3749040">
                  <a:moveTo>
                    <a:pt x="0" y="0"/>
                  </a:moveTo>
                  <a:lnTo>
                    <a:pt x="3749040" y="0"/>
                  </a:lnTo>
                  <a:lnTo>
                    <a:pt x="374904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5105" r="0" b="-45105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0"/>
              <a:ext cx="374904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encaixe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5074920" y="2606040"/>
            <a:ext cx="466344" cy="466344"/>
            <a:chOff x="0" y="0"/>
            <a:chExt cx="621792" cy="621792"/>
          </a:xfrm>
        </p:grpSpPr>
        <p:sp>
          <p:nvSpPr>
            <p:cNvPr name="Freeform 34" id="34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0208895" y="1910715"/>
            <a:ext cx="7261098" cy="2145030"/>
            <a:chOff x="0" y="0"/>
            <a:chExt cx="9681464" cy="28600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9681464" cy="2860040"/>
            </a:xfrm>
            <a:custGeom>
              <a:avLst/>
              <a:gdLst/>
              <a:ahLst/>
              <a:cxnLst/>
              <a:rect r="r" b="b" t="t" l="l"/>
              <a:pathLst>
                <a:path h="2860040" w="9681464">
                  <a:moveTo>
                    <a:pt x="0" y="0"/>
                  </a:moveTo>
                  <a:lnTo>
                    <a:pt x="9681464" y="0"/>
                  </a:lnTo>
                  <a:lnTo>
                    <a:pt x="9681464" y="2860040"/>
                  </a:lnTo>
                  <a:lnTo>
                    <a:pt x="0" y="28600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10561320" y="2016252"/>
            <a:ext cx="6652260" cy="1947672"/>
            <a:chOff x="0" y="0"/>
            <a:chExt cx="8869680" cy="259689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869680" cy="2596896"/>
            </a:xfrm>
            <a:custGeom>
              <a:avLst/>
              <a:gdLst/>
              <a:ahLst/>
              <a:cxnLst/>
              <a:rect r="r" b="b" t="t" l="l"/>
              <a:pathLst>
                <a:path h="2596896" w="8869680">
                  <a:moveTo>
                    <a:pt x="0" y="0"/>
                  </a:moveTo>
                  <a:lnTo>
                    <a:pt x="8869680" y="0"/>
                  </a:lnTo>
                  <a:lnTo>
                    <a:pt x="8869680" y="2596896"/>
                  </a:lnTo>
                  <a:lnTo>
                    <a:pt x="0" y="25968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551" r="0" b="-16551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0"/>
              <a:ext cx="8869680" cy="25968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ENCAIXE</a:t>
              </a:r>
            </a:p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Recontextualização</a:t>
              </a:r>
              <a:r>
                <a:rPr lang="en-US" sz="187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, categoria integradora: o processo pelo qual a política ganha sentidos particulares ao encontrar sujeitos, instituições, recursos e limites.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0304907" y="4365879"/>
            <a:ext cx="7165086" cy="2419350"/>
            <a:chOff x="0" y="0"/>
            <a:chExt cx="9553448" cy="32258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9553448" cy="3225800"/>
            </a:xfrm>
            <a:custGeom>
              <a:avLst/>
              <a:gdLst/>
              <a:ahLst/>
              <a:cxnLst/>
              <a:rect r="r" b="b" t="t" l="l"/>
              <a:pathLst>
                <a:path h="3225800" w="9553448">
                  <a:moveTo>
                    <a:pt x="0" y="0"/>
                  </a:moveTo>
                  <a:lnTo>
                    <a:pt x="9553448" y="0"/>
                  </a:lnTo>
                  <a:lnTo>
                    <a:pt x="9553448" y="3225800"/>
                  </a:lnTo>
                  <a:lnTo>
                    <a:pt x="0" y="32258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10206514" y="4267486"/>
            <a:ext cx="7169849" cy="2424112"/>
            <a:chOff x="0" y="0"/>
            <a:chExt cx="9559798" cy="323215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9559798" cy="3232150"/>
            </a:xfrm>
            <a:custGeom>
              <a:avLst/>
              <a:gdLst/>
              <a:ahLst/>
              <a:cxnLst/>
              <a:rect r="r" b="b" t="t" l="l"/>
              <a:pathLst>
                <a:path h="3232150" w="9559798">
                  <a:moveTo>
                    <a:pt x="0" y="0"/>
                  </a:moveTo>
                  <a:lnTo>
                    <a:pt x="9559798" y="0"/>
                  </a:lnTo>
                  <a:lnTo>
                    <a:pt x="9559798" y="3232150"/>
                  </a:lnTo>
                  <a:lnTo>
                    <a:pt x="0" y="32321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10561320" y="4375404"/>
            <a:ext cx="6583680" cy="2221992"/>
            <a:chOff x="0" y="0"/>
            <a:chExt cx="8778240" cy="296265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8778240" cy="2962656"/>
            </a:xfrm>
            <a:custGeom>
              <a:avLst/>
              <a:gdLst/>
              <a:ahLst/>
              <a:cxnLst/>
              <a:rect r="r" b="b" t="t" l="l"/>
              <a:pathLst>
                <a:path h="2962656" w="8778240">
                  <a:moveTo>
                    <a:pt x="0" y="0"/>
                  </a:moveTo>
                  <a:lnTo>
                    <a:pt x="8778240" y="0"/>
                  </a:lnTo>
                  <a:lnTo>
                    <a:pt x="8778240" y="2962656"/>
                  </a:lnTo>
                  <a:lnTo>
                    <a:pt x="0" y="29626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733" r="0" b="-7733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0"/>
              <a:ext cx="8778240" cy="29626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FOSSO</a:t>
              </a:r>
            </a:p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As duas engrenagens supõem que os meios existem: a ACP pensa a recriação da política em relação aos meios disponíveis; a teoria da atuação nasceu em escolas inglesas com recursos. Nenhuma trata da escola que precisa encenar o que não chegou.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0204132" y="6939725"/>
            <a:ext cx="7270623" cy="1674495"/>
            <a:chOff x="0" y="0"/>
            <a:chExt cx="9694164" cy="223266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9694164" cy="2232660"/>
            </a:xfrm>
            <a:custGeom>
              <a:avLst/>
              <a:gdLst/>
              <a:ahLst/>
              <a:cxnLst/>
              <a:rect r="r" b="b" t="t" l="l"/>
              <a:pathLst>
                <a:path h="2232660" w="9694164">
                  <a:moveTo>
                    <a:pt x="0" y="0"/>
                  </a:moveTo>
                  <a:lnTo>
                    <a:pt x="9694164" y="0"/>
                  </a:lnTo>
                  <a:lnTo>
                    <a:pt x="9694164" y="2232660"/>
                  </a:lnTo>
                  <a:lnTo>
                    <a:pt x="0" y="22326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603" r="0" b="-34603"/>
              </a:stretch>
            </a:blipFill>
            <a:ln w="28575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10492740" y="6954012"/>
            <a:ext cx="6720840" cy="1645920"/>
            <a:chOff x="0" y="0"/>
            <a:chExt cx="8961120" cy="219456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8961120" cy="2194560"/>
            </a:xfrm>
            <a:custGeom>
              <a:avLst/>
              <a:gdLst/>
              <a:ahLst/>
              <a:cxnLst/>
              <a:rect r="r" b="b" t="t" l="l"/>
              <a:pathLst>
                <a:path h="2194560" w="8961120">
                  <a:moveTo>
                    <a:pt x="0" y="0"/>
                  </a:moveTo>
                  <a:lnTo>
                    <a:pt x="8961120" y="0"/>
                  </a:lnTo>
                  <a:lnTo>
                    <a:pt x="896112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563" r="0" b="-29563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0"/>
              <a:ext cx="8961120" cy="2194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DO FOSSO NASCE A CONTRIBUIÇÃO: 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hipótese de que, em Pipa, território e culturas profissionais operam como espaços de ressignificação ou de resistência.</a:t>
              </a:r>
            </a:p>
          </p:txBody>
        </p:sp>
      </p:grpSp>
      <p:sp>
        <p:nvSpPr>
          <p:cNvPr name="TextBox 52" id="52"/>
          <p:cNvSpPr txBox="true"/>
          <p:nvPr/>
        </p:nvSpPr>
        <p:spPr>
          <a:xfrm rot="0">
            <a:off x="822960" y="8778240"/>
            <a:ext cx="16637508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“A política cria o contexto, mas o contexto também precede a política” (BALL; MAGUIRE; BRAUN, 2016, p. 36).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(1992); Mainardes (2006); Ball, Maguire e Braun (2016): atuação; Hargreaves (2005): culturas profissionais; Ball (2004): performatividade.</a:t>
            </a:r>
          </a:p>
        </p:txBody>
      </p:sp>
      <p:grpSp>
        <p:nvGrpSpPr>
          <p:cNvPr name="Group 54" id="54"/>
          <p:cNvGrpSpPr/>
          <p:nvPr/>
        </p:nvGrpSpPr>
        <p:grpSpPr>
          <a:xfrm rot="600000">
            <a:off x="16470630" y="148490"/>
            <a:ext cx="1577340" cy="1760420"/>
            <a:chOff x="0" y="0"/>
            <a:chExt cx="2103120" cy="2347227"/>
          </a:xfrm>
        </p:grpSpPr>
        <p:sp>
          <p:nvSpPr>
            <p:cNvPr name="Freeform 55" id="55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1" t="0" r="-11" b="0"/>
              </a:stretch>
            </a:blipFill>
          </p:spPr>
        </p:sp>
      </p:grp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303091" y="522003"/>
            <a:ext cx="1855870" cy="1311565"/>
            <a:chOff x="0" y="0"/>
            <a:chExt cx="3108960" cy="2197138"/>
          </a:xfrm>
        </p:grpSpPr>
        <p:sp>
          <p:nvSpPr>
            <p:cNvPr name="Freeform 4" id="4" descr="/home/claude/deck3/img/d_nuvem.png"/>
            <p:cNvSpPr/>
            <p:nvPr/>
          </p:nvSpPr>
          <p:spPr>
            <a:xfrm flipH="false" flipV="false" rot="0">
              <a:off x="0" y="0"/>
              <a:ext cx="3108960" cy="2197100"/>
            </a:xfrm>
            <a:custGeom>
              <a:avLst/>
              <a:gdLst/>
              <a:ahLst/>
              <a:cxnLst/>
              <a:rect r="r" b="b" t="t" l="l"/>
              <a:pathLst>
                <a:path h="219710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2197100"/>
                  </a:lnTo>
                  <a:lnTo>
                    <a:pt x="0" y="2197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t="0" r="-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Como a hipótese pode falhar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4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842135"/>
            <a:ext cx="16656558" cy="1047750"/>
            <a:chOff x="0" y="0"/>
            <a:chExt cx="22208744" cy="1397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208744" cy="1397000"/>
            </a:xfrm>
            <a:custGeom>
              <a:avLst/>
              <a:gdLst/>
              <a:ahLst/>
              <a:cxnLst/>
              <a:rect r="r" b="b" t="t" l="l"/>
              <a:pathLst>
                <a:path h="139700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1397000"/>
                  </a:lnTo>
                  <a:lnTo>
                    <a:pt x="0" y="13970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165860" y="1851660"/>
            <a:ext cx="16047720" cy="1028700"/>
            <a:chOff x="0" y="0"/>
            <a:chExt cx="21396960" cy="13716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96961" cy="1371600"/>
            </a:xfrm>
            <a:custGeom>
              <a:avLst/>
              <a:gdLst/>
              <a:ahLst/>
              <a:cxnLst/>
              <a:rect r="r" b="b" t="t" l="l"/>
              <a:pathLst>
                <a:path h="1371600" w="21396961">
                  <a:moveTo>
                    <a:pt x="0" y="0"/>
                  </a:moveTo>
                  <a:lnTo>
                    <a:pt x="21396961" y="0"/>
                  </a:lnTo>
                  <a:lnTo>
                    <a:pt x="21396961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53966" r="0" b="-25396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2139696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Critérios de exame da hipótese: </a:t>
              </a:r>
              <a:r>
                <a:rPr lang="en-US" sz="202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movimentos e condições de recusa registrados antes da primeira entrevista. Mudança só com novo registro, datado e justificado.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09447" y="3241167"/>
            <a:ext cx="3996690" cy="5299710"/>
            <a:chOff x="0" y="0"/>
            <a:chExt cx="5328920" cy="70662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328920" cy="7066280"/>
            </a:xfrm>
            <a:custGeom>
              <a:avLst/>
              <a:gdLst/>
              <a:ahLst/>
              <a:cxnLst/>
              <a:rect r="r" b="b" t="t" l="l"/>
              <a:pathLst>
                <a:path h="706628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11054" y="3142774"/>
            <a:ext cx="4001453" cy="5304472"/>
            <a:chOff x="0" y="0"/>
            <a:chExt cx="5335270" cy="707263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335270" cy="7072630"/>
            </a:xfrm>
            <a:custGeom>
              <a:avLst/>
              <a:gdLst/>
              <a:ahLst/>
              <a:cxnLst/>
              <a:rect r="r" b="b" t="t" l="l"/>
              <a:pathLst>
                <a:path h="70726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7072630"/>
                  </a:lnTo>
                  <a:lnTo>
                    <a:pt x="0" y="7072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811054" y="3142774"/>
            <a:ext cx="4001453" cy="846773"/>
            <a:chOff x="0" y="0"/>
            <a:chExt cx="5335270" cy="112903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335270" cy="1129030"/>
            </a:xfrm>
            <a:custGeom>
              <a:avLst/>
              <a:gdLst/>
              <a:ahLst/>
              <a:cxnLst/>
              <a:rect r="r" b="b" t="t" l="l"/>
              <a:pathLst>
                <a:path h="11290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1129030"/>
                  </a:lnTo>
                  <a:lnTo>
                    <a:pt x="0" y="1129030"/>
                  </a:lnTo>
                  <a:close/>
                </a:path>
              </a:pathLst>
            </a:custGeom>
            <a:solidFill>
              <a:srgbClr val="3942B5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822960" y="3154680"/>
            <a:ext cx="3977640" cy="822960"/>
            <a:chOff x="0" y="0"/>
            <a:chExt cx="5303520" cy="10972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3035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9525"/>
              <a:ext cx="5303520" cy="1087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Sustentação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1069848" y="4183380"/>
            <a:ext cx="3497580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Omissão seletiva, tradução para fins locais ou fabricação aparecem de forma recorrente e sem indução, ligadas ao território ou às culturas profissionais. Um episódio isolado não basta.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5133975" y="3241167"/>
            <a:ext cx="3996690" cy="5299710"/>
            <a:chOff x="0" y="0"/>
            <a:chExt cx="5328920" cy="706628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328920" cy="7066280"/>
            </a:xfrm>
            <a:custGeom>
              <a:avLst/>
              <a:gdLst/>
              <a:ahLst/>
              <a:cxnLst/>
              <a:rect r="r" b="b" t="t" l="l"/>
              <a:pathLst>
                <a:path h="706628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5035582" y="3142774"/>
            <a:ext cx="4001453" cy="5304472"/>
            <a:chOff x="0" y="0"/>
            <a:chExt cx="5335270" cy="707263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335270" cy="7072630"/>
            </a:xfrm>
            <a:custGeom>
              <a:avLst/>
              <a:gdLst/>
              <a:ahLst/>
              <a:cxnLst/>
              <a:rect r="r" b="b" t="t" l="l"/>
              <a:pathLst>
                <a:path h="70726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7072630"/>
                  </a:lnTo>
                  <a:lnTo>
                    <a:pt x="0" y="7072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5035582" y="3142774"/>
            <a:ext cx="4001453" cy="846773"/>
            <a:chOff x="0" y="0"/>
            <a:chExt cx="5335270" cy="112903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335270" cy="1129030"/>
            </a:xfrm>
            <a:custGeom>
              <a:avLst/>
              <a:gdLst/>
              <a:ahLst/>
              <a:cxnLst/>
              <a:rect r="r" b="b" t="t" l="l"/>
              <a:pathLst>
                <a:path h="11290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1129030"/>
                  </a:lnTo>
                  <a:lnTo>
                    <a:pt x="0" y="1129030"/>
                  </a:lnTo>
                  <a:close/>
                </a:path>
              </a:pathLst>
            </a:custGeom>
            <a:solidFill>
              <a:srgbClr val="7462E3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5047488" y="3154680"/>
            <a:ext cx="3977640" cy="822960"/>
            <a:chOff x="0" y="0"/>
            <a:chExt cx="5303520" cy="109728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3035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9525"/>
              <a:ext cx="5303520" cy="1087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Delimitação</a:t>
              </a: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5294376" y="4183380"/>
            <a:ext cx="3497580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Os movimentos aparecem na regência e não na coordenação ou na direção: a hipótese fica restrita a essa posição.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9358503" y="3241167"/>
            <a:ext cx="3996690" cy="5299710"/>
            <a:chOff x="0" y="0"/>
            <a:chExt cx="5328920" cy="70662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5328920" cy="7066280"/>
            </a:xfrm>
            <a:custGeom>
              <a:avLst/>
              <a:gdLst/>
              <a:ahLst/>
              <a:cxnLst/>
              <a:rect r="r" b="b" t="t" l="l"/>
              <a:pathLst>
                <a:path h="706628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9260110" y="3142774"/>
            <a:ext cx="4001453" cy="5304472"/>
            <a:chOff x="0" y="0"/>
            <a:chExt cx="5335270" cy="707263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335270" cy="7072630"/>
            </a:xfrm>
            <a:custGeom>
              <a:avLst/>
              <a:gdLst/>
              <a:ahLst/>
              <a:cxnLst/>
              <a:rect r="r" b="b" t="t" l="l"/>
              <a:pathLst>
                <a:path h="70726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7072630"/>
                  </a:lnTo>
                  <a:lnTo>
                    <a:pt x="0" y="7072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9260110" y="3142774"/>
            <a:ext cx="4001453" cy="846773"/>
            <a:chOff x="0" y="0"/>
            <a:chExt cx="5335270" cy="112903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335270" cy="1129030"/>
            </a:xfrm>
            <a:custGeom>
              <a:avLst/>
              <a:gdLst/>
              <a:ahLst/>
              <a:cxnLst/>
              <a:rect r="r" b="b" t="t" l="l"/>
              <a:pathLst>
                <a:path h="11290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1129030"/>
                  </a:lnTo>
                  <a:lnTo>
                    <a:pt x="0" y="1129030"/>
                  </a:lnTo>
                  <a:close/>
                </a:path>
              </a:pathLst>
            </a:custGeom>
            <a:solidFill>
              <a:srgbClr val="7462E3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9272016" y="3154680"/>
            <a:ext cx="3977640" cy="822960"/>
            <a:chOff x="0" y="0"/>
            <a:chExt cx="5303520" cy="109728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53035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9525"/>
              <a:ext cx="5303520" cy="1087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Renomeação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9518904" y="4183380"/>
            <a:ext cx="3497580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Há movimentos, mas sem alternativa: é transferência de custo do Estado para o trabalhador, mais sobrevivência que resistência.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13583031" y="3241167"/>
            <a:ext cx="3996690" cy="5299710"/>
            <a:chOff x="0" y="0"/>
            <a:chExt cx="5328920" cy="706628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328920" cy="7066280"/>
            </a:xfrm>
            <a:custGeom>
              <a:avLst/>
              <a:gdLst/>
              <a:ahLst/>
              <a:cxnLst/>
              <a:rect r="r" b="b" t="t" l="l"/>
              <a:pathLst>
                <a:path h="706628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13484638" y="3142774"/>
            <a:ext cx="4001453" cy="5304472"/>
            <a:chOff x="0" y="0"/>
            <a:chExt cx="5335270" cy="707263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335270" cy="7072630"/>
            </a:xfrm>
            <a:custGeom>
              <a:avLst/>
              <a:gdLst/>
              <a:ahLst/>
              <a:cxnLst/>
              <a:rect r="r" b="b" t="t" l="l"/>
              <a:pathLst>
                <a:path h="70726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7072630"/>
                  </a:lnTo>
                  <a:lnTo>
                    <a:pt x="0" y="7072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3484638" y="3142774"/>
            <a:ext cx="4001453" cy="846773"/>
            <a:chOff x="0" y="0"/>
            <a:chExt cx="5335270" cy="112903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335270" cy="1129030"/>
            </a:xfrm>
            <a:custGeom>
              <a:avLst/>
              <a:gdLst/>
              <a:ahLst/>
              <a:cxnLst/>
              <a:rect r="r" b="b" t="t" l="l"/>
              <a:pathLst>
                <a:path h="11290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1129030"/>
                  </a:lnTo>
                  <a:lnTo>
                    <a:pt x="0" y="1129030"/>
                  </a:lnTo>
                  <a:close/>
                </a:path>
              </a:pathLst>
            </a:custGeom>
            <a:solidFill>
              <a:srgbClr val="EE6A1F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4" id="54"/>
          <p:cNvGrpSpPr/>
          <p:nvPr/>
        </p:nvGrpSpPr>
        <p:grpSpPr>
          <a:xfrm rot="0">
            <a:off x="13496544" y="3154680"/>
            <a:ext cx="3977640" cy="822960"/>
            <a:chOff x="0" y="0"/>
            <a:chExt cx="5303520" cy="109728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53035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9525"/>
              <a:ext cx="5303520" cy="1087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Recusa</a:t>
              </a: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13743432" y="4183380"/>
            <a:ext cx="3497580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Predomina a acomodação à norma; a lei é lida apenas como ambígua (recontextualização da ACP); ou os movimentos não se ligam ao território nem às culturas profissionais.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822960" y="8682228"/>
            <a:ext cx="16637508" cy="685800"/>
            <a:chOff x="0" y="0"/>
            <a:chExt cx="22183344" cy="91440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22183344" cy="914400"/>
            </a:xfrm>
            <a:custGeom>
              <a:avLst/>
              <a:gdLst/>
              <a:ahLst/>
              <a:cxnLst/>
              <a:rect r="r" b="b" t="t" l="l"/>
              <a:pathLst>
                <a:path h="914400" w="22183344">
                  <a:moveTo>
                    <a:pt x="0" y="0"/>
                  </a:moveTo>
                  <a:lnTo>
                    <a:pt x="22183344" y="0"/>
                  </a:lnTo>
                  <a:lnTo>
                    <a:pt x="2218334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2707" r="0" b="-422707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22183344" cy="9144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No Capítulo 7, declaramos qual das quatro situações se verificou. Recusar a hipótese não é fracasso da pesquisa.</a:t>
              </a:r>
            </a:p>
          </p:txBody>
        </p:sp>
      </p:grpSp>
      <p:sp>
        <p:nvSpPr>
          <p:cNvPr name="TextBox 61" id="61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Yin (2001): proposições teóricas prévias; Ball, Maguire e Braun (2016): atuação; Bowe, Ball e Gold (1992): recontextualização.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720000">
            <a:off x="17045559" y="-301752"/>
            <a:ext cx="1303020" cy="1777651"/>
            <a:chOff x="0" y="0"/>
            <a:chExt cx="1737360" cy="2370201"/>
          </a:xfrm>
        </p:grpSpPr>
        <p:sp>
          <p:nvSpPr>
            <p:cNvPr name="Freeform 4" id="4" descr="/home/claude/deck3/img/d_interrog.png"/>
            <p:cNvSpPr/>
            <p:nvPr/>
          </p:nvSpPr>
          <p:spPr>
            <a:xfrm flipH="false" flipV="false" rot="0">
              <a:off x="0" y="0"/>
              <a:ext cx="1737360" cy="2370201"/>
            </a:xfrm>
            <a:custGeom>
              <a:avLst/>
              <a:gdLst/>
              <a:ahLst/>
              <a:cxnLst/>
              <a:rect r="r" b="b" t="t" l="l"/>
              <a:pathLst>
                <a:path h="2370201" w="1737360">
                  <a:moveTo>
                    <a:pt x="0" y="0"/>
                  </a:moveTo>
                  <a:lnTo>
                    <a:pt x="1737360" y="0"/>
                  </a:lnTo>
                  <a:lnTo>
                    <a:pt x="1737360" y="2370201"/>
                  </a:lnTo>
                  <a:lnTo>
                    <a:pt x="0" y="23702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1" r="0" b="-3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RSL: questão norteadora e resposta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2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773555"/>
            <a:ext cx="16656558" cy="1143762"/>
            <a:chOff x="0" y="0"/>
            <a:chExt cx="22208744" cy="152501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208744" cy="1525016"/>
            </a:xfrm>
            <a:custGeom>
              <a:avLst/>
              <a:gdLst/>
              <a:ahLst/>
              <a:cxnLst/>
              <a:rect r="r" b="b" t="t" l="l"/>
              <a:pathLst>
                <a:path h="1525016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1525016"/>
                  </a:lnTo>
                  <a:lnTo>
                    <a:pt x="0" y="152501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165860" y="1783080"/>
            <a:ext cx="16047720" cy="1124712"/>
            <a:chOff x="0" y="0"/>
            <a:chExt cx="21396960" cy="149961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96961" cy="1499616"/>
            </a:xfrm>
            <a:custGeom>
              <a:avLst/>
              <a:gdLst/>
              <a:ahLst/>
              <a:cxnLst/>
              <a:rect r="r" b="b" t="t" l="l"/>
              <a:pathLst>
                <a:path h="1499616" w="21396961">
                  <a:moveTo>
                    <a:pt x="0" y="0"/>
                  </a:moveTo>
                  <a:lnTo>
                    <a:pt x="21396961" y="0"/>
                  </a:lnTo>
                  <a:lnTo>
                    <a:pt x="21396961" y="1499616"/>
                  </a:lnTo>
                  <a:lnTo>
                    <a:pt x="0" y="14996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28018" r="0" b="-22801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21396960" cy="14996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 i="true">
                  <a:solidFill>
                    <a:srgbClr val="3942B5"/>
                  </a:solidFill>
                  <a:latin typeface="Canva Sans Bold Italics"/>
                  <a:ea typeface="Canva Sans Bold Italics"/>
                  <a:cs typeface="Canva Sans Bold Italics"/>
                  <a:sym typeface="Canva Sans Bold Italics"/>
                </a:rPr>
                <a:t>Questão norteadora da revisão: </a:t>
              </a:r>
              <a:r>
                <a:rPr lang="en-US" sz="2100" i="true">
                  <a:solidFill>
                    <a:srgbClr val="1A1A1A"/>
                  </a:solidFill>
                  <a:latin typeface="Canva Sans Italics"/>
                  <a:ea typeface="Canva Sans Italics"/>
                  <a:cs typeface="Canva Sans Italics"/>
                  <a:sym typeface="Canva Sans Italics"/>
                </a:rPr>
                <a:t>o que a produção científica nacional e internacional evidencia sobre a implementação de políticas públicas de educação digital nos anos iniciais do Ensino Fundamental?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22960" y="3044952"/>
            <a:ext cx="16637508" cy="493776"/>
            <a:chOff x="0" y="0"/>
            <a:chExt cx="22183344" cy="65836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183344" cy="658368"/>
            </a:xfrm>
            <a:custGeom>
              <a:avLst/>
              <a:gdLst/>
              <a:ahLst/>
              <a:cxnLst/>
              <a:rect r="r" b="b" t="t" l="l"/>
              <a:pathLst>
                <a:path h="658368" w="22183344">
                  <a:moveTo>
                    <a:pt x="0" y="0"/>
                  </a:moveTo>
                  <a:lnTo>
                    <a:pt x="22183344" y="0"/>
                  </a:lnTo>
                  <a:lnTo>
                    <a:pt x="2218334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06537" r="0" b="-606537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22183344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PRISMA 2020 · 7 bases: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176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identificados  →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171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sem duplicatas  →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39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buscados  →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35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avaliados na íntegra  →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9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estudos incluídos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09447" y="3817239"/>
            <a:ext cx="5313426" cy="3242310"/>
            <a:chOff x="0" y="0"/>
            <a:chExt cx="7084568" cy="43230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084568" cy="4323080"/>
            </a:xfrm>
            <a:custGeom>
              <a:avLst/>
              <a:gdLst/>
              <a:ahLst/>
              <a:cxnLst/>
              <a:rect r="r" b="b" t="t" l="l"/>
              <a:pathLst>
                <a:path h="43230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811054" y="3718846"/>
            <a:ext cx="5318188" cy="3247072"/>
            <a:chOff x="0" y="0"/>
            <a:chExt cx="7090918" cy="432943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090918" cy="4329430"/>
            </a:xfrm>
            <a:custGeom>
              <a:avLst/>
              <a:gdLst/>
              <a:ahLst/>
              <a:cxnLst/>
              <a:rect r="r" b="b" t="t" l="l"/>
              <a:pathLst>
                <a:path h="43294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329430"/>
                  </a:lnTo>
                  <a:lnTo>
                    <a:pt x="0" y="4329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1060323" y="3926967"/>
            <a:ext cx="649986" cy="649986"/>
            <a:chOff x="0" y="0"/>
            <a:chExt cx="866648" cy="86664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66648" cy="866648"/>
            </a:xfrm>
            <a:custGeom>
              <a:avLst/>
              <a:gdLst/>
              <a:ahLst/>
              <a:cxnLst/>
              <a:rect r="r" b="b" t="t" l="l"/>
              <a:pathLst>
                <a:path h="866648" w="866648">
                  <a:moveTo>
                    <a:pt x="0" y="433324"/>
                  </a:moveTo>
                  <a:cubicBezTo>
                    <a:pt x="0" y="194056"/>
                    <a:pt x="194056" y="0"/>
                    <a:pt x="433324" y="0"/>
                  </a:cubicBezTo>
                  <a:cubicBezTo>
                    <a:pt x="672592" y="0"/>
                    <a:pt x="866648" y="194056"/>
                    <a:pt x="866648" y="433324"/>
                  </a:cubicBezTo>
                  <a:cubicBezTo>
                    <a:pt x="866648" y="672592"/>
                    <a:pt x="672592" y="866648"/>
                    <a:pt x="433324" y="866648"/>
                  </a:cubicBezTo>
                  <a:cubicBezTo>
                    <a:pt x="194056" y="866648"/>
                    <a:pt x="0" y="672592"/>
                    <a:pt x="0" y="433324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1069848" y="3936492"/>
            <a:ext cx="630936" cy="630936"/>
            <a:chOff x="0" y="0"/>
            <a:chExt cx="841248" cy="841248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0"/>
                  </a:moveTo>
                  <a:lnTo>
                    <a:pt x="841248" y="0"/>
                  </a:lnTo>
                  <a:lnTo>
                    <a:pt x="84124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0"/>
              <a:ext cx="841248" cy="8412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851660" y="3895344"/>
            <a:ext cx="4046220" cy="713232"/>
            <a:chOff x="0" y="0"/>
            <a:chExt cx="5394960" cy="95097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394960" cy="950976"/>
            </a:xfrm>
            <a:custGeom>
              <a:avLst/>
              <a:gdLst/>
              <a:ahLst/>
              <a:cxnLst/>
              <a:rect r="r" b="b" t="t" l="l"/>
              <a:pathLst>
                <a:path h="950976" w="5394960">
                  <a:moveTo>
                    <a:pt x="0" y="0"/>
                  </a:moveTo>
                  <a:lnTo>
                    <a:pt x="5394960" y="0"/>
                  </a:lnTo>
                  <a:lnTo>
                    <a:pt x="53949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0540" r="0" b="-6054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5394960" cy="96050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Condições de implementação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060323" y="4708779"/>
            <a:ext cx="3379470" cy="457962"/>
            <a:chOff x="0" y="0"/>
            <a:chExt cx="4505960" cy="610616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4505960" cy="610616"/>
            </a:xfrm>
            <a:custGeom>
              <a:avLst/>
              <a:gdLst/>
              <a:ahLst/>
              <a:cxnLst/>
              <a:rect r="r" b="b" t="t" l="l"/>
              <a:pathLst>
                <a:path h="610616" w="4505960">
                  <a:moveTo>
                    <a:pt x="0" y="0"/>
                  </a:moveTo>
                  <a:lnTo>
                    <a:pt x="4505960" y="0"/>
                  </a:lnTo>
                  <a:lnTo>
                    <a:pt x="4505960" y="610616"/>
                  </a:lnTo>
                  <a:lnTo>
                    <a:pt x="0" y="610616"/>
                  </a:lnTo>
                  <a:close/>
                </a:path>
              </a:pathLst>
            </a:custGeom>
            <a:solidFill>
              <a:srgbClr val="EEE6D6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1069848" y="4718304"/>
            <a:ext cx="3360420" cy="438912"/>
            <a:chOff x="0" y="0"/>
            <a:chExt cx="4480560" cy="585216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480560" cy="585216"/>
            </a:xfrm>
            <a:custGeom>
              <a:avLst/>
              <a:gdLst/>
              <a:ahLst/>
              <a:cxnLst/>
              <a:rect r="r" b="b" t="t" l="l"/>
              <a:pathLst>
                <a:path h="585216" w="4480560">
                  <a:moveTo>
                    <a:pt x="0" y="0"/>
                  </a:moveTo>
                  <a:lnTo>
                    <a:pt x="4480560" y="0"/>
                  </a:lnTo>
                  <a:lnTo>
                    <a:pt x="448056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9182" r="0" b="-99182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0"/>
              <a:ext cx="4480560" cy="5852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Evidência: convergente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069848" y="5266944"/>
            <a:ext cx="4800600" cy="161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Além de equipamentos e conexão, pesam formação continuada e situada, estabilidade das equipes e do suporte, tempo de trabalho e o marco regulatório. O território aparece pouco: nenhum estudo examina rede de pequeno porte.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6533007" y="3817239"/>
            <a:ext cx="5313426" cy="3242310"/>
            <a:chOff x="0" y="0"/>
            <a:chExt cx="7084568" cy="432308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084568" cy="4323080"/>
            </a:xfrm>
            <a:custGeom>
              <a:avLst/>
              <a:gdLst/>
              <a:ahLst/>
              <a:cxnLst/>
              <a:rect r="r" b="b" t="t" l="l"/>
              <a:pathLst>
                <a:path h="43230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6434614" y="3718846"/>
            <a:ext cx="5318188" cy="3247072"/>
            <a:chOff x="0" y="0"/>
            <a:chExt cx="7090918" cy="432943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090918" cy="4329430"/>
            </a:xfrm>
            <a:custGeom>
              <a:avLst/>
              <a:gdLst/>
              <a:ahLst/>
              <a:cxnLst/>
              <a:rect r="r" b="b" t="t" l="l"/>
              <a:pathLst>
                <a:path h="43294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329430"/>
                  </a:lnTo>
                  <a:lnTo>
                    <a:pt x="0" y="4329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3" id="43"/>
          <p:cNvGrpSpPr/>
          <p:nvPr/>
        </p:nvGrpSpPr>
        <p:grpSpPr>
          <a:xfrm rot="0">
            <a:off x="6683883" y="3926967"/>
            <a:ext cx="649986" cy="649986"/>
            <a:chOff x="0" y="0"/>
            <a:chExt cx="866648" cy="866648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66648" cy="866648"/>
            </a:xfrm>
            <a:custGeom>
              <a:avLst/>
              <a:gdLst/>
              <a:ahLst/>
              <a:cxnLst/>
              <a:rect r="r" b="b" t="t" l="l"/>
              <a:pathLst>
                <a:path h="866648" w="866648">
                  <a:moveTo>
                    <a:pt x="0" y="433324"/>
                  </a:moveTo>
                  <a:cubicBezTo>
                    <a:pt x="0" y="194056"/>
                    <a:pt x="194056" y="0"/>
                    <a:pt x="433324" y="0"/>
                  </a:cubicBezTo>
                  <a:cubicBezTo>
                    <a:pt x="672592" y="0"/>
                    <a:pt x="866648" y="194056"/>
                    <a:pt x="866648" y="433324"/>
                  </a:cubicBezTo>
                  <a:cubicBezTo>
                    <a:pt x="866648" y="672592"/>
                    <a:pt x="672592" y="866648"/>
                    <a:pt x="433324" y="866648"/>
                  </a:cubicBezTo>
                  <a:cubicBezTo>
                    <a:pt x="194056" y="866648"/>
                    <a:pt x="0" y="672592"/>
                    <a:pt x="0" y="433324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6693408" y="3936492"/>
            <a:ext cx="630936" cy="630936"/>
            <a:chOff x="0" y="0"/>
            <a:chExt cx="841248" cy="841248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0"/>
                  </a:moveTo>
                  <a:lnTo>
                    <a:pt x="841248" y="0"/>
                  </a:lnTo>
                  <a:lnTo>
                    <a:pt x="84124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0"/>
              <a:ext cx="841248" cy="8412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b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7475220" y="3895344"/>
            <a:ext cx="4046220" cy="713232"/>
            <a:chOff x="0" y="0"/>
            <a:chExt cx="5394960" cy="95097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394960" cy="950976"/>
            </a:xfrm>
            <a:custGeom>
              <a:avLst/>
              <a:gdLst/>
              <a:ahLst/>
              <a:cxnLst/>
              <a:rect r="r" b="b" t="t" l="l"/>
              <a:pathLst>
                <a:path h="950976" w="5394960">
                  <a:moveTo>
                    <a:pt x="0" y="0"/>
                  </a:moveTo>
                  <a:lnTo>
                    <a:pt x="5394960" y="0"/>
                  </a:lnTo>
                  <a:lnTo>
                    <a:pt x="53949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0540" r="0" b="-60540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9525"/>
              <a:ext cx="5394960" cy="96050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Papel dos profissionais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683883" y="4708779"/>
            <a:ext cx="3379470" cy="457962"/>
            <a:chOff x="0" y="0"/>
            <a:chExt cx="4505960" cy="610616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505960" cy="610616"/>
            </a:xfrm>
            <a:custGeom>
              <a:avLst/>
              <a:gdLst/>
              <a:ahLst/>
              <a:cxnLst/>
              <a:rect r="r" b="b" t="t" l="l"/>
              <a:pathLst>
                <a:path h="610616" w="4505960">
                  <a:moveTo>
                    <a:pt x="0" y="0"/>
                  </a:moveTo>
                  <a:lnTo>
                    <a:pt x="4505960" y="0"/>
                  </a:lnTo>
                  <a:lnTo>
                    <a:pt x="4505960" y="610616"/>
                  </a:lnTo>
                  <a:lnTo>
                    <a:pt x="0" y="61061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3" id="53"/>
          <p:cNvGrpSpPr/>
          <p:nvPr/>
        </p:nvGrpSpPr>
        <p:grpSpPr>
          <a:xfrm rot="0">
            <a:off x="6693408" y="4718304"/>
            <a:ext cx="3360420" cy="438912"/>
            <a:chOff x="0" y="0"/>
            <a:chExt cx="4480560" cy="585216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4480560" cy="585216"/>
            </a:xfrm>
            <a:custGeom>
              <a:avLst/>
              <a:gdLst/>
              <a:ahLst/>
              <a:cxnLst/>
              <a:rect r="r" b="b" t="t" l="l"/>
              <a:pathLst>
                <a:path h="585216" w="4480560">
                  <a:moveTo>
                    <a:pt x="0" y="0"/>
                  </a:moveTo>
                  <a:lnTo>
                    <a:pt x="4480560" y="0"/>
                  </a:lnTo>
                  <a:lnTo>
                    <a:pt x="448056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9182" r="0" b="-99182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0"/>
              <a:ext cx="4480560" cy="5852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Evidência: a mais convergente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6693408" y="5266944"/>
            <a:ext cx="4800600" cy="161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atuação da política envolve interpretação e decisões situadas dos profissionais, para além da transmissão de prescrições. As razões e o sentido desse trabalho seguem pouco examinados.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12156567" y="3817239"/>
            <a:ext cx="5313426" cy="3242310"/>
            <a:chOff x="0" y="0"/>
            <a:chExt cx="7084568" cy="432308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7084568" cy="4323080"/>
            </a:xfrm>
            <a:custGeom>
              <a:avLst/>
              <a:gdLst/>
              <a:ahLst/>
              <a:cxnLst/>
              <a:rect r="r" b="b" t="t" l="l"/>
              <a:pathLst>
                <a:path h="43230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12058174" y="3718846"/>
            <a:ext cx="5318188" cy="3247072"/>
            <a:chOff x="0" y="0"/>
            <a:chExt cx="7090918" cy="432943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7090918" cy="4329430"/>
            </a:xfrm>
            <a:custGeom>
              <a:avLst/>
              <a:gdLst/>
              <a:ahLst/>
              <a:cxnLst/>
              <a:rect r="r" b="b" t="t" l="l"/>
              <a:pathLst>
                <a:path h="43294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329430"/>
                  </a:lnTo>
                  <a:lnTo>
                    <a:pt x="0" y="4329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12307443" y="3926967"/>
            <a:ext cx="649986" cy="649986"/>
            <a:chOff x="0" y="0"/>
            <a:chExt cx="866648" cy="866648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866648" cy="866648"/>
            </a:xfrm>
            <a:custGeom>
              <a:avLst/>
              <a:gdLst/>
              <a:ahLst/>
              <a:cxnLst/>
              <a:rect r="r" b="b" t="t" l="l"/>
              <a:pathLst>
                <a:path h="866648" w="866648">
                  <a:moveTo>
                    <a:pt x="0" y="433324"/>
                  </a:moveTo>
                  <a:cubicBezTo>
                    <a:pt x="0" y="194056"/>
                    <a:pt x="194056" y="0"/>
                    <a:pt x="433324" y="0"/>
                  </a:cubicBezTo>
                  <a:cubicBezTo>
                    <a:pt x="672592" y="0"/>
                    <a:pt x="866648" y="194056"/>
                    <a:pt x="866648" y="433324"/>
                  </a:cubicBezTo>
                  <a:cubicBezTo>
                    <a:pt x="866648" y="672592"/>
                    <a:pt x="672592" y="866648"/>
                    <a:pt x="433324" y="866648"/>
                  </a:cubicBezTo>
                  <a:cubicBezTo>
                    <a:pt x="194056" y="866648"/>
                    <a:pt x="0" y="672592"/>
                    <a:pt x="0" y="433324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3" id="63"/>
          <p:cNvGrpSpPr/>
          <p:nvPr/>
        </p:nvGrpSpPr>
        <p:grpSpPr>
          <a:xfrm rot="0">
            <a:off x="12316968" y="3936492"/>
            <a:ext cx="630936" cy="630936"/>
            <a:chOff x="0" y="0"/>
            <a:chExt cx="841248" cy="841248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0"/>
                  </a:moveTo>
                  <a:lnTo>
                    <a:pt x="841248" y="0"/>
                  </a:lnTo>
                  <a:lnTo>
                    <a:pt x="84124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0"/>
              <a:ext cx="841248" cy="8412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13098780" y="3895344"/>
            <a:ext cx="4046220" cy="713232"/>
            <a:chOff x="0" y="0"/>
            <a:chExt cx="5394960" cy="950976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5394960" cy="950976"/>
            </a:xfrm>
            <a:custGeom>
              <a:avLst/>
              <a:gdLst/>
              <a:ahLst/>
              <a:cxnLst/>
              <a:rect r="r" b="b" t="t" l="l"/>
              <a:pathLst>
                <a:path h="950976" w="5394960">
                  <a:moveTo>
                    <a:pt x="0" y="0"/>
                  </a:moveTo>
                  <a:lnTo>
                    <a:pt x="5394960" y="0"/>
                  </a:lnTo>
                  <a:lnTo>
                    <a:pt x="53949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0540" r="0" b="-60540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9525"/>
              <a:ext cx="5394960" cy="96050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Cultura digital e cidadania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12307443" y="4708779"/>
            <a:ext cx="3379470" cy="457962"/>
            <a:chOff x="0" y="0"/>
            <a:chExt cx="4505960" cy="610616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4505960" cy="610616"/>
            </a:xfrm>
            <a:custGeom>
              <a:avLst/>
              <a:gdLst/>
              <a:ahLst/>
              <a:cxnLst/>
              <a:rect r="r" b="b" t="t" l="l"/>
              <a:pathLst>
                <a:path h="610616" w="4505960">
                  <a:moveTo>
                    <a:pt x="0" y="0"/>
                  </a:moveTo>
                  <a:lnTo>
                    <a:pt x="4505960" y="0"/>
                  </a:lnTo>
                  <a:lnTo>
                    <a:pt x="4505960" y="610616"/>
                  </a:lnTo>
                  <a:lnTo>
                    <a:pt x="0" y="610616"/>
                  </a:lnTo>
                  <a:close/>
                </a:path>
              </a:pathLst>
            </a:custGeom>
            <a:solidFill>
              <a:srgbClr val="F6C3B0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1" id="71"/>
          <p:cNvGrpSpPr/>
          <p:nvPr/>
        </p:nvGrpSpPr>
        <p:grpSpPr>
          <a:xfrm rot="0">
            <a:off x="12316968" y="4718304"/>
            <a:ext cx="3360420" cy="438912"/>
            <a:chOff x="0" y="0"/>
            <a:chExt cx="4480560" cy="585216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4480560" cy="585216"/>
            </a:xfrm>
            <a:custGeom>
              <a:avLst/>
              <a:gdLst/>
              <a:ahLst/>
              <a:cxnLst/>
              <a:rect r="r" b="b" t="t" l="l"/>
              <a:pathLst>
                <a:path h="585216" w="4480560">
                  <a:moveTo>
                    <a:pt x="0" y="0"/>
                  </a:moveTo>
                  <a:lnTo>
                    <a:pt x="4480560" y="0"/>
                  </a:lnTo>
                  <a:lnTo>
                    <a:pt x="448056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9182" r="0" b="-99182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0"/>
              <a:ext cx="4480560" cy="5852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Evidência: frágil</a:t>
              </a:r>
            </a:p>
          </p:txBody>
        </p:sp>
      </p:grpSp>
      <p:sp>
        <p:nvSpPr>
          <p:cNvPr name="TextBox 74" id="74"/>
          <p:cNvSpPr txBox="true"/>
          <p:nvPr/>
        </p:nvSpPr>
        <p:spPr>
          <a:xfrm rot="0">
            <a:off x="12316968" y="5266944"/>
            <a:ext cx="4800600" cy="161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Poucos estudos tratam do tema, e nenhum examina o que as crianças dos anos iniciais aprendem a ser, como sujeitos, numa política de educação digital.</a:t>
            </a:r>
          </a:p>
        </p:txBody>
      </p:sp>
      <p:grpSp>
        <p:nvGrpSpPr>
          <p:cNvPr name="Group 75" id="75"/>
          <p:cNvGrpSpPr/>
          <p:nvPr/>
        </p:nvGrpSpPr>
        <p:grpSpPr>
          <a:xfrm rot="0">
            <a:off x="909447" y="7287387"/>
            <a:ext cx="10031730" cy="2172462"/>
            <a:chOff x="0" y="0"/>
            <a:chExt cx="13375640" cy="2896616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13375639" cy="2896616"/>
            </a:xfrm>
            <a:custGeom>
              <a:avLst/>
              <a:gdLst/>
              <a:ahLst/>
              <a:cxnLst/>
              <a:rect r="r" b="b" t="t" l="l"/>
              <a:pathLst>
                <a:path h="2896616" w="13375639">
                  <a:moveTo>
                    <a:pt x="0" y="0"/>
                  </a:moveTo>
                  <a:lnTo>
                    <a:pt x="13375639" y="0"/>
                  </a:lnTo>
                  <a:lnTo>
                    <a:pt x="13375639" y="2896616"/>
                  </a:lnTo>
                  <a:lnTo>
                    <a:pt x="0" y="289661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77" id="77"/>
          <p:cNvGrpSpPr/>
          <p:nvPr/>
        </p:nvGrpSpPr>
        <p:grpSpPr>
          <a:xfrm rot="0">
            <a:off x="811054" y="7188994"/>
            <a:ext cx="10036493" cy="2177224"/>
            <a:chOff x="0" y="0"/>
            <a:chExt cx="13381990" cy="2902966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13381989" cy="2902966"/>
            </a:xfrm>
            <a:custGeom>
              <a:avLst/>
              <a:gdLst/>
              <a:ahLst/>
              <a:cxnLst/>
              <a:rect r="r" b="b" t="t" l="l"/>
              <a:pathLst>
                <a:path h="2902966" w="13381989">
                  <a:moveTo>
                    <a:pt x="0" y="0"/>
                  </a:moveTo>
                  <a:lnTo>
                    <a:pt x="13381989" y="0"/>
                  </a:lnTo>
                  <a:lnTo>
                    <a:pt x="13381989" y="2902966"/>
                  </a:lnTo>
                  <a:lnTo>
                    <a:pt x="0" y="2902966"/>
                  </a:lnTo>
                  <a:close/>
                </a:path>
              </a:pathLst>
            </a:custGeom>
            <a:solidFill>
              <a:srgbClr val="FFFFFF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1097280" y="7242048"/>
            <a:ext cx="9532620" cy="2071116"/>
            <a:chOff x="0" y="0"/>
            <a:chExt cx="12710160" cy="2761488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12710160" cy="2761488"/>
            </a:xfrm>
            <a:custGeom>
              <a:avLst/>
              <a:gdLst/>
              <a:ahLst/>
              <a:cxnLst/>
              <a:rect r="r" b="b" t="t" l="l"/>
              <a:pathLst>
                <a:path h="2761488" w="12710160">
                  <a:moveTo>
                    <a:pt x="0" y="0"/>
                  </a:moveTo>
                  <a:lnTo>
                    <a:pt x="12710160" y="0"/>
                  </a:lnTo>
                  <a:lnTo>
                    <a:pt x="12710160" y="2761488"/>
                  </a:lnTo>
                  <a:lnTo>
                    <a:pt x="0" y="276148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9682" r="0" b="-39682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9525"/>
              <a:ext cx="12710160" cy="2751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RESPOSTA À QUESTÃO NORTEADORA</a:t>
              </a:r>
            </a:p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atuação dessas políticas nos anos iniciais depende da articulação entre recursos disponíveis, condições institucionais e trabalho dos profissionais, que participam da interpretação da política diante das condições do cotidiano escolar. O corpus responde melhor sobre as condições e os profissionais do que sobre a formação dirigida às crianças.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11169015" y="7191375"/>
            <a:ext cx="6300978" cy="2268474"/>
            <a:chOff x="0" y="0"/>
            <a:chExt cx="8401304" cy="3024632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8401304" cy="3024632"/>
            </a:xfrm>
            <a:custGeom>
              <a:avLst/>
              <a:gdLst/>
              <a:ahLst/>
              <a:cxnLst/>
              <a:rect r="r" b="b" t="t" l="l"/>
              <a:pathLst>
                <a:path h="3024632" w="8401304">
                  <a:moveTo>
                    <a:pt x="0" y="0"/>
                  </a:moveTo>
                  <a:lnTo>
                    <a:pt x="8401304" y="0"/>
                  </a:lnTo>
                  <a:lnTo>
                    <a:pt x="8401304" y="3024632"/>
                  </a:lnTo>
                  <a:lnTo>
                    <a:pt x="0" y="3024632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84" id="84"/>
          <p:cNvGrpSpPr/>
          <p:nvPr/>
        </p:nvGrpSpPr>
        <p:grpSpPr>
          <a:xfrm rot="0">
            <a:off x="11452860" y="7200900"/>
            <a:ext cx="5760720" cy="2249424"/>
            <a:chOff x="0" y="0"/>
            <a:chExt cx="7680960" cy="2999232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7680960" cy="2999232"/>
            </a:xfrm>
            <a:custGeom>
              <a:avLst/>
              <a:gdLst/>
              <a:ahLst/>
              <a:cxnLst/>
              <a:rect r="r" b="b" t="t" l="l"/>
              <a:pathLst>
                <a:path h="2999232" w="7680960">
                  <a:moveTo>
                    <a:pt x="0" y="0"/>
                  </a:moveTo>
                  <a:lnTo>
                    <a:pt x="7680960" y="0"/>
                  </a:lnTo>
                  <a:lnTo>
                    <a:pt x="7680960" y="2999232"/>
                  </a:lnTo>
                  <a:lnTo>
                    <a:pt x="0" y="299923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9" t="0" r="-99" b="0"/>
              </a:stretch>
            </a:blipFill>
          </p:spPr>
        </p:sp>
        <p:sp>
          <p:nvSpPr>
            <p:cNvPr name="TextBox 86" id="86"/>
            <p:cNvSpPr txBox="true"/>
            <p:nvPr/>
          </p:nvSpPr>
          <p:spPr>
            <a:xfrm>
              <a:off x="0" y="0"/>
              <a:ext cx="7680960" cy="29992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QUE O CORPUS NÃO EXAMINA</a:t>
              </a:r>
            </a:p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0 de 9 estudos tratam da PNED; 1 de 9 delimita o ciclo de alfabetização; nenhum trata de rede municipal de pequeno porte; culturas profissionais e pressão por resultados quase não aparecem.</a:t>
              </a:r>
            </a:p>
          </p:txBody>
        </p:sp>
      </p:grpSp>
      <p:sp>
        <p:nvSpPr>
          <p:cNvPr name="TextBox 87" id="87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Page et al. (2022): PRISMA 2020.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Capítulo 2, seção 2.5.1; SciELO, Periódicos CAPES, BDTD, ERIC, Scopus, Web of Science e Lens; válido para o recorte adotado.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668369" y="-301752"/>
            <a:ext cx="1988820" cy="1499864"/>
            <a:chOff x="0" y="0"/>
            <a:chExt cx="2651760" cy="1999818"/>
          </a:xfrm>
        </p:grpSpPr>
        <p:sp>
          <p:nvSpPr>
            <p:cNvPr name="Freeform 4" id="4" descr="/home/claude/deck3/img/d_cronometro.png"/>
            <p:cNvSpPr/>
            <p:nvPr/>
          </p:nvSpPr>
          <p:spPr>
            <a:xfrm flipH="false" flipV="false" rot="0">
              <a:off x="0" y="0"/>
              <a:ext cx="2651760" cy="1999869"/>
            </a:xfrm>
            <a:custGeom>
              <a:avLst/>
              <a:gdLst/>
              <a:ahLst/>
              <a:cxnLst/>
              <a:rect r="r" b="b" t="t" l="l"/>
              <a:pathLst>
                <a:path h="1999869" w="2651760">
                  <a:moveTo>
                    <a:pt x="0" y="0"/>
                  </a:moveTo>
                  <a:lnTo>
                    <a:pt x="2651760" y="0"/>
                  </a:lnTo>
                  <a:lnTo>
                    <a:pt x="2651760" y="1999869"/>
                  </a:lnTo>
                  <a:lnTo>
                    <a:pt x="0" y="19998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7" r="0" b="-15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Desenho: estudo de caso único, qualitativo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4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979295"/>
            <a:ext cx="5368290" cy="7288530"/>
            <a:chOff x="0" y="0"/>
            <a:chExt cx="7157720" cy="97180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157720" cy="9718040"/>
            </a:xfrm>
            <a:custGeom>
              <a:avLst/>
              <a:gdLst/>
              <a:ahLst/>
              <a:cxnLst/>
              <a:rect r="r" b="b" t="t" l="l"/>
              <a:pathLst>
                <a:path h="9718040" w="7157720">
                  <a:moveTo>
                    <a:pt x="0" y="0"/>
                  </a:moveTo>
                  <a:lnTo>
                    <a:pt x="7157720" y="0"/>
                  </a:lnTo>
                  <a:lnTo>
                    <a:pt x="7157720" y="9718040"/>
                  </a:lnTo>
                  <a:lnTo>
                    <a:pt x="0" y="97180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1165860" y="2204085"/>
            <a:ext cx="4663440" cy="539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Abordagem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65860" y="2870835"/>
            <a:ext cx="4732020" cy="6181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Qualitativa e crítico-interpretativa</a:t>
            </a:r>
          </a:p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Bogdan e Biklen (2007); Minayo (2009)</a:t>
            </a:r>
          </a:p>
          <a:p>
            <a:pPr algn="l">
              <a:lnSpc>
                <a:spcPts val="1080"/>
              </a:lnSpc>
            </a:pPr>
            <a:r>
              <a:rPr lang="en-US" sz="9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</a:p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 único</a:t>
            </a:r>
          </a:p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Yin (2001); André (2005)</a:t>
            </a:r>
          </a:p>
          <a:p>
            <a:pPr algn="l">
              <a:lnSpc>
                <a:spcPts val="1080"/>
              </a:lnSpc>
            </a:pPr>
            <a:r>
              <a:rPr lang="en-US" sz="9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</a:p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Ciclo de Políticas e teoria da atuação</a:t>
            </a:r>
          </a:p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(1992); Mainardes (2006); Ball, Maguire e Braun (2016)</a:t>
            </a:r>
          </a:p>
          <a:p>
            <a:pPr algn="l">
              <a:lnSpc>
                <a:spcPts val="1080"/>
              </a:lnSpc>
            </a:pPr>
            <a:r>
              <a:rPr lang="en-US" sz="9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</a:p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Análise temática reflexiva</a:t>
            </a:r>
          </a:p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Braun e Clarke (2006, 2019)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670167" y="2075307"/>
            <a:ext cx="10799826" cy="1253490"/>
            <a:chOff x="0" y="0"/>
            <a:chExt cx="14399768" cy="16713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6571774" y="1976914"/>
            <a:ext cx="10804588" cy="1258252"/>
            <a:chOff x="0" y="0"/>
            <a:chExt cx="14406118" cy="167767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6821043" y="2185035"/>
            <a:ext cx="842010" cy="842010"/>
            <a:chOff x="0" y="0"/>
            <a:chExt cx="1122680" cy="11226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7044538" y="2408530"/>
            <a:ext cx="395021" cy="395021"/>
            <a:chOff x="0" y="0"/>
            <a:chExt cx="526694" cy="526694"/>
          </a:xfrm>
        </p:grpSpPr>
        <p:sp>
          <p:nvSpPr>
            <p:cNvPr name="Freeform 24" id="24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4" b="-4"/>
              </a:stretch>
            </a:blip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7886700" y="2089023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Registro iconográfico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7886700" y="2592324"/>
            <a:ext cx="6309360" cy="603504"/>
            <a:chOff x="0" y="0"/>
            <a:chExt cx="8412480" cy="80467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412480" cy="804672"/>
            </a:xfrm>
            <a:custGeom>
              <a:avLst/>
              <a:gdLst/>
              <a:ahLst/>
              <a:cxnLst/>
              <a:rect r="r" b="b" t="t" l="l"/>
              <a:pathLst>
                <a:path h="80467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707" r="0" b="-15370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8412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38 figuras e 2 peças cartográficas; testes de velocidade a fazer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4255115" y="2294763"/>
            <a:ext cx="2899410" cy="622554"/>
            <a:chOff x="0" y="0"/>
            <a:chExt cx="3865880" cy="83007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14264640" y="2304288"/>
            <a:ext cx="2880360" cy="603504"/>
            <a:chOff x="0" y="0"/>
            <a:chExt cx="3840480" cy="804672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Em parte · Cap. 6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670167" y="3556635"/>
            <a:ext cx="10799826" cy="1253490"/>
            <a:chOff x="0" y="0"/>
            <a:chExt cx="14399768" cy="167132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6571774" y="3458242"/>
            <a:ext cx="10804588" cy="1258252"/>
            <a:chOff x="0" y="0"/>
            <a:chExt cx="14406118" cy="167767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6821043" y="3666363"/>
            <a:ext cx="842010" cy="842010"/>
            <a:chOff x="0" y="0"/>
            <a:chExt cx="1122680" cy="11226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7044538" y="3889858"/>
            <a:ext cx="395021" cy="395021"/>
            <a:chOff x="0" y="0"/>
            <a:chExt cx="526694" cy="526694"/>
          </a:xfrm>
        </p:grpSpPr>
        <p:sp>
          <p:nvSpPr>
            <p:cNvPr name="Freeform 41" id="41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4" b="-4"/>
              </a:stretch>
            </a:blip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7886700" y="3570351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Documentos administrativos e de aquisição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7886700" y="4073652"/>
            <a:ext cx="6309360" cy="603504"/>
            <a:chOff x="0" y="0"/>
            <a:chExt cx="8412480" cy="804672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412480" cy="804672"/>
            </a:xfrm>
            <a:custGeom>
              <a:avLst/>
              <a:gdLst/>
              <a:ahLst/>
              <a:cxnLst/>
              <a:rect r="r" b="b" t="t" l="l"/>
              <a:pathLst>
                <a:path h="80467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707" r="0" b="-153707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0"/>
              <a:ext cx="8412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Laboratório (2022), PIEC, Censo Escolar, manutenção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4255115" y="3776091"/>
            <a:ext cx="2899410" cy="622554"/>
            <a:chOff x="0" y="0"/>
            <a:chExt cx="3865880" cy="830072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14264640" y="3785616"/>
            <a:ext cx="2880360" cy="603504"/>
            <a:chOff x="0" y="0"/>
            <a:chExt cx="3840480" cy="804672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fazer · Caps. 6 e 7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670167" y="5037963"/>
            <a:ext cx="10799826" cy="1253490"/>
            <a:chOff x="0" y="0"/>
            <a:chExt cx="14399768" cy="167132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3" id="53"/>
          <p:cNvGrpSpPr/>
          <p:nvPr/>
        </p:nvGrpSpPr>
        <p:grpSpPr>
          <a:xfrm rot="0">
            <a:off x="6571774" y="4939570"/>
            <a:ext cx="10804588" cy="1258252"/>
            <a:chOff x="0" y="0"/>
            <a:chExt cx="14406118" cy="167767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5" id="55"/>
          <p:cNvGrpSpPr/>
          <p:nvPr/>
        </p:nvGrpSpPr>
        <p:grpSpPr>
          <a:xfrm rot="0">
            <a:off x="6821043" y="5147691"/>
            <a:ext cx="842010" cy="842010"/>
            <a:chOff x="0" y="0"/>
            <a:chExt cx="1122680" cy="112268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7044538" y="5371186"/>
            <a:ext cx="395021" cy="395021"/>
            <a:chOff x="0" y="0"/>
            <a:chExt cx="526694" cy="526694"/>
          </a:xfrm>
        </p:grpSpPr>
        <p:sp>
          <p:nvSpPr>
            <p:cNvPr name="Freeform 58" id="58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4" b="-4"/>
              </a:stretch>
            </a:blipFill>
          </p:spPr>
        </p:sp>
      </p:grpSp>
      <p:sp>
        <p:nvSpPr>
          <p:cNvPr name="TextBox 59" id="59"/>
          <p:cNvSpPr txBox="true"/>
          <p:nvPr/>
        </p:nvSpPr>
        <p:spPr>
          <a:xfrm rot="0">
            <a:off x="7886700" y="5051679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Questionário de perfil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7804404" y="5371186"/>
            <a:ext cx="6309360" cy="791924"/>
            <a:chOff x="0" y="0"/>
            <a:chExt cx="8412480" cy="1055898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8412480" cy="1055898"/>
            </a:xfrm>
            <a:custGeom>
              <a:avLst/>
              <a:gdLst/>
              <a:ahLst/>
              <a:cxnLst/>
              <a:rect r="r" b="b" t="t" l="l"/>
              <a:pathLst>
                <a:path h="1055898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1055898"/>
                  </a:lnTo>
                  <a:lnTo>
                    <a:pt x="0" y="105589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7136" r="0" b="-93343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0"/>
              <a:ext cx="8412480" cy="10558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11 profissionais, cinco blocos e questão aberta (formulário digital aplicado presencialmente para esclarecer dúvidas)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4255115" y="5257419"/>
            <a:ext cx="2899410" cy="622554"/>
            <a:chOff x="0" y="0"/>
            <a:chExt cx="3865880" cy="830072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5" id="65"/>
          <p:cNvGrpSpPr/>
          <p:nvPr/>
        </p:nvGrpSpPr>
        <p:grpSpPr>
          <a:xfrm rot="0">
            <a:off x="14264640" y="5266944"/>
            <a:ext cx="2880360" cy="603504"/>
            <a:chOff x="0" y="0"/>
            <a:chExt cx="3840480" cy="804672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Após a emenda · Cap. 7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6670167" y="6519291"/>
            <a:ext cx="10799826" cy="1253490"/>
            <a:chOff x="0" y="0"/>
            <a:chExt cx="14399768" cy="167132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70" id="70"/>
          <p:cNvGrpSpPr/>
          <p:nvPr/>
        </p:nvGrpSpPr>
        <p:grpSpPr>
          <a:xfrm rot="0">
            <a:off x="6571774" y="6420898"/>
            <a:ext cx="10804588" cy="1258252"/>
            <a:chOff x="0" y="0"/>
            <a:chExt cx="14406118" cy="167767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2" id="72"/>
          <p:cNvGrpSpPr/>
          <p:nvPr/>
        </p:nvGrpSpPr>
        <p:grpSpPr>
          <a:xfrm rot="0">
            <a:off x="6821043" y="6629019"/>
            <a:ext cx="842010" cy="842010"/>
            <a:chOff x="0" y="0"/>
            <a:chExt cx="1122680" cy="112268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4" id="74"/>
          <p:cNvGrpSpPr/>
          <p:nvPr/>
        </p:nvGrpSpPr>
        <p:grpSpPr>
          <a:xfrm rot="0">
            <a:off x="7044538" y="6852514"/>
            <a:ext cx="395021" cy="395021"/>
            <a:chOff x="0" y="0"/>
            <a:chExt cx="526694" cy="526694"/>
          </a:xfrm>
        </p:grpSpPr>
        <p:sp>
          <p:nvSpPr>
            <p:cNvPr name="Freeform 75" id="75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-4" b="-4"/>
              </a:stretch>
            </a:blipFill>
          </p:spPr>
        </p:sp>
      </p:grpSp>
      <p:sp>
        <p:nvSpPr>
          <p:cNvPr name="TextBox 76" id="76"/>
          <p:cNvSpPr txBox="true"/>
          <p:nvPr/>
        </p:nvSpPr>
        <p:spPr>
          <a:xfrm rot="0">
            <a:off x="7886700" y="6533007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Entrevistas semiestruturadas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7886700" y="7036308"/>
            <a:ext cx="6309360" cy="603504"/>
            <a:chOff x="0" y="0"/>
            <a:chExt cx="8412480" cy="804672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8412480" cy="804672"/>
            </a:xfrm>
            <a:custGeom>
              <a:avLst/>
              <a:gdLst/>
              <a:ahLst/>
              <a:cxnLst/>
              <a:rect r="r" b="b" t="t" l="l"/>
              <a:pathLst>
                <a:path h="80467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707" r="0" b="-153707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0"/>
              <a:ext cx="8412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Seis eixos, da leitura da política à resistência; 60 a 90 minutos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14255115" y="6738747"/>
            <a:ext cx="2899410" cy="622554"/>
            <a:chOff x="0" y="0"/>
            <a:chExt cx="3865880" cy="830072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2" id="82"/>
          <p:cNvGrpSpPr/>
          <p:nvPr/>
        </p:nvGrpSpPr>
        <p:grpSpPr>
          <a:xfrm rot="0">
            <a:off x="14264640" y="6748272"/>
            <a:ext cx="2880360" cy="603504"/>
            <a:chOff x="0" y="0"/>
            <a:chExt cx="3840480" cy="804672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Após a emenda · Cap. 7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6670167" y="8000619"/>
            <a:ext cx="10799826" cy="1253490"/>
            <a:chOff x="0" y="0"/>
            <a:chExt cx="14399768" cy="167132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87" id="87"/>
          <p:cNvGrpSpPr/>
          <p:nvPr/>
        </p:nvGrpSpPr>
        <p:grpSpPr>
          <a:xfrm rot="0">
            <a:off x="6571774" y="7902226"/>
            <a:ext cx="10804588" cy="1258252"/>
            <a:chOff x="0" y="0"/>
            <a:chExt cx="14406118" cy="1677670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9" id="89"/>
          <p:cNvGrpSpPr/>
          <p:nvPr/>
        </p:nvGrpSpPr>
        <p:grpSpPr>
          <a:xfrm rot="0">
            <a:off x="6821043" y="8110347"/>
            <a:ext cx="842010" cy="842010"/>
            <a:chOff x="0" y="0"/>
            <a:chExt cx="1122680" cy="1122680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1" id="91"/>
          <p:cNvGrpSpPr/>
          <p:nvPr/>
        </p:nvGrpSpPr>
        <p:grpSpPr>
          <a:xfrm rot="0">
            <a:off x="7044538" y="8333842"/>
            <a:ext cx="395021" cy="395021"/>
            <a:chOff x="0" y="0"/>
            <a:chExt cx="526694" cy="526694"/>
          </a:xfrm>
        </p:grpSpPr>
        <p:sp>
          <p:nvSpPr>
            <p:cNvPr name="Freeform 92" id="92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-4" b="-4"/>
              </a:stretch>
            </a:blipFill>
          </p:spPr>
        </p:sp>
      </p:grpSp>
      <p:sp>
        <p:nvSpPr>
          <p:cNvPr name="TextBox 93" id="93"/>
          <p:cNvSpPr txBox="true"/>
          <p:nvPr/>
        </p:nvSpPr>
        <p:spPr>
          <a:xfrm rot="0">
            <a:off x="7886700" y="8014335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Documentos pedagógicos e registros de formação</a:t>
            </a:r>
          </a:p>
        </p:txBody>
      </p:sp>
      <p:grpSp>
        <p:nvGrpSpPr>
          <p:cNvPr name="Group 94" id="94"/>
          <p:cNvGrpSpPr/>
          <p:nvPr/>
        </p:nvGrpSpPr>
        <p:grpSpPr>
          <a:xfrm rot="0">
            <a:off x="7886700" y="8517636"/>
            <a:ext cx="6309360" cy="603504"/>
            <a:chOff x="0" y="0"/>
            <a:chExt cx="8412480" cy="804672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8412480" cy="804672"/>
            </a:xfrm>
            <a:custGeom>
              <a:avLst/>
              <a:gdLst/>
              <a:ahLst/>
              <a:cxnLst/>
              <a:rect r="r" b="b" t="t" l="l"/>
              <a:pathLst>
                <a:path h="80467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707" r="0" b="-153707"/>
              </a:stretch>
            </a:blipFill>
          </p:spPr>
        </p:sp>
        <p:sp>
          <p:nvSpPr>
            <p:cNvPr name="TextBox 96" id="96"/>
            <p:cNvSpPr txBox="true"/>
            <p:nvPr/>
          </p:nvSpPr>
          <p:spPr>
            <a:xfrm>
              <a:off x="0" y="0"/>
              <a:ext cx="8412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PPP, planos, atas, cadernos de uso; formações desde 2023</a:t>
              </a:r>
            </a:p>
          </p:txBody>
        </p:sp>
      </p:grpSp>
      <p:grpSp>
        <p:nvGrpSpPr>
          <p:cNvPr name="Group 97" id="97"/>
          <p:cNvGrpSpPr/>
          <p:nvPr/>
        </p:nvGrpSpPr>
        <p:grpSpPr>
          <a:xfrm rot="0">
            <a:off x="14255115" y="8220075"/>
            <a:ext cx="2899410" cy="622554"/>
            <a:chOff x="0" y="0"/>
            <a:chExt cx="3865880" cy="830072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9" id="99"/>
          <p:cNvGrpSpPr/>
          <p:nvPr/>
        </p:nvGrpSpPr>
        <p:grpSpPr>
          <a:xfrm rot="0">
            <a:off x="14264640" y="8229600"/>
            <a:ext cx="2880360" cy="603504"/>
            <a:chOff x="0" y="0"/>
            <a:chExt cx="3840480" cy="804672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101" id="101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solicitar · Cap. 7</a:t>
              </a:r>
            </a:p>
          </p:txBody>
        </p:sp>
      </p:grpSp>
      <p:sp>
        <p:nvSpPr>
          <p:cNvPr name="TextBox 102" id="102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Yin (2001): múltiplas fontes e proposições teóricas prévias; triangulação.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600000">
            <a:off x="16380245" y="376407"/>
            <a:ext cx="1645920" cy="1762230"/>
            <a:chOff x="0" y="0"/>
            <a:chExt cx="2194560" cy="2349640"/>
          </a:xfrm>
        </p:grpSpPr>
        <p:sp>
          <p:nvSpPr>
            <p:cNvPr name="Freeform 4" id="4" descr="/home/claude/deck3/img/d_joinha.png"/>
            <p:cNvSpPr/>
            <p:nvPr/>
          </p:nvSpPr>
          <p:spPr>
            <a:xfrm flipH="false" flipV="false" rot="0">
              <a:off x="0" y="0"/>
              <a:ext cx="2194560" cy="2349627"/>
            </a:xfrm>
            <a:custGeom>
              <a:avLst/>
              <a:gdLst/>
              <a:ahLst/>
              <a:cxnLst/>
              <a:rect r="r" b="b" t="t" l="l"/>
              <a:pathLst>
                <a:path h="2349627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2349627"/>
                  </a:lnTo>
                  <a:lnTo>
                    <a:pt x="0" y="23496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3" t="0" r="-14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Quem será ouvido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4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97280" y="2194560"/>
            <a:ext cx="960120" cy="960120"/>
            <a:chOff x="0" y="0"/>
            <a:chExt cx="1280160" cy="1280160"/>
          </a:xfrm>
        </p:grpSpPr>
        <p:sp>
          <p:nvSpPr>
            <p:cNvPr name="Freeform 14" id="14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2400300" y="2194560"/>
            <a:ext cx="960120" cy="960120"/>
            <a:chOff x="0" y="0"/>
            <a:chExt cx="1280160" cy="1280160"/>
          </a:xfrm>
        </p:grpSpPr>
        <p:sp>
          <p:nvSpPr>
            <p:cNvPr name="Freeform 16" id="16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3703320" y="2194560"/>
            <a:ext cx="960120" cy="960120"/>
            <a:chOff x="0" y="0"/>
            <a:chExt cx="1280160" cy="1280160"/>
          </a:xfrm>
        </p:grpSpPr>
        <p:sp>
          <p:nvSpPr>
            <p:cNvPr name="Freeform 18" id="18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5006340" y="2194560"/>
            <a:ext cx="960120" cy="960120"/>
            <a:chOff x="0" y="0"/>
            <a:chExt cx="1280160" cy="1280160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6309360" y="2194560"/>
            <a:ext cx="960120" cy="960120"/>
            <a:chOff x="0" y="0"/>
            <a:chExt cx="1280160" cy="1280160"/>
          </a:xfrm>
        </p:grpSpPr>
        <p:sp>
          <p:nvSpPr>
            <p:cNvPr name="Freeform 22" id="22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7612380" y="2194560"/>
            <a:ext cx="960120" cy="960120"/>
            <a:chOff x="0" y="0"/>
            <a:chExt cx="1280160" cy="1280160"/>
          </a:xfrm>
        </p:grpSpPr>
        <p:sp>
          <p:nvSpPr>
            <p:cNvPr name="Freeform 24" id="24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097280" y="3703320"/>
            <a:ext cx="960120" cy="960120"/>
            <a:chOff x="0" y="0"/>
            <a:chExt cx="1280160" cy="1280160"/>
          </a:xfrm>
        </p:grpSpPr>
        <p:sp>
          <p:nvSpPr>
            <p:cNvPr name="Freeform 26" id="26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2400300" y="3703320"/>
            <a:ext cx="960120" cy="960120"/>
            <a:chOff x="0" y="0"/>
            <a:chExt cx="1280160" cy="1280160"/>
          </a:xfrm>
        </p:grpSpPr>
        <p:sp>
          <p:nvSpPr>
            <p:cNvPr name="Freeform 28" id="28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3703320" y="3703320"/>
            <a:ext cx="960120" cy="960120"/>
            <a:chOff x="0" y="0"/>
            <a:chExt cx="1280160" cy="1280160"/>
          </a:xfrm>
        </p:grpSpPr>
        <p:sp>
          <p:nvSpPr>
            <p:cNvPr name="Freeform 30" id="30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5006340" y="3703320"/>
            <a:ext cx="960120" cy="960120"/>
            <a:chOff x="0" y="0"/>
            <a:chExt cx="1280160" cy="1280160"/>
          </a:xfrm>
        </p:grpSpPr>
        <p:sp>
          <p:nvSpPr>
            <p:cNvPr name="Freeform 32" id="32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6309360" y="3703320"/>
            <a:ext cx="960120" cy="960120"/>
            <a:chOff x="0" y="0"/>
            <a:chExt cx="1280160" cy="1280160"/>
          </a:xfrm>
        </p:grpSpPr>
        <p:sp>
          <p:nvSpPr>
            <p:cNvPr name="Freeform 34" id="34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7612380" y="3703320"/>
            <a:ext cx="960120" cy="960120"/>
            <a:chOff x="0" y="0"/>
            <a:chExt cx="1280160" cy="1280160"/>
          </a:xfrm>
        </p:grpSpPr>
        <p:sp>
          <p:nvSpPr>
            <p:cNvPr name="Freeform 36" id="36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1097280" y="5609844"/>
            <a:ext cx="438912" cy="438912"/>
            <a:chOff x="0" y="0"/>
            <a:chExt cx="585216" cy="585216"/>
          </a:xfrm>
        </p:grpSpPr>
        <p:sp>
          <p:nvSpPr>
            <p:cNvPr name="Freeform 38" id="38" descr="preencoded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1783080" y="5554980"/>
            <a:ext cx="6858000" cy="576072"/>
            <a:chOff x="0" y="0"/>
            <a:chExt cx="9144000" cy="76809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9144000" cy="768096"/>
            </a:xfrm>
            <a:custGeom>
              <a:avLst/>
              <a:gdLst/>
              <a:ahLst/>
              <a:cxnLst/>
              <a:rect r="r" b="b" t="t" l="l"/>
              <a:pathLst>
                <a:path h="768096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1964" r="0" b="-181964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0"/>
              <a:ext cx="914400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6 profissionais em regência nas turmas de 1º e 2º anos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097280" y="6323076"/>
            <a:ext cx="438912" cy="438912"/>
            <a:chOff x="0" y="0"/>
            <a:chExt cx="585216" cy="585216"/>
          </a:xfrm>
        </p:grpSpPr>
        <p:sp>
          <p:nvSpPr>
            <p:cNvPr name="Freeform 43" id="43" descr="preencoded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1783080" y="6268212"/>
            <a:ext cx="6858000" cy="576072"/>
            <a:chOff x="0" y="0"/>
            <a:chExt cx="9144000" cy="76809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9144000" cy="768096"/>
            </a:xfrm>
            <a:custGeom>
              <a:avLst/>
              <a:gdLst/>
              <a:ahLst/>
              <a:cxnLst/>
              <a:rect r="r" b="b" t="t" l="l"/>
              <a:pathLst>
                <a:path h="768096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1964" r="0" b="-181964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0"/>
              <a:ext cx="914400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4 da coordenação pedagógica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097280" y="7036308"/>
            <a:ext cx="438912" cy="438912"/>
            <a:chOff x="0" y="0"/>
            <a:chExt cx="585216" cy="585216"/>
          </a:xfrm>
        </p:grpSpPr>
        <p:sp>
          <p:nvSpPr>
            <p:cNvPr name="Freeform 48" id="48" descr="preencoded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783080" y="6981444"/>
            <a:ext cx="6858000" cy="576072"/>
            <a:chOff x="0" y="0"/>
            <a:chExt cx="9144000" cy="768096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9144000" cy="768096"/>
            </a:xfrm>
            <a:custGeom>
              <a:avLst/>
              <a:gdLst/>
              <a:ahLst/>
              <a:cxnLst/>
              <a:rect r="r" b="b" t="t" l="l"/>
              <a:pathLst>
                <a:path h="768096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1964" r="0" b="-181964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0"/>
              <a:ext cx="914400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1 da direção escolar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097280" y="7749540"/>
            <a:ext cx="438912" cy="438912"/>
            <a:chOff x="0" y="0"/>
            <a:chExt cx="585216" cy="585216"/>
          </a:xfrm>
        </p:grpSpPr>
        <p:sp>
          <p:nvSpPr>
            <p:cNvPr name="Freeform 53" id="53" descr="preencoded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783080" y="7694676"/>
            <a:ext cx="6858000" cy="576072"/>
            <a:chOff x="0" y="0"/>
            <a:chExt cx="9144000" cy="768096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9144000" cy="768096"/>
            </a:xfrm>
            <a:custGeom>
              <a:avLst/>
              <a:gdLst/>
              <a:ahLst/>
              <a:cxnLst/>
              <a:rect r="r" b="b" t="t" l="l"/>
              <a:pathLst>
                <a:path h="768096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1964" r="0" b="-181964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0"/>
              <a:ext cx="914400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Secretaria: fonte documental</a:t>
              </a: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1097280" y="8513445"/>
            <a:ext cx="7680960" cy="813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Posições postas em relação, sem hierarquia prévia. A direção tem um participante: descrever, sem generalizar.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9601200" y="1920240"/>
            <a:ext cx="3291840" cy="1645920"/>
            <a:chOff x="0" y="0"/>
            <a:chExt cx="4389120" cy="219456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4389120" cy="2194560"/>
            </a:xfrm>
            <a:custGeom>
              <a:avLst/>
              <a:gdLst/>
              <a:ahLst/>
              <a:cxnLst/>
              <a:rect r="r" b="b" t="t" l="l"/>
              <a:pathLst>
                <a:path h="219456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4389120" cy="2194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2600"/>
                </a:lnSpc>
              </a:pPr>
              <a:r>
                <a:rPr lang="en-US" sz="10500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140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2961620" y="2125980"/>
            <a:ext cx="4526280" cy="1234440"/>
            <a:chOff x="0" y="0"/>
            <a:chExt cx="6035040" cy="164592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6035040" cy="1645920"/>
            </a:xfrm>
            <a:custGeom>
              <a:avLst/>
              <a:gdLst/>
              <a:ahLst/>
              <a:cxnLst/>
              <a:rect r="r" b="b" t="t" l="l"/>
              <a:pathLst>
                <a:path h="164592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1445" r="0" b="-2144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0"/>
              <a:ext cx="6035040" cy="1645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crianças: três turmas de 1º ano (74) e três de 2º ano (66)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9687687" y="4201287"/>
            <a:ext cx="7782306" cy="5162550"/>
            <a:chOff x="0" y="0"/>
            <a:chExt cx="10376408" cy="688340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0376408" cy="6883400"/>
            </a:xfrm>
            <a:custGeom>
              <a:avLst/>
              <a:gdLst/>
              <a:ahLst/>
              <a:cxnLst/>
              <a:rect r="r" b="b" t="t" l="l"/>
              <a:pathLst>
                <a:path h="6883400" w="10376408">
                  <a:moveTo>
                    <a:pt x="0" y="0"/>
                  </a:moveTo>
                  <a:lnTo>
                    <a:pt x="10376408" y="0"/>
                  </a:lnTo>
                  <a:lnTo>
                    <a:pt x="10376408" y="6883400"/>
                  </a:lnTo>
                  <a:lnTo>
                    <a:pt x="0" y="68834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66" id="66"/>
          <p:cNvGrpSpPr/>
          <p:nvPr/>
        </p:nvGrpSpPr>
        <p:grpSpPr>
          <a:xfrm rot="0">
            <a:off x="9589294" y="4102894"/>
            <a:ext cx="7787068" cy="5167312"/>
            <a:chOff x="0" y="0"/>
            <a:chExt cx="10382758" cy="688975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0382758" cy="6889750"/>
            </a:xfrm>
            <a:custGeom>
              <a:avLst/>
              <a:gdLst/>
              <a:ahLst/>
              <a:cxnLst/>
              <a:rect r="r" b="b" t="t" l="l"/>
              <a:pathLst>
                <a:path h="6889750" w="10382758">
                  <a:moveTo>
                    <a:pt x="0" y="0"/>
                  </a:moveTo>
                  <a:lnTo>
                    <a:pt x="10382758" y="0"/>
                  </a:lnTo>
                  <a:lnTo>
                    <a:pt x="10382758" y="6889750"/>
                  </a:lnTo>
                  <a:lnTo>
                    <a:pt x="0" y="68897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68" id="68"/>
          <p:cNvSpPr txBox="true"/>
          <p:nvPr/>
        </p:nvSpPr>
        <p:spPr>
          <a:xfrm rot="0">
            <a:off x="10012680" y="4389120"/>
            <a:ext cx="6995160" cy="617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que ouvir posições diferentes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10012680" y="5143500"/>
            <a:ext cx="6995160" cy="3977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Quem está na regência, na coordenação ou na direção recebe a política com margens de decisão, recursos e responsabilidades diferentes. A mesma orientação da PNED pode ganhar sentidos diferentes em cada posição, e os movimentos podem aparecer em umas e não em outras.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Ball, Maguire e Braun (2016): posições diante da política; LDB, arts. 61 e 67; Lei nº 14.817/2024.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184880" y="141722"/>
            <a:ext cx="1645920" cy="1738036"/>
            <a:chOff x="0" y="0"/>
            <a:chExt cx="2194560" cy="2317382"/>
          </a:xfrm>
        </p:grpSpPr>
        <p:sp>
          <p:nvSpPr>
            <p:cNvPr name="Freeform 4" id="4" descr="/home/claude/deck3/img/d_lapis.png"/>
            <p:cNvSpPr/>
            <p:nvPr/>
          </p:nvSpPr>
          <p:spPr>
            <a:xfrm flipH="false" flipV="false" rot="0">
              <a:off x="0" y="0"/>
              <a:ext cx="2194560" cy="2317369"/>
            </a:xfrm>
            <a:custGeom>
              <a:avLst/>
              <a:gdLst/>
              <a:ahLst/>
              <a:cxnLst/>
              <a:rect r="r" b="b" t="t" l="l"/>
              <a:pathLst>
                <a:path h="2317369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2317369"/>
                  </a:lnTo>
                  <a:lnTo>
                    <a:pt x="0" y="23173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7" r="0" b="-8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Mapa das políticas de educação digital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5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06727"/>
            <a:ext cx="10306050" cy="6061034"/>
            <a:chOff x="0" y="0"/>
            <a:chExt cx="13741400" cy="808137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3741400" cy="8081391"/>
            </a:xfrm>
            <a:custGeom>
              <a:avLst/>
              <a:gdLst/>
              <a:ahLst/>
              <a:cxnLst/>
              <a:rect r="r" b="b" t="t" l="l"/>
              <a:pathLst>
                <a:path h="8081391" w="13741400">
                  <a:moveTo>
                    <a:pt x="0" y="0"/>
                  </a:moveTo>
                  <a:lnTo>
                    <a:pt x="13741400" y="0"/>
                  </a:lnTo>
                  <a:lnTo>
                    <a:pt x="13741400" y="8081391"/>
                  </a:lnTo>
                  <a:lnTo>
                    <a:pt x="0" y="8081391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22960" y="1920240"/>
            <a:ext cx="10287000" cy="6041984"/>
            <a:chOff x="0" y="0"/>
            <a:chExt cx="13716000" cy="8055978"/>
          </a:xfrm>
        </p:grpSpPr>
        <p:sp>
          <p:nvSpPr>
            <p:cNvPr name="Freeform 16" id="16" descr="/home/claude/deck3/img/mapa_politicas.png"/>
            <p:cNvSpPr/>
            <p:nvPr/>
          </p:nvSpPr>
          <p:spPr>
            <a:xfrm flipH="false" flipV="false" rot="0">
              <a:off x="0" y="0"/>
              <a:ext cx="13716000" cy="8055991"/>
            </a:xfrm>
            <a:custGeom>
              <a:avLst/>
              <a:gdLst/>
              <a:ahLst/>
              <a:cxnLst/>
              <a:rect r="r" b="b" t="t" l="l"/>
              <a:pathLst>
                <a:path h="8055991" w="13716000">
                  <a:moveTo>
                    <a:pt x="0" y="0"/>
                  </a:moveTo>
                  <a:lnTo>
                    <a:pt x="13716000" y="0"/>
                  </a:lnTo>
                  <a:lnTo>
                    <a:pt x="13716000" y="8055991"/>
                  </a:lnTo>
                  <a:lnTo>
                    <a:pt x="0" y="80559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6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811054" y="1908334"/>
            <a:ext cx="10310812" cy="6065796"/>
            <a:chOff x="0" y="0"/>
            <a:chExt cx="13747750" cy="808772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3747750" cy="8087741"/>
            </a:xfrm>
            <a:custGeom>
              <a:avLst/>
              <a:gdLst/>
              <a:ahLst/>
              <a:cxnLst/>
              <a:rect r="r" b="b" t="t" l="l"/>
              <a:pathLst>
                <a:path h="8087741" w="13747750">
                  <a:moveTo>
                    <a:pt x="0" y="0"/>
                  </a:moveTo>
                  <a:lnTo>
                    <a:pt x="13747750" y="0"/>
                  </a:lnTo>
                  <a:lnTo>
                    <a:pt x="13747750" y="8087741"/>
                  </a:lnTo>
                  <a:lnTo>
                    <a:pt x="0" y="808774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5480" t="0" r="-25480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811054" y="8492014"/>
            <a:ext cx="325564" cy="325564"/>
            <a:chOff x="0" y="0"/>
            <a:chExt cx="434086" cy="43408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2A6B67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1234440" y="8407908"/>
            <a:ext cx="2606040" cy="493776"/>
            <a:chOff x="0" y="0"/>
            <a:chExt cx="3474720" cy="65836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Governança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2731294" y="8492014"/>
            <a:ext cx="325564" cy="325564"/>
            <a:chOff x="0" y="0"/>
            <a:chExt cx="434086" cy="43408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C9892B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3154680" y="8407908"/>
            <a:ext cx="2606040" cy="493776"/>
            <a:chOff x="0" y="0"/>
            <a:chExt cx="3474720" cy="65836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Formação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4651534" y="8492014"/>
            <a:ext cx="325564" cy="325564"/>
            <a:chOff x="0" y="0"/>
            <a:chExt cx="434086" cy="434086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4F7CAC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5074920" y="8407908"/>
            <a:ext cx="2606040" cy="493776"/>
            <a:chOff x="0" y="0"/>
            <a:chExt cx="3474720" cy="658368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Infraestrutura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571774" y="8492014"/>
            <a:ext cx="325564" cy="325564"/>
            <a:chOff x="0" y="0"/>
            <a:chExt cx="434086" cy="43408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8A5A9E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6995160" y="8407908"/>
            <a:ext cx="2606040" cy="493776"/>
            <a:chOff x="0" y="0"/>
            <a:chExt cx="3474720" cy="65836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Continuidade institucional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8601742" y="8478298"/>
            <a:ext cx="325564" cy="325564"/>
            <a:chOff x="0" y="0"/>
            <a:chExt cx="434086" cy="43408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D9652E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9121140" y="8437712"/>
            <a:ext cx="2606040" cy="493776"/>
            <a:chOff x="0" y="0"/>
            <a:chExt cx="3474720" cy="658368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Cultura digital</a:t>
              </a: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822960" y="8983980"/>
            <a:ext cx="104241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A cor indica a categoria que cada experiência mais informa, segundo a leitura do Capítulo 5.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11539347" y="2006727"/>
            <a:ext cx="5930646" cy="7494270"/>
            <a:chOff x="0" y="0"/>
            <a:chExt cx="7907528" cy="999236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7907528" cy="9992360"/>
            </a:xfrm>
            <a:custGeom>
              <a:avLst/>
              <a:gdLst/>
              <a:ahLst/>
              <a:cxnLst/>
              <a:rect r="r" b="b" t="t" l="l"/>
              <a:pathLst>
                <a:path h="9992360" w="7907528">
                  <a:moveTo>
                    <a:pt x="0" y="0"/>
                  </a:moveTo>
                  <a:lnTo>
                    <a:pt x="7907528" y="0"/>
                  </a:lnTo>
                  <a:lnTo>
                    <a:pt x="7907528" y="9992360"/>
                  </a:lnTo>
                  <a:lnTo>
                    <a:pt x="0" y="99923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11440954" y="1908334"/>
            <a:ext cx="5935408" cy="7499032"/>
            <a:chOff x="0" y="0"/>
            <a:chExt cx="7913878" cy="999871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7913878" cy="9998710"/>
            </a:xfrm>
            <a:custGeom>
              <a:avLst/>
              <a:gdLst/>
              <a:ahLst/>
              <a:cxnLst/>
              <a:rect r="r" b="b" t="t" l="l"/>
              <a:pathLst>
                <a:path h="9998710" w="7913878">
                  <a:moveTo>
                    <a:pt x="0" y="0"/>
                  </a:moveTo>
                  <a:lnTo>
                    <a:pt x="7913878" y="0"/>
                  </a:lnTo>
                  <a:lnTo>
                    <a:pt x="7913878" y="9998710"/>
                  </a:lnTo>
                  <a:lnTo>
                    <a:pt x="0" y="999871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49" id="49"/>
          <p:cNvSpPr txBox="true"/>
          <p:nvPr/>
        </p:nvSpPr>
        <p:spPr>
          <a:xfrm rot="0">
            <a:off x="11658600" y="2025777"/>
            <a:ext cx="534924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Américas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1649075" y="2431923"/>
            <a:ext cx="265938" cy="265938"/>
            <a:chOff x="0" y="0"/>
            <a:chExt cx="354584" cy="35458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C9892B"/>
            </a:solidFill>
            <a:ln w="19050" cap="sq">
              <a:solidFill>
                <a:srgbClr val="C9892B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1987784" y="2400300"/>
            <a:ext cx="5321808" cy="312725"/>
            <a:chOff x="0" y="0"/>
            <a:chExt cx="7095744" cy="416966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EUA · National Educational Technology Plan (2024)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1649075" y="2744648"/>
            <a:ext cx="265938" cy="265938"/>
            <a:chOff x="0" y="0"/>
            <a:chExt cx="354584" cy="354584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D9652E"/>
            </a:solidFill>
            <a:ln w="19050" cap="sq">
              <a:solidFill>
                <a:srgbClr val="D9652E"/>
              </a:solidFill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11987784" y="2713025"/>
            <a:ext cx="5321808" cy="312725"/>
            <a:chOff x="0" y="0"/>
            <a:chExt cx="7095744" cy="41696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2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Canadá · Digital Literacy Framework (BC)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1649075" y="3057373"/>
            <a:ext cx="265938" cy="265938"/>
            <a:chOff x="0" y="0"/>
            <a:chExt cx="354584" cy="35458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1987784" y="3025750"/>
            <a:ext cx="5321808" cy="312725"/>
            <a:chOff x="0" y="0"/>
            <a:chExt cx="7095744" cy="416966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3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México · @prende 2.0 e programas anteriores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1649075" y="3370097"/>
            <a:ext cx="265938" cy="265938"/>
            <a:chOff x="0" y="0"/>
            <a:chExt cx="354584" cy="354584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1987784" y="3338474"/>
            <a:ext cx="5321808" cy="312725"/>
            <a:chOff x="0" y="0"/>
            <a:chExt cx="7095744" cy="416966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4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Costa Rica · Programa Nacional de Informática Educativa (1988)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1649075" y="3682822"/>
            <a:ext cx="265938" cy="265938"/>
            <a:chOff x="0" y="0"/>
            <a:chExt cx="354584" cy="354584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4F7CAC"/>
            </a:solidFill>
            <a:ln w="19050" cap="sq">
              <a:solidFill>
                <a:srgbClr val="4F7CAC"/>
              </a:solidFill>
              <a:prstDash val="solid"/>
              <a:miter/>
            </a:ln>
          </p:spPr>
        </p:sp>
      </p:grpSp>
      <p:grpSp>
        <p:nvGrpSpPr>
          <p:cNvPr name="Group 72" id="72"/>
          <p:cNvGrpSpPr/>
          <p:nvPr/>
        </p:nvGrpSpPr>
        <p:grpSpPr>
          <a:xfrm rot="0">
            <a:off x="11987784" y="3651199"/>
            <a:ext cx="5321808" cy="312725"/>
            <a:chOff x="0" y="0"/>
            <a:chExt cx="7095744" cy="416966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5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Colômbia · Computadores para Educar (2000)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11649075" y="3995547"/>
            <a:ext cx="265938" cy="265938"/>
            <a:chOff x="0" y="0"/>
            <a:chExt cx="354584" cy="354584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4F7CAC"/>
            </a:solidFill>
            <a:ln w="19050" cap="sq">
              <a:solidFill>
                <a:srgbClr val="4F7CAC"/>
              </a:solidFill>
              <a:prstDash val="solid"/>
              <a:miter/>
            </a:ln>
          </p:spPr>
        </p:sp>
      </p:grpSp>
      <p:grpSp>
        <p:nvGrpSpPr>
          <p:cNvPr name="Group 77" id="77"/>
          <p:cNvGrpSpPr/>
          <p:nvPr/>
        </p:nvGrpSpPr>
        <p:grpSpPr>
          <a:xfrm rot="0">
            <a:off x="11987784" y="3963924"/>
            <a:ext cx="5321808" cy="312725"/>
            <a:chOff x="0" y="0"/>
            <a:chExt cx="7095744" cy="416966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6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Peru · Una Laptop por Niño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11649075" y="4308272"/>
            <a:ext cx="265938" cy="265938"/>
            <a:chOff x="0" y="0"/>
            <a:chExt cx="354584" cy="354584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82" id="82"/>
          <p:cNvGrpSpPr/>
          <p:nvPr/>
        </p:nvGrpSpPr>
        <p:grpSpPr>
          <a:xfrm rot="0">
            <a:off x="11987784" y="4276649"/>
            <a:ext cx="5321808" cy="312725"/>
            <a:chOff x="0" y="0"/>
            <a:chExt cx="7095744" cy="416966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7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Chile · Red Enlaces (1992)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11649075" y="4620997"/>
            <a:ext cx="265938" cy="265938"/>
            <a:chOff x="0" y="0"/>
            <a:chExt cx="354584" cy="354584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87" id="87"/>
          <p:cNvGrpSpPr/>
          <p:nvPr/>
        </p:nvGrpSpPr>
        <p:grpSpPr>
          <a:xfrm rot="0">
            <a:off x="11987784" y="4589374"/>
            <a:ext cx="5321808" cy="312725"/>
            <a:chOff x="0" y="0"/>
            <a:chExt cx="7095744" cy="416966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89" id="8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8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Argentina · Conectar Igualdad (2010)</a:t>
              </a:r>
            </a:p>
          </p:txBody>
        </p:sp>
      </p:grpSp>
      <p:grpSp>
        <p:nvGrpSpPr>
          <p:cNvPr name="Group 90" id="90"/>
          <p:cNvGrpSpPr/>
          <p:nvPr/>
        </p:nvGrpSpPr>
        <p:grpSpPr>
          <a:xfrm rot="0">
            <a:off x="11649075" y="4933721"/>
            <a:ext cx="265938" cy="265938"/>
            <a:chOff x="0" y="0"/>
            <a:chExt cx="354584" cy="354584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92" id="92"/>
          <p:cNvGrpSpPr/>
          <p:nvPr/>
        </p:nvGrpSpPr>
        <p:grpSpPr>
          <a:xfrm rot="0">
            <a:off x="11987784" y="4902098"/>
            <a:ext cx="5321808" cy="312725"/>
            <a:chOff x="0" y="0"/>
            <a:chExt cx="7095744" cy="416966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9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Uruguai · Plan Ceibal (2007)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11649075" y="5246446"/>
            <a:ext cx="265938" cy="265938"/>
            <a:chOff x="0" y="0"/>
            <a:chExt cx="354584" cy="354584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7" id="97"/>
          <p:cNvGrpSpPr/>
          <p:nvPr/>
        </p:nvGrpSpPr>
        <p:grpSpPr>
          <a:xfrm rot="0">
            <a:off x="11987784" y="5214823"/>
            <a:ext cx="5321808" cy="312725"/>
            <a:chOff x="0" y="0"/>
            <a:chExt cx="7095744" cy="416966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99" id="9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★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Brasil · PNED (Lei nº 14.533/2023)</a:t>
              </a:r>
            </a:p>
          </p:txBody>
        </p:sp>
      </p:grpSp>
      <p:sp>
        <p:nvSpPr>
          <p:cNvPr name="TextBox 100" id="100"/>
          <p:cNvSpPr txBox="true"/>
          <p:nvPr/>
        </p:nvSpPr>
        <p:spPr>
          <a:xfrm rot="0">
            <a:off x="11658600" y="5564505"/>
            <a:ext cx="534924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Europa</a:t>
            </a:r>
          </a:p>
        </p:txBody>
      </p:sp>
      <p:grpSp>
        <p:nvGrpSpPr>
          <p:cNvPr name="Group 101" id="101"/>
          <p:cNvGrpSpPr/>
          <p:nvPr/>
        </p:nvGrpSpPr>
        <p:grpSpPr>
          <a:xfrm rot="0">
            <a:off x="11649075" y="5970651"/>
            <a:ext cx="265938" cy="265938"/>
            <a:chOff x="0" y="0"/>
            <a:chExt cx="354584" cy="354584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2A6B67"/>
            </a:solidFill>
            <a:ln w="19050" cap="sq">
              <a:solidFill>
                <a:srgbClr val="2A6B67"/>
              </a:solidFill>
              <a:prstDash val="solid"/>
              <a:miter/>
            </a:ln>
          </p:spPr>
        </p:sp>
      </p:grpSp>
      <p:grpSp>
        <p:nvGrpSpPr>
          <p:cNvPr name="Group 103" id="103"/>
          <p:cNvGrpSpPr/>
          <p:nvPr/>
        </p:nvGrpSpPr>
        <p:grpSpPr>
          <a:xfrm rot="0">
            <a:off x="11987784" y="5939028"/>
            <a:ext cx="5321808" cy="312725"/>
            <a:chOff x="0" y="0"/>
            <a:chExt cx="7095744" cy="416966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10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União Europeia · DigComp, DigCompEdu, Plano de Ação, BIK+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11649075" y="6283376"/>
            <a:ext cx="265938" cy="265938"/>
            <a:chOff x="0" y="0"/>
            <a:chExt cx="354584" cy="354584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108" id="108"/>
          <p:cNvGrpSpPr/>
          <p:nvPr/>
        </p:nvGrpSpPr>
        <p:grpSpPr>
          <a:xfrm rot="0">
            <a:off x="11987784" y="6251753"/>
            <a:ext cx="5321808" cy="312725"/>
            <a:chOff x="0" y="0"/>
            <a:chExt cx="7095744" cy="416966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10" id="11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11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Portugal · PTE e INCoDe.2030</a:t>
              </a:r>
            </a:p>
          </p:txBody>
        </p:sp>
      </p:grpSp>
      <p:grpSp>
        <p:nvGrpSpPr>
          <p:cNvPr name="Group 111" id="111"/>
          <p:cNvGrpSpPr/>
          <p:nvPr/>
        </p:nvGrpSpPr>
        <p:grpSpPr>
          <a:xfrm rot="0">
            <a:off x="11649075" y="6596101"/>
            <a:ext cx="265938" cy="265938"/>
            <a:chOff x="0" y="0"/>
            <a:chExt cx="354584" cy="354584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C9892B"/>
            </a:solidFill>
            <a:ln w="19050" cap="sq">
              <a:solidFill>
                <a:srgbClr val="C9892B"/>
              </a:solidFill>
              <a:prstDash val="solid"/>
              <a:miter/>
            </a:ln>
          </p:spPr>
        </p:sp>
      </p:grpSp>
      <p:grpSp>
        <p:nvGrpSpPr>
          <p:cNvPr name="Group 113" id="113"/>
          <p:cNvGrpSpPr/>
          <p:nvPr/>
        </p:nvGrpSpPr>
        <p:grpSpPr>
          <a:xfrm rot="0">
            <a:off x="11987784" y="6564478"/>
            <a:ext cx="5321808" cy="312725"/>
            <a:chOff x="0" y="0"/>
            <a:chExt cx="7095744" cy="416966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15" id="11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12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Espanha · Competência Digital Docente</a:t>
              </a:r>
            </a:p>
          </p:txBody>
        </p:sp>
      </p:grpSp>
      <p:grpSp>
        <p:nvGrpSpPr>
          <p:cNvPr name="Group 116" id="116"/>
          <p:cNvGrpSpPr/>
          <p:nvPr/>
        </p:nvGrpSpPr>
        <p:grpSpPr>
          <a:xfrm rot="0">
            <a:off x="11649075" y="6908825"/>
            <a:ext cx="265938" cy="265938"/>
            <a:chOff x="0" y="0"/>
            <a:chExt cx="354584" cy="354584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C9892B"/>
            </a:solidFill>
            <a:ln w="19050" cap="sq">
              <a:solidFill>
                <a:srgbClr val="C9892B"/>
              </a:solidFill>
              <a:prstDash val="solid"/>
              <a:miter/>
            </a:ln>
          </p:spPr>
        </p:sp>
      </p:grpSp>
      <p:grpSp>
        <p:nvGrpSpPr>
          <p:cNvPr name="Group 118" id="118"/>
          <p:cNvGrpSpPr/>
          <p:nvPr/>
        </p:nvGrpSpPr>
        <p:grpSpPr>
          <a:xfrm rot="0">
            <a:off x="11987784" y="6877202"/>
            <a:ext cx="5321808" cy="312725"/>
            <a:chOff x="0" y="0"/>
            <a:chExt cx="7095744" cy="416966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13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Irlanda · Digital Strategy for Schools to 2027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11649075" y="7221550"/>
            <a:ext cx="265938" cy="265938"/>
            <a:chOff x="0" y="0"/>
            <a:chExt cx="354584" cy="354584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2A6B67"/>
            </a:solidFill>
            <a:ln w="19050" cap="sq">
              <a:solidFill>
                <a:srgbClr val="2A6B67"/>
              </a:solidFill>
              <a:prstDash val="solid"/>
              <a:miter/>
            </a:ln>
          </p:spPr>
        </p:sp>
      </p:grpSp>
      <p:grpSp>
        <p:nvGrpSpPr>
          <p:cNvPr name="Group 123" id="123"/>
          <p:cNvGrpSpPr/>
          <p:nvPr/>
        </p:nvGrpSpPr>
        <p:grpSpPr>
          <a:xfrm rot="0">
            <a:off x="11987784" y="7189927"/>
            <a:ext cx="5321808" cy="312725"/>
            <a:chOff x="0" y="0"/>
            <a:chExt cx="7095744" cy="416966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14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Reino Unido · Realising the potential of technology (2019)</a:t>
              </a:r>
            </a:p>
          </p:txBody>
        </p:sp>
      </p:grpSp>
      <p:grpSp>
        <p:nvGrpSpPr>
          <p:cNvPr name="Group 126" id="126"/>
          <p:cNvGrpSpPr/>
          <p:nvPr/>
        </p:nvGrpSpPr>
        <p:grpSpPr>
          <a:xfrm rot="0">
            <a:off x="11649075" y="7534275"/>
            <a:ext cx="265938" cy="265938"/>
            <a:chOff x="0" y="0"/>
            <a:chExt cx="354584" cy="354584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D9652E"/>
            </a:solidFill>
            <a:ln w="19050" cap="sq">
              <a:solidFill>
                <a:srgbClr val="D9652E"/>
              </a:solidFill>
              <a:prstDash val="solid"/>
              <a:miter/>
            </a:ln>
          </p:spPr>
        </p:sp>
      </p:grpSp>
      <p:grpSp>
        <p:nvGrpSpPr>
          <p:cNvPr name="Group 128" id="128"/>
          <p:cNvGrpSpPr/>
          <p:nvPr/>
        </p:nvGrpSpPr>
        <p:grpSpPr>
          <a:xfrm rot="0">
            <a:off x="11987784" y="7502652"/>
            <a:ext cx="5321808" cy="312725"/>
            <a:chOff x="0" y="0"/>
            <a:chExt cx="7095744" cy="416966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30" id="13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15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França · Stratégie du numérique 2023-2027</a:t>
              </a:r>
            </a:p>
          </p:txBody>
        </p:sp>
      </p:grpSp>
      <p:grpSp>
        <p:nvGrpSpPr>
          <p:cNvPr name="Group 131" id="131"/>
          <p:cNvGrpSpPr/>
          <p:nvPr/>
        </p:nvGrpSpPr>
        <p:grpSpPr>
          <a:xfrm rot="0">
            <a:off x="11649075" y="7847000"/>
            <a:ext cx="265938" cy="265938"/>
            <a:chOff x="0" y="0"/>
            <a:chExt cx="354584" cy="354584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4F7CAC"/>
            </a:solidFill>
            <a:ln w="19050" cap="sq">
              <a:solidFill>
                <a:srgbClr val="4F7CAC"/>
              </a:solidFill>
              <a:prstDash val="solid"/>
              <a:miter/>
            </a:ln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987784" y="7815377"/>
            <a:ext cx="5321808" cy="312725"/>
            <a:chOff x="0" y="0"/>
            <a:chExt cx="7095744" cy="416966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16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Países Baixos · digitalização educacional</a:t>
              </a:r>
            </a:p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11649075" y="8159725"/>
            <a:ext cx="265938" cy="265938"/>
            <a:chOff x="0" y="0"/>
            <a:chExt cx="354584" cy="354584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2A6B67"/>
            </a:solidFill>
            <a:ln w="19050" cap="sq">
              <a:solidFill>
                <a:srgbClr val="2A6B67"/>
              </a:solidFill>
              <a:prstDash val="solid"/>
              <a:miter/>
            </a:ln>
          </p:spPr>
        </p:sp>
      </p:grpSp>
      <p:grpSp>
        <p:nvGrpSpPr>
          <p:cNvPr name="Group 138" id="138"/>
          <p:cNvGrpSpPr/>
          <p:nvPr/>
        </p:nvGrpSpPr>
        <p:grpSpPr>
          <a:xfrm rot="0">
            <a:off x="11987784" y="8128102"/>
            <a:ext cx="5321808" cy="312725"/>
            <a:chOff x="0" y="0"/>
            <a:chExt cx="7095744" cy="416966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17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Alemanha · DigitalPakt Schule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1649075" y="8472449"/>
            <a:ext cx="265938" cy="265938"/>
            <a:chOff x="0" y="0"/>
            <a:chExt cx="354584" cy="354584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4F7CAC"/>
            </a:solidFill>
            <a:ln w="19050" cap="sq">
              <a:solidFill>
                <a:srgbClr val="4F7CAC"/>
              </a:solidFill>
              <a:prstDash val="solid"/>
              <a:miter/>
            </a:ln>
          </p:spPr>
        </p:sp>
      </p:grpSp>
      <p:grpSp>
        <p:nvGrpSpPr>
          <p:cNvPr name="Group 143" id="143"/>
          <p:cNvGrpSpPr/>
          <p:nvPr/>
        </p:nvGrpSpPr>
        <p:grpSpPr>
          <a:xfrm rot="0">
            <a:off x="11987784" y="8440826"/>
            <a:ext cx="5321808" cy="312725"/>
            <a:chOff x="0" y="0"/>
            <a:chExt cx="7095744" cy="416966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45" id="14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18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Itália · Piano Nazionale Scuola Digitale</a:t>
              </a:r>
            </a:p>
          </p:txBody>
        </p:sp>
      </p:grpSp>
      <p:grpSp>
        <p:nvGrpSpPr>
          <p:cNvPr name="Group 146" id="146"/>
          <p:cNvGrpSpPr/>
          <p:nvPr/>
        </p:nvGrpSpPr>
        <p:grpSpPr>
          <a:xfrm rot="0">
            <a:off x="11649075" y="8785174"/>
            <a:ext cx="265938" cy="265938"/>
            <a:chOff x="0" y="0"/>
            <a:chExt cx="354584" cy="354584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2A6B67"/>
            </a:solidFill>
            <a:ln w="19050" cap="sq">
              <a:solidFill>
                <a:srgbClr val="2A6B67"/>
              </a:solidFill>
              <a:prstDash val="solid"/>
              <a:miter/>
            </a:ln>
          </p:spPr>
        </p:sp>
      </p:grpSp>
      <p:grpSp>
        <p:nvGrpSpPr>
          <p:cNvPr name="Group 148" id="148"/>
          <p:cNvGrpSpPr/>
          <p:nvPr/>
        </p:nvGrpSpPr>
        <p:grpSpPr>
          <a:xfrm rot="0">
            <a:off x="11987784" y="8753551"/>
            <a:ext cx="5321808" cy="312725"/>
            <a:chOff x="0" y="0"/>
            <a:chExt cx="7095744" cy="416966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19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Finlândia · Currículo Nacional (2014)</a:t>
              </a:r>
            </a:p>
          </p:txBody>
        </p:sp>
      </p:grpSp>
      <p:sp>
        <p:nvSpPr>
          <p:cNvPr name="TextBox 151" id="151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Mainardes (2006): contexto de influência.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elaborado a partir dos Quadros do Capítulo 5; base cartográfica Natural Earth.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335225" y="452571"/>
            <a:ext cx="1886072" cy="1332909"/>
            <a:chOff x="0" y="0"/>
            <a:chExt cx="3108960" cy="2197138"/>
          </a:xfrm>
        </p:grpSpPr>
        <p:sp>
          <p:nvSpPr>
            <p:cNvPr name="Freeform 4" id="4" descr="/home/claude/deck3/img/d_nuvem.png"/>
            <p:cNvSpPr/>
            <p:nvPr/>
          </p:nvSpPr>
          <p:spPr>
            <a:xfrm flipH="false" flipV="false" rot="0">
              <a:off x="0" y="0"/>
              <a:ext cx="3108960" cy="2197100"/>
            </a:xfrm>
            <a:custGeom>
              <a:avLst/>
              <a:gdLst/>
              <a:ahLst/>
              <a:cxnLst/>
              <a:rect r="r" b="b" t="t" l="l"/>
              <a:pathLst>
                <a:path h="219710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2197100"/>
                  </a:lnTo>
                  <a:lnTo>
                    <a:pt x="0" y="2197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t="0" r="-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promessa e o desenho: a lei promete muito e garante pouco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5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75307"/>
            <a:ext cx="8056626" cy="2625090"/>
            <a:chOff x="0" y="0"/>
            <a:chExt cx="10742168" cy="35001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742168" cy="3500120"/>
            </a:xfrm>
            <a:custGeom>
              <a:avLst/>
              <a:gdLst/>
              <a:ahLst/>
              <a:cxnLst/>
              <a:rect r="r" b="b" t="t" l="l"/>
              <a:pathLst>
                <a:path h="350012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500120"/>
                  </a:lnTo>
                  <a:lnTo>
                    <a:pt x="0" y="35001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11054" y="1976914"/>
            <a:ext cx="8061388" cy="2629852"/>
            <a:chOff x="0" y="0"/>
            <a:chExt cx="10748518" cy="350647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748518" cy="3506470"/>
            </a:xfrm>
            <a:custGeom>
              <a:avLst/>
              <a:gdLst/>
              <a:ahLst/>
              <a:cxnLst/>
              <a:rect r="r" b="b" t="t" l="l"/>
              <a:pathLst>
                <a:path h="350647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506470"/>
                  </a:lnTo>
                  <a:lnTo>
                    <a:pt x="0" y="35064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1234440" y="2235708"/>
            <a:ext cx="726948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Art. 1º, § 3º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34440" y="2852928"/>
            <a:ext cx="72694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PNED se define como “instância de articulação”, que não substitui as políticas de infraestrutura digital e conectividade.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9413367" y="2075307"/>
            <a:ext cx="8056626" cy="2625090"/>
            <a:chOff x="0" y="0"/>
            <a:chExt cx="10742168" cy="35001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742168" cy="3500120"/>
            </a:xfrm>
            <a:custGeom>
              <a:avLst/>
              <a:gdLst/>
              <a:ahLst/>
              <a:cxnLst/>
              <a:rect r="r" b="b" t="t" l="l"/>
              <a:pathLst>
                <a:path h="350012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500120"/>
                  </a:lnTo>
                  <a:lnTo>
                    <a:pt x="0" y="35001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9314974" y="1976914"/>
            <a:ext cx="8061388" cy="2629852"/>
            <a:chOff x="0" y="0"/>
            <a:chExt cx="10748518" cy="350647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748518" cy="3506470"/>
            </a:xfrm>
            <a:custGeom>
              <a:avLst/>
              <a:gdLst/>
              <a:ahLst/>
              <a:cxnLst/>
              <a:rect r="r" b="b" t="t" l="l"/>
              <a:pathLst>
                <a:path h="350647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506470"/>
                  </a:lnTo>
                  <a:lnTo>
                    <a:pt x="0" y="35064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9738360" y="2235708"/>
            <a:ext cx="726948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Art. 2º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738360" y="2852928"/>
            <a:ext cx="72694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O eixo de inclusão digital, onde está a conectividade das escolas, se desenvolve “dentro dos limites orçamentários” de cada órgão envolvido.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09447" y="4983099"/>
            <a:ext cx="8056626" cy="2625090"/>
            <a:chOff x="0" y="0"/>
            <a:chExt cx="10742168" cy="350012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742168" cy="3500120"/>
            </a:xfrm>
            <a:custGeom>
              <a:avLst/>
              <a:gdLst/>
              <a:ahLst/>
              <a:cxnLst/>
              <a:rect r="r" b="b" t="t" l="l"/>
              <a:pathLst>
                <a:path h="350012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500120"/>
                  </a:lnTo>
                  <a:lnTo>
                    <a:pt x="0" y="35001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811054" y="4884706"/>
            <a:ext cx="8061388" cy="2629852"/>
            <a:chOff x="0" y="0"/>
            <a:chExt cx="10748518" cy="350647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748518" cy="3506470"/>
            </a:xfrm>
            <a:custGeom>
              <a:avLst/>
              <a:gdLst/>
              <a:ahLst/>
              <a:cxnLst/>
              <a:rect r="r" b="b" t="t" l="l"/>
              <a:pathLst>
                <a:path h="350647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506470"/>
                  </a:lnTo>
                  <a:lnTo>
                    <a:pt x="0" y="35064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9" id="29"/>
          <p:cNvSpPr txBox="true"/>
          <p:nvPr/>
        </p:nvSpPr>
        <p:spPr>
          <a:xfrm rot="0">
            <a:off x="1234440" y="5143500"/>
            <a:ext cx="726948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Art. 11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34440" y="5760720"/>
            <a:ext cx="72694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Fontes: dotações dos entes, doações, FUST e Funttel. Nenhum fundo próprio e nenhuma transferência obrigatória aos municípios.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9413367" y="4983099"/>
            <a:ext cx="8056626" cy="2625090"/>
            <a:chOff x="0" y="0"/>
            <a:chExt cx="10742168" cy="350012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742168" cy="3500120"/>
            </a:xfrm>
            <a:custGeom>
              <a:avLst/>
              <a:gdLst/>
              <a:ahLst/>
              <a:cxnLst/>
              <a:rect r="r" b="b" t="t" l="l"/>
              <a:pathLst>
                <a:path h="350012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500120"/>
                  </a:lnTo>
                  <a:lnTo>
                    <a:pt x="0" y="35001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9314974" y="4884706"/>
            <a:ext cx="8061388" cy="2629852"/>
            <a:chOff x="0" y="0"/>
            <a:chExt cx="10748518" cy="350647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748518" cy="3506470"/>
            </a:xfrm>
            <a:custGeom>
              <a:avLst/>
              <a:gdLst/>
              <a:ahLst/>
              <a:cxnLst/>
              <a:rect r="r" b="b" t="t" l="l"/>
              <a:pathLst>
                <a:path h="350647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506470"/>
                  </a:lnTo>
                  <a:lnTo>
                    <a:pt x="0" y="35064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5" id="35"/>
          <p:cNvSpPr txBox="true"/>
          <p:nvPr/>
        </p:nvSpPr>
        <p:spPr>
          <a:xfrm rot="0">
            <a:off x="9738360" y="5143500"/>
            <a:ext cx="726948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Art. 3º, § 1º, IX e X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738360" y="5760720"/>
            <a:ext cx="72694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formação de professores aparece como ação de promoção, sem responsáveis, prazos, carga horária ou custeio.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813435" y="7945755"/>
            <a:ext cx="16656558" cy="1390650"/>
            <a:chOff x="0" y="0"/>
            <a:chExt cx="22208744" cy="18542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2208744" cy="1854200"/>
            </a:xfrm>
            <a:custGeom>
              <a:avLst/>
              <a:gdLst/>
              <a:ahLst/>
              <a:cxnLst/>
              <a:rect r="r" b="b" t="t" l="l"/>
              <a:pathLst>
                <a:path h="185420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1854200"/>
                  </a:lnTo>
                  <a:lnTo>
                    <a:pt x="0" y="18542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234440" y="7955280"/>
            <a:ext cx="15910560" cy="1371600"/>
            <a:chOff x="0" y="0"/>
            <a:chExt cx="21214080" cy="18288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12140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6026" r="0" b="-176026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9525"/>
              <a:ext cx="21214080" cy="18192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Vazio material: </a:t>
              </a:r>
              <a:r>
                <a:rPr lang="en-US" sz="24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lei declara o direito e deixa os meios a cargo de cada ente. A exigência tem data; os meios, não. E os diagnósticos previstos podem virar cobrança.</a:t>
              </a: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Mainardes (2006); Ball (2004): performatividade.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Brasil (2023a).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Pipa de hoje: o antigo e o conectado no mesmo lugar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6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09447" y="2034159"/>
            <a:ext cx="6233544" cy="5299710"/>
            <a:chOff x="0" y="0"/>
            <a:chExt cx="8311392" cy="70662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311392" cy="7066280"/>
            </a:xfrm>
            <a:custGeom>
              <a:avLst/>
              <a:gdLst/>
              <a:ahLst/>
              <a:cxnLst/>
              <a:rect r="r" b="b" t="t" l="l"/>
              <a:pathLst>
                <a:path h="7066280" w="8311392">
                  <a:moveTo>
                    <a:pt x="0" y="0"/>
                  </a:moveTo>
                  <a:lnTo>
                    <a:pt x="8311392" y="0"/>
                  </a:lnTo>
                  <a:lnTo>
                    <a:pt x="8311392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909447" y="1947672"/>
            <a:ext cx="6019343" cy="5280660"/>
            <a:chOff x="0" y="0"/>
            <a:chExt cx="8025791" cy="7040880"/>
          </a:xfrm>
        </p:grpSpPr>
        <p:sp>
          <p:nvSpPr>
            <p:cNvPr name="Freeform 14" id="14" descr="/home/claude/deck3/img/pipa_aerea.jpg"/>
            <p:cNvSpPr/>
            <p:nvPr/>
          </p:nvSpPr>
          <p:spPr>
            <a:xfrm flipH="false" flipV="false" rot="0">
              <a:off x="0" y="0"/>
              <a:ext cx="8025791" cy="7040880"/>
            </a:xfrm>
            <a:custGeom>
              <a:avLst/>
              <a:gdLst/>
              <a:ahLst/>
              <a:cxnLst/>
              <a:rect r="r" b="b" t="t" l="l"/>
              <a:pathLst>
                <a:path h="7040880" w="8025791">
                  <a:moveTo>
                    <a:pt x="0" y="0"/>
                  </a:moveTo>
                  <a:lnTo>
                    <a:pt x="8025791" y="0"/>
                  </a:lnTo>
                  <a:lnTo>
                    <a:pt x="8025791" y="7040880"/>
                  </a:lnTo>
                  <a:lnTo>
                    <a:pt x="0" y="704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84" t="0" r="-10384" b="-1525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2277080" y="2097976"/>
            <a:ext cx="5670042" cy="5299710"/>
            <a:chOff x="0" y="0"/>
            <a:chExt cx="7560056" cy="70662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560056" cy="7066280"/>
            </a:xfrm>
            <a:custGeom>
              <a:avLst/>
              <a:gdLst/>
              <a:ahLst/>
              <a:cxnLst/>
              <a:rect r="r" b="b" t="t" l="l"/>
              <a:pathLst>
                <a:path h="7066280" w="7560056">
                  <a:moveTo>
                    <a:pt x="0" y="0"/>
                  </a:moveTo>
                  <a:lnTo>
                    <a:pt x="7560056" y="0"/>
                  </a:lnTo>
                  <a:lnTo>
                    <a:pt x="7560056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2071246" y="2057972"/>
            <a:ext cx="5650992" cy="5280660"/>
            <a:chOff x="0" y="0"/>
            <a:chExt cx="7534656" cy="7040880"/>
          </a:xfrm>
        </p:grpSpPr>
        <p:sp>
          <p:nvSpPr>
            <p:cNvPr name="Freeform 18" id="18" descr="/home/claude/deck3/img/fig20.jpg"/>
            <p:cNvSpPr/>
            <p:nvPr/>
          </p:nvSpPr>
          <p:spPr>
            <a:xfrm flipH="false" flipV="false" rot="0">
              <a:off x="0" y="0"/>
              <a:ext cx="7534656" cy="7040880"/>
            </a:xfrm>
            <a:custGeom>
              <a:avLst/>
              <a:gdLst/>
              <a:ahLst/>
              <a:cxnLst/>
              <a:rect r="r" b="b" t="t" l="l"/>
              <a:pathLst>
                <a:path h="7040880" w="7534656">
                  <a:moveTo>
                    <a:pt x="0" y="0"/>
                  </a:moveTo>
                  <a:lnTo>
                    <a:pt x="7534656" y="0"/>
                  </a:lnTo>
                  <a:lnTo>
                    <a:pt x="7534656" y="7040880"/>
                  </a:lnTo>
                  <a:lnTo>
                    <a:pt x="0" y="704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26757" b="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813435" y="7945755"/>
            <a:ext cx="16656558" cy="1390650"/>
            <a:chOff x="0" y="0"/>
            <a:chExt cx="22208744" cy="18542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208744" cy="1854200"/>
            </a:xfrm>
            <a:custGeom>
              <a:avLst/>
              <a:gdLst/>
              <a:ahLst/>
              <a:cxnLst/>
              <a:rect r="r" b="b" t="t" l="l"/>
              <a:pathLst>
                <a:path h="185420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1854200"/>
                  </a:lnTo>
                  <a:lnTo>
                    <a:pt x="0" y="18542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1234440" y="7955280"/>
            <a:ext cx="15910560" cy="1371600"/>
            <a:chOff x="0" y="0"/>
            <a:chExt cx="21214080" cy="1828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2140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6026" r="0" b="-176026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21214080" cy="18288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Habitar o digital: </a:t>
              </a:r>
              <a:r>
                <a:rPr lang="en-US" sz="225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digital atravessa o turismo, de reservas a pagamentos, enquanto a pesca segue no mesmo mar; ele se distribui de modo desigual entre famílias e espaços.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-480000">
            <a:off x="16459200" y="144937"/>
            <a:ext cx="1371600" cy="1767526"/>
            <a:chOff x="0" y="0"/>
            <a:chExt cx="1828800" cy="2356701"/>
          </a:xfrm>
        </p:grpSpPr>
        <p:sp>
          <p:nvSpPr>
            <p:cNvPr name="Freeform 25" id="25" descr="/home/claude/deck3/img/d_globo.png"/>
            <p:cNvSpPr/>
            <p:nvPr/>
          </p:nvSpPr>
          <p:spPr>
            <a:xfrm flipH="false" flipV="false" rot="0">
              <a:off x="0" y="0"/>
              <a:ext cx="1828800" cy="2356739"/>
            </a:xfrm>
            <a:custGeom>
              <a:avLst/>
              <a:gdLst/>
              <a:ahLst/>
              <a:cxnLst/>
              <a:rect r="r" b="b" t="t" l="l"/>
              <a:pathLst>
                <a:path h="2356739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2356739"/>
                  </a:lnTo>
                  <a:lnTo>
                    <a:pt x="0" y="23567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2" t="0" r="-22" b="1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7546269" y="2057972"/>
            <a:ext cx="4121699" cy="5170360"/>
            <a:chOff x="0" y="0"/>
            <a:chExt cx="5495598" cy="689381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5495598" cy="6893814"/>
            </a:xfrm>
            <a:custGeom>
              <a:avLst/>
              <a:gdLst/>
              <a:ahLst/>
              <a:cxnLst/>
              <a:rect r="r" b="b" t="t" l="l"/>
              <a:pathLst>
                <a:path h="6893814" w="5495598">
                  <a:moveTo>
                    <a:pt x="0" y="0"/>
                  </a:moveTo>
                  <a:lnTo>
                    <a:pt x="5495598" y="0"/>
                  </a:lnTo>
                  <a:lnTo>
                    <a:pt x="5495598" y="6893814"/>
                  </a:lnTo>
                  <a:lnTo>
                    <a:pt x="0" y="6893814"/>
                  </a:lnTo>
                  <a:close/>
                </a:path>
              </a:pathLst>
            </a:custGeom>
            <a:blipFill>
              <a:blip r:embed="rId7"/>
              <a:stretch>
                <a:fillRect l="0" t="-8519" r="0" b="-30946"/>
              </a:stretch>
            </a:blip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TextBox 28" id="28"/>
          <p:cNvSpPr txBox="true"/>
          <p:nvPr/>
        </p:nvSpPr>
        <p:spPr>
          <a:xfrm rot="0">
            <a:off x="7546269" y="7397686"/>
            <a:ext cx="4121699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Pescador em Pipa hoje (Figura 21)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828735" y="7492936"/>
            <a:ext cx="5650992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Passeios na baía (Figura 20)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Santos (2006): habitar e território usado; Massey (2008).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acervo da pesquisa (2026); Figura 19: divulgação turística em redes sociais.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75360" y="7517892"/>
            <a:ext cx="726948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Vista contemporânea de Pipa (Figura 15)</a:t>
            </a:r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720000">
            <a:off x="16520922" y="140475"/>
            <a:ext cx="1303020" cy="1777651"/>
            <a:chOff x="0" y="0"/>
            <a:chExt cx="1737360" cy="2370201"/>
          </a:xfrm>
        </p:grpSpPr>
        <p:sp>
          <p:nvSpPr>
            <p:cNvPr name="Freeform 4" id="4" descr="/home/claude/deck3/img/d_interrog.png"/>
            <p:cNvSpPr/>
            <p:nvPr/>
          </p:nvSpPr>
          <p:spPr>
            <a:xfrm flipH="false" flipV="false" rot="0">
              <a:off x="0" y="0"/>
              <a:ext cx="1737360" cy="2370201"/>
            </a:xfrm>
            <a:custGeom>
              <a:avLst/>
              <a:gdLst/>
              <a:ahLst/>
              <a:cxnLst/>
              <a:rect r="r" b="b" t="t" l="l"/>
              <a:pathLst>
                <a:path h="2370201" w="1737360">
                  <a:moveTo>
                    <a:pt x="0" y="0"/>
                  </a:moveTo>
                  <a:lnTo>
                    <a:pt x="1737360" y="0"/>
                  </a:lnTo>
                  <a:lnTo>
                    <a:pt x="1737360" y="2370201"/>
                  </a:lnTo>
                  <a:lnTo>
                    <a:pt x="0" y="23702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1" r="0" b="-3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Dimensão material: o que existe na escola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6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34159"/>
            <a:ext cx="5313426" cy="3173730"/>
            <a:chOff x="0" y="0"/>
            <a:chExt cx="7084568" cy="42316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084568" cy="4231640"/>
            </a:xfrm>
            <a:custGeom>
              <a:avLst/>
              <a:gdLst/>
              <a:ahLst/>
              <a:cxnLst/>
              <a:rect r="r" b="b" t="t" l="l"/>
              <a:pathLst>
                <a:path h="423164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231640"/>
                  </a:lnTo>
                  <a:lnTo>
                    <a:pt x="0" y="4231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22960" y="1947672"/>
            <a:ext cx="5294376" cy="3154680"/>
            <a:chOff x="0" y="0"/>
            <a:chExt cx="7059168" cy="4206240"/>
          </a:xfrm>
        </p:grpSpPr>
        <p:sp>
          <p:nvSpPr>
            <p:cNvPr name="Freeform 16" id="16" descr="/home/claude/deck3/img/laboratorio.jpg"/>
            <p:cNvSpPr/>
            <p:nvPr/>
          </p:nvSpPr>
          <p:spPr>
            <a:xfrm flipH="false" flipV="false" rot="0">
              <a:off x="0" y="0"/>
              <a:ext cx="7059168" cy="4206240"/>
            </a:xfrm>
            <a:custGeom>
              <a:avLst/>
              <a:gdLst/>
              <a:ahLst/>
              <a:cxnLst/>
              <a:rect r="r" b="b" t="t" l="l"/>
              <a:pathLst>
                <a:path h="4206240" w="7059168">
                  <a:moveTo>
                    <a:pt x="0" y="0"/>
                  </a:moveTo>
                  <a:lnTo>
                    <a:pt x="7059168" y="0"/>
                  </a:lnTo>
                  <a:lnTo>
                    <a:pt x="7059168" y="4206240"/>
                  </a:lnTo>
                  <a:lnTo>
                    <a:pt x="0" y="4206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5929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811054" y="1935766"/>
            <a:ext cx="5318188" cy="3178492"/>
            <a:chOff x="0" y="0"/>
            <a:chExt cx="7090918" cy="423799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090918" cy="4237990"/>
            </a:xfrm>
            <a:custGeom>
              <a:avLst/>
              <a:gdLst/>
              <a:ahLst/>
              <a:cxnLst/>
              <a:rect r="r" b="b" t="t" l="l"/>
              <a:pathLst>
                <a:path h="423799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237990"/>
                  </a:lnTo>
                  <a:lnTo>
                    <a:pt x="0" y="42379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6682" t="0" r="-26682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822960" y="5239512"/>
            <a:ext cx="5294376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 informática (Figura 25)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6533007" y="2034159"/>
            <a:ext cx="5313426" cy="3173730"/>
            <a:chOff x="0" y="0"/>
            <a:chExt cx="7084568" cy="42316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084568" cy="4231640"/>
            </a:xfrm>
            <a:custGeom>
              <a:avLst/>
              <a:gdLst/>
              <a:ahLst/>
              <a:cxnLst/>
              <a:rect r="r" b="b" t="t" l="l"/>
              <a:pathLst>
                <a:path h="423164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231640"/>
                  </a:lnTo>
                  <a:lnTo>
                    <a:pt x="0" y="4231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6446520" y="1947672"/>
            <a:ext cx="5294376" cy="3154680"/>
            <a:chOff x="0" y="0"/>
            <a:chExt cx="7059168" cy="4206240"/>
          </a:xfrm>
        </p:grpSpPr>
        <p:sp>
          <p:nvSpPr>
            <p:cNvPr name="Freeform 23" id="23" descr="/home/claude/deck3/img/sala_semicirculo.jpg"/>
            <p:cNvSpPr/>
            <p:nvPr/>
          </p:nvSpPr>
          <p:spPr>
            <a:xfrm flipH="false" flipV="false" rot="0">
              <a:off x="0" y="0"/>
              <a:ext cx="7059168" cy="4206240"/>
            </a:xfrm>
            <a:custGeom>
              <a:avLst/>
              <a:gdLst/>
              <a:ahLst/>
              <a:cxnLst/>
              <a:rect r="r" b="b" t="t" l="l"/>
              <a:pathLst>
                <a:path h="4206240" w="7059168">
                  <a:moveTo>
                    <a:pt x="0" y="0"/>
                  </a:moveTo>
                  <a:lnTo>
                    <a:pt x="7059168" y="0"/>
                  </a:lnTo>
                  <a:lnTo>
                    <a:pt x="7059168" y="4206240"/>
                  </a:lnTo>
                  <a:lnTo>
                    <a:pt x="0" y="4206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5929" b="0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434614" y="1935766"/>
            <a:ext cx="5318188" cy="3178492"/>
            <a:chOff x="0" y="0"/>
            <a:chExt cx="7090918" cy="423799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090918" cy="4237990"/>
            </a:xfrm>
            <a:custGeom>
              <a:avLst/>
              <a:gdLst/>
              <a:ahLst/>
              <a:cxnLst/>
              <a:rect r="r" b="b" t="t" l="l"/>
              <a:pathLst>
                <a:path h="423799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237990"/>
                  </a:lnTo>
                  <a:lnTo>
                    <a:pt x="0" y="42379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6682" t="0" r="-26682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6446520" y="5239512"/>
            <a:ext cx="5294376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Sala dos anos iniciais (Figura 34)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2156567" y="2034159"/>
            <a:ext cx="5313426" cy="3173730"/>
            <a:chOff x="0" y="0"/>
            <a:chExt cx="7084568" cy="42316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084568" cy="4231640"/>
            </a:xfrm>
            <a:custGeom>
              <a:avLst/>
              <a:gdLst/>
              <a:ahLst/>
              <a:cxnLst/>
              <a:rect r="r" b="b" t="t" l="l"/>
              <a:pathLst>
                <a:path h="423164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231640"/>
                  </a:lnTo>
                  <a:lnTo>
                    <a:pt x="0" y="4231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12070080" y="1947672"/>
            <a:ext cx="5294376" cy="3154680"/>
            <a:chOff x="0" y="0"/>
            <a:chExt cx="7059168" cy="4206240"/>
          </a:xfrm>
        </p:grpSpPr>
        <p:sp>
          <p:nvSpPr>
            <p:cNvPr name="Freeform 30" id="30" descr="/home/claude/deck3/img/alfabeto.jpg"/>
            <p:cNvSpPr/>
            <p:nvPr/>
          </p:nvSpPr>
          <p:spPr>
            <a:xfrm flipH="false" flipV="false" rot="0">
              <a:off x="0" y="0"/>
              <a:ext cx="7059168" cy="4206240"/>
            </a:xfrm>
            <a:custGeom>
              <a:avLst/>
              <a:gdLst/>
              <a:ahLst/>
              <a:cxnLst/>
              <a:rect r="r" b="b" t="t" l="l"/>
              <a:pathLst>
                <a:path h="4206240" w="7059168">
                  <a:moveTo>
                    <a:pt x="0" y="0"/>
                  </a:moveTo>
                  <a:lnTo>
                    <a:pt x="7059168" y="0"/>
                  </a:lnTo>
                  <a:lnTo>
                    <a:pt x="7059168" y="4206240"/>
                  </a:lnTo>
                  <a:lnTo>
                    <a:pt x="0" y="4206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5929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2058174" y="1935766"/>
            <a:ext cx="5318188" cy="3178492"/>
            <a:chOff x="0" y="0"/>
            <a:chExt cx="7090918" cy="423799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7090918" cy="4237990"/>
            </a:xfrm>
            <a:custGeom>
              <a:avLst/>
              <a:gdLst/>
              <a:ahLst/>
              <a:cxnLst/>
              <a:rect r="r" b="b" t="t" l="l"/>
              <a:pathLst>
                <a:path h="423799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237990"/>
                  </a:lnTo>
                  <a:lnTo>
                    <a:pt x="0" y="42379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6682" t="0" r="-26682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3" id="33"/>
          <p:cNvSpPr txBox="true"/>
          <p:nvPr/>
        </p:nvSpPr>
        <p:spPr>
          <a:xfrm rot="0">
            <a:off x="12070080" y="5239512"/>
            <a:ext cx="5294376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Alfabeto móvel feito à mão (Figura 37)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909447" y="5984367"/>
            <a:ext cx="8056626" cy="1555242"/>
            <a:chOff x="0" y="0"/>
            <a:chExt cx="10742168" cy="207365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742168" cy="2073656"/>
            </a:xfrm>
            <a:custGeom>
              <a:avLst/>
              <a:gdLst/>
              <a:ahLst/>
              <a:cxnLst/>
              <a:rect r="r" b="b" t="t" l="l"/>
              <a:pathLst>
                <a:path h="2073656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811054" y="5885974"/>
            <a:ext cx="8061388" cy="1560004"/>
            <a:chOff x="0" y="0"/>
            <a:chExt cx="10748518" cy="208000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0748518" cy="2080006"/>
            </a:xfrm>
            <a:custGeom>
              <a:avLst/>
              <a:gdLst/>
              <a:ahLst/>
              <a:cxnLst/>
              <a:rect r="r" b="b" t="t" l="l"/>
              <a:pathLst>
                <a:path h="2080006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2080006"/>
                  </a:lnTo>
                  <a:lnTo>
                    <a:pt x="0" y="20800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019175" y="6190107"/>
            <a:ext cx="842010" cy="842010"/>
            <a:chOff x="0" y="0"/>
            <a:chExt cx="1122680" cy="11226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242670" y="6413602"/>
            <a:ext cx="395021" cy="395021"/>
            <a:chOff x="0" y="0"/>
            <a:chExt cx="526694" cy="526694"/>
          </a:xfrm>
        </p:grpSpPr>
        <p:sp>
          <p:nvSpPr>
            <p:cNvPr name="Freeform 41" id="41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-4" b="-4"/>
              </a:stretch>
            </a:blip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2084832" y="5980176"/>
            <a:ext cx="6583680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Laboratório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2084832" y="6456045"/>
            <a:ext cx="658368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Computadores desligados no registro. Origem (Prefeitura, 2022) e registros de uso: informação preliminar, a verificar nos documentos.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9413367" y="5984367"/>
            <a:ext cx="8056626" cy="1555242"/>
            <a:chOff x="0" y="0"/>
            <a:chExt cx="10742168" cy="207365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742168" cy="2073656"/>
            </a:xfrm>
            <a:custGeom>
              <a:avLst/>
              <a:gdLst/>
              <a:ahLst/>
              <a:cxnLst/>
              <a:rect r="r" b="b" t="t" l="l"/>
              <a:pathLst>
                <a:path h="2073656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9314974" y="5885974"/>
            <a:ext cx="8061388" cy="1560004"/>
            <a:chOff x="0" y="0"/>
            <a:chExt cx="10748518" cy="2080006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0748518" cy="2080006"/>
            </a:xfrm>
            <a:custGeom>
              <a:avLst/>
              <a:gdLst/>
              <a:ahLst/>
              <a:cxnLst/>
              <a:rect r="r" b="b" t="t" l="l"/>
              <a:pathLst>
                <a:path h="2080006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2080006"/>
                  </a:lnTo>
                  <a:lnTo>
                    <a:pt x="0" y="20800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9523095" y="6190107"/>
            <a:ext cx="842010" cy="842010"/>
            <a:chOff x="0" y="0"/>
            <a:chExt cx="1122680" cy="112268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9746590" y="6413602"/>
            <a:ext cx="395021" cy="395021"/>
            <a:chOff x="0" y="0"/>
            <a:chExt cx="526694" cy="526694"/>
          </a:xfrm>
        </p:grpSpPr>
        <p:sp>
          <p:nvSpPr>
            <p:cNvPr name="Freeform 51" id="51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-4" b="-4"/>
              </a:stretch>
            </a:blipFill>
          </p:spPr>
        </p:sp>
      </p:grpSp>
      <p:sp>
        <p:nvSpPr>
          <p:cNvPr name="TextBox 52" id="52"/>
          <p:cNvSpPr txBox="true"/>
          <p:nvPr/>
        </p:nvSpPr>
        <p:spPr>
          <a:xfrm rot="0">
            <a:off x="10588752" y="5980176"/>
            <a:ext cx="6583680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Conectividade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0588752" y="6456045"/>
            <a:ext cx="658368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Informação preliminar: duas conexões, uma administrativa (município) e uma educacional (verba anual da PIEC). A verificar nos documentos.</a:t>
            </a:r>
          </a:p>
        </p:txBody>
      </p:sp>
      <p:grpSp>
        <p:nvGrpSpPr>
          <p:cNvPr name="Group 54" id="54"/>
          <p:cNvGrpSpPr/>
          <p:nvPr/>
        </p:nvGrpSpPr>
        <p:grpSpPr>
          <a:xfrm rot="0">
            <a:off x="909447" y="7726299"/>
            <a:ext cx="8056626" cy="1555242"/>
            <a:chOff x="0" y="0"/>
            <a:chExt cx="10742168" cy="2073656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0742168" cy="2073656"/>
            </a:xfrm>
            <a:custGeom>
              <a:avLst/>
              <a:gdLst/>
              <a:ahLst/>
              <a:cxnLst/>
              <a:rect r="r" b="b" t="t" l="l"/>
              <a:pathLst>
                <a:path h="2073656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6" id="56"/>
          <p:cNvGrpSpPr/>
          <p:nvPr/>
        </p:nvGrpSpPr>
        <p:grpSpPr>
          <a:xfrm rot="0">
            <a:off x="811054" y="7627906"/>
            <a:ext cx="8061388" cy="1560004"/>
            <a:chOff x="0" y="0"/>
            <a:chExt cx="10748518" cy="2080006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0748518" cy="2080006"/>
            </a:xfrm>
            <a:custGeom>
              <a:avLst/>
              <a:gdLst/>
              <a:ahLst/>
              <a:cxnLst/>
              <a:rect r="r" b="b" t="t" l="l"/>
              <a:pathLst>
                <a:path h="2080006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2080006"/>
                  </a:lnTo>
                  <a:lnTo>
                    <a:pt x="0" y="20800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1019175" y="7932039"/>
            <a:ext cx="842010" cy="842010"/>
            <a:chOff x="0" y="0"/>
            <a:chExt cx="1122680" cy="112268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0" id="60"/>
          <p:cNvGrpSpPr/>
          <p:nvPr/>
        </p:nvGrpSpPr>
        <p:grpSpPr>
          <a:xfrm rot="0">
            <a:off x="1242670" y="8155534"/>
            <a:ext cx="395021" cy="395021"/>
            <a:chOff x="0" y="0"/>
            <a:chExt cx="526694" cy="526694"/>
          </a:xfrm>
        </p:grpSpPr>
        <p:sp>
          <p:nvSpPr>
            <p:cNvPr name="Freeform 61" id="61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-4" b="-4"/>
              </a:stretch>
            </a:blipFill>
          </p:spPr>
        </p:sp>
      </p:grpSp>
      <p:sp>
        <p:nvSpPr>
          <p:cNvPr name="TextBox 62" id="62"/>
          <p:cNvSpPr txBox="true"/>
          <p:nvPr/>
        </p:nvSpPr>
        <p:spPr>
          <a:xfrm rot="0">
            <a:off x="2084832" y="7722108"/>
            <a:ext cx="6583680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Uso compartilhado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2084832" y="8197977"/>
            <a:ext cx="658368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Informação preliminar: um único kit multimídia (televisão, projetor e notebook) para toda a escola. A verificar nos registros de aquisição.</a:t>
            </a:r>
          </a:p>
        </p:txBody>
      </p:sp>
      <p:grpSp>
        <p:nvGrpSpPr>
          <p:cNvPr name="Group 64" id="64"/>
          <p:cNvGrpSpPr/>
          <p:nvPr/>
        </p:nvGrpSpPr>
        <p:grpSpPr>
          <a:xfrm rot="0">
            <a:off x="9317355" y="7630287"/>
            <a:ext cx="8056626" cy="1555242"/>
            <a:chOff x="0" y="0"/>
            <a:chExt cx="10742168" cy="2073656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0742168" cy="2073656"/>
            </a:xfrm>
            <a:custGeom>
              <a:avLst/>
              <a:gdLst/>
              <a:ahLst/>
              <a:cxnLst/>
              <a:rect r="r" b="b" t="t" l="l"/>
              <a:pathLst>
                <a:path h="2073656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66" id="66"/>
          <p:cNvGrpSpPr/>
          <p:nvPr/>
        </p:nvGrpSpPr>
        <p:grpSpPr>
          <a:xfrm rot="0">
            <a:off x="9523095" y="7932039"/>
            <a:ext cx="842010" cy="842010"/>
            <a:chOff x="0" y="0"/>
            <a:chExt cx="1122680" cy="112268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9746590" y="8155534"/>
            <a:ext cx="395021" cy="395021"/>
            <a:chOff x="0" y="0"/>
            <a:chExt cx="526694" cy="526694"/>
          </a:xfrm>
        </p:grpSpPr>
        <p:sp>
          <p:nvSpPr>
            <p:cNvPr name="Freeform 69" id="69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-4" b="-4"/>
              </a:stretch>
            </a:blipFill>
          </p:spPr>
        </p:sp>
      </p:grpSp>
      <p:sp>
        <p:nvSpPr>
          <p:cNvPr name="TextBox 70" id="70"/>
          <p:cNvSpPr txBox="true"/>
          <p:nvPr/>
        </p:nvSpPr>
        <p:spPr>
          <a:xfrm rot="0">
            <a:off x="10588752" y="7722108"/>
            <a:ext cx="6583680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Salas de 1º e 2º anos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0588752" y="8197977"/>
            <a:ext cx="658368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Nenhum dispositivo digital. Predominam recursos impressos e artesanais.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Ball, Maguire e Braun (2016): dimensão material; Valente (1999): instalar computadores sem preparo não traz os benefícios esperados.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acervo da pesquisa (2026); informações preliminares, a verificar na análise documental.</a:t>
            </a:r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600000">
            <a:off x="16894683" y="-301752"/>
            <a:ext cx="1577340" cy="1760420"/>
            <a:chOff x="0" y="0"/>
            <a:chExt cx="2103120" cy="2347227"/>
          </a:xfrm>
        </p:grpSpPr>
        <p:sp>
          <p:nvSpPr>
            <p:cNvPr name="Freeform 4" id="4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1" t="0" r="-11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5361920" cy="1303020"/>
            <a:chOff x="0" y="0"/>
            <a:chExt cx="20482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482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20482561">
                  <a:moveTo>
                    <a:pt x="0" y="0"/>
                  </a:moveTo>
                  <a:lnTo>
                    <a:pt x="20482561" y="0"/>
                  </a:lnTo>
                  <a:lnTo>
                    <a:pt x="20482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9718" r="0" b="-17971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20482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Onde estamos e o que falta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13435" y="2116455"/>
            <a:ext cx="1692402" cy="2241042"/>
            <a:chOff x="0" y="0"/>
            <a:chExt cx="2256536" cy="29880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26464" y="2276856"/>
            <a:ext cx="466344" cy="466344"/>
            <a:chOff x="0" y="0"/>
            <a:chExt cx="621792" cy="621792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05256" y="2811780"/>
            <a:ext cx="1508760" cy="987552"/>
            <a:chOff x="0" y="0"/>
            <a:chExt cx="2011680" cy="13167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01168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980" t="0" r="-33980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2011680" cy="13167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Revisão sistemática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905256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Cap. 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2596515" y="2116455"/>
            <a:ext cx="1692402" cy="2241042"/>
            <a:chOff x="0" y="0"/>
            <a:chExt cx="2256536" cy="298805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3209544" y="2276856"/>
            <a:ext cx="466344" cy="466344"/>
            <a:chOff x="0" y="0"/>
            <a:chExt cx="621792" cy="621792"/>
          </a:xfrm>
        </p:grpSpPr>
        <p:sp>
          <p:nvSpPr>
            <p:cNvPr name="Freeform 19" id="19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2688336" y="2811780"/>
            <a:ext cx="1508760" cy="987552"/>
            <a:chOff x="0" y="0"/>
            <a:chExt cx="2011680" cy="131673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01168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980" t="0" r="-33980" b="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2011680" cy="13167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Metodologia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2688336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Cap. 4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4379595" y="2116455"/>
            <a:ext cx="1692402" cy="2241042"/>
            <a:chOff x="0" y="0"/>
            <a:chExt cx="2256536" cy="298805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4992624" y="2276856"/>
            <a:ext cx="466344" cy="466344"/>
            <a:chOff x="0" y="0"/>
            <a:chExt cx="621792" cy="621792"/>
          </a:xfrm>
        </p:grpSpPr>
        <p:sp>
          <p:nvSpPr>
            <p:cNvPr name="Freeform 27" id="27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4471416" y="2811780"/>
            <a:ext cx="1508760" cy="987552"/>
            <a:chOff x="0" y="0"/>
            <a:chExt cx="2011680" cy="131673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01168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980" t="0" r="-3398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2011680" cy="13167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Texto da política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4471416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Cap. 5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6162675" y="2116455"/>
            <a:ext cx="1692402" cy="2241042"/>
            <a:chOff x="0" y="0"/>
            <a:chExt cx="2256536" cy="298805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6775704" y="2276856"/>
            <a:ext cx="466344" cy="466344"/>
            <a:chOff x="0" y="0"/>
            <a:chExt cx="621792" cy="621792"/>
          </a:xfrm>
        </p:grpSpPr>
        <p:sp>
          <p:nvSpPr>
            <p:cNvPr name="Freeform 35" id="35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6254496" y="2811780"/>
            <a:ext cx="1508760" cy="987552"/>
            <a:chOff x="0" y="0"/>
            <a:chExt cx="2011680" cy="131673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01168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980" t="0" r="-33980" b="0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0"/>
              <a:ext cx="2011680" cy="13167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Território e escola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6254496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Cap. 6, em parte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8041767" y="2212467"/>
            <a:ext cx="1692402" cy="2241042"/>
            <a:chOff x="0" y="0"/>
            <a:chExt cx="2256536" cy="2988056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7943374" y="2114074"/>
            <a:ext cx="1697164" cy="2245804"/>
            <a:chOff x="0" y="0"/>
            <a:chExt cx="2262886" cy="2994406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262886" cy="2994406"/>
            </a:xfrm>
            <a:custGeom>
              <a:avLst/>
              <a:gdLst/>
              <a:ahLst/>
              <a:cxnLst/>
              <a:rect r="r" b="b" t="t" l="l"/>
              <a:pathLst>
                <a:path h="2994406" w="2262886">
                  <a:moveTo>
                    <a:pt x="0" y="0"/>
                  </a:moveTo>
                  <a:lnTo>
                    <a:pt x="2262886" y="0"/>
                  </a:lnTo>
                  <a:lnTo>
                    <a:pt x="2262886" y="2994406"/>
                  </a:lnTo>
                  <a:lnTo>
                    <a:pt x="0" y="29944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8037576" y="2331720"/>
            <a:ext cx="1508760" cy="1234440"/>
            <a:chOff x="0" y="0"/>
            <a:chExt cx="2011680" cy="16459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01168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4975" t="0" r="-54975" b="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0"/>
              <a:ext cx="2011680" cy="1645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Cultura e cibercultura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8055483" y="3721227"/>
            <a:ext cx="1472946" cy="485394"/>
            <a:chOff x="0" y="0"/>
            <a:chExt cx="1963928" cy="647192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963928" cy="647192"/>
            </a:xfrm>
            <a:custGeom>
              <a:avLst/>
              <a:gdLst/>
              <a:ahLst/>
              <a:cxnLst/>
              <a:rect r="r" b="b" t="t" l="l"/>
              <a:pathLst>
                <a:path h="647192" w="1963928">
                  <a:moveTo>
                    <a:pt x="0" y="0"/>
                  </a:moveTo>
                  <a:lnTo>
                    <a:pt x="1963928" y="0"/>
                  </a:lnTo>
                  <a:lnTo>
                    <a:pt x="1963928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8065008" y="3730752"/>
            <a:ext cx="1453896" cy="466344"/>
            <a:chOff x="0" y="0"/>
            <a:chExt cx="1938528" cy="621792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938528" cy="621792"/>
            </a:xfrm>
            <a:custGeom>
              <a:avLst/>
              <a:gdLst/>
              <a:ahLst/>
              <a:cxnLst/>
              <a:rect r="r" b="b" t="t" l="l"/>
              <a:pathLst>
                <a:path h="621792" w="1938528">
                  <a:moveTo>
                    <a:pt x="0" y="0"/>
                  </a:moveTo>
                  <a:lnTo>
                    <a:pt x="1938528" y="0"/>
                  </a:lnTo>
                  <a:lnTo>
                    <a:pt x="193852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747" r="0" b="-10747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9525"/>
              <a:ext cx="1938528" cy="6313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30"/>
                </a:lnSpc>
              </a:pPr>
              <a:r>
                <a:rPr lang="en-US" sz="1275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3 · em construção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9687687" y="1842135"/>
            <a:ext cx="430530" cy="2830830"/>
            <a:chOff x="0" y="0"/>
            <a:chExt cx="574040" cy="37744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74040" cy="3774440"/>
            </a:xfrm>
            <a:custGeom>
              <a:avLst/>
              <a:gdLst/>
              <a:ahLst/>
              <a:cxnLst/>
              <a:rect r="r" b="b" t="t" l="l"/>
              <a:pathLst>
                <a:path h="3774440" w="574040">
                  <a:moveTo>
                    <a:pt x="0" y="0"/>
                  </a:moveTo>
                  <a:lnTo>
                    <a:pt x="574040" y="0"/>
                  </a:lnTo>
                  <a:lnTo>
                    <a:pt x="574040" y="3774440"/>
                  </a:lnTo>
                  <a:lnTo>
                    <a:pt x="0" y="3774440"/>
                  </a:ln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54" id="54"/>
          <p:cNvSpPr txBox="true"/>
          <p:nvPr/>
        </p:nvSpPr>
        <p:spPr>
          <a:xfrm rot="0">
            <a:off x="9217152" y="4732020"/>
            <a:ext cx="137160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HOJE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10258996" y="2111692"/>
            <a:ext cx="1701927" cy="2250567"/>
            <a:chOff x="0" y="0"/>
            <a:chExt cx="2269236" cy="3000756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269236" cy="3000756"/>
            </a:xfrm>
            <a:custGeom>
              <a:avLst/>
              <a:gdLst/>
              <a:ahLst/>
              <a:cxnLst/>
              <a:rect r="r" b="b" t="t" l="l"/>
              <a:pathLst>
                <a:path h="3000756" w="2269236">
                  <a:moveTo>
                    <a:pt x="0" y="0"/>
                  </a:moveTo>
                  <a:lnTo>
                    <a:pt x="2269236" y="0"/>
                  </a:lnTo>
                  <a:lnTo>
                    <a:pt x="2269236" y="3000756"/>
                  </a:lnTo>
                  <a:lnTo>
                    <a:pt x="0" y="30007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664" t="0" r="-119664" b="0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10355580" y="2331720"/>
            <a:ext cx="1508760" cy="1440180"/>
            <a:chOff x="0" y="0"/>
            <a:chExt cx="2011680" cy="19202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0116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2471" t="0" r="-72471" b="0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0"/>
              <a:ext cx="2011680" cy="1920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Emenda aprovada pelo CEP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2042076" y="2111692"/>
            <a:ext cx="1701927" cy="2250567"/>
            <a:chOff x="0" y="0"/>
            <a:chExt cx="2269236" cy="3000756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269236" cy="3000756"/>
            </a:xfrm>
            <a:custGeom>
              <a:avLst/>
              <a:gdLst/>
              <a:ahLst/>
              <a:cxnLst/>
              <a:rect r="r" b="b" t="t" l="l"/>
              <a:pathLst>
                <a:path h="3000756" w="2269236">
                  <a:moveTo>
                    <a:pt x="0" y="0"/>
                  </a:moveTo>
                  <a:lnTo>
                    <a:pt x="2269236" y="0"/>
                  </a:lnTo>
                  <a:lnTo>
                    <a:pt x="2269236" y="3000756"/>
                  </a:lnTo>
                  <a:lnTo>
                    <a:pt x="0" y="30007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664" t="0" r="-119664" b="0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2138660" y="2331720"/>
            <a:ext cx="1508760" cy="1440180"/>
            <a:chOff x="0" y="0"/>
            <a:chExt cx="2011680" cy="192024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20116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2471" t="0" r="-72471" b="0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0"/>
              <a:ext cx="2011680" cy="1920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Questionários e entrevistas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3825156" y="2111692"/>
            <a:ext cx="1701927" cy="2250567"/>
            <a:chOff x="0" y="0"/>
            <a:chExt cx="2269236" cy="3000756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2269236" cy="3000756"/>
            </a:xfrm>
            <a:custGeom>
              <a:avLst/>
              <a:gdLst/>
              <a:ahLst/>
              <a:cxnLst/>
              <a:rect r="r" b="b" t="t" l="l"/>
              <a:pathLst>
                <a:path h="3000756" w="2269236">
                  <a:moveTo>
                    <a:pt x="0" y="0"/>
                  </a:moveTo>
                  <a:lnTo>
                    <a:pt x="2269236" y="0"/>
                  </a:lnTo>
                  <a:lnTo>
                    <a:pt x="2269236" y="3000756"/>
                  </a:lnTo>
                  <a:lnTo>
                    <a:pt x="0" y="30007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664" t="0" r="-119664" b="0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3921740" y="2331720"/>
            <a:ext cx="1508760" cy="1440180"/>
            <a:chOff x="0" y="0"/>
            <a:chExt cx="2011680" cy="192024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0116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2471" t="0" r="-72471" b="0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0"/>
              <a:ext cx="2011680" cy="1920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Análise no ATLAS.ti</a:t>
              </a:r>
            </a:p>
          </p:txBody>
        </p:sp>
      </p:grpSp>
      <p:sp>
        <p:nvSpPr>
          <p:cNvPr name="TextBox 70" id="70"/>
          <p:cNvSpPr txBox="true"/>
          <p:nvPr/>
        </p:nvSpPr>
        <p:spPr>
          <a:xfrm rot="0">
            <a:off x="13921740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Cap. 7</a:t>
            </a:r>
          </a:p>
        </p:txBody>
      </p:sp>
      <p:grpSp>
        <p:nvGrpSpPr>
          <p:cNvPr name="Group 71" id="71"/>
          <p:cNvGrpSpPr/>
          <p:nvPr/>
        </p:nvGrpSpPr>
        <p:grpSpPr>
          <a:xfrm rot="0">
            <a:off x="15608237" y="2111692"/>
            <a:ext cx="1701927" cy="2250567"/>
            <a:chOff x="0" y="0"/>
            <a:chExt cx="2269236" cy="3000756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269236" cy="3000756"/>
            </a:xfrm>
            <a:custGeom>
              <a:avLst/>
              <a:gdLst/>
              <a:ahLst/>
              <a:cxnLst/>
              <a:rect r="r" b="b" t="t" l="l"/>
              <a:pathLst>
                <a:path h="3000756" w="2269236">
                  <a:moveTo>
                    <a:pt x="0" y="0"/>
                  </a:moveTo>
                  <a:lnTo>
                    <a:pt x="2269236" y="0"/>
                  </a:lnTo>
                  <a:lnTo>
                    <a:pt x="2269236" y="3000756"/>
                  </a:lnTo>
                  <a:lnTo>
                    <a:pt x="0" y="30007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664" t="0" r="-119664" b="0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73" id="73"/>
          <p:cNvGrpSpPr/>
          <p:nvPr/>
        </p:nvGrpSpPr>
        <p:grpSpPr>
          <a:xfrm rot="0">
            <a:off x="15704820" y="2331720"/>
            <a:ext cx="1508760" cy="1440180"/>
            <a:chOff x="0" y="0"/>
            <a:chExt cx="2011680" cy="192024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20116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2471" t="0" r="-72471" b="0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0"/>
              <a:ext cx="2011680" cy="1920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Considerações e devolutiva</a:t>
              </a:r>
            </a:p>
          </p:txBody>
        </p:sp>
      </p:grpSp>
      <p:sp>
        <p:nvSpPr>
          <p:cNvPr name="TextBox 76" id="76"/>
          <p:cNvSpPr txBox="true"/>
          <p:nvPr/>
        </p:nvSpPr>
        <p:spPr>
          <a:xfrm rot="0">
            <a:off x="15704820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Cap. 8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909447" y="5504307"/>
            <a:ext cx="16560546" cy="3859530"/>
            <a:chOff x="0" y="0"/>
            <a:chExt cx="22080728" cy="514604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22080728" cy="5146040"/>
            </a:xfrm>
            <a:custGeom>
              <a:avLst/>
              <a:gdLst/>
              <a:ahLst/>
              <a:cxnLst/>
              <a:rect r="r" b="b" t="t" l="l"/>
              <a:pathLst>
                <a:path h="5146040" w="22080728">
                  <a:moveTo>
                    <a:pt x="0" y="0"/>
                  </a:moveTo>
                  <a:lnTo>
                    <a:pt x="22080728" y="0"/>
                  </a:lnTo>
                  <a:lnTo>
                    <a:pt x="22080728" y="5146040"/>
                  </a:lnTo>
                  <a:lnTo>
                    <a:pt x="0" y="51460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811054" y="5405914"/>
            <a:ext cx="16565308" cy="3864292"/>
            <a:chOff x="0" y="0"/>
            <a:chExt cx="22087078" cy="515239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22087078" cy="5152390"/>
            </a:xfrm>
            <a:custGeom>
              <a:avLst/>
              <a:gdLst/>
              <a:ahLst/>
              <a:cxnLst/>
              <a:rect r="r" b="b" t="t" l="l"/>
              <a:pathLst>
                <a:path h="5152390" w="22087078">
                  <a:moveTo>
                    <a:pt x="0" y="0"/>
                  </a:moveTo>
                  <a:lnTo>
                    <a:pt x="22087078" y="0"/>
                  </a:lnTo>
                  <a:lnTo>
                    <a:pt x="22087078" y="5152390"/>
                  </a:lnTo>
                  <a:lnTo>
                    <a:pt x="0" y="51523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81" id="81"/>
          <p:cNvSpPr txBox="true"/>
          <p:nvPr/>
        </p:nvSpPr>
        <p:spPr>
          <a:xfrm rot="0">
            <a:off x="1165860" y="5554980"/>
            <a:ext cx="822960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Pendências antes do campo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1165860" y="6154293"/>
            <a:ext cx="7749540" cy="1790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Emenda ao CEP com os novos instrumentos (questionário e roteiro)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Critérios de exame da hipótese, datados e assinados antes da 1ª entrevista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Análise documental, ainda não feita: aquisição, conectividade e cadernos de uso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Aquisição do laboratório (2022), kit multimídia e manutenção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Documentos pedagógicos e registros de formação da Secretaria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9326880" y="6154293"/>
            <a:ext cx="7749540" cy="3007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Plano de aplicação e prestação de contas da PIEC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Respostas da escola ao Censo Escolar (microdados do INEP)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Receita e gasto em educação de Tibau do Sul (Siconfi/Finbra)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Testes de velocidade da conexão nas salas de 1º e 2º anos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Capítulo 3 em construção; marcadores do Cap. 6, turmas do 3º ao 5º ano e páginas dos livros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Yin (2001): estudo de caso com múltiplas fontes; Resoluções CNS nº 466/2012 e nº 510/2016: tramitação ética.</a:t>
            </a:r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6858000" cy="10287000"/>
            <a:chOff x="0" y="0"/>
            <a:chExt cx="9144000" cy="13716000"/>
          </a:xfrm>
        </p:grpSpPr>
        <p:sp>
          <p:nvSpPr>
            <p:cNvPr name="Freeform 4" id="4" descr="/home/claude/deck3/img/alfabeto.jpg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166666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-9525" y="9701403"/>
            <a:ext cx="6877050" cy="595122"/>
            <a:chOff x="0" y="0"/>
            <a:chExt cx="9169400" cy="79349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169400" cy="793496"/>
            </a:xfrm>
            <a:custGeom>
              <a:avLst/>
              <a:gdLst/>
              <a:ahLst/>
              <a:cxnLst/>
              <a:rect r="r" b="b" t="t" l="l"/>
              <a:pathLst>
                <a:path h="793496" w="9169400">
                  <a:moveTo>
                    <a:pt x="0" y="0"/>
                  </a:moveTo>
                  <a:lnTo>
                    <a:pt x="9169400" y="0"/>
                  </a:lnTo>
                  <a:lnTo>
                    <a:pt x="9169400" y="793496"/>
                  </a:lnTo>
                  <a:lnTo>
                    <a:pt x="0" y="793496"/>
                  </a:lnTo>
                  <a:close/>
                </a:path>
              </a:pathLst>
            </a:custGeom>
            <a:solidFill>
              <a:srgbClr val="141414">
                <a:alpha val="41961"/>
              </a:srgbClr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205740" y="9738360"/>
            <a:ext cx="6515100" cy="521208"/>
            <a:chOff x="0" y="0"/>
            <a:chExt cx="8686800" cy="69494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686800" cy="694944"/>
            </a:xfrm>
            <a:custGeom>
              <a:avLst/>
              <a:gdLst/>
              <a:ahLst/>
              <a:cxnLst/>
              <a:rect r="r" b="b" t="t" l="l"/>
              <a:pathLst>
                <a:path h="694944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93562" r="0" b="-193562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8686800" cy="7044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Alfabeto móvel feito à mão (Figura 37). Fonte: acervo da pesquisa (2026).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720000">
            <a:off x="15704820" y="-480060"/>
            <a:ext cx="2880360" cy="2035588"/>
            <a:chOff x="0" y="0"/>
            <a:chExt cx="3840480" cy="2714117"/>
          </a:xfrm>
        </p:grpSpPr>
        <p:sp>
          <p:nvSpPr>
            <p:cNvPr name="Freeform 11" id="11" descr="/home/claude/deck3/img/d_nuvem.png"/>
            <p:cNvSpPr/>
            <p:nvPr/>
          </p:nvSpPr>
          <p:spPr>
            <a:xfrm flipH="false" flipV="false" rot="0">
              <a:off x="0" y="0"/>
              <a:ext cx="3840480" cy="2714117"/>
            </a:xfrm>
            <a:custGeom>
              <a:avLst/>
              <a:gdLst/>
              <a:ahLst/>
              <a:cxnLst/>
              <a:rect r="r" b="b" t="t" l="l"/>
              <a:pathLst>
                <a:path h="2714117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2714117"/>
                  </a:lnTo>
                  <a:lnTo>
                    <a:pt x="0" y="27141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8" t="0" r="-8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7612380" y="617220"/>
            <a:ext cx="8229600" cy="1097280"/>
            <a:chOff x="0" y="0"/>
            <a:chExt cx="10972800" cy="14630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9728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6137" r="0" b="-96137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10972800" cy="14725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sz="51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QUESTÃO ABERTA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7602855" y="1979295"/>
            <a:ext cx="9894570" cy="4956810"/>
            <a:chOff x="0" y="0"/>
            <a:chExt cx="13192760" cy="66090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3192761" cy="6609080"/>
            </a:xfrm>
            <a:custGeom>
              <a:avLst/>
              <a:gdLst/>
              <a:ahLst/>
              <a:cxnLst/>
              <a:rect r="r" b="b" t="t" l="l"/>
              <a:pathLst>
                <a:path h="6609080" w="13192761">
                  <a:moveTo>
                    <a:pt x="0" y="0"/>
                  </a:moveTo>
                  <a:lnTo>
                    <a:pt x="13192761" y="0"/>
                  </a:lnTo>
                  <a:lnTo>
                    <a:pt x="13192761" y="6609080"/>
                  </a:lnTo>
                  <a:lnTo>
                    <a:pt x="0" y="6609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8023860" y="2194560"/>
            <a:ext cx="9121140" cy="1577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política fez da educação digital um direito e deixou os meios na dependência de cada ente federado. A literatura sabe que os recursos faltam. A pergunta de fundo, que só as narrativas podem responder, é: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023860" y="3771900"/>
            <a:ext cx="9121140" cy="2194560"/>
            <a:chOff x="0" y="0"/>
            <a:chExt cx="12161520" cy="29260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2161520" cy="2926080"/>
            </a:xfrm>
            <a:custGeom>
              <a:avLst/>
              <a:gdLst/>
              <a:ahLst/>
              <a:cxnLst/>
              <a:rect r="r" b="b" t="t" l="l"/>
              <a:pathLst>
                <a:path h="2926080" w="12161520">
                  <a:moveTo>
                    <a:pt x="0" y="0"/>
                  </a:moveTo>
                  <a:lnTo>
                    <a:pt x="12161520" y="0"/>
                  </a:lnTo>
                  <a:lnTo>
                    <a:pt x="12161520" y="2926080"/>
                  </a:lnTo>
                  <a:lnTo>
                    <a:pt x="0" y="29260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0984" r="0" b="-3098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2161520" cy="29260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779"/>
                </a:lnSpc>
              </a:pPr>
              <a:r>
                <a:rPr lang="en-US" b="true" sz="3150" i="true">
                  <a:solidFill>
                    <a:srgbClr val="1A1A1A"/>
                  </a:solidFill>
                  <a:latin typeface="Canva Sans Bold Italics"/>
                  <a:ea typeface="Canva Sans Bold Italics"/>
                  <a:cs typeface="Canva Sans Bold Italics"/>
                  <a:sym typeface="Canva Sans Bold Italics"/>
                </a:rPr>
                <a:t>Quando a política não faz chegar o equipamento nem a formação, quem paga, no silêncio do cotidiano escolar, o preço dessa ausência?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8023860" y="6025515"/>
            <a:ext cx="9121140" cy="763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b="true" sz="2025" i="true">
                <a:solidFill>
                  <a:srgbClr val="3942B5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E o que isso significa para os direitos que a lei prometeu às crianças?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7612380" y="7338060"/>
            <a:ext cx="7680960" cy="1097280"/>
            <a:chOff x="0" y="0"/>
            <a:chExt cx="10241280" cy="14630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24128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6395" r="0" b="-86395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9525"/>
              <a:ext cx="10241280" cy="14535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MUITO OBRIGADA!</a:t>
              </a: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7612380" y="8494395"/>
            <a:ext cx="768096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Ma. Yzynya Silva Rezende Machado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Orientadora: Dra. Maria Cristina Leandro de Paiva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5567660" y="7338060"/>
            <a:ext cx="2331720" cy="2496483"/>
            <a:chOff x="0" y="0"/>
            <a:chExt cx="3108960" cy="3328645"/>
          </a:xfrm>
        </p:grpSpPr>
        <p:sp>
          <p:nvSpPr>
            <p:cNvPr name="Freeform 27" id="27" descr="/home/claude/deck3/img/d_joinha.png"/>
            <p:cNvSpPr/>
            <p:nvPr/>
          </p:nvSpPr>
          <p:spPr>
            <a:xfrm flipH="false" flipV="false" rot="0">
              <a:off x="0" y="0"/>
              <a:ext cx="3108960" cy="3328670"/>
            </a:xfrm>
            <a:custGeom>
              <a:avLst/>
              <a:gdLst/>
              <a:ahLst/>
              <a:cxnLst/>
              <a:rect r="r" b="b" t="t" l="l"/>
              <a:pathLst>
                <a:path h="332867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3328670"/>
                  </a:lnTo>
                  <a:lnTo>
                    <a:pt x="0" y="3328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3" t="0" r="-14" b="0"/>
              </a:stretch>
            </a:blipFill>
          </p:spPr>
        </p:sp>
      </p:grp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480000">
            <a:off x="17007840" y="-301752"/>
            <a:ext cx="1371600" cy="1767526"/>
            <a:chOff x="0" y="0"/>
            <a:chExt cx="1828800" cy="2356701"/>
          </a:xfrm>
        </p:grpSpPr>
        <p:sp>
          <p:nvSpPr>
            <p:cNvPr name="Freeform 4" id="4" descr="/home/claude/deck3/img/d_globo.png"/>
            <p:cNvSpPr/>
            <p:nvPr/>
          </p:nvSpPr>
          <p:spPr>
            <a:xfrm flipH="false" flipV="false" rot="0">
              <a:off x="0" y="0"/>
              <a:ext cx="1828800" cy="2356739"/>
            </a:xfrm>
            <a:custGeom>
              <a:avLst/>
              <a:gdLst/>
              <a:ahLst/>
              <a:cxnLst/>
              <a:rect r="r" b="b" t="t" l="l"/>
              <a:pathLst>
                <a:path h="2356739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2356739"/>
                  </a:lnTo>
                  <a:lnTo>
                    <a:pt x="0" y="23567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2" t="0" r="-22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5361920" cy="1303020"/>
            <a:chOff x="0" y="0"/>
            <a:chExt cx="20482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482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20482561">
                  <a:moveTo>
                    <a:pt x="0" y="0"/>
                  </a:moveTo>
                  <a:lnTo>
                    <a:pt x="20482561" y="0"/>
                  </a:lnTo>
                  <a:lnTo>
                    <a:pt x="20482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9718" r="0" b="-17971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20482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Referências principais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9447" y="1938147"/>
            <a:ext cx="16560546" cy="7494270"/>
            <a:chOff x="0" y="0"/>
            <a:chExt cx="22080728" cy="99923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080728" cy="9992360"/>
            </a:xfrm>
            <a:custGeom>
              <a:avLst/>
              <a:gdLst/>
              <a:ahLst/>
              <a:cxnLst/>
              <a:rect r="r" b="b" t="t" l="l"/>
              <a:pathLst>
                <a:path h="9992360" w="22080728">
                  <a:moveTo>
                    <a:pt x="0" y="0"/>
                  </a:moveTo>
                  <a:lnTo>
                    <a:pt x="22080728" y="0"/>
                  </a:lnTo>
                  <a:lnTo>
                    <a:pt x="22080728" y="9992360"/>
                  </a:lnTo>
                  <a:lnTo>
                    <a:pt x="0" y="99923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811054" y="1839754"/>
            <a:ext cx="16565308" cy="7499032"/>
            <a:chOff x="0" y="0"/>
            <a:chExt cx="22087078" cy="999871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87078" cy="9998710"/>
            </a:xfrm>
            <a:custGeom>
              <a:avLst/>
              <a:gdLst/>
              <a:ahLst/>
              <a:cxnLst/>
              <a:rect r="r" b="b" t="t" l="l"/>
              <a:pathLst>
                <a:path h="9998710" w="22087078">
                  <a:moveTo>
                    <a:pt x="0" y="0"/>
                  </a:moveTo>
                  <a:lnTo>
                    <a:pt x="22087078" y="0"/>
                  </a:lnTo>
                  <a:lnTo>
                    <a:pt x="22087078" y="9998710"/>
                  </a:lnTo>
                  <a:lnTo>
                    <a:pt x="0" y="999871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1165860" y="2057400"/>
            <a:ext cx="7680960" cy="5953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BALL, Stephen J. Reformar escolas/reformar professores e os terrores da performatividade.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Revista Portuguesa de Educação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Braga, v. 15, n. 2, p. 3-23, 2002.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BALL, Stephen J. Performatividade, privatização e o pós-Estado do bem-estar.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25, n. 89, p. 1105-1126, 2004.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BALL, Stephen J.; MAGUIRE, Meg; BRAUN, Annette.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as escolas fazem as políticas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atuação em escolas secundárias. Ponta Grossa: Editora UEPG, 2016.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BOWE, Richard; BALL, Stephen J.; GOLD, Anne.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Reforming education and changing schools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case studies in policy sociology. London: Routledge, 1992.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BRASIL.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14.533, de 11 de janeiro de 2023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. Institui a Política Nacional de Educação Digital. Diário Oficial da União: Brasília, DF, 12 jan. 2023.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BRAUN, Virginia; CLARKE, Victoria. Using thematic analysis in psychology.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Psychology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v. 3, n. 2, p. 77-101, 2006.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BRAUN, Virginia; CLARKE, Victoria. Reflecting on reflexive thematic analysis.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Sport, Exercise and Health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v. 11, n. 4, p. 589-597, 2019.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BUCKINGHAM, David.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Crescer na era das mídias eletrônicas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. São Paulo: Loyola, 2007.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FREIRE, Paulo.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Pedagogia da autonomia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saberes necessários à prática educativa. 60. ed. Rio de Janeiro: Paz e Terra, 2019.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210558" y="1938147"/>
            <a:ext cx="7680960" cy="6667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HARGREAVES, Andy.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Profesorado, cultura y postmodernidad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cambian los tiempos, cambia el profesorado. 5. ed. Madrid: Morata, 2005.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MAINARDES, Jefferson. Abordagem do ciclo de políticas: uma contribuição para a análise de políticas educacionais.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27, n. 94, p. 47-69, 2006.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MASSEY, Doreen.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Pelo espaço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uma nova política da espacialidade. Rio de Janeiro: Bertrand Brasil, 2008.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MOROZOV, Evgeny.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Big Tech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a ascensão dos dados e a morte da política. São Paulo: Ubu Editora, 2018.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ONU. Comitê dos Direitos da Criança.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Comentário Geral nº 25 (2021) sobre os direitos das crianças em relação ao ambiente digital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. CRC/C/GC/25. Genebra: ONU, 2021.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SANTOS, Milton. O território e o saber local: algumas categorias de análise.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Cadernos IPPUR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Rio de Janeiro, ano 13, n. 2, p. 15-26, 1999.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SANTOS, Milton.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natureza do espaço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técnica e tempo, razão e emoção. 4. ed. São Paulo: Edusp, 2006.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YIN, Robert K.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planejamento e métodos. 2. ed. Porto Alegre: Bookman, 2001.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ZUBOFF, Shoshana.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era do capitalismo de vigilância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a luta por um futuro humano na nova fronteira do poder. Rio de Janeiro: Intrínseca, 2021.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DAHWhr1U9Ck</dc:identifier>
  <dcterms:modified xsi:type="dcterms:W3CDTF">2011-08-01T06:04:30Z</dcterms:modified>
  <cp:revision>1</cp:revision>
  <dc:title>Seminário.pptx</dc:title>
</cp:coreProperties>
</file>