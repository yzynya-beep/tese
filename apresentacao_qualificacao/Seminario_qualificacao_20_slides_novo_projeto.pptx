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21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32.xml"/>
  <Override ContentType="application/vnd.openxmlformats-officedocument.presentationml.slide+xml" PartName="/ppt/slides/slide36.xml"/>
  <Override ContentType="application/vnd.openxmlformats-officedocument.presentationml.slide+xml" PartName="/ppt/slides/slide38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2"/>
  </p:notesMasterIdLst>
  <p:sldIdLst>
    <p:sldId id="256" r:id="rId6"/>
    <p:sldId id="257" r:id="rId7"/>
    <p:sldId id="258" r:id="rId8"/>
    <p:sldId id="262" r:id="rId12"/>
    <p:sldId id="263" r:id="rId13"/>
    <p:sldId id="266" r:id="rId16"/>
    <p:sldId id="271" r:id="rId21"/>
    <p:sldId id="267" r:id="rId17"/>
    <p:sldId id="268" r:id="rId18"/>
    <p:sldId id="276" r:id="rId26"/>
    <p:sldId id="278" r:id="rId28"/>
    <p:sldId id="279" r:id="rId29"/>
    <p:sldId id="272" r:id="rId22"/>
    <p:sldId id="282" r:id="rId32"/>
    <p:sldId id="287" r:id="rId37"/>
    <p:sldId id="291" r:id="rId41"/>
    <p:sldId id="293" r:id="rId43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Canva Sans Bold" charset="1" panose="020B0803030501040103"/>
      <p:regular r:id="rId50"/>
    </p:embeddedFont>
    <p:embeddedFont>
      <p:font typeface="Canva Sans" charset="1" panose="020B0503030501040103"/>
      <p:regular r:id="rId51"/>
    </p:embeddedFont>
    <p:embeddedFont>
      <p:font typeface="Canva Sans Italics" charset="1" panose="020B0503030501040103"/>
      <p:regular r:id="rId55"/>
    </p:embeddedFont>
    <p:embeddedFont>
      <p:font typeface="Canva Sans Bold Italics" charset="1" panose="020B0803030501040103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6" Target="slides/slide21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7" Target="slides/slide32.xml" Type="http://schemas.openxmlformats.org/officeDocument/2006/relationships/slide"/><Relationship Id="rId4" Target="theme/theme1.xml" Type="http://schemas.openxmlformats.org/officeDocument/2006/relationships/theme"/><Relationship Id="rId41" Target="slides/slide36.xml" Type="http://schemas.openxmlformats.org/officeDocument/2006/relationships/slide"/><Relationship Id="rId43" Target="slides/slide38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notesMasters/notesMaster1.xml" Type="http://schemas.openxmlformats.org/officeDocument/2006/relationships/notesMaster"/><Relationship Id="rId53" Target="theme/theme2.xml" Type="http://schemas.openxmlformats.org/officeDocument/2006/relationships/theme"/><Relationship Id="rId54" Target="notesSlides/notesSlide1.xml" Type="http://schemas.openxmlformats.org/officeDocument/2006/relationships/notes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Relationship Id="rId4" Target="../media/image6.jpe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2.png" Type="http://schemas.openxmlformats.org/officeDocument/2006/relationships/image"/><Relationship Id="rId7" Target="../media/image3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6.jpeg" Type="http://schemas.openxmlformats.org/officeDocument/2006/relationships/image"/><Relationship Id="rId5" Target="../media/image46.pn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63.jpeg" Type="http://schemas.openxmlformats.org/officeDocument/2006/relationships/image"/><Relationship Id="rId6" Target="../media/image22.png" Type="http://schemas.openxmlformats.org/officeDocument/2006/relationships/image"/><Relationship Id="rId7" Target="../media/image6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7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ENCENAÇÃO DA POLÍTICA NACIONAL DE EDUCAÇÃO DIGITAL EM PIPA/RN: CULTURAS PROFISSIONAIS, TERRITÓRIO E RESISTÊNCIAS NO CONTEXTO DA PRÁTICA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" y="4117848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509345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Trajetória, problema, tese, objetivos, referencial e contribuição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 hipótese pode falhar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texto da política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e o vazio material na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Pipa hoje e as condições materiais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39570" y="2006727"/>
            <a:ext cx="3996690" cy="4202430"/>
            <a:chOff x="0" y="0"/>
            <a:chExt cx="5328920" cy="5603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-245612" y="-228600"/>
            <a:ext cx="18744743" cy="10744200"/>
            <a:chOff x="0" y="0"/>
            <a:chExt cx="24992990" cy="14325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-389344" y="-5187861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45827" y="2007846"/>
            <a:ext cx="3996690" cy="4202430"/>
            <a:chOff x="0" y="0"/>
            <a:chExt cx="5328920" cy="5603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44321" y="1908334"/>
            <a:ext cx="4001453" cy="4207192"/>
            <a:chOff x="0" y="0"/>
            <a:chExt cx="5335270" cy="56095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07993" y="2062353"/>
            <a:ext cx="3483864" cy="850392"/>
            <a:chOff x="0" y="0"/>
            <a:chExt cx="4645152" cy="11338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>
            <a:off x="2444172" y="6210276"/>
            <a:ext cx="0" cy="1373152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015528" y="7398448"/>
            <a:ext cx="576072" cy="933669"/>
            <a:chOff x="0" y="0"/>
            <a:chExt cx="768096" cy="1244892"/>
          </a:xfrm>
        </p:grpSpPr>
        <p:sp>
          <p:nvSpPr>
            <p:cNvPr name="Freeform 29" id="29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>
            <a:off x="7022022" y="6185343"/>
            <a:ext cx="14286" cy="894301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6733986" y="7030129"/>
            <a:ext cx="576072" cy="933669"/>
            <a:chOff x="0" y="0"/>
            <a:chExt cx="768096" cy="1244892"/>
          </a:xfrm>
        </p:grpSpPr>
        <p:sp>
          <p:nvSpPr>
            <p:cNvPr name="Freeform 32" id="3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tese continua o mestrado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52" id="5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03115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07993" y="8411959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817936" y="1908334"/>
            <a:ext cx="4001453" cy="4207192"/>
            <a:chOff x="0" y="0"/>
            <a:chExt cx="5335270" cy="56095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5115020" y="3857244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294376" y="2880360"/>
            <a:ext cx="3483864" cy="1209824"/>
            <a:chOff x="0" y="0"/>
            <a:chExt cx="4645152" cy="161309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645152" cy="1613099"/>
            </a:xfrm>
            <a:custGeom>
              <a:avLst/>
              <a:gdLst/>
              <a:ahLst/>
              <a:cxnLst/>
              <a:rect r="r" b="b" t="t" l="l"/>
              <a:pathLst>
                <a:path h="1613099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613099"/>
                  </a:lnTo>
                  <a:lnTo>
                    <a:pt x="0" y="16130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429" r="0" b="420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645152" cy="161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5076730" y="4844796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a educação digital passou a ser direito e componente curricular transversal dos anos iniciais.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6550834" y="-3800827"/>
            <a:ext cx="4001453" cy="4207192"/>
            <a:chOff x="0" y="0"/>
            <a:chExt cx="5335270" cy="560959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tese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da PNED pelos profissionais das turmas de 1º e 2º anos da Escola Municipal Domitila Castelo, em Pipa (RN).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Justificativa: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fez da educação digital um direito, um dever do Estado e um componente curricular, mas promete muito e garante pouco quanto aos meios.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(HIPÓTESE DE TRABALHO)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Em Pipa, o território e as culturas profissionais da escola operam como espaços de ressignificação ou de resistência frente à PNED e às pressões da performatividade. A distância entre a norma e a sala de aula é processo político, e não falha de execução.</a:t>
            </a:r>
          </a:p>
          <a:p>
            <a:pPr algn="ctr">
              <a:lnSpc>
                <a:spcPts val="270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Ball, Maguire e Braun (2016).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(interpretação e tradução) da PNED pelos profissionais das turmas de 1º e 2º anos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1º e 2º anos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professora conduz a turma toda a jornada e decide onde a educação digital aparece. A interpretação e a tradução passam por uma só pessoa, e as culturas profissionais ficam mais visíveis.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 ciclo de alfabetização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crianças chegam com experiências digitais desiguais, e familiaridade com aparelhos não garante compreensão crítica dos usos, direitos e riscos. Também por fazer parte do mesmo nível de escolarização.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culturas profissionais e condições materiais entram como dimensões do contexto da prática; as narrativas dos profissionais são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encenação; Buckingham (2007); Zuboff (2021) e Morozov (2018) como contexto.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os profissionais da educação encenam (interpretam e traduzem) a PNED na Escola Municipal Domitila Castelo, em Pipa, e de que maneira o território e as culturas profissionais operam como espaços de ressignificação ou de resistência frente à norma e à performatividade?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a encenação (interpretação e tradução) da PNED pelos profissionais da educação no contexto da prática da Escola Municipal Domitila Castelo (Pipa/RN), investigando as dinâmicas de recontextualização e de resistência produzidas no cruzamento entre a normativa, as culturas profissionais da escola e as especificidades do território.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leitura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Investigar como os profissionais decodificam a PNED a partir de suas culturas profissionais.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sentidos a política ganha em cada posição?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(texto da lei) · resposta: Cap. 7 (questionário e entrevistas)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tradução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Mapear as táticas que traduzem a PNED no cotidiano, sob a dimensão material e o território.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Como a política é posta em prática?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6 (território e escola) · resposta: Cap. 7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resistência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Identificar lógicas de performatividade e as estratégias de ressignificação e de resistência.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fazem com a pressão por resultados?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· resposta: Cap. 7 (entrevistas e documentos)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da ACP; Ball, Maguire e Braun (2016): dimensões do contexto.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Contribuição inédita: habitar 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tecnicista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Mede a escola pelo acesso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= falha de implementação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Professor como executor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desta tese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experiência desigual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como processo político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Profissionais fazem política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empírico-temporal (a PNED chega à escola quando o componente se torna obrigatório, em 2026), analítico-espacial (o território como força ativa) e teórico-conceitual (habitar o digital). Nenhum estudo da RSL analisa a PNED nem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(2016); Santos (1999); Massey (2008); Zuboff (2021).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hipótese: movimentos a mapear e riscos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Omissão seletiva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Fica de fora do planejamento o que é inexequível ou não faz sentido para a turma.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Tradução para fins locais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refeita para servir à turma e à comunidade: por exemplo, direitos digitais ligados à exposição da imagem das crianças num distrito turístico.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Fabricação performativa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Registros e evidências produzidos para responder às cobranças, que não correspondem ao que aconteceu com as crianças ou encobrem a falta dos meios.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esforço e os registros fazem a política parecer em curso e escondem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2004): performatividade e fabricações; Hargreaves (1998): culturas profissionais. A acomodação à norma também é resultado possível.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encenar o que não chegou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Teoria da atuação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Ball, Maguire e Braun (2016)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escola também faz a política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a teoria da atuação nasceu em escolas inglesas com recursos. Nenhuma trata da escola que precisa encenar o que não chegou.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hipótese de que, em Pipa, território e culturas profissionais operam como espaços de ressignificação ou de resistência.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“A política cria o contexto, mas o contexto também precede a política” (BALL; MAGUIRE; BRAUN, 2016, p. 36).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atuação; Hargreaves (1998): culturas profissionais; Ball (2004): performatividade.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 hipótese pode falhar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de exame da hipótese: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movimentos e condições de recusa registrados antes da primeira entrevista. Mudança só com novo registro, datado e justificado.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Sustentação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Omissão seletiva, tradução para fins locais ou fabricação aparecem de forma recorrente e sem indução, ligadas ao território ou às culturas profissionais.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Delimitação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Os movimentos aparecem na regência e não na coordenação ou na direção: a hipótese fica restrita a essa posição.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Renomeação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Há movimentos, mas sem alternativa: é transferência de custo do Estado para o trabalhador, mais sobrevivência que resistência.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Recusa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Predomina a acomodação à norma; a lei é lida apenas como ambígua (recontextualização da ACP); ou os movimentos não se ligam ao território nem às culturas profissionais.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declaramos qual das quatro situações se verificou. Recusar a hipótese não é fracasso da pesquisa.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Ball, Maguire e Braun (2016): atuação; Bowe, Ball e Gold (1992): recontextualização.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nenhum acompanha o que os profissionais fazem quando a formação não chega e a exigência curricular permanece.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teoria da atuação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11 profissionais, cinco blocos e questão aberta (formulário digital aplicado presencialmente para esclarecer dúvidas)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Seis eixos, de 60 a 90 minutos, individuais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Quem será ouvido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194560"/>
            <a:ext cx="960120" cy="960120"/>
            <a:chOff x="0" y="0"/>
            <a:chExt cx="1280160" cy="12801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400300" y="2194560"/>
            <a:ext cx="960120" cy="960120"/>
            <a:chOff x="0" y="0"/>
            <a:chExt cx="1280160" cy="1280160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703320" y="2194560"/>
            <a:ext cx="960120" cy="960120"/>
            <a:chOff x="0" y="0"/>
            <a:chExt cx="1280160" cy="12801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5006340" y="2194560"/>
            <a:ext cx="960120" cy="960120"/>
            <a:chOff x="0" y="0"/>
            <a:chExt cx="1280160" cy="128016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9360" y="2194560"/>
            <a:ext cx="960120" cy="960120"/>
            <a:chOff x="0" y="0"/>
            <a:chExt cx="1280160" cy="12801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612380" y="2194560"/>
            <a:ext cx="960120" cy="960120"/>
            <a:chOff x="0" y="0"/>
            <a:chExt cx="1280160" cy="128016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3703320"/>
            <a:ext cx="960120" cy="960120"/>
            <a:chOff x="0" y="0"/>
            <a:chExt cx="1280160" cy="12801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400300" y="3703320"/>
            <a:ext cx="960120" cy="960120"/>
            <a:chOff x="0" y="0"/>
            <a:chExt cx="1280160" cy="1280160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703320" y="3703320"/>
            <a:ext cx="960120" cy="960120"/>
            <a:chOff x="0" y="0"/>
            <a:chExt cx="1280160" cy="12801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006340" y="3703320"/>
            <a:ext cx="960120" cy="960120"/>
            <a:chOff x="0" y="0"/>
            <a:chExt cx="1280160" cy="1280160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09360" y="3703320"/>
            <a:ext cx="960120" cy="960120"/>
            <a:chOff x="0" y="0"/>
            <a:chExt cx="1280160" cy="12801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12380" y="3703320"/>
            <a:ext cx="960120" cy="960120"/>
            <a:chOff x="0" y="0"/>
            <a:chExt cx="1280160" cy="1280160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7280" y="5609844"/>
            <a:ext cx="438912" cy="438912"/>
            <a:chOff x="0" y="0"/>
            <a:chExt cx="585216" cy="585216"/>
          </a:xfrm>
        </p:grpSpPr>
        <p:sp>
          <p:nvSpPr>
            <p:cNvPr name="Freeform 38" id="3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783080" y="5554980"/>
            <a:ext cx="6858000" cy="576072"/>
            <a:chOff x="0" y="0"/>
            <a:chExt cx="9144000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6 profissionais em regência nas turmas de 1º e 2º anos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6323076"/>
            <a:ext cx="438912" cy="438912"/>
            <a:chOff x="0" y="0"/>
            <a:chExt cx="585216" cy="58521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783080" y="6268212"/>
            <a:ext cx="6858000" cy="576072"/>
            <a:chOff x="0" y="0"/>
            <a:chExt cx="914400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4 da coordenação pedagógica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7280" y="7036308"/>
            <a:ext cx="438912" cy="438912"/>
            <a:chOff x="0" y="0"/>
            <a:chExt cx="585216" cy="585216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783080" y="6981444"/>
            <a:ext cx="6858000" cy="576072"/>
            <a:chOff x="0" y="0"/>
            <a:chExt cx="9144000" cy="76809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 da direção escolar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7280" y="7749540"/>
            <a:ext cx="438912" cy="438912"/>
            <a:chOff x="0" y="0"/>
            <a:chExt cx="585216" cy="58521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783080" y="7694676"/>
            <a:ext cx="6858000" cy="576072"/>
            <a:chOff x="0" y="0"/>
            <a:chExt cx="9144000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Secretaria: fonte documental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97280" y="8513445"/>
            <a:ext cx="7680960" cy="8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Posições postas em relação, sem hierarquia prévia. A direção tem um participante: descrever, sem generalizar.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200" y="1920240"/>
            <a:ext cx="3291840" cy="1645920"/>
            <a:chOff x="0" y="0"/>
            <a:chExt cx="438912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89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389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0"/>
                </a:lnSpc>
              </a:pPr>
              <a:r>
                <a:rPr lang="en-US" sz="105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140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61620" y="2125980"/>
            <a:ext cx="4526280" cy="1234440"/>
            <a:chOff x="0" y="0"/>
            <a:chExt cx="6035040" cy="1645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50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03504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crianças: três turmas de 1º ano (74) e três de 2º ano (66)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87687" y="4201287"/>
            <a:ext cx="7782306" cy="5162550"/>
            <a:chOff x="0" y="0"/>
            <a:chExt cx="10376408" cy="688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376408" cy="6883400"/>
            </a:xfrm>
            <a:custGeom>
              <a:avLst/>
              <a:gdLst/>
              <a:ahLst/>
              <a:cxnLst/>
              <a:rect r="r" b="b" t="t" l="l"/>
              <a:pathLst>
                <a:path h="6883400" w="10376408">
                  <a:moveTo>
                    <a:pt x="0" y="0"/>
                  </a:moveTo>
                  <a:lnTo>
                    <a:pt x="10376408" y="0"/>
                  </a:lnTo>
                  <a:lnTo>
                    <a:pt x="10376408" y="6883400"/>
                  </a:lnTo>
                  <a:lnTo>
                    <a:pt x="0" y="68834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89294" y="4102894"/>
            <a:ext cx="7787068" cy="5167312"/>
            <a:chOff x="0" y="0"/>
            <a:chExt cx="10382758" cy="68897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382758" cy="6889750"/>
            </a:xfrm>
            <a:custGeom>
              <a:avLst/>
              <a:gdLst/>
              <a:ahLst/>
              <a:cxnLst/>
              <a:rect r="r" b="b" t="t" l="l"/>
              <a:pathLst>
                <a:path h="6889750" w="10382758">
                  <a:moveTo>
                    <a:pt x="0" y="0"/>
                  </a:moveTo>
                  <a:lnTo>
                    <a:pt x="10382758" y="0"/>
                  </a:lnTo>
                  <a:lnTo>
                    <a:pt x="10382758" y="6889750"/>
                  </a:lnTo>
                  <a:lnTo>
                    <a:pt x="0" y="68897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012680" y="4389120"/>
            <a:ext cx="6995160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posições diferentes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012680" y="5143500"/>
            <a:ext cx="6995160" cy="3977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Quem está na regência, na coordenação ou na direção recebe a política com margens de decisão, recursos e responsabilidades diferentes. A mesma orientação da PNED pode ganhar sentidos diferentes em cada posição, e os movimentos podem aparecer em umas e não em outras.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posições diante da política; LDB, arts. 61 e 67; Lei nº 14.817/2024.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norma declara o direito e deixa a chegada dos meios à capacidade de cada ente. A exigência curricular tem data marcada; os meios, não.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Ball (2004): performatividade.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um território conectado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6233544" cy="5299710"/>
            <a:chOff x="0" y="0"/>
            <a:chExt cx="8311392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311392" cy="7066280"/>
            </a:xfrm>
            <a:custGeom>
              <a:avLst/>
              <a:gdLst/>
              <a:ahLst/>
              <a:cxnLst/>
              <a:rect r="r" b="b" t="t" l="l"/>
              <a:pathLst>
                <a:path h="7066280" w="8311392">
                  <a:moveTo>
                    <a:pt x="0" y="0"/>
                  </a:moveTo>
                  <a:lnTo>
                    <a:pt x="8311392" y="0"/>
                  </a:lnTo>
                  <a:lnTo>
                    <a:pt x="8311392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9447" y="1947672"/>
            <a:ext cx="6019343" cy="5280660"/>
            <a:chOff x="0" y="0"/>
            <a:chExt cx="8025791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8025791" cy="7040880"/>
            </a:xfrm>
            <a:custGeom>
              <a:avLst/>
              <a:gdLst/>
              <a:ahLst/>
              <a:cxnLst/>
              <a:rect r="r" b="b" t="t" l="l"/>
              <a:pathLst>
                <a:path h="7040880" w="8025791">
                  <a:moveTo>
                    <a:pt x="0" y="0"/>
                  </a:moveTo>
                  <a:lnTo>
                    <a:pt x="8025791" y="0"/>
                  </a:lnTo>
                  <a:lnTo>
                    <a:pt x="8025791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84" t="0" r="-10384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277080" y="2097976"/>
            <a:ext cx="5670042" cy="5299710"/>
            <a:chOff x="0" y="0"/>
            <a:chExt cx="7560056" cy="7066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071246" y="2057972"/>
            <a:ext cx="5650992" cy="5280660"/>
            <a:chOff x="0" y="0"/>
            <a:chExt cx="7534656" cy="7040880"/>
          </a:xfrm>
        </p:grpSpPr>
        <p:sp>
          <p:nvSpPr>
            <p:cNvPr name="Freeform 18" id="1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675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tecnologias atravessam os circuitos do turismo, de reservas a pagamentos, e se distribuem de modo desigual entre os espaços e as famílias do distrito.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25" id="25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" t="0" r="-22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6269" y="2057972"/>
            <a:ext cx="4121699" cy="5170360"/>
            <a:chOff x="0" y="0"/>
            <a:chExt cx="5495598" cy="68938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5598" cy="6893814"/>
            </a:xfrm>
            <a:custGeom>
              <a:avLst/>
              <a:gdLst/>
              <a:ahLst/>
              <a:cxnLst/>
              <a:rect r="r" b="b" t="t" l="l"/>
              <a:pathLst>
                <a:path h="6893814" w="5495598">
                  <a:moveTo>
                    <a:pt x="0" y="0"/>
                  </a:moveTo>
                  <a:lnTo>
                    <a:pt x="5495598" y="0"/>
                  </a:lnTo>
                  <a:lnTo>
                    <a:pt x="5495598" y="6893814"/>
                  </a:lnTo>
                  <a:lnTo>
                    <a:pt x="0" y="6893814"/>
                  </a:lnTo>
                  <a:close/>
                </a:path>
              </a:pathLst>
            </a:custGeom>
            <a:blipFill>
              <a:blip r:embed="rId7"/>
              <a:stretch>
                <a:fillRect l="0" t="-8519" r="0" b="-30946"/>
              </a:stretch>
            </a:blip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546269" y="7397686"/>
            <a:ext cx="412169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em Pipa hoje (Figura 21)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828735" y="7492936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Figura 19: divulgação turística em redes sociais.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5360" y="75178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 escola: o que existe e onde está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dimensão material;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de exame da hipótese,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de 1º e 2º anos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marcadores do Cap. 6, turmas do 3º ao 5º ano e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mobilizadas na apresentação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Performatividade, privatização e o pós-Estado do bem-estar.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25, n. 89, p. 1105-1126, 2004.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CASTELLS, Manuel.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sociedade em rede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14. ed. São Paulo: Paz e Terra, 2013.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professores em tempos de mudança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o trabalho e a cultura dos professores na idade pós-moderna. Lisboa: McGraw-Hill, 1998.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QUEIROZ, Maria Aparecida de; PAIVA, Maria Cristina Leandro de. A valorização do trabalho docente e a formação profissional. In: FRANÇA, Magna; MOMO, Mariângela (org.).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Processo democrático participativo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construção do PNE. Campinas: Mercado de Letras, 2014. p. 249-286.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Edusp, 2012.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